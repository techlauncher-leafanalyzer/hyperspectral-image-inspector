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7b001189eb14d1c" /><Relationship Type="http://schemas.openxmlformats.org/officeDocument/2006/relationships/extended-properties" Target="/docProps/app.xml" Id="Rffa9ee3cb6384430" /><Relationship Type="http://schemas.openxmlformats.org/officeDocument/2006/relationships/officeDocument" Target="/ppt/presentation.xml" Id="Ra18df18f408944b6" /></Relationships>
</file>

<file path=ppt/presentation.xml><?xml version="1.0" encoding="utf-8"?>
<p:presentation xmlns:p="http://schemas.openxmlformats.org/presentationml/2006/main">
  <p:sldMasterIdLst>
    <p:sldMasterId xmlns:r="http://schemas.openxmlformats.org/officeDocument/2006/relationships" id="2147483648" r:id="R972edfb313b7440d"/>
  </p:sldMasterIdLst>
  <p:notesMasterIdLst>
    <p:notesMasterId xmlns:r="http://schemas.openxmlformats.org/officeDocument/2006/relationships" r:id="Rb451aa152cee41e5"/>
  </p:notesMasterIdLst>
  <p:sldIdLst>
    <p:sldId xmlns:r="http://schemas.openxmlformats.org/officeDocument/2006/relationships" id="256" r:id="R202a8654fb7348d8"/>
    <p:sldId xmlns:r="http://schemas.openxmlformats.org/officeDocument/2006/relationships" id="257" r:id="R2f9fa0ee47fa48ed"/>
    <p:sldId xmlns:r="http://schemas.openxmlformats.org/officeDocument/2006/relationships" id="258" r:id="R2e63055343c3468f"/>
    <p:sldId xmlns:r="http://schemas.openxmlformats.org/officeDocument/2006/relationships" id="259" r:id="Rff054037d9d243dc"/>
    <p:sldId xmlns:r="http://schemas.openxmlformats.org/officeDocument/2006/relationships" id="260" r:id="Rc030042f927447c9"/>
    <p:sldId xmlns:r="http://schemas.openxmlformats.org/officeDocument/2006/relationships" id="261" r:id="Rfd535f1998d243b2"/>
    <p:sldId xmlns:r="http://schemas.openxmlformats.org/officeDocument/2006/relationships" id="262" r:id="Rcb190fc4c3424971"/>
    <p:sldId xmlns:r="http://schemas.openxmlformats.org/officeDocument/2006/relationships" id="263" r:id="Rbe285ccb3f08450d"/>
    <p:sldId xmlns:r="http://schemas.openxmlformats.org/officeDocument/2006/relationships" id="264" r:id="R80d4aa7cf51e4c60"/>
    <p:sldId xmlns:r="http://schemas.openxmlformats.org/officeDocument/2006/relationships" id="265" r:id="Ra4a7ae3b8b3245de"/>
    <p:sldId xmlns:r="http://schemas.openxmlformats.org/officeDocument/2006/relationships" id="266" r:id="R693338df627942de"/>
    <p:sldId xmlns:r="http://schemas.openxmlformats.org/officeDocument/2006/relationships" id="267" r:id="R0295374ebab64d8a"/>
    <p:sldId xmlns:r="http://schemas.openxmlformats.org/officeDocument/2006/relationships" id="268" r:id="Rcf1733a045454be8"/>
    <p:sldId xmlns:r="http://schemas.openxmlformats.org/officeDocument/2006/relationships" id="269" r:id="Rb6971ded91a342c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33d613bd13a4207" /><Relationship Type="http://schemas.openxmlformats.org/officeDocument/2006/relationships/slideMaster" Target="/ppt/slideMasters/slideMaster1.xml" Id="R972edfb313b7440d" /><Relationship Type="http://schemas.openxmlformats.org/officeDocument/2006/relationships/notesMaster" Target="/ppt/notesMasters/notesMaster1.xml" Id="Rb451aa152cee41e5" /><Relationship Type="http://schemas.openxmlformats.org/officeDocument/2006/relationships/presProps" Target="/ppt/presProps.xml" Id="Re9520ebfad0647b5" /><Relationship Type="http://schemas.openxmlformats.org/officeDocument/2006/relationships/tableStyles" Target="/ppt/tableStyles.xml" Id="R91b5a27f772b42a0" /><Relationship Type="http://schemas.openxmlformats.org/officeDocument/2006/relationships/slide" Target="/ppt/slides/slide1.xml" Id="R202a8654fb7348d8" /><Relationship Type="http://schemas.openxmlformats.org/officeDocument/2006/relationships/slide" Target="/ppt/slides/slide2.xml" Id="R2f9fa0ee47fa48ed" /><Relationship Type="http://schemas.openxmlformats.org/officeDocument/2006/relationships/slide" Target="/ppt/slides/slide3.xml" Id="R2e63055343c3468f" /><Relationship Type="http://schemas.openxmlformats.org/officeDocument/2006/relationships/slide" Target="/ppt/slides/slide4.xml" Id="Rff054037d9d243dc" /><Relationship Type="http://schemas.openxmlformats.org/officeDocument/2006/relationships/slide" Target="/ppt/slides/slide5.xml" Id="Rc030042f927447c9" /><Relationship Type="http://schemas.openxmlformats.org/officeDocument/2006/relationships/slide" Target="/ppt/slides/slide6.xml" Id="Rfd535f1998d243b2" /><Relationship Type="http://schemas.openxmlformats.org/officeDocument/2006/relationships/slide" Target="/ppt/slides/slide7.xml" Id="Rcb190fc4c3424971" /><Relationship Type="http://schemas.openxmlformats.org/officeDocument/2006/relationships/slide" Target="/ppt/slides/slide8.xml" Id="Rbe285ccb3f08450d" /><Relationship Type="http://schemas.openxmlformats.org/officeDocument/2006/relationships/slide" Target="/ppt/slides/slide9.xml" Id="R80d4aa7cf51e4c60" /><Relationship Type="http://schemas.openxmlformats.org/officeDocument/2006/relationships/slide" Target="/ppt/slides/slide10.xml" Id="Ra4a7ae3b8b3245de" /><Relationship Type="http://schemas.openxmlformats.org/officeDocument/2006/relationships/slide" Target="/ppt/slides/slide11.xml" Id="R693338df627942de" /><Relationship Type="http://schemas.openxmlformats.org/officeDocument/2006/relationships/slide" Target="/ppt/slides/slide12.xml" Id="R0295374ebab64d8a" /><Relationship Type="http://schemas.openxmlformats.org/officeDocument/2006/relationships/slide" Target="/ppt/slides/slide13.xml" Id="Rcf1733a045454be8" /><Relationship Type="http://schemas.openxmlformats.org/officeDocument/2006/relationships/slide" Target="/ppt/slides/slide14.xml" Id="Rb6971ded91a342c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38501371e5d4ed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1b0da218bd452f" /><Relationship Type="http://schemas.openxmlformats.org/officeDocument/2006/relationships/notesMaster" Target="/ppt/notesMasters/notesMaster1.xml" Id="R2a127d39296e4295" /></Relationships>
</file>

<file path=ppt/notesSlides/_rels/notesSlide2.xml.rels>&#65279;<?xml version="1.0" encoding="utf-8"?><Relationships xmlns="http://schemas.openxmlformats.org/package/2006/relationships"><Relationship Type="http://schemas.openxmlformats.org/officeDocument/2006/relationships/slide" Target="/ppt/slides/slide2.xml" Id="Rc1cf4a99a0714e9e" /><Relationship Type="http://schemas.openxmlformats.org/officeDocument/2006/relationships/notesMaster" Target="/ppt/notesMasters/notesMaster1.xml" Id="R372017d937d7479a" /></Relationships>
</file>

<file path=ppt/notesSlides/_rels/notesSlide3.xml.rels>&#65279;<?xml version="1.0" encoding="utf-8"?><Relationships xmlns="http://schemas.openxmlformats.org/package/2006/relationships"><Relationship Type="http://schemas.openxmlformats.org/officeDocument/2006/relationships/slide" Target="/ppt/slides/slide3.xml" Id="Ra842fda0b80d4785" /><Relationship Type="http://schemas.openxmlformats.org/officeDocument/2006/relationships/notesMaster" Target="/ppt/notesMasters/notesMaster1.xml" Id="R1d6ca61f48f24b2f" /></Relationships>
</file>

<file path=ppt/notesSlides/_rels/notesSlide4.xml.rels>&#65279;<?xml version="1.0" encoding="utf-8"?><Relationships xmlns="http://schemas.openxmlformats.org/package/2006/relationships"><Relationship Type="http://schemas.openxmlformats.org/officeDocument/2006/relationships/slide" Target="/ppt/slides/slide4.xml" Id="Rd71487db6e644012" /><Relationship Type="http://schemas.openxmlformats.org/officeDocument/2006/relationships/notesMaster" Target="/ppt/notesMasters/notesMaster1.xml" Id="R8519c808a2b843e8" /></Relationships>
</file>

<file path=ppt/notesSlides/_rels/notesSlide5.xml.rels>&#65279;<?xml version="1.0" encoding="utf-8"?><Relationships xmlns="http://schemas.openxmlformats.org/package/2006/relationships"><Relationship Type="http://schemas.openxmlformats.org/officeDocument/2006/relationships/slide" Target="/ppt/slides/slide5.xml" Id="Ra029087c7a0e47b4" /><Relationship Type="http://schemas.openxmlformats.org/officeDocument/2006/relationships/notesMaster" Target="/ppt/notesMasters/notesMaster1.xml" Id="R508f7a5a9a4d491a" /></Relationships>
</file>

<file path=ppt/notesSlides/_rels/notesSlide6.xml.rels>&#65279;<?xml version="1.0" encoding="utf-8"?><Relationships xmlns="http://schemas.openxmlformats.org/package/2006/relationships"><Relationship Type="http://schemas.openxmlformats.org/officeDocument/2006/relationships/slide" Target="/ppt/slides/slide6.xml" Id="R07091cb684e44539" /><Relationship Type="http://schemas.openxmlformats.org/officeDocument/2006/relationships/notesMaster" Target="/ppt/notesMasters/notesMaster1.xml" Id="R455151bb84b3408f" /></Relationships>
</file>

<file path=ppt/notesSlides/_rels/notesSlide7.xml.rels>&#65279;<?xml version="1.0" encoding="utf-8"?><Relationships xmlns="http://schemas.openxmlformats.org/package/2006/relationships"><Relationship Type="http://schemas.openxmlformats.org/officeDocument/2006/relationships/slide" Target="/ppt/slides/slide7.xml" Id="R6f34a092a3f04263" /><Relationship Type="http://schemas.openxmlformats.org/officeDocument/2006/relationships/notesMaster" Target="/ppt/notesMasters/notesMaster1.xml" Id="R5419d1dc004242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d8519457951a464a" /><Relationship Type="http://schemas.openxmlformats.org/officeDocument/2006/relationships/notesMaster" Target="/ppt/notesMasters/notesMaster1.xml" Id="Ra38b1cdeb08a41c9" /></Relationships>
</file>

<file path=ppt/notesSlides/_rels/notesSlide9.xml.rels>&#65279;<?xml version="1.0" encoding="utf-8"?><Relationships xmlns="http://schemas.openxmlformats.org/package/2006/relationships"><Relationship Type="http://schemas.openxmlformats.org/officeDocument/2006/relationships/slide" Target="/ppt/slides/slide9.xml" Id="R3b757625762f49a1" /><Relationship Type="http://schemas.openxmlformats.org/officeDocument/2006/relationships/notesMaster" Target="/ppt/notesMasters/notesMaster1.xml" Id="Re31c5ae7e55c47c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65cdf94d1c84856" /><Relationship Type="http://schemas.openxmlformats.org/officeDocument/2006/relationships/notesMaster" Target="/ppt/notesMasters/notesMaster1.xml" Id="R3d705832a13541a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cec7e3b09374bcf" /><Relationship Type="http://schemas.openxmlformats.org/officeDocument/2006/relationships/notesMaster" Target="/ppt/notesMasters/notesMaster1.xml" Id="Rfecd8ab422e8455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cbf1619ff7342e5" /><Relationship Type="http://schemas.openxmlformats.org/officeDocument/2006/relationships/notesMaster" Target="/ppt/notesMasters/notesMaster1.xml" Id="Rd3b642a816a841d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d101f155bf94336" /><Relationship Type="http://schemas.openxmlformats.org/officeDocument/2006/relationships/notesMaster" Target="/ppt/notesMasters/notesMaster1.xml" Id="R0e2106d843384b9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b62e57cd5b44869" /><Relationship Type="http://schemas.openxmlformats.org/officeDocument/2006/relationships/notesMaster" Target="/ppt/notesMasters/notesMaster1.xml" Id="Rb46c6789a74a4bc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review shows what we changed after the Sprint 4 feedback, what we delivered, and what the evidence proves. We focus on useful features, testing, task records and reflection. This is a snapshot through 28 August, not a claim that every Sprint 5 item is finished. Jira still shows Sprint 5 as active, with a scheduled end on 4 September in Sydney time. The latest code checked is ac71613, including today’s classification merge.</a:t>
            </a:r>
          </a:p>
          <a:p xmlns:a="http://schemas.openxmlformats.org/drawingml/2006/main">
            <a:r>
              <a:t/>
            </a:r>
          </a:p>
          <a:p xmlns:a="http://schemas.openxmlformats.org/drawingml/2006/main">
            <a:r>
              <a:t>[Sources]</a:t>
            </a:r>
          </a:p>
          <a:p xmlns:a="http://schemas.openxmlformats.org/drawingml/2006/main">
            <a:r>
              <a:t>- https://leaf2qr.atlassian.net/browse/LEAF-150 (Sprint field: Sprint 5, started 21 August; scheduled end 4 September AEST)</a:t>
            </a:r>
          </a:p>
          <a:p xmlns:a="http://schemas.openxmlformats.org/drawingml/2006/main">
            <a:r>
              <a:t>- https://leaf2qr.atlassian.net/wiki/spaces/L/pages/18284545</a:t>
            </a:r>
          </a:p>
          <a:p xmlns:a="http://schemas.openxmlformats.org/drawingml/2006/main">
            <a:r>
              <a:t>- https://github.com/Techlauncher-LeafAnalyzer/Hyperspectral-Image-Inspector/commit/ac7161342dbb661c9f5efbfd9de5a554ee4c6141</a:t>
            </a:r>
          </a:p>
          <a:p xmlns:a="http://schemas.openxmlformats.org/drawingml/2006/main">
            <a:r>
              <a:t>- Sprint 4 feedback: supplied by the team in the presentation brief.</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biggest result is a more connected workflow. We linked the seven 2D modes to the interface, completed the interactive Hypercube, and replaced simulated super-resolution with real model inference. The processed result can also be used in other visualizations while the original stays unchanged. Classification was merged later today in PR 36. The visualization models and basic cropping had earlier foundations; this sprint’s contribution includes their integration and fixes. Merged functionality is not the same as scientific validation or client acceptance.</a:t>
            </a:r>
          </a:p>
          <a:p xmlns:a="http://schemas.openxmlformats.org/drawingml/2006/main">
            <a:r>
              <a:t/>
            </a:r>
          </a:p>
          <a:p xmlns:a="http://schemas.openxmlformats.org/drawingml/2006/main">
            <a:r>
              <a:t>[Sources]</a:t>
            </a:r>
          </a:p>
          <a:p xmlns:a="http://schemas.openxmlformats.org/drawingml/2006/main">
            <a:r>
              <a:t>- https://github.com/Techlauncher-LeafAnalyzer/Hyperspectral-Image-Inspector/pull/24</a:t>
            </a:r>
          </a:p>
          <a:p xmlns:a="http://schemas.openxmlformats.org/drawingml/2006/main">
            <a:r>
              <a:t>- https://github.com/Techlauncher-LeafAnalyzer/Hyperspectral-Image-Inspector/pull/29</a:t>
            </a:r>
          </a:p>
          <a:p xmlns:a="http://schemas.openxmlformats.org/drawingml/2006/main">
            <a:r>
              <a:t>- https://github.com/Techlauncher-LeafAnalyzer/Hyperspectral-Image-Inspector/pull/33</a:t>
            </a:r>
          </a:p>
          <a:p xmlns:a="http://schemas.openxmlformats.org/drawingml/2006/main">
            <a:r>
              <a:t>- https://github.com/Techlauncher-LeafAnalyzer/Hyperspectral-Image-Inspector/pull/34</a:t>
            </a:r>
          </a:p>
          <a:p xmlns:a="http://schemas.openxmlformats.org/drawingml/2006/main">
            <a:r>
              <a:t>- https://github.com/Techlauncher-LeafAnalyzer/Hyperspectral-Image-Inspector/pull/36</a:t>
            </a:r>
          </a:p>
          <a:p xmlns:a="http://schemas.openxmlformats.org/drawingml/2006/main">
            <a:r>
              <a:t>- https://leaf2qr.atlassian.net/wiki/spaces/L/pages/18284545</a:t>
            </a:r>
          </a:p>
          <a:p xmlns:a="http://schemas.openxmlformats.org/drawingml/2006/main">
            <a:r>
              <a:t>- https://leaf2qr.atlassian.net/wiki/spaces/L/pages/19726337</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changes support specific user tasks. Pixel values can be related to their colours, index statistics stay visible, and cropping now refits the image. Hypercube controls expose the spatial and spectral structure. SR works on all 480 bands rather than only an RGB preview. Classification adds K-means plus Gaussian and Mahalanobis methods; Perceptron is still rejected with an explanation. Do not claim new basic cropping this sprint: its original UI PR merged on 14 August. The new work here is the crop-scaling fix. Dedicated classification test files were not included in PR 36.</a:t>
            </a:r>
          </a:p>
          <a:p xmlns:a="http://schemas.openxmlformats.org/drawingml/2006/main">
            <a:r>
              <a:t/>
            </a:r>
          </a:p>
          <a:p xmlns:a="http://schemas.openxmlformats.org/drawingml/2006/main">
            <a:r>
              <a:t>[Sources]</a:t>
            </a:r>
          </a:p>
          <a:p xmlns:a="http://schemas.openxmlformats.org/drawingml/2006/main">
            <a:r>
              <a:t>- https://github.com/Techlauncher-LeafAnalyzer/Hyperspectral-Image-Inspector/pull/18</a:t>
            </a:r>
          </a:p>
          <a:p xmlns:a="http://schemas.openxmlformats.org/drawingml/2006/main">
            <a:r>
              <a:t>- https://github.com/Techlauncher-LeafAnalyzer/Hyperspectral-Image-Inspector/pull/24</a:t>
            </a:r>
          </a:p>
          <a:p xmlns:a="http://schemas.openxmlformats.org/drawingml/2006/main">
            <a:r>
              <a:t>- https://github.com/Techlauncher-LeafAnalyzer/Hyperspectral-Image-Inspector/pull/29</a:t>
            </a:r>
          </a:p>
          <a:p xmlns:a="http://schemas.openxmlformats.org/drawingml/2006/main">
            <a:r>
              <a:t>- https://github.com/Techlauncher-LeafAnalyzer/Hyperspectral-Image-Inspector/pull/30</a:t>
            </a:r>
          </a:p>
          <a:p xmlns:a="http://schemas.openxmlformats.org/drawingml/2006/main">
            <a:r>
              <a:t>- https://github.com/Techlauncher-LeafAnalyzer/Hyperspectral-Image-Inspector/pull/31</a:t>
            </a:r>
          </a:p>
          <a:p xmlns:a="http://schemas.openxmlformats.org/drawingml/2006/main">
            <a:r>
              <a:t>- https://github.com/Techlauncher-LeafAnalyzer/Hyperspectral-Image-Inspector/pull/32</a:t>
            </a:r>
          </a:p>
          <a:p xmlns:a="http://schemas.openxmlformats.org/drawingml/2006/main">
            <a:r>
              <a:t>- https://github.com/Techlauncher-LeafAnalyzer/Hyperspectral-Image-Inspector/pull/33</a:t>
            </a:r>
          </a:p>
          <a:p xmlns:a="http://schemas.openxmlformats.org/drawingml/2006/main">
            <a:r>
              <a:t>- https://github.com/Techlauncher-LeafAnalyzer/Hyperspectral-Image-Inspector/pull/34</a:t>
            </a:r>
          </a:p>
          <a:p xmlns:a="http://schemas.openxmlformats.org/drawingml/2006/main">
            <a:r>
              <a:t>- https://github.com/Techlauncher-LeafAnalyzer/Hyperspectral-Image-Inspector/pull/36</a:t>
            </a:r>
          </a:p>
          <a:p xmlns:a="http://schemas.openxmlformats.org/drawingml/2006/main">
            <a:r>
              <a:t>- https://github.com/Techlauncher-LeafAnalyzer/Hyperspectral-Image-Inspector/blob/ac7161342dbb661c9f5efbfd9de5a554ee4c6141/docs/model_classification_api.md</a:t>
            </a:r>
          </a:p>
          <a:p xmlns:a="http://schemas.openxmlformats.org/drawingml/2006/main">
            <a:r>
              <a:t>- https://github.com/Techlauncher-LeafAnalyzer/Hyperspectral-Image-Inspector/blob/ac7161342dbb661c9f5efbfd9de5a554ee4c6141/docs/super-resolution.md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client’s earlier feedback gave us a clear direction: a more professional tool, fewer crashes, and super-resolution that uses all bands. We can trace these needs through Jira, merged PRs and the weekly report. These are requirement-to-delivery links, not proof that the client approved each result. The latest client meeting page found is 7 August. The 31 July notes say the client would be away for two weeks in August, so we should not claim new weekly client meetings during this period. Our next client check should confirm the results and close the acceptance loop.</a:t>
            </a:r>
          </a:p>
          <a:p xmlns:a="http://schemas.openxmlformats.org/drawingml/2006/main">
            <a:r>
              <a:t/>
            </a:r>
          </a:p>
          <a:p xmlns:a="http://schemas.openxmlformats.org/drawingml/2006/main">
            <a:r>
              <a:t>[Sources]</a:t>
            </a:r>
          </a:p>
          <a:p xmlns:a="http://schemas.openxmlformats.org/drawingml/2006/main">
            <a:r>
              <a:t>- https://leaf2qr.atlassian.net/wiki/spaces/L/pages/16580683</a:t>
            </a:r>
          </a:p>
          <a:p xmlns:a="http://schemas.openxmlformats.org/drawingml/2006/main">
            <a:r>
              <a:t>- https://leaf2qr.atlassian.net/wiki/spaces/L/pages/16416770</a:t>
            </a:r>
          </a:p>
          <a:p xmlns:a="http://schemas.openxmlformats.org/drawingml/2006/main">
            <a:r>
              <a:t>- https://leaf2qr.atlassian.net/wiki/spaces/L/pages/15630342</a:t>
            </a:r>
          </a:p>
          <a:p xmlns:a="http://schemas.openxmlformats.org/drawingml/2006/main">
            <a:r>
              <a:t>- https://leaf2qr.atlassian.net/browse/LEAF-152</a:t>
            </a:r>
          </a:p>
          <a:p xmlns:a="http://schemas.openxmlformats.org/drawingml/2006/main">
            <a:r>
              <a:t>- https://leaf2qr.atlassian.net/browse/LEAF-158</a:t>
            </a:r>
          </a:p>
          <a:p xmlns:a="http://schemas.openxmlformats.org/drawingml/2006/main">
            <a:r>
              <a:t>- https://leaf2qr.atlassian.net/browse/LEAF-149</a:t>
            </a:r>
          </a:p>
          <a:p xmlns:a="http://schemas.openxmlformats.org/drawingml/2006/main">
            <a:r>
              <a:t>- https://leaf2qr.atlassian.net/browse/LEAF-154</a:t>
            </a:r>
          </a:p>
          <a:p xmlns:a="http://schemas.openxmlformats.org/drawingml/2006/main">
            <a:r>
              <a:t>- https://leaf2qr.atlassian.net/browse/LEAF-155</a:t>
            </a:r>
          </a:p>
          <a:p xmlns:a="http://schemas.openxmlformats.org/drawingml/2006/main">
            <a:r>
              <a:t>- https://leaf2qr.atlassian.net/wiki/spaces/L/pages/18284545</a:t>
            </a:r>
          </a:p>
          <a:p xmlns:a="http://schemas.openxmlformats.org/drawingml/2006/main">
            <a:r>
              <a:t>- https://leaf2qr.atlassian.net/wiki/spaces/L/pages/19726337</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our clearest example of a recorded feedback loop. On 21 August the tutor asked for Jira time records, weekly reflections and regular risk updates. LEAF 157 gives Guochen a named reporting task and links the documents. The Week 5 report points back to the reflection and risk review. The task checklist records progress, while this presentation completes the slide deliverable. We are showing a written follow-up available to the tutor; we are not claiming that the tutor has already accepted the improvements. Time logging has improved but is still incomplete.</a:t>
            </a:r>
          </a:p>
          <a:p xmlns:a="http://schemas.openxmlformats.org/drawingml/2006/main">
            <a:r>
              <a:t/>
            </a:r>
          </a:p>
          <a:p xmlns:a="http://schemas.openxmlformats.org/drawingml/2006/main">
            <a:r>
              <a:t>[Sources]</a:t>
            </a:r>
          </a:p>
          <a:p xmlns:a="http://schemas.openxmlformats.org/drawingml/2006/main">
            <a:r>
              <a:t>- https://leaf2qr.atlassian.net/wiki/spaces/L/pages/18645003</a:t>
            </a:r>
          </a:p>
          <a:p xmlns:a="http://schemas.openxmlformats.org/drawingml/2006/main">
            <a:r>
              <a:t>- https://leaf2qr.atlassian.net/browse/LEAF-157</a:t>
            </a:r>
          </a:p>
          <a:p xmlns:a="http://schemas.openxmlformats.org/drawingml/2006/main">
            <a:r>
              <a:t>- https://leaf2qr.atlassian.net/wiki/spaces/L/pages/19726337</a:t>
            </a:r>
          </a:p>
          <a:p xmlns:a="http://schemas.openxmlformats.org/drawingml/2006/main">
            <a:r>
              <a:t>- https://leaf2qr.atlassian.net/wiki/spaces/L/pages/19726345</a:t>
            </a:r>
          </a:p>
          <a:p xmlns:a="http://schemas.openxmlformats.org/drawingml/2006/main">
            <a:r>
              <a:t>- https://leaf2qr.atlassian.net/wiki/spaces/L/pages/6193171</a:t>
            </a:r>
          </a:p>
          <a:p xmlns:a="http://schemas.openxmlformats.org/drawingml/2006/main">
            <a:r>
              <a:t>- https://leaf2qr.atlassian.net/wiki/spaces/L/pages/18284545</a:t>
            </a:r>
          </a:p>
          <a:p xmlns:a="http://schemas.openxmlformats.org/drawingml/2006/main">
            <a:r>
              <a:t>- Sprint 4 stakeholder feedback supplied in the brief.</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 was split between models, interface integration and reporting, and the backlog names the owners. These are assigned responsibilities, not a calculation of each person’s contribution. The Week 5 reflection flags that some supervised-classification worklogs were entered under Pengyun’s account even though Jingyi was assigned, so that needs reconciliation. Hypercube shows real replanning: it reached review on 21 August, returned to In Progress, and was repaired and merged on 28 August. The lesson is to give integration and review their own checkpoints, rather than count a component as a finished user flow.</a:t>
            </a:r>
          </a:p>
          <a:p xmlns:a="http://schemas.openxmlformats.org/drawingml/2006/main">
            <a:r>
              <a:t/>
            </a:r>
          </a:p>
          <a:p xmlns:a="http://schemas.openxmlformats.org/drawingml/2006/main">
            <a:r>
              <a:t>[Sources]</a:t>
            </a:r>
          </a:p>
          <a:p xmlns:a="http://schemas.openxmlformats.org/drawingml/2006/main">
            <a:r>
              <a:t>- https://leaf2qr.atlassian.net/wiki/spaces/L/pages/18284545</a:t>
            </a:r>
          </a:p>
          <a:p xmlns:a="http://schemas.openxmlformats.org/drawingml/2006/main">
            <a:r>
              <a:t>- https://leaf2qr.atlassian.net/wiki/spaces/L/pages/18448410</a:t>
            </a:r>
          </a:p>
          <a:p xmlns:a="http://schemas.openxmlformats.org/drawingml/2006/main">
            <a:r>
              <a:t>- https://leaf2qr.atlassian.net/wiki/spaces/L/pages/19726345</a:t>
            </a:r>
          </a:p>
          <a:p xmlns:a="http://schemas.openxmlformats.org/drawingml/2006/main">
            <a:r>
              <a:t>- https://leaf2qr.atlassian.net/browse/LEAF-150 (status history)</a:t>
            </a:r>
          </a:p>
          <a:p xmlns:a="http://schemas.openxmlformats.org/drawingml/2006/main">
            <a:r>
              <a:t>- https://github.com/Techlauncher-LeafAnalyzer/Hyperspectral-Image-Inspector/pull/28</a:t>
            </a:r>
          </a:p>
          <a:p xmlns:a="http://schemas.openxmlformats.org/drawingml/2006/main">
            <a:r>
              <a:t>- https://github.com/Techlauncher-LeafAnalyzer/Hyperspectral-Image-Inspector/pull/29</a:t>
            </a:r>
          </a:p>
          <a:p xmlns:a="http://schemas.openxmlformats.org/drawingml/2006/main">
            <a:r>
              <a:t>- https://github.com/Techlauncher-LeafAnalyzer/Hyperspectral-Image-Inspector/pull/36</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have real numbers to compare. Hypercube records five hours estimated and six logged; SR records five estimated and seven logged. The smaller crop fix and colour swatches took less logged time than their current estimates. These are Jira records, not measured stopwatch time. History matters: SR’s estimate changed from three to four to five hours, and the Hypercube estimate was added after work had reached review. So this shows better tracking, but not yet reliable forecasting. At the snapshot, 10 of 45 Sprint 5 issues have an original estimate and 29 have logged time. For Sprint 6 we propose preserving the first estimate and recording why it changes.</a:t>
            </a:r>
          </a:p>
          <a:p xmlns:a="http://schemas.openxmlformats.org/drawingml/2006/main">
            <a:r>
              <a:t/>
            </a:r>
          </a:p>
          <a:p xmlns:a="http://schemas.openxmlformats.org/drawingml/2006/main">
            <a:r>
              <a:t>[Sources]</a:t>
            </a:r>
          </a:p>
          <a:p xmlns:a="http://schemas.openxmlformats.org/drawingml/2006/main">
            <a:r>
              <a:t>- https://leaf2qr.atlassian.net/browse/LEAF-150 (estimate, worklog and history)</a:t>
            </a:r>
          </a:p>
          <a:p xmlns:a="http://schemas.openxmlformats.org/drawingml/2006/main">
            <a:r>
              <a:t>- https://leaf2qr.atlassian.net/browse/LEAF-152 (estimate, worklogs and history)</a:t>
            </a:r>
          </a:p>
          <a:p xmlns:a="http://schemas.openxmlformats.org/drawingml/2006/main">
            <a:r>
              <a:t>- https://leaf2qr.atlassian.net/browse/LEAF-149</a:t>
            </a:r>
          </a:p>
          <a:p xmlns:a="http://schemas.openxmlformats.org/drawingml/2006/main">
            <a:r>
              <a:t>- https://leaf2qr.atlassian.net/browse/LEAF-153</a:t>
            </a:r>
          </a:p>
          <a:p xmlns:a="http://schemas.openxmlformats.org/drawingml/2006/main">
            <a:r>
              <a:t>- https://leaf2qr.atlassian.net/browse/LEAF-155</a:t>
            </a:r>
          </a:p>
          <a:p xmlns:a="http://schemas.openxmlformats.org/drawingml/2006/main">
            <a:r>
              <a:t>- Jira query: project = LEAF AND sprint = "Sprint 5"; 45 returned issues; snapshot 28 August 2026.</a:t>
            </a:r>
          </a:p>
          <a:p xmlns:a="http://schemas.openxmlformats.org/drawingml/2006/main">
            <a:r>
              <a:t>- Differences computed as logged actual minus the current original-estimate field; not an independently recorded retrospective metric.</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risk plan was updated on both 21 and 28 August. It now records priority, trend, controls, triggers, contingencies and owners. As more features were connected, data consistency and scientific validity became more important. Large-file performance remains critical: the roughly seven GiB figure is an estimated temporary output size, not a full-capture measurement. Workers and tiling are implemented controls; Windows checks and scientific validation are future evidence. The register uses some role-based owners and explicitly asks the Program Manager to name accountable people at the next review. All listed risks remain open.</a:t>
            </a:r>
          </a:p>
          <a:p xmlns:a="http://schemas.openxmlformats.org/drawingml/2006/main">
            <a:r>
              <a:t/>
            </a:r>
          </a:p>
          <a:p xmlns:a="http://schemas.openxmlformats.org/drawingml/2006/main">
            <a:r>
              <a:t>[Sources]</a:t>
            </a:r>
          </a:p>
          <a:p xmlns:a="http://schemas.openxmlformats.org/drawingml/2006/main">
            <a:r>
              <a:t>- https://leaf2qr.atlassian.net/wiki/spaces/L/pages/6193171 (R2, R3, R4, R11; next-review actions)</a:t>
            </a:r>
          </a:p>
          <a:p xmlns:a="http://schemas.openxmlformats.org/drawingml/2006/main">
            <a:r>
              <a:t>- https://github.com/Techlauncher-LeafAnalyzer/Hyperspectral-Image-Inspector/blob/ac7161342dbb661c9f5efbfd9de5a554ee4c6141/docs/super-resolution.md</a:t>
            </a:r>
          </a:p>
          <a:p xmlns:a="http://schemas.openxmlformats.org/drawingml/2006/main">
            <a:r>
              <a:t>- https://leaf2qr.atlassian.net/wiki/spaces/L/pages/19726345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25 introduced pytest, pytest-qt, shared fixtures and a tracked UI suite. The suite checks both small components and connected workflows, such as cropping, undo, tab switching and saving. Later SR tests check cancellation, errors, coordinates and safe shutdown. A real-checkpoint test compares the service with a direct network call, but it needs the optional runtime. Our local rerun at ecdac34 passed 114 tests and skipped 11 because PyTorch was absent. That is not a fresh inference validation. Dedicated classification test files and numeric index-reference tests are still missing from the reviewed tracked suite.</a:t>
            </a:r>
          </a:p>
          <a:p xmlns:a="http://schemas.openxmlformats.org/drawingml/2006/main">
            <a:r>
              <a:t/>
            </a:r>
          </a:p>
          <a:p xmlns:a="http://schemas.openxmlformats.org/drawingml/2006/main">
            <a:r>
              <a:t>[Sources]</a:t>
            </a:r>
          </a:p>
          <a:p xmlns:a="http://schemas.openxmlformats.org/drawingml/2006/main">
            <a:r>
              <a:t>- https://github.com/Techlauncher-LeafAnalyzer/Hyperspectral-Image-Inspector/pull/25</a:t>
            </a:r>
          </a:p>
          <a:p xmlns:a="http://schemas.openxmlformats.org/drawingml/2006/main">
            <a:r>
              <a:t>- https://github.com/Techlauncher-LeafAnalyzer/Hyperspectral-Image-Inspector/blob/ac7161342dbb661c9f5efbfd9de5a554ee4c6141/ui_tests/conftest.py</a:t>
            </a:r>
          </a:p>
          <a:p xmlns:a="http://schemas.openxmlformats.org/drawingml/2006/main">
            <a:r>
              <a:t>- https://github.com/Techlauncher-LeafAnalyzer/Hyperspectral-Image-Inspector/blob/ac7161342dbb661c9f5efbfd9de5a554ee4c6141/ui_tests/ui/test_crop.py</a:t>
            </a:r>
          </a:p>
          <a:p xmlns:a="http://schemas.openxmlformats.org/drawingml/2006/main">
            <a:r>
              <a:t>- https://github.com/Techlauncher-LeafAnalyzer/Hyperspectral-Image-Inspector/blob/ac7161342dbb661c9f5efbfd9de5a554ee4c6141/ui_tests/ui/test_super_resolution.py</a:t>
            </a:r>
          </a:p>
          <a:p xmlns:a="http://schemas.openxmlformats.org/drawingml/2006/main">
            <a:r>
              <a:t>- https://github.com/Techlauncher-LeafAnalyzer/Hyperspectral-Image-Inspector/blob/ac7161342dbb661c9f5efbfd9de5a554ee4c6141/ui_tests/core/test_super_resolution_model.py</a:t>
            </a:r>
          </a:p>
          <a:p xmlns:a="http://schemas.openxmlformats.org/drawingml/2006/main">
            <a:r>
              <a:t>- https://github.com/Techlauncher-LeafAnalyzer/Hyperspectral-Image-Inspector/pull/36</a:t>
            </a:r>
          </a:p>
          <a:p xmlns:a="http://schemas.openxmlformats.org/drawingml/2006/main">
            <a:r>
              <a:t>- https://leaf2qr.atlassian.net/browse/LEAF-113</a:t>
            </a:r>
          </a:p>
          <a:p xmlns:a="http://schemas.openxmlformats.org/drawingml/2006/main">
            <a:r>
              <a:t>- Local verification 28 August: .venv/bin/python -m pytest -q -rs at ecdac34; 114 passed, 11 skipped (PyTorch unavailable).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GitHub workflow runs on pull requests, pushes to main and manual dispatch. It installs the Qt runtime and development requirements, then runs pytest. The latest main run at ac71613 succeeded with 105 passed and 20 skipped. Eleven skips are SR tests that need PyTorch; nine need real captures that are not stored in the repository. A temporary checkout rerun reproduced these counts. This is CI, not automated deployment: no deployment job is configured. A green run helps catch covered regressions, but it does not prove Windows graphics, real-model performance, scientific accuracy or complete classification coverage. We have not verified branch-protection enforcement.</a:t>
            </a:r>
          </a:p>
          <a:p xmlns:a="http://schemas.openxmlformats.org/drawingml/2006/main">
            <a:r>
              <a:t/>
            </a:r>
          </a:p>
          <a:p xmlns:a="http://schemas.openxmlformats.org/drawingml/2006/main">
            <a:r>
              <a:t>[Sources]</a:t>
            </a:r>
          </a:p>
          <a:p xmlns:a="http://schemas.openxmlformats.org/drawingml/2006/main">
            <a:r>
              <a:t>- https://github.com/Techlauncher-LeafAnalyzer/Hyperspectral-Image-Inspector/pull/25</a:t>
            </a:r>
          </a:p>
          <a:p xmlns:a="http://schemas.openxmlformats.org/drawingml/2006/main">
            <a:r>
              <a:t>- https://github.com/Techlauncher-LeafAnalyzer/Hyperspectral-Image-Inspector/blob/ac7161342dbb661c9f5efbfd9de5a554ee4c6141/.github/workflows/ui-tests.yml</a:t>
            </a:r>
          </a:p>
          <a:p xmlns:a="http://schemas.openxmlformats.org/drawingml/2006/main">
            <a:r>
              <a:t>- https://github.com/Techlauncher-LeafAnalyzer/Hyperspectral-Image-Inspector/actions/runs/33145582110</a:t>
            </a:r>
          </a:p>
          <a:p xmlns:a="http://schemas.openxmlformats.org/drawingml/2006/main">
            <a:r>
              <a:t>- https://github.com/Techlauncher-LeafAnalyzer/Hyperspectral-Image-Inspector/blob/ac7161342dbb661c9f5efbfd9de5a554ee4c6141/requirements-dev.txt</a:t>
            </a:r>
          </a:p>
          <a:p xmlns:a="http://schemas.openxmlformats.org/drawingml/2006/main">
            <a:r>
              <a:t>- Latest CI log: collected 125 items; 105 passed, 20 skipped in 8.08s.</a:t>
            </a:r>
          </a:p>
          <a:p xmlns:a="http://schemas.openxmlformats.org/drawingml/2006/main">
            <a:r>
              <a:t>- Temporary checkout verification at ac71613 on 28 August: 105 passed, 20 skipped; no PyTorch and no real samples.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shows review changing the implementation. Ryan requested that the classification worker be separated from the main window, following the SR worker pattern. A later commit extracted the classification controller, and the review was approved before the merge at 15:42 Sydney time. CI passed on the PR and on main. Earlier reports still describe this PR as open because they were written before the merge, so we have updated this presentation using the later GitHub evidence. Jira marks classification testing tickets complete, but this PR added no dedicated test files. That is a tracking and coverage gap to close next.</a:t>
            </a:r>
          </a:p>
          <a:p xmlns:a="http://schemas.openxmlformats.org/drawingml/2006/main">
            <a:r>
              <a:t/>
            </a:r>
          </a:p>
          <a:p xmlns:a="http://schemas.openxmlformats.org/drawingml/2006/main">
            <a:r>
              <a:t>[Sources]</a:t>
            </a:r>
          </a:p>
          <a:p xmlns:a="http://schemas.openxmlformats.org/drawingml/2006/main">
            <a:r>
              <a:t>- https://github.com/Techlauncher-LeafAnalyzer/Hyperspectral-Image-Inspector/pull/36</a:t>
            </a:r>
          </a:p>
          <a:p xmlns:a="http://schemas.openxmlformats.org/drawingml/2006/main">
            <a:r>
              <a:t>- https://github.com/Techlauncher-LeafAnalyzer/Hyperspectral-Image-Inspector/pull/36#pullrequestreview-5048104584</a:t>
            </a:r>
          </a:p>
          <a:p xmlns:a="http://schemas.openxmlformats.org/drawingml/2006/main">
            <a:r>
              <a:t>- https://github.com/Techlauncher-LeafAnalyzer/Hyperspectral-Image-Inspector/pull/36#pullrequestreview-5048223876</a:t>
            </a:r>
          </a:p>
          <a:p xmlns:a="http://schemas.openxmlformats.org/drawingml/2006/main">
            <a:r>
              <a:t>- https://github.com/Techlauncher-LeafAnalyzer/Hyperspectral-Image-Inspector/commit/c285154ac5a1699da66058b6511dbbbc006d60b0</a:t>
            </a:r>
          </a:p>
          <a:p xmlns:a="http://schemas.openxmlformats.org/drawingml/2006/main">
            <a:r>
              <a:t>- https://github.com/Techlauncher-LeafAnalyzer/Hyperspectral-Image-Inspector/actions/runs/33145582110</a:t>
            </a:r>
          </a:p>
          <a:p xmlns:a="http://schemas.openxmlformats.org/drawingml/2006/main">
            <a:r>
              <a:t>- https://leaf2qr.atlassian.net/wiki/spaces/L/pages/19726337</a:t>
            </a:r>
          </a:p>
          <a:p xmlns:a="http://schemas.openxmlformats.org/drawingml/2006/main">
            <a:r>
              <a:t>- https://leaf2qr.atlassian.net/wiki/spaces/L/pages/19726345</a:t>
            </a:r>
          </a:p>
          <a:p xmlns:a="http://schemas.openxmlformats.org/drawingml/2006/main">
            <a:r>
              <a:t>- Asset: actual GitHub browser screenshot captured 28 August 2026; cropped only for layout.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have two consecutive weekly reflection logs, each with a team section and four individual sections. The first identifies the unfinished Hypercube integration, shared UI-state problems and inconsistent records. The following week records the Hypercube merge, crop fix and SR integration. Tutor feedback also led to regular reflections and risk updates linked through LEAF 157. These are useful examples of reflection leading to follow-up work. Two logs are a start, not proof of a long-established process. We should keep adding owner, due date and outcome links and verify them against the merged revision.</a:t>
            </a:r>
          </a:p>
          <a:p xmlns:a="http://schemas.openxmlformats.org/drawingml/2006/main">
            <a:r>
              <a:t/>
            </a:r>
          </a:p>
          <a:p xmlns:a="http://schemas.openxmlformats.org/drawingml/2006/main">
            <a:r>
              <a:t>[Sources]</a:t>
            </a:r>
          </a:p>
          <a:p xmlns:a="http://schemas.openxmlformats.org/drawingml/2006/main">
            <a:r>
              <a:t>- https://leaf2qr.atlassian.net/wiki/spaces/L/pages/18448410</a:t>
            </a:r>
          </a:p>
          <a:p xmlns:a="http://schemas.openxmlformats.org/drawingml/2006/main">
            <a:r>
              <a:t>- https://leaf2qr.atlassian.net/wiki/spaces/L/pages/19726345</a:t>
            </a:r>
          </a:p>
          <a:p xmlns:a="http://schemas.openxmlformats.org/drawingml/2006/main">
            <a:r>
              <a:t>- https://leaf2qr.atlassian.net/wiki/spaces/L/pages/18645003</a:t>
            </a:r>
          </a:p>
          <a:p xmlns:a="http://schemas.openxmlformats.org/drawingml/2006/main">
            <a:r>
              <a:t>- https://leaf2qr.atlassian.net/browse/LEAF-157</a:t>
            </a:r>
          </a:p>
          <a:p xmlns:a="http://schemas.openxmlformats.org/drawingml/2006/main">
            <a:r>
              <a:t>- https://github.com/Techlauncher-LeafAnalyzer/Hyperspectral-Image-Inspector/pull/29</a:t>
            </a:r>
          </a:p>
          <a:p xmlns:a="http://schemas.openxmlformats.org/drawingml/2006/main">
            <a:r>
              <a:t>- https://github.com/Techlauncher-LeafAnalyzer/Hyperspectral-Image-Inspector/pull/30</a:t>
            </a:r>
          </a:p>
          <a:p xmlns:a="http://schemas.openxmlformats.org/drawingml/2006/main">
            <a:r>
              <a:t>- https://github.com/Techlauncher-LeafAnalyzer/Hyperspectral-Image-Inspector/pull/34</a:t>
            </a:r>
          </a:p>
          <a:p xmlns:a="http://schemas.openxmlformats.org/drawingml/2006/main">
            <a:r>
              <a:t>- https://leaf2qr.atlassian.net/wiki/spaces/L/pages/6193171</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direct answer to last sprint’s feedback. Action traceability improved through linked records. Effort tracking now supports comparisons, but some estimates were entered late or revised. Testing and CI are the strongest verified process change: the repository contains the suite and the run history. Reflection is more consistent across the two weekly logs and points to later work. We should present these as evidence of improvement, not claim that every HD requirement is fully met. The remaining steps are client acceptance, stable estimate baselines and broader scientific and platform validation.</a:t>
            </a:r>
          </a:p>
          <a:p xmlns:a="http://schemas.openxmlformats.org/drawingml/2006/main">
            <a:r>
              <a:t/>
            </a:r>
          </a:p>
          <a:p xmlns:a="http://schemas.openxmlformats.org/drawingml/2006/main">
            <a:r>
              <a:t>[Sources]</a:t>
            </a:r>
          </a:p>
          <a:p xmlns:a="http://schemas.openxmlformats.org/drawingml/2006/main">
            <a:r>
              <a:t>- Sprint 4 feedback and HD criteria: supplied by the team in the presentation brief.</a:t>
            </a:r>
          </a:p>
          <a:p xmlns:a="http://schemas.openxmlformats.org/drawingml/2006/main">
            <a:r>
              <a:t>- https://leaf2qr.atlassian.net/wiki/spaces/L/pages/18645003</a:t>
            </a:r>
          </a:p>
          <a:p xmlns:a="http://schemas.openxmlformats.org/drawingml/2006/main">
            <a:r>
              <a:t>- https://leaf2qr.atlassian.net/wiki/spaces/L/pages/18448410</a:t>
            </a:r>
          </a:p>
          <a:p xmlns:a="http://schemas.openxmlformats.org/drawingml/2006/main">
            <a:r>
              <a:t>- https://leaf2qr.atlassian.net/wiki/spaces/L/pages/19726345</a:t>
            </a:r>
          </a:p>
          <a:p xmlns:a="http://schemas.openxmlformats.org/drawingml/2006/main">
            <a:r>
              <a:t>- https://leaf2qr.atlassian.net/wiki/spaces/L/pages/18284545</a:t>
            </a:r>
          </a:p>
          <a:p xmlns:a="http://schemas.openxmlformats.org/drawingml/2006/main">
            <a:r>
              <a:t>- https://leaf2qr.atlassian.net/wiki/spaces/L/pages/6193171</a:t>
            </a:r>
          </a:p>
          <a:p xmlns:a="http://schemas.openxmlformats.org/drawingml/2006/main">
            <a:r>
              <a:t>- https://leaf2qr.atlassian.net/browse/LEAF-157</a:t>
            </a:r>
          </a:p>
          <a:p xmlns:a="http://schemas.openxmlformats.org/drawingml/2006/main">
            <a:r>
              <a:t>- https://leaf2qr.atlassian.net/browse/LEAF-150</a:t>
            </a:r>
          </a:p>
          <a:p xmlns:a="http://schemas.openxmlformats.org/drawingml/2006/main">
            <a:r>
              <a:t>- https://leaf2qr.atlassian.net/browse/LEAF-152</a:t>
            </a:r>
          </a:p>
          <a:p xmlns:a="http://schemas.openxmlformats.org/drawingml/2006/main">
            <a:r>
              <a:t>- https://github.com/Techlauncher-LeafAnalyzer/Hyperspectral-Image-Inspector/pull/25</a:t>
            </a:r>
          </a:p>
          <a:p xmlns:a="http://schemas.openxmlformats.org/drawingml/2006/main">
            <a:r>
              <a:t>- https://github.com/Techlauncher-LeafAnalyzer/Hyperspectral-Image-Inspector/actions/runs/33145582110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proposed Sprint 6 priorities based on the remaining Jira work and Week 5 report, not an already approved sprint commitment. First, finish calibration with Jingyi on the algorithm and Guochen on the interface. Second, give the newly merged classification work explicit model and UI regression coverage. Third, verify vegetation-index reference values and the assumptions behind SR outputs. Fourth, test real inference and the Windows environment and measure representative data sizes. Finally, demonstrate the results to the client and record decisions, owners and outcomes. We should agree the order and effort before the sprint starts.</a:t>
            </a:r>
          </a:p>
          <a:p xmlns:a="http://schemas.openxmlformats.org/drawingml/2006/main">
            <a:r>
              <a:t/>
            </a:r>
          </a:p>
          <a:p xmlns:a="http://schemas.openxmlformats.org/drawingml/2006/main">
            <a:r>
              <a:t>[Sources]</a:t>
            </a:r>
          </a:p>
          <a:p xmlns:a="http://schemas.openxmlformats.org/drawingml/2006/main">
            <a:r>
              <a:t>- https://leaf2qr.atlassian.net/browse/LEAF-105</a:t>
            </a:r>
          </a:p>
          <a:p xmlns:a="http://schemas.openxmlformats.org/drawingml/2006/main">
            <a:r>
              <a:t>- https://leaf2qr.atlassian.net/browse/LEAF-115</a:t>
            </a:r>
          </a:p>
          <a:p xmlns:a="http://schemas.openxmlformats.org/drawingml/2006/main">
            <a:r>
              <a:t>- https://leaf2qr.atlassian.net/browse/LEAF-116</a:t>
            </a:r>
          </a:p>
          <a:p xmlns:a="http://schemas.openxmlformats.org/drawingml/2006/main">
            <a:r>
              <a:t>- https://leaf2qr.atlassian.net/browse/LEAF-113</a:t>
            </a:r>
          </a:p>
          <a:p xmlns:a="http://schemas.openxmlformats.org/drawingml/2006/main">
            <a:r>
              <a:t>- https://leaf2qr.atlassian.net/browse/LEAF-163</a:t>
            </a:r>
          </a:p>
          <a:p xmlns:a="http://schemas.openxmlformats.org/drawingml/2006/main">
            <a:r>
              <a:t>- https://leaf2qr.atlassian.net/browse/LEAF-164</a:t>
            </a:r>
          </a:p>
          <a:p xmlns:a="http://schemas.openxmlformats.org/drawingml/2006/main">
            <a:r>
              <a:t>- https://github.com/Techlauncher-LeafAnalyzer/Hyperspectral-Image-Inspector/pull/36</a:t>
            </a:r>
          </a:p>
          <a:p xmlns:a="http://schemas.openxmlformats.org/drawingml/2006/main">
            <a:r>
              <a:t>- https://leaf2qr.atlassian.net/wiki/spaces/L/pages/19726337</a:t>
            </a:r>
          </a:p>
          <a:p xmlns:a="http://schemas.openxmlformats.org/drawingml/2006/main">
            <a:r>
              <a:t>- https://leaf2qr.atlassian.net/wiki/spaces/L/pages/19726345</a:t>
            </a:r>
          </a:p>
          <a:p xmlns:a="http://schemas.openxmlformats.org/drawingml/2006/main">
            <a:r>
              <a:t>- https://leaf2qr.atlassian.net/wiki/spaces/L/pages/6193171</a:t>
            </a:r>
          </a:p>
          <a:p xmlns:a="http://schemas.openxmlformats.org/drawingml/2006/main">
            <a:r>
              <a:t>- Proposed process changes derived from the estimate-history audit; not claimed as prior team commitments.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81622322d7d4e6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d1ca811a2644e12" /><Relationship Type="http://schemas.openxmlformats.org/officeDocument/2006/relationships/slideLayout" Target="/ppt/slideLayouts/slideLayout1.xml" Id="R4d8ef45a5d4e4c5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d8ef45a5d4e4c5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71f62f8ea8b4a4e" /><Relationship Type="http://schemas.openxmlformats.org/officeDocument/2006/relationships/notesSlide" Target="/ppt/notesSlides/notesSlide1.xml" Id="R4a3d66241bcb44e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6bdad8c83064406" /><Relationship Type="http://schemas.openxmlformats.org/officeDocument/2006/relationships/notesSlide" Target="/ppt/notesSlides/notesSlide2.xml" Id="Rc282e7a669104bd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fb97269ae914005" /><Relationship Type="http://schemas.openxmlformats.org/officeDocument/2006/relationships/notesSlide" Target="/ppt/notesSlides/notesSlide3.xml" Id="Re8fcf5c2a02c4a7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60586dd977b4e08" /><Relationship Type="http://schemas.openxmlformats.org/officeDocument/2006/relationships/notesSlide" Target="/ppt/notesSlides/notesSlide4.xml" Id="R5eb16192a8f94ab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02dc96961614aed" /><Relationship Type="http://schemas.openxmlformats.org/officeDocument/2006/relationships/notesSlide" Target="/ppt/notesSlides/notesSlide5.xml" Id="R3cf3fcf1152d4b5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9934f8ee4d14ce2" /><Relationship Type="http://schemas.openxmlformats.org/officeDocument/2006/relationships/notesSlide" Target="/ppt/notesSlides/notesSlide6.xml" Id="R53a917eaa1274a3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593d47b2ebf42ef" /><Relationship Type="http://schemas.openxmlformats.org/officeDocument/2006/relationships/notesSlide" Target="/ppt/notesSlides/notesSlide7.xml" Id="R95edee1efa02467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085224275c04a8c" /><Relationship Type="http://schemas.openxmlformats.org/officeDocument/2006/relationships/notesSlide" Target="/ppt/notesSlides/notesSlide8.xml" Id="R616a304409914da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68af5da4b194dcd" /><Relationship Type="http://schemas.openxmlformats.org/officeDocument/2006/relationships/notesSlide" Target="/ppt/notesSlides/notesSlide9.xml" Id="R54b9466b518442d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7eeaa3d2c5d4fe4" /><Relationship Type="http://schemas.openxmlformats.org/officeDocument/2006/relationships/notesSlide" Target="/ppt/notesSlides/notesSlide10.xml" Id="R71549fdbae34429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99bcec5b33c41af" /><Relationship Type="http://schemas.openxmlformats.org/officeDocument/2006/relationships/image" Target="/ppt/media/image.png" Id="R4c9bcd24eeb3470a" /><Relationship Type="http://schemas.openxmlformats.org/officeDocument/2006/relationships/notesSlide" Target="/ppt/notesSlides/notesSlide11.xml" Id="Rf8a36032ccb3403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106c13fe8d4469a" /><Relationship Type="http://schemas.openxmlformats.org/officeDocument/2006/relationships/notesSlide" Target="/ppt/notesSlides/notesSlide12.xml" Id="Rae45a041c97842f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ad236c83eb647f4" /><Relationship Type="http://schemas.openxmlformats.org/officeDocument/2006/relationships/notesSlide" Target="/ppt/notesSlides/notesSlide13.xml" Id="R39543f9a682c49d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48e99d6b60f4de2" /><Relationship Type="http://schemas.openxmlformats.org/officeDocument/2006/relationships/notesSlide" Target="/ppt/notesSlides/notesSlide14.xml" Id="R5a76df724b9a48ad" /></Relationships>
</file>

<file path=ppt/slides/slide1.xml><?xml version="1.0" encoding="utf-8"?>
<p:sld xmlns:p="http://schemas.openxmlformats.org/presentationml/2006/main">
  <p:cSld>
    <p:bg>
      <p:bgPr>
        <a:solidFill xmlns:a="http://schemas.openxmlformats.org/drawingml/2006/main">
          <a:srgbClr val="173B31"/>
        </a:solidFill>
      </p:bgPr>
    </p:bg>
    <p:spTree>
      <p:nvGrpSpPr>
        <p:cNvPr id="1" name=""/>
        <p:cNvGrpSpPr/>
        <p:nvPr/>
      </p:nvGrpSpPr>
      <p:grpSpPr>
        <a:xfrm xmlns:a="http://schemas.openxmlformats.org/drawingml/2006/main"/>
      </p:grpSpPr>
      <p:sp>
        <p:nvSpPr>
          <p:cNvPr id="10" name="TECHLAUNCHER  /  LEAF ANALYZER">
            <a:extLst xmlns:a="http://schemas.openxmlformats.org/drawingml/2006/main">
              <a:ext uri="{FF2B5EF4-FFF2-40B4-BE49-F238E27FC236}">
                <a16:creationId xmlns:a16="http://schemas.microsoft.com/office/drawing/2014/main" id="{213F2B68-8154-4E34-9146-F2C1E03DB152}"/>
              </a:ext>
            </a:extLst>
          </p:cNvPr>
          <p:cNvSpPr>
            <a:spLocks xmlns:a="http://schemas.openxmlformats.org/drawingml/2006/main" noGrp="1"/>
          </p:cNvSpPr>
          <p:nvPr/>
        </p:nvSpPr>
        <p:spPr>
          <a:xfrm xmlns:a="http://schemas.openxmlformats.org/drawingml/2006/main">
            <a:off x="609600" y="581025"/>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C4D9CB"/>
                </a:solidFill>
                <a:latin typeface="Arial"/>
                <a:ea typeface="Arial"/>
                <a:cs typeface="Arial"/>
              </a:defRPr>
            </a:pPr>
            <a:r>
              <a:rPr sz="1725" b="1">
                <a:solidFill>
                  <a:srgbClr val="C4D9CB"/>
                </a:solidFill>
                <a:latin typeface="Arial"/>
                <a:ea typeface="Arial"/>
                <a:cs typeface="Arial"/>
              </a:rPr>
              <a:t>TECHLAUNCHER  /  LEAF ANALYZER</a:t>
            </a:r>
          </a:p>
        </p:txBody>
      </p:sp>
      <p:sp>
        <p:nvSpPr>
          <p:cNvPr id="2" name="Sprint 5&#10;Review">
            <a:extLst xmlns:a="http://schemas.openxmlformats.org/drawingml/2006/main">
              <a:ext uri="{FF2B5EF4-FFF2-40B4-BE49-F238E27FC236}">
                <a16:creationId xmlns:a16="http://schemas.microsoft.com/office/drawing/2014/main" id="{0B29E12D-B3AE-4BBD-916F-780442D9D363}"/>
              </a:ext>
            </a:extLst>
          </p:cNvPr>
          <p:cNvSpPr>
            <a:spLocks xmlns:a="http://schemas.openxmlformats.org/drawingml/2006/main" noGrp="1"/>
          </p:cNvSpPr>
          <p:nvPr/>
        </p:nvSpPr>
        <p:spPr>
          <a:xfrm xmlns:a="http://schemas.openxmlformats.org/drawingml/2006/main">
            <a:off x="609600" y="1714500"/>
            <a:ext cx="9810750" cy="2171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600" b="1">
                <a:solidFill>
                  <a:srgbClr val="FFFFFF"/>
                </a:solidFill>
                <a:latin typeface="Arial"/>
                <a:ea typeface="Arial"/>
                <a:cs typeface="Arial"/>
              </a:defRPr>
            </a:pPr>
            <a:r>
              <a:rPr sz="6600" b="1">
                <a:solidFill>
                  <a:srgbClr val="FFFFFF"/>
                </a:solidFill>
                <a:latin typeface="Arial"/>
                <a:ea typeface="Arial"/>
                <a:cs typeface="Arial"/>
              </a:rPr>
              <a:t>Sprint 5</a:t>
            </a:r>
          </a:p>
          <a:p xmlns:a="http://schemas.openxmlformats.org/drawingml/2006/main">
            <a:pPr algn="l">
              <a:defRPr sz="6600" b="1">
                <a:solidFill>
                  <a:srgbClr val="FFFFFF"/>
                </a:solidFill>
                <a:latin typeface="Arial"/>
                <a:ea typeface="Arial"/>
                <a:cs typeface="Arial"/>
              </a:defRPr>
            </a:pPr>
            <a:r>
              <a:rPr sz="6600" b="1">
                <a:solidFill>
                  <a:srgbClr val="FFFFFF"/>
                </a:solidFill>
                <a:latin typeface="Arial"/>
                <a:ea typeface="Arial"/>
                <a:cs typeface="Arial"/>
              </a:rPr>
              <a:t>Review</a:t>
            </a:r>
          </a:p>
        </p:txBody>
      </p:sp>
      <p:sp>
        <p:nvSpPr>
          <p:cNvPr id="3" name="">
            <a:extLst xmlns:a="http://schemas.openxmlformats.org/drawingml/2006/main">
              <a:ext uri="{FF2B5EF4-FFF2-40B4-BE49-F238E27FC236}">
                <a16:creationId xmlns:a16="http://schemas.microsoft.com/office/drawing/2014/main" id="{CB8FC899-AB65-4B22-9FFF-DF26A34D41A0}"/>
              </a:ext>
            </a:extLst>
          </p:cNvPr>
          <p:cNvSpPr>
            <a:spLocks xmlns:a="http://schemas.openxmlformats.org/drawingml/2006/main" noGrp="1"/>
          </p:cNvSpPr>
          <p:nvPr/>
        </p:nvSpPr>
        <p:spPr>
          <a:xfrm xmlns:a="http://schemas.openxmlformats.org/drawingml/2006/main">
            <a:off x="609600" y="4314825"/>
            <a:ext cx="10972800" cy="0"/>
          </a:xfrm>
          <a:prstGeom xmlns:a="http://schemas.openxmlformats.org/drawingml/2006/main" prst="line">
            <a:avLst/>
          </a:prstGeom>
          <a:noFill xmlns:a="http://schemas.openxmlformats.org/drawingml/2006/main"/>
          <a:ln xmlns:a="http://schemas.openxmlformats.org/drawingml/2006/main" w="14288">
            <a:solidFill>
              <a:srgbClr val="416252"/>
            </a:solidFill>
          </a:ln>
        </p:spPr>
      </p:sp>
      <p:sp>
        <p:nvSpPr>
          <p:cNvPr id="4" name="Hyperspectral Image Inspector">
            <a:extLst xmlns:a="http://schemas.openxmlformats.org/drawingml/2006/main">
              <a:ext uri="{FF2B5EF4-FFF2-40B4-BE49-F238E27FC236}">
                <a16:creationId xmlns:a16="http://schemas.microsoft.com/office/drawing/2014/main" id="{27816016-E163-478F-89ED-DD8D1AAE57A5}"/>
              </a:ext>
            </a:extLst>
          </p:cNvPr>
          <p:cNvSpPr>
            <a:spLocks xmlns:a="http://schemas.openxmlformats.org/drawingml/2006/main" noGrp="1"/>
          </p:cNvSpPr>
          <p:nvPr/>
        </p:nvSpPr>
        <p:spPr>
          <a:xfrm xmlns:a="http://schemas.openxmlformats.org/drawingml/2006/main">
            <a:off x="609600" y="4591050"/>
            <a:ext cx="10763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FFFFFF"/>
                </a:solidFill>
                <a:latin typeface="Arial"/>
                <a:ea typeface="Arial"/>
                <a:cs typeface="Arial"/>
              </a:defRPr>
            </a:pPr>
            <a:r>
              <a:rPr sz="2550" b="0">
                <a:solidFill>
                  <a:srgbClr val="FFFFFF"/>
                </a:solidFill>
                <a:latin typeface="Arial"/>
                <a:ea typeface="Arial"/>
                <a:cs typeface="Arial"/>
              </a:rPr>
              <a:t>Hyperspectral Image Inspector</a:t>
            </a:r>
          </a:p>
        </p:txBody>
      </p:sp>
      <p:sp>
        <p:nvSpPr>
          <p:cNvPr id="5" name="Working features. Stronger checks. Clearer fo">
            <a:extLst xmlns:a="http://schemas.openxmlformats.org/drawingml/2006/main">
              <a:ext uri="{FF2B5EF4-FFF2-40B4-BE49-F238E27FC236}">
                <a16:creationId xmlns:a16="http://schemas.microsoft.com/office/drawing/2014/main" id="{90605EE6-B728-4A85-9791-344A487B15AC}"/>
              </a:ext>
            </a:extLst>
          </p:cNvPr>
          <p:cNvSpPr>
            <a:spLocks xmlns:a="http://schemas.openxmlformats.org/drawingml/2006/main" noGrp="1"/>
          </p:cNvSpPr>
          <p:nvPr/>
        </p:nvSpPr>
        <p:spPr>
          <a:xfrm xmlns:a="http://schemas.openxmlformats.org/drawingml/2006/main">
            <a:off x="609600" y="524827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C4D9CB"/>
                </a:solidFill>
                <a:latin typeface="Arial"/>
                <a:ea typeface="Arial"/>
                <a:cs typeface="Arial"/>
              </a:defRPr>
            </a:pPr>
            <a:r>
              <a:rPr sz="2100" b="0">
                <a:solidFill>
                  <a:srgbClr val="C4D9CB"/>
                </a:solidFill>
                <a:latin typeface="Arial"/>
                <a:ea typeface="Arial"/>
                <a:cs typeface="Arial"/>
              </a:rPr>
              <a:t>Working features. Stronger checks. Clearer follow-up.</a:t>
            </a:r>
          </a:p>
        </p:txBody>
      </p:sp>
      <p:sp>
        <p:nvSpPr>
          <p:cNvPr id="6" name="">
            <a:extLst xmlns:a="http://schemas.openxmlformats.org/drawingml/2006/main">
              <a:ext uri="{FF2B5EF4-FFF2-40B4-BE49-F238E27FC236}">
                <a16:creationId xmlns:a16="http://schemas.microsoft.com/office/drawing/2014/main" id="{C70573C7-6CC4-4D46-A13C-AD5370D866BD}"/>
              </a:ext>
            </a:extLst>
          </p:cNvPr>
          <p:cNvSpPr>
            <a:spLocks xmlns:a="http://schemas.openxmlformats.org/drawingml/2006/main" noGrp="1"/>
          </p:cNvSpPr>
          <p:nvPr/>
        </p:nvSpPr>
        <p:spPr>
          <a:xfrm xmlns:a="http://schemas.openxmlformats.org/drawingml/2006/main">
            <a:off x="609600" y="6238875"/>
            <a:ext cx="10972800" cy="0"/>
          </a:xfrm>
          <a:prstGeom xmlns:a="http://schemas.openxmlformats.org/drawingml/2006/main" prst="line">
            <a:avLst/>
          </a:prstGeom>
          <a:noFill xmlns:a="http://schemas.openxmlformats.org/drawingml/2006/main"/>
          <a:ln xmlns:a="http://schemas.openxmlformats.org/drawingml/2006/main" w="14288">
            <a:solidFill>
              <a:srgbClr val="416252"/>
            </a:solidFill>
          </a:ln>
        </p:spPr>
      </p:sp>
      <p:sp>
        <p:nvSpPr>
          <p:cNvPr id="7" name="LEAF ANALYZER  /  SPRINT 5">
            <a:extLst xmlns:a="http://schemas.openxmlformats.org/drawingml/2006/main">
              <a:ext uri="{FF2B5EF4-FFF2-40B4-BE49-F238E27FC236}">
                <a16:creationId xmlns:a16="http://schemas.microsoft.com/office/drawing/2014/main" id="{45729951-2911-4AFC-B5F4-E56EACBE7CCA}"/>
              </a:ext>
            </a:extLst>
          </p:cNvPr>
          <p:cNvSpPr>
            <a:spLocks xmlns:a="http://schemas.openxmlformats.org/drawingml/2006/main" noGrp="1"/>
          </p:cNvSpPr>
          <p:nvPr/>
        </p:nvSpPr>
        <p:spPr>
          <a:xfrm xmlns:a="http://schemas.openxmlformats.org/drawingml/2006/main">
            <a:off x="609600" y="6410325"/>
            <a:ext cx="323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C4D9CB"/>
                </a:solidFill>
                <a:latin typeface="Arial"/>
                <a:ea typeface="Arial"/>
                <a:cs typeface="Arial"/>
              </a:defRPr>
            </a:pPr>
            <a:r>
              <a:rPr sz="1350" b="0">
                <a:solidFill>
                  <a:srgbClr val="C4D9CB"/>
                </a:solidFill>
                <a:latin typeface="Arial"/>
                <a:ea typeface="Arial"/>
                <a:cs typeface="Arial"/>
              </a:rPr>
              <a:t>LEAF ANALYZER  /  SPRINT 5</a:t>
            </a:r>
          </a:p>
        </p:txBody>
      </p:sp>
      <p:sp>
        <p:nvSpPr>
          <p:cNvPr id="8" name="Evidence through 28 August 2026">
            <a:extLst xmlns:a="http://schemas.openxmlformats.org/drawingml/2006/main">
              <a:ext uri="{FF2B5EF4-FFF2-40B4-BE49-F238E27FC236}">
                <a16:creationId xmlns:a16="http://schemas.microsoft.com/office/drawing/2014/main" id="{7E4DDC68-B0AE-480A-B024-9B682245E2EA}"/>
              </a:ext>
            </a:extLst>
          </p:cNvPr>
          <p:cNvSpPr>
            <a:spLocks xmlns:a="http://schemas.openxmlformats.org/drawingml/2006/main" noGrp="1"/>
          </p:cNvSpPr>
          <p:nvPr/>
        </p:nvSpPr>
        <p:spPr>
          <a:xfrm xmlns:a="http://schemas.openxmlformats.org/drawingml/2006/main">
            <a:off x="3952875" y="6410325"/>
            <a:ext cx="708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C4D9CB"/>
                </a:solidFill>
                <a:latin typeface="Arial"/>
                <a:ea typeface="Arial"/>
                <a:cs typeface="Arial"/>
              </a:defRPr>
            </a:pPr>
            <a:r>
              <a:rPr sz="1350" b="0">
                <a:solidFill>
                  <a:srgbClr val="C4D9CB"/>
                </a:solidFill>
                <a:latin typeface="Arial"/>
                <a:ea typeface="Arial"/>
                <a:cs typeface="Arial"/>
              </a:rPr>
              <a:t>Evidence through 28 August 2026</a:t>
            </a:r>
          </a:p>
        </p:txBody>
      </p:sp>
      <p:sp>
        <p:nvSpPr>
          <p:cNvPr id="9" name="01">
            <a:extLst xmlns:a="http://schemas.openxmlformats.org/drawingml/2006/main">
              <a:ext uri="{FF2B5EF4-FFF2-40B4-BE49-F238E27FC236}">
                <a16:creationId xmlns:a16="http://schemas.microsoft.com/office/drawing/2014/main" id="{E85B00E6-7724-40CA-B68D-6DDE51F97D72}"/>
              </a:ext>
            </a:extLst>
          </p:cNvPr>
          <p:cNvSpPr>
            <a:spLocks xmlns:a="http://schemas.openxmlformats.org/drawingml/2006/main" noGrp="1"/>
          </p:cNvSpPr>
          <p:nvPr/>
        </p:nvSpPr>
        <p:spPr>
          <a:xfrm xmlns:a="http://schemas.openxmlformats.org/drawingml/2006/main">
            <a:off x="11239500" y="6381750"/>
            <a:ext cx="361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C4D9CB"/>
                </a:solidFill>
                <a:latin typeface="Arial"/>
                <a:ea typeface="Arial"/>
                <a:cs typeface="Arial"/>
              </a:defRPr>
            </a:pPr>
            <a:r>
              <a:rPr sz="1575" b="0">
                <a:solidFill>
                  <a:srgbClr val="C4D9CB"/>
                </a:solidFill>
                <a:latin typeface="Arial"/>
                <a:ea typeface="Arial"/>
                <a:cs typeface="Arial"/>
              </a:rPr>
              <a:t>01</a:t>
            </a:r>
          </a:p>
        </p:txBody>
      </p:sp>
    </p:spTree>
    <p:extLst>
      <p:ext uri="{BB962C8B-B14F-4D97-AF65-F5344CB8AC3E}">
        <p14:creationId xmlns:p14="http://schemas.microsoft.com/office/powerpoint/2010/main" val="882422061"/>
      </p:ext>
    </p:extLst>
  </p:cSld>
</p:sld>
</file>

<file path=ppt/slides/slide2.xml><?xml version="1.0" encoding="utf-8"?>
<p:sld xmlns:p="http://schemas.openxmlformats.org/presentationml/2006/main">
  <p:cSld>
    <p:bg>
      <p:bgPr>
        <a:solidFill xmlns:a="http://schemas.openxmlformats.org/drawingml/2006/main">
          <a:srgbClr val="F4F5F0"/>
        </a:solidFill>
      </p:bgPr>
    </p:bg>
    <p:spTree>
      <p:nvGrpSpPr>
        <p:cNvPr id="1" name=""/>
        <p:cNvGrpSpPr/>
        <p:nvPr/>
      </p:nvGrpSpPr>
      <p:grpSpPr>
        <a:xfrm xmlns:a="http://schemas.openxmlformats.org/drawingml/2006/main"/>
      </p:grpSpPr>
      <p:sp>
        <p:nvSpPr>
          <p:cNvPr id="19" name="SPRINT 5 OVERVIEW">
            <a:extLst xmlns:a="http://schemas.openxmlformats.org/drawingml/2006/main">
              <a:ext uri="{FF2B5EF4-FFF2-40B4-BE49-F238E27FC236}">
                <a16:creationId xmlns:a16="http://schemas.microsoft.com/office/drawing/2014/main" id="{742DCAC5-8CDB-4C75-849B-690EC599F429}"/>
              </a:ext>
            </a:extLst>
          </p:cNvPr>
          <p:cNvSpPr>
            <a:spLocks xmlns:a="http://schemas.openxmlformats.org/drawingml/2006/main" noGrp="1"/>
          </p:cNvSpPr>
          <p:nvPr/>
        </p:nvSpPr>
        <p:spPr>
          <a:xfrm xmlns:a="http://schemas.openxmlformats.org/drawingml/2006/main">
            <a:off x="609600" y="4000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287553"/>
                </a:solidFill>
                <a:latin typeface="Arial"/>
                <a:ea typeface="Arial"/>
                <a:cs typeface="Arial"/>
              </a:defRPr>
            </a:pPr>
            <a:r>
              <a:rPr sz="1500" b="1">
                <a:solidFill>
                  <a:srgbClr val="287553"/>
                </a:solidFill>
                <a:latin typeface="Arial"/>
                <a:ea typeface="Arial"/>
                <a:cs typeface="Arial"/>
              </a:rPr>
              <a:t>SPRINT 5 OVERVIEW</a:t>
            </a:r>
          </a:p>
        </p:txBody>
      </p:sp>
      <p:sp>
        <p:nvSpPr>
          <p:cNvPr id="2" name="More of the analysis workflow now works">
            <a:extLst xmlns:a="http://schemas.openxmlformats.org/drawingml/2006/main">
              <a:ext uri="{FF2B5EF4-FFF2-40B4-BE49-F238E27FC236}">
                <a16:creationId xmlns:a16="http://schemas.microsoft.com/office/drawing/2014/main" id="{50CAB585-FF82-4424-BC51-80AF7707E3CC}"/>
              </a:ext>
            </a:extLst>
          </p:cNvPr>
          <p:cNvSpPr>
            <a:spLocks xmlns:a="http://schemas.openxmlformats.org/drawingml/2006/main" noGrp="1"/>
          </p:cNvSpPr>
          <p:nvPr/>
        </p:nvSpPr>
        <p:spPr>
          <a:xfrm xmlns:a="http://schemas.openxmlformats.org/drawingml/2006/main">
            <a:off x="609600" y="86677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3B31"/>
                </a:solidFill>
                <a:latin typeface="Arial"/>
                <a:ea typeface="Arial"/>
                <a:cs typeface="Arial"/>
              </a:defRPr>
            </a:pPr>
            <a:r>
              <a:rPr sz="3600" b="1">
                <a:solidFill>
                  <a:srgbClr val="173B31"/>
                </a:solidFill>
                <a:latin typeface="Arial"/>
                <a:ea typeface="Arial"/>
                <a:cs typeface="Arial"/>
              </a:rPr>
              <a:t>More of the analysis workflow now works</a:t>
            </a:r>
          </a:p>
        </p:txBody>
      </p:sp>
      <p:sp>
        <p:nvSpPr>
          <p:cNvPr id="3" name="">
            <a:extLst xmlns:a="http://schemas.openxmlformats.org/drawingml/2006/main">
              <a:ext uri="{FF2B5EF4-FFF2-40B4-BE49-F238E27FC236}">
                <a16:creationId xmlns:a16="http://schemas.microsoft.com/office/drawing/2014/main" id="{071F811A-4164-40D4-9108-C6A852641838}"/>
              </a:ext>
            </a:extLst>
          </p:cNvPr>
          <p:cNvSpPr>
            <a:spLocks xmlns:a="http://schemas.openxmlformats.org/drawingml/2006/main" noGrp="1"/>
          </p:cNvSpPr>
          <p:nvPr/>
        </p:nvSpPr>
        <p:spPr>
          <a:xfrm xmlns:a="http://schemas.openxmlformats.org/drawingml/2006/main">
            <a:off x="609600" y="623887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4" name="LEAF ANALYZER  /  SPRINT 5">
            <a:extLst xmlns:a="http://schemas.openxmlformats.org/drawingml/2006/main">
              <a:ext uri="{FF2B5EF4-FFF2-40B4-BE49-F238E27FC236}">
                <a16:creationId xmlns:a16="http://schemas.microsoft.com/office/drawing/2014/main" id="{8788CDBC-62BC-47B2-B71E-1D8792FA8CCC}"/>
              </a:ext>
            </a:extLst>
          </p:cNvPr>
          <p:cNvSpPr>
            <a:spLocks xmlns:a="http://schemas.openxmlformats.org/drawingml/2006/main" noGrp="1"/>
          </p:cNvSpPr>
          <p:nvPr/>
        </p:nvSpPr>
        <p:spPr>
          <a:xfrm xmlns:a="http://schemas.openxmlformats.org/drawingml/2006/main">
            <a:off x="609600" y="6410325"/>
            <a:ext cx="323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LEAF ANALYZER  /  SPRINT 5</a:t>
            </a:r>
          </a:p>
        </p:txBody>
      </p:sp>
      <p:sp>
        <p:nvSpPr>
          <p:cNvPr id="5" name="PRs #24–27, #29–36 • Sprint 5 backlog">
            <a:extLst xmlns:a="http://schemas.openxmlformats.org/drawingml/2006/main">
              <a:ext uri="{FF2B5EF4-FFF2-40B4-BE49-F238E27FC236}">
                <a16:creationId xmlns:a16="http://schemas.microsoft.com/office/drawing/2014/main" id="{8BF5AC4C-ED02-4B5A-AD86-9DD78DF16C86}"/>
              </a:ext>
            </a:extLst>
          </p:cNvPr>
          <p:cNvSpPr>
            <a:spLocks xmlns:a="http://schemas.openxmlformats.org/drawingml/2006/main" noGrp="1"/>
          </p:cNvSpPr>
          <p:nvPr/>
        </p:nvSpPr>
        <p:spPr>
          <a:xfrm xmlns:a="http://schemas.openxmlformats.org/drawingml/2006/main">
            <a:off x="3952875" y="6410325"/>
            <a:ext cx="708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PRs #24–27, #29–36 • Sprint 5 backlog</a:t>
            </a:r>
          </a:p>
        </p:txBody>
      </p:sp>
      <p:sp>
        <p:nvSpPr>
          <p:cNvPr id="6" name="02">
            <a:extLst xmlns:a="http://schemas.openxmlformats.org/drawingml/2006/main">
              <a:ext uri="{FF2B5EF4-FFF2-40B4-BE49-F238E27FC236}">
                <a16:creationId xmlns:a16="http://schemas.microsoft.com/office/drawing/2014/main" id="{4C2FA047-CFEC-4DC9-A22B-C3F544239DE2}"/>
              </a:ext>
            </a:extLst>
          </p:cNvPr>
          <p:cNvSpPr>
            <a:spLocks xmlns:a="http://schemas.openxmlformats.org/drawingml/2006/main" noGrp="1"/>
          </p:cNvSpPr>
          <p:nvPr/>
        </p:nvSpPr>
        <p:spPr>
          <a:xfrm xmlns:a="http://schemas.openxmlformats.org/drawingml/2006/main">
            <a:off x="11239500" y="6381750"/>
            <a:ext cx="361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02</a:t>
            </a:r>
          </a:p>
        </p:txBody>
      </p:sp>
      <p:sp>
        <p:nvSpPr>
          <p:cNvPr id="7" name="7">
            <a:extLst xmlns:a="http://schemas.openxmlformats.org/drawingml/2006/main">
              <a:ext uri="{FF2B5EF4-FFF2-40B4-BE49-F238E27FC236}">
                <a16:creationId xmlns:a16="http://schemas.microsoft.com/office/drawing/2014/main" id="{2EA3A30F-3DB0-4B21-BAB2-3BB987F948A3}"/>
              </a:ext>
            </a:extLst>
          </p:cNvPr>
          <p:cNvSpPr>
            <a:spLocks xmlns:a="http://schemas.openxmlformats.org/drawingml/2006/main" noGrp="1"/>
          </p:cNvSpPr>
          <p:nvPr/>
        </p:nvSpPr>
        <p:spPr>
          <a:xfrm xmlns:a="http://schemas.openxmlformats.org/drawingml/2006/main">
            <a:off x="609600" y="1819275"/>
            <a:ext cx="309562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300" b="1">
                <a:solidFill>
                  <a:srgbClr val="287553"/>
                </a:solidFill>
                <a:latin typeface="Arial"/>
                <a:ea typeface="Arial"/>
                <a:cs typeface="Arial"/>
              </a:defRPr>
            </a:pPr>
            <a:r>
              <a:rPr sz="6300" b="1">
                <a:solidFill>
                  <a:srgbClr val="287553"/>
                </a:solidFill>
                <a:latin typeface="Arial"/>
                <a:ea typeface="Arial"/>
                <a:cs typeface="Arial"/>
              </a:rPr>
              <a:t>7</a:t>
            </a:r>
          </a:p>
        </p:txBody>
      </p:sp>
      <p:sp>
        <p:nvSpPr>
          <p:cNvPr id="8" name="2D modes connected">
            <a:extLst xmlns:a="http://schemas.openxmlformats.org/drawingml/2006/main">
              <a:ext uri="{FF2B5EF4-FFF2-40B4-BE49-F238E27FC236}">
                <a16:creationId xmlns:a16="http://schemas.microsoft.com/office/drawing/2014/main" id="{D78AE304-9C60-4D0F-AECA-0061022168A9}"/>
              </a:ext>
            </a:extLst>
          </p:cNvPr>
          <p:cNvSpPr>
            <a:spLocks xmlns:a="http://schemas.openxmlformats.org/drawingml/2006/main" noGrp="1"/>
          </p:cNvSpPr>
          <p:nvPr/>
        </p:nvSpPr>
        <p:spPr>
          <a:xfrm xmlns:a="http://schemas.openxmlformats.org/drawingml/2006/main">
            <a:off x="609600" y="29241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3B31"/>
                </a:solidFill>
                <a:latin typeface="Arial"/>
                <a:ea typeface="Arial"/>
                <a:cs typeface="Arial"/>
              </a:defRPr>
            </a:pPr>
            <a:r>
              <a:rPr sz="2400" b="1">
                <a:solidFill>
                  <a:srgbClr val="173B31"/>
                </a:solidFill>
                <a:latin typeface="Arial"/>
                <a:ea typeface="Arial"/>
                <a:cs typeface="Arial"/>
              </a:rPr>
              <a:t>2D modes connected</a:t>
            </a:r>
          </a:p>
        </p:txBody>
      </p:sp>
      <p:sp>
        <p:nvSpPr>
          <p:cNvPr id="9" name="RGB plus six vegetation indices; pixel values">
            <a:extLst xmlns:a="http://schemas.openxmlformats.org/drawingml/2006/main">
              <a:ext uri="{FF2B5EF4-FFF2-40B4-BE49-F238E27FC236}">
                <a16:creationId xmlns:a16="http://schemas.microsoft.com/office/drawing/2014/main" id="{77BEF343-89E6-4C07-9393-4345CE0A8577}"/>
              </a:ext>
            </a:extLst>
          </p:cNvPr>
          <p:cNvSpPr>
            <a:spLocks xmlns:a="http://schemas.openxmlformats.org/drawingml/2006/main" noGrp="1"/>
          </p:cNvSpPr>
          <p:nvPr/>
        </p:nvSpPr>
        <p:spPr>
          <a:xfrm xmlns:a="http://schemas.openxmlformats.org/drawingml/2006/main">
            <a:off x="609600" y="3495675"/>
            <a:ext cx="32385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86C63"/>
                </a:solidFill>
                <a:latin typeface="Arial"/>
                <a:ea typeface="Arial"/>
                <a:cs typeface="Arial"/>
              </a:defRPr>
            </a:pPr>
            <a:r>
              <a:rPr sz="1875" b="0">
                <a:solidFill>
                  <a:srgbClr val="586C63"/>
                </a:solidFill>
                <a:latin typeface="Arial"/>
                <a:ea typeface="Arial"/>
                <a:cs typeface="Arial"/>
              </a:rPr>
              <a:t>RGB plus six vegetation indices; pixel values, spectra and display export.</a:t>
            </a:r>
          </a:p>
        </p:txBody>
      </p:sp>
      <p:sp>
        <p:nvSpPr>
          <p:cNvPr id="10" name="3D">
            <a:extLst xmlns:a="http://schemas.openxmlformats.org/drawingml/2006/main">
              <a:ext uri="{FF2B5EF4-FFF2-40B4-BE49-F238E27FC236}">
                <a16:creationId xmlns:a16="http://schemas.microsoft.com/office/drawing/2014/main" id="{58E09493-1D85-45D1-A03F-8CD3A93E1D7E}"/>
              </a:ext>
            </a:extLst>
          </p:cNvPr>
          <p:cNvSpPr>
            <a:spLocks xmlns:a="http://schemas.openxmlformats.org/drawingml/2006/main" noGrp="1"/>
          </p:cNvSpPr>
          <p:nvPr/>
        </p:nvSpPr>
        <p:spPr>
          <a:xfrm xmlns:a="http://schemas.openxmlformats.org/drawingml/2006/main">
            <a:off x="4362450" y="1819275"/>
            <a:ext cx="309562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300" b="1">
                <a:solidFill>
                  <a:srgbClr val="287553"/>
                </a:solidFill>
                <a:latin typeface="Arial"/>
                <a:ea typeface="Arial"/>
                <a:cs typeface="Arial"/>
              </a:defRPr>
            </a:pPr>
            <a:r>
              <a:rPr sz="6300" b="1">
                <a:solidFill>
                  <a:srgbClr val="287553"/>
                </a:solidFill>
                <a:latin typeface="Arial"/>
                <a:ea typeface="Arial"/>
                <a:cs typeface="Arial"/>
              </a:rPr>
              <a:t>3D</a:t>
            </a:r>
          </a:p>
        </p:txBody>
      </p:sp>
      <p:sp>
        <p:nvSpPr>
          <p:cNvPr id="11" name="Hypercube controls">
            <a:extLst xmlns:a="http://schemas.openxmlformats.org/drawingml/2006/main">
              <a:ext uri="{FF2B5EF4-FFF2-40B4-BE49-F238E27FC236}">
                <a16:creationId xmlns:a16="http://schemas.microsoft.com/office/drawing/2014/main" id="{EE714780-4282-4913-8BC5-815B42BC7838}"/>
              </a:ext>
            </a:extLst>
          </p:cNvPr>
          <p:cNvSpPr>
            <a:spLocks xmlns:a="http://schemas.openxmlformats.org/drawingml/2006/main" noGrp="1"/>
          </p:cNvSpPr>
          <p:nvPr/>
        </p:nvSpPr>
        <p:spPr>
          <a:xfrm xmlns:a="http://schemas.openxmlformats.org/drawingml/2006/main">
            <a:off x="4362450" y="29241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3B31"/>
                </a:solidFill>
                <a:latin typeface="Arial"/>
                <a:ea typeface="Arial"/>
                <a:cs typeface="Arial"/>
              </a:defRPr>
            </a:pPr>
            <a:r>
              <a:rPr sz="2400" b="1">
                <a:solidFill>
                  <a:srgbClr val="173B31"/>
                </a:solidFill>
                <a:latin typeface="Arial"/>
                <a:ea typeface="Arial"/>
                <a:cs typeface="Arial"/>
              </a:rPr>
              <a:t>Hypercube controls</a:t>
            </a:r>
          </a:p>
        </p:txBody>
      </p:sp>
      <p:sp>
        <p:nvSpPr>
          <p:cNvPr id="12" name="Rotate, pan, zoom, reset and export the curre">
            <a:extLst xmlns:a="http://schemas.openxmlformats.org/drawingml/2006/main">
              <a:ext uri="{FF2B5EF4-FFF2-40B4-BE49-F238E27FC236}">
                <a16:creationId xmlns:a16="http://schemas.microsoft.com/office/drawing/2014/main" id="{9C53EDC9-DDAB-43F5-B9D6-2060DBD9F233}"/>
              </a:ext>
            </a:extLst>
          </p:cNvPr>
          <p:cNvSpPr>
            <a:spLocks xmlns:a="http://schemas.openxmlformats.org/drawingml/2006/main" noGrp="1"/>
          </p:cNvSpPr>
          <p:nvPr/>
        </p:nvSpPr>
        <p:spPr>
          <a:xfrm xmlns:a="http://schemas.openxmlformats.org/drawingml/2006/main">
            <a:off x="4362450" y="3495675"/>
            <a:ext cx="32385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86C63"/>
                </a:solidFill>
                <a:latin typeface="Arial"/>
                <a:ea typeface="Arial"/>
                <a:cs typeface="Arial"/>
              </a:defRPr>
            </a:pPr>
            <a:r>
              <a:rPr sz="1875" b="0">
                <a:solidFill>
                  <a:srgbClr val="586C63"/>
                </a:solidFill>
                <a:latin typeface="Arial"/>
                <a:ea typeface="Arial"/>
                <a:cs typeface="Arial"/>
              </a:rPr>
              <a:t>Rotate, pan, zoom, reset and export the current view.</a:t>
            </a:r>
          </a:p>
        </p:txBody>
      </p:sp>
      <p:sp>
        <p:nvSpPr>
          <p:cNvPr id="13" name="2×">
            <a:extLst xmlns:a="http://schemas.openxmlformats.org/drawingml/2006/main">
              <a:ext uri="{FF2B5EF4-FFF2-40B4-BE49-F238E27FC236}">
                <a16:creationId xmlns:a16="http://schemas.microsoft.com/office/drawing/2014/main" id="{2ED3BBB1-A272-4C58-B460-B80CB84B3EB9}"/>
              </a:ext>
            </a:extLst>
          </p:cNvPr>
          <p:cNvSpPr>
            <a:spLocks xmlns:a="http://schemas.openxmlformats.org/drawingml/2006/main" noGrp="1"/>
          </p:cNvSpPr>
          <p:nvPr/>
        </p:nvSpPr>
        <p:spPr>
          <a:xfrm xmlns:a="http://schemas.openxmlformats.org/drawingml/2006/main">
            <a:off x="8115300" y="1819275"/>
            <a:ext cx="309562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300" b="1">
                <a:solidFill>
                  <a:srgbClr val="287553"/>
                </a:solidFill>
                <a:latin typeface="Arial"/>
                <a:ea typeface="Arial"/>
                <a:cs typeface="Arial"/>
              </a:defRPr>
            </a:pPr>
            <a:r>
              <a:rPr sz="6300" b="1">
                <a:solidFill>
                  <a:srgbClr val="287553"/>
                </a:solidFill>
                <a:latin typeface="Arial"/>
                <a:ea typeface="Arial"/>
                <a:cs typeface="Arial"/>
              </a:rPr>
              <a:t>2×</a:t>
            </a:r>
          </a:p>
        </p:txBody>
      </p:sp>
      <p:sp>
        <p:nvSpPr>
          <p:cNvPr id="14" name="Real SR inference">
            <a:extLst xmlns:a="http://schemas.openxmlformats.org/drawingml/2006/main">
              <a:ext uri="{FF2B5EF4-FFF2-40B4-BE49-F238E27FC236}">
                <a16:creationId xmlns:a16="http://schemas.microsoft.com/office/drawing/2014/main" id="{59435005-2408-400C-A67E-5B24508EE204}"/>
              </a:ext>
            </a:extLst>
          </p:cNvPr>
          <p:cNvSpPr>
            <a:spLocks xmlns:a="http://schemas.openxmlformats.org/drawingml/2006/main" noGrp="1"/>
          </p:cNvSpPr>
          <p:nvPr/>
        </p:nvSpPr>
        <p:spPr>
          <a:xfrm xmlns:a="http://schemas.openxmlformats.org/drawingml/2006/main">
            <a:off x="8115300" y="29241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3B31"/>
                </a:solidFill>
                <a:latin typeface="Arial"/>
                <a:ea typeface="Arial"/>
                <a:cs typeface="Arial"/>
              </a:defRPr>
            </a:pPr>
            <a:r>
              <a:rPr sz="2400" b="1">
                <a:solidFill>
                  <a:srgbClr val="173B31"/>
                </a:solidFill>
                <a:latin typeface="Arial"/>
                <a:ea typeface="Arial"/>
                <a:cs typeface="Arial"/>
              </a:rPr>
              <a:t>Real SR inference</a:t>
            </a:r>
          </a:p>
        </p:txBody>
      </p:sp>
      <p:sp>
        <p:nvSpPr>
          <p:cNvPr id="15" name="480-band inference with progress, cancel and ">
            <a:extLst xmlns:a="http://schemas.openxmlformats.org/drawingml/2006/main">
              <a:ext uri="{FF2B5EF4-FFF2-40B4-BE49-F238E27FC236}">
                <a16:creationId xmlns:a16="http://schemas.microsoft.com/office/drawing/2014/main" id="{54FF80F0-AD0F-41A1-8561-314D45115AEC}"/>
              </a:ext>
            </a:extLst>
          </p:cNvPr>
          <p:cNvSpPr>
            <a:spLocks xmlns:a="http://schemas.openxmlformats.org/drawingml/2006/main" noGrp="1"/>
          </p:cNvSpPr>
          <p:nvPr/>
        </p:nvSpPr>
        <p:spPr>
          <a:xfrm xmlns:a="http://schemas.openxmlformats.org/drawingml/2006/main">
            <a:off x="8115300" y="3495675"/>
            <a:ext cx="32385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86C63"/>
                </a:solidFill>
                <a:latin typeface="Arial"/>
                <a:ea typeface="Arial"/>
                <a:cs typeface="Arial"/>
              </a:defRPr>
            </a:pPr>
            <a:r>
              <a:rPr sz="1875" b="0">
                <a:solidFill>
                  <a:srgbClr val="586C63"/>
                </a:solidFill>
                <a:latin typeface="Arial"/>
                <a:ea typeface="Arial"/>
                <a:cs typeface="Arial"/>
              </a:rPr>
              <a:t>480-band inference with progress, cancel and Original/Processed selection.</a:t>
            </a:r>
          </a:p>
        </p:txBody>
      </p:sp>
      <p:sp>
        <p:nvSpPr>
          <p:cNvPr id="16" name="">
            <a:extLst xmlns:a="http://schemas.openxmlformats.org/drawingml/2006/main">
              <a:ext uri="{FF2B5EF4-FFF2-40B4-BE49-F238E27FC236}">
                <a16:creationId xmlns:a16="http://schemas.microsoft.com/office/drawing/2014/main" id="{041BEF80-44EE-42AF-B652-AC322F89085A}"/>
              </a:ext>
            </a:extLst>
          </p:cNvPr>
          <p:cNvSpPr>
            <a:spLocks xmlns:a="http://schemas.openxmlformats.org/drawingml/2006/main" noGrp="1"/>
          </p:cNvSpPr>
          <p:nvPr/>
        </p:nvSpPr>
        <p:spPr>
          <a:xfrm xmlns:a="http://schemas.openxmlformats.org/drawingml/2006/main">
            <a:off x="609600" y="5086350"/>
            <a:ext cx="10972800" cy="0"/>
          </a:xfrm>
          <a:prstGeom xmlns:a="http://schemas.openxmlformats.org/drawingml/2006/main" prst="line">
            <a:avLst/>
          </a:prstGeom>
          <a:noFill xmlns:a="http://schemas.openxmlformats.org/drawingml/2006/main"/>
          <a:ln xmlns:a="http://schemas.openxmlformats.org/drawingml/2006/main" w="14288">
            <a:solidFill>
              <a:srgbClr val="287553"/>
            </a:solidFill>
          </a:ln>
        </p:spPr>
      </p:sp>
      <p:sp>
        <p:nvSpPr>
          <p:cNvPr id="17" name="Also merged: classification model + GUI + res">
            <a:extLst xmlns:a="http://schemas.openxmlformats.org/drawingml/2006/main">
              <a:ext uri="{FF2B5EF4-FFF2-40B4-BE49-F238E27FC236}">
                <a16:creationId xmlns:a16="http://schemas.microsoft.com/office/drawing/2014/main" id="{60DFDECA-482B-4F8C-A08D-B07D6F2F59D4}"/>
              </a:ext>
            </a:extLst>
          </p:cNvPr>
          <p:cNvSpPr>
            <a:spLocks xmlns:a="http://schemas.openxmlformats.org/drawingml/2006/main" noGrp="1"/>
          </p:cNvSpPr>
          <p:nvPr/>
        </p:nvSpPr>
        <p:spPr>
          <a:xfrm xmlns:a="http://schemas.openxmlformats.org/drawingml/2006/main">
            <a:off x="609600" y="521970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287553"/>
                </a:solidFill>
                <a:latin typeface="Arial"/>
                <a:ea typeface="Arial"/>
                <a:cs typeface="Arial"/>
              </a:defRPr>
            </a:pPr>
            <a:r>
              <a:rPr sz="1800" b="1">
                <a:solidFill>
                  <a:srgbClr val="287553"/>
                </a:solidFill>
                <a:latin typeface="Arial"/>
                <a:ea typeface="Arial"/>
                <a:cs typeface="Arial"/>
              </a:rPr>
              <a:t>Also merged: classification model + GUI + results API, with CI and review.</a:t>
            </a:r>
          </a:p>
        </p:txBody>
      </p:sp>
      <p:sp>
        <p:nvSpPr>
          <p:cNvPr id="18" name="Calibration, scientific accuracy and target-p">
            <a:extLst xmlns:a="http://schemas.openxmlformats.org/drawingml/2006/main">
              <a:ext uri="{FF2B5EF4-FFF2-40B4-BE49-F238E27FC236}">
                <a16:creationId xmlns:a16="http://schemas.microsoft.com/office/drawing/2014/main" id="{AE9C2CDC-AAB3-42C8-9703-A9FE5853708B}"/>
              </a:ext>
            </a:extLst>
          </p:cNvPr>
          <p:cNvSpPr>
            <a:spLocks xmlns:a="http://schemas.openxmlformats.org/drawingml/2006/main" noGrp="1"/>
          </p:cNvSpPr>
          <p:nvPr/>
        </p:nvSpPr>
        <p:spPr>
          <a:xfrm xmlns:a="http://schemas.openxmlformats.org/drawingml/2006/main">
            <a:off x="609600" y="57531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86C63"/>
                </a:solidFill>
                <a:latin typeface="Arial"/>
                <a:ea typeface="Arial"/>
                <a:cs typeface="Arial"/>
              </a:defRPr>
            </a:pPr>
            <a:r>
              <a:rPr sz="1650" b="0">
                <a:solidFill>
                  <a:srgbClr val="586C63"/>
                </a:solidFill>
                <a:latin typeface="Arial"/>
                <a:ea typeface="Arial"/>
                <a:cs typeface="Arial"/>
              </a:rPr>
              <a:t>Calibration, scientific accuracy and target-platform acceptance still need work.</a:t>
            </a:r>
          </a:p>
        </p:txBody>
      </p:sp>
    </p:spTree>
    <p:extLst>
      <p:ext uri="{BB962C8B-B14F-4D97-AF65-F5344CB8AC3E}">
        <p14:creationId xmlns:p14="http://schemas.microsoft.com/office/powerpoint/2010/main" val="1053261282"/>
      </p:ext>
    </p:extLst>
  </p:cSld>
</p:sld>
</file>

<file path=ppt/slides/slide3.xml><?xml version="1.0" encoding="utf-8"?>
<p:sld xmlns:p="http://schemas.openxmlformats.org/presentationml/2006/main">
  <p:cSld>
    <p:bg>
      <p:bgPr>
        <a:solidFill xmlns:a="http://schemas.openxmlformats.org/drawingml/2006/main">
          <a:srgbClr val="F4F5F0"/>
        </a:solidFill>
      </p:bgPr>
    </p:bg>
    <p:spTree>
      <p:nvGrpSpPr>
        <p:cNvPr id="1" name=""/>
        <p:cNvGrpSpPr/>
        <p:nvPr/>
      </p:nvGrpSpPr>
      <p:grpSpPr>
        <a:xfrm xmlns:a="http://schemas.openxmlformats.org/drawingml/2006/main"/>
      </p:grpSpPr>
      <p:sp>
        <p:nvSpPr>
          <p:cNvPr id="29" name="WHAT WE DELIVERED">
            <a:extLst xmlns:a="http://schemas.openxmlformats.org/drawingml/2006/main">
              <a:ext uri="{FF2B5EF4-FFF2-40B4-BE49-F238E27FC236}">
                <a16:creationId xmlns:a16="http://schemas.microsoft.com/office/drawing/2014/main" id="{9B8D79A1-EB82-4B24-AA2A-E6EB77B7C71F}"/>
              </a:ext>
            </a:extLst>
          </p:cNvPr>
          <p:cNvSpPr>
            <a:spLocks xmlns:a="http://schemas.openxmlformats.org/drawingml/2006/main" noGrp="1"/>
          </p:cNvSpPr>
          <p:nvPr/>
        </p:nvSpPr>
        <p:spPr>
          <a:xfrm xmlns:a="http://schemas.openxmlformats.org/drawingml/2006/main">
            <a:off x="609600" y="4000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287553"/>
                </a:solidFill>
                <a:latin typeface="Arial"/>
                <a:ea typeface="Arial"/>
                <a:cs typeface="Arial"/>
              </a:defRPr>
            </a:pPr>
            <a:r>
              <a:rPr sz="1500" b="1">
                <a:solidFill>
                  <a:srgbClr val="287553"/>
                </a:solidFill>
                <a:latin typeface="Arial"/>
                <a:ea typeface="Arial"/>
                <a:cs typeface="Arial"/>
              </a:rPr>
              <a:t>WHAT WE DELIVERED</a:t>
            </a:r>
          </a:p>
        </p:txBody>
      </p:sp>
      <p:sp>
        <p:nvSpPr>
          <p:cNvPr id="2" name="Useful features, with clear limits">
            <a:extLst xmlns:a="http://schemas.openxmlformats.org/drawingml/2006/main">
              <a:ext uri="{FF2B5EF4-FFF2-40B4-BE49-F238E27FC236}">
                <a16:creationId xmlns:a16="http://schemas.microsoft.com/office/drawing/2014/main" id="{0E554521-997A-40D5-ADB9-82AD90378556}"/>
              </a:ext>
            </a:extLst>
          </p:cNvPr>
          <p:cNvSpPr>
            <a:spLocks xmlns:a="http://schemas.openxmlformats.org/drawingml/2006/main" noGrp="1"/>
          </p:cNvSpPr>
          <p:nvPr/>
        </p:nvSpPr>
        <p:spPr>
          <a:xfrm xmlns:a="http://schemas.openxmlformats.org/drawingml/2006/main">
            <a:off x="609600" y="86677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3B31"/>
                </a:solidFill>
                <a:latin typeface="Arial"/>
                <a:ea typeface="Arial"/>
                <a:cs typeface="Arial"/>
              </a:defRPr>
            </a:pPr>
            <a:r>
              <a:rPr sz="3600" b="1">
                <a:solidFill>
                  <a:srgbClr val="173B31"/>
                </a:solidFill>
                <a:latin typeface="Arial"/>
                <a:ea typeface="Arial"/>
                <a:cs typeface="Arial"/>
              </a:rPr>
              <a:t>Useful features, with clear limits</a:t>
            </a:r>
          </a:p>
        </p:txBody>
      </p:sp>
      <p:sp>
        <p:nvSpPr>
          <p:cNvPr id="3" name="">
            <a:extLst xmlns:a="http://schemas.openxmlformats.org/drawingml/2006/main">
              <a:ext uri="{FF2B5EF4-FFF2-40B4-BE49-F238E27FC236}">
                <a16:creationId xmlns:a16="http://schemas.microsoft.com/office/drawing/2014/main" id="{B59B69C2-C88C-49F6-A066-7F31D5DC4D19}"/>
              </a:ext>
            </a:extLst>
          </p:cNvPr>
          <p:cNvSpPr>
            <a:spLocks xmlns:a="http://schemas.openxmlformats.org/drawingml/2006/main" noGrp="1"/>
          </p:cNvSpPr>
          <p:nvPr/>
        </p:nvSpPr>
        <p:spPr>
          <a:xfrm xmlns:a="http://schemas.openxmlformats.org/drawingml/2006/main">
            <a:off x="609600" y="623887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4" name="LEAF ANALYZER  /  SPRINT 5">
            <a:extLst xmlns:a="http://schemas.openxmlformats.org/drawingml/2006/main">
              <a:ext uri="{FF2B5EF4-FFF2-40B4-BE49-F238E27FC236}">
                <a16:creationId xmlns:a16="http://schemas.microsoft.com/office/drawing/2014/main" id="{F2160B15-4A32-475C-89A3-BC490F0F9152}"/>
              </a:ext>
            </a:extLst>
          </p:cNvPr>
          <p:cNvSpPr>
            <a:spLocks xmlns:a="http://schemas.openxmlformats.org/drawingml/2006/main" noGrp="1"/>
          </p:cNvSpPr>
          <p:nvPr/>
        </p:nvSpPr>
        <p:spPr>
          <a:xfrm xmlns:a="http://schemas.openxmlformats.org/drawingml/2006/main">
            <a:off x="609600" y="6410325"/>
            <a:ext cx="323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LEAF ANALYZER  /  SPRINT 5</a:t>
            </a:r>
          </a:p>
        </p:txBody>
      </p:sp>
      <p:sp>
        <p:nvSpPr>
          <p:cNvPr id="5" name="Merged code and tests • PRs #24, #29–34, #36">
            <a:extLst xmlns:a="http://schemas.openxmlformats.org/drawingml/2006/main">
              <a:ext uri="{FF2B5EF4-FFF2-40B4-BE49-F238E27FC236}">
                <a16:creationId xmlns:a16="http://schemas.microsoft.com/office/drawing/2014/main" id="{930B309F-33A2-467D-9BAA-05C94C69FC44}"/>
              </a:ext>
            </a:extLst>
          </p:cNvPr>
          <p:cNvSpPr>
            <a:spLocks xmlns:a="http://schemas.openxmlformats.org/drawingml/2006/main" noGrp="1"/>
          </p:cNvSpPr>
          <p:nvPr/>
        </p:nvSpPr>
        <p:spPr>
          <a:xfrm xmlns:a="http://schemas.openxmlformats.org/drawingml/2006/main">
            <a:off x="3952875" y="6410325"/>
            <a:ext cx="708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Merged code and tests • PRs #24, #29–34, #36</a:t>
            </a:r>
          </a:p>
        </p:txBody>
      </p:sp>
      <p:sp>
        <p:nvSpPr>
          <p:cNvPr id="6" name="03">
            <a:extLst xmlns:a="http://schemas.openxmlformats.org/drawingml/2006/main">
              <a:ext uri="{FF2B5EF4-FFF2-40B4-BE49-F238E27FC236}">
                <a16:creationId xmlns:a16="http://schemas.microsoft.com/office/drawing/2014/main" id="{08EEB19E-9F60-42B2-BE90-C742734CDC6E}"/>
              </a:ext>
            </a:extLst>
          </p:cNvPr>
          <p:cNvSpPr>
            <a:spLocks xmlns:a="http://schemas.openxmlformats.org/drawingml/2006/main" noGrp="1"/>
          </p:cNvSpPr>
          <p:nvPr/>
        </p:nvSpPr>
        <p:spPr>
          <a:xfrm xmlns:a="http://schemas.openxmlformats.org/drawingml/2006/main">
            <a:off x="11239500" y="6381750"/>
            <a:ext cx="361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03</a:t>
            </a:r>
          </a:p>
        </p:txBody>
      </p:sp>
      <p:sp>
        <p:nvSpPr>
          <p:cNvPr id="7" name="">
            <a:extLst xmlns:a="http://schemas.openxmlformats.org/drawingml/2006/main">
              <a:ext uri="{FF2B5EF4-FFF2-40B4-BE49-F238E27FC236}">
                <a16:creationId xmlns:a16="http://schemas.microsoft.com/office/drawing/2014/main" id="{853E0B5F-023E-4918-A823-135C005AEF10}"/>
              </a:ext>
            </a:extLst>
          </p:cNvPr>
          <p:cNvSpPr>
            <a:spLocks xmlns:a="http://schemas.openxmlformats.org/drawingml/2006/main" noGrp="1"/>
          </p:cNvSpPr>
          <p:nvPr/>
        </p:nvSpPr>
        <p:spPr>
          <a:xfrm xmlns:a="http://schemas.openxmlformats.org/drawingml/2006/main">
            <a:off x="609600" y="1752600"/>
            <a:ext cx="10972800" cy="485775"/>
          </a:xfrm>
          <a:prstGeom xmlns:a="http://schemas.openxmlformats.org/drawingml/2006/main" prst="rect">
            <a:avLst/>
          </a:prstGeom>
          <a:solidFill xmlns:a="http://schemas.openxmlformats.org/drawingml/2006/main">
            <a:srgbClr val="E4ECE3"/>
          </a:solidFill>
          <a:ln xmlns:a="http://schemas.openxmlformats.org/drawingml/2006/main" w="0">
            <a:noFill/>
          </a:ln>
        </p:spPr>
      </p:sp>
      <p:sp>
        <p:nvSpPr>
          <p:cNvPr id="8" name="DELIVERED">
            <a:extLst xmlns:a="http://schemas.openxmlformats.org/drawingml/2006/main">
              <a:ext uri="{FF2B5EF4-FFF2-40B4-BE49-F238E27FC236}">
                <a16:creationId xmlns:a16="http://schemas.microsoft.com/office/drawing/2014/main" id="{8D846A83-7CA0-4D72-BF04-FA9F2DA65DD0}"/>
              </a:ext>
            </a:extLst>
          </p:cNvPr>
          <p:cNvSpPr>
            <a:spLocks xmlns:a="http://schemas.openxmlformats.org/drawingml/2006/main" noGrp="1"/>
          </p:cNvSpPr>
          <p:nvPr/>
        </p:nvSpPr>
        <p:spPr>
          <a:xfrm xmlns:a="http://schemas.openxmlformats.org/drawingml/2006/main">
            <a:off x="723900" y="1857375"/>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173B31"/>
                </a:solidFill>
                <a:latin typeface="Arial"/>
                <a:ea typeface="Arial"/>
                <a:cs typeface="Arial"/>
              </a:defRPr>
            </a:pPr>
            <a:r>
              <a:rPr sz="1575" b="1">
                <a:solidFill>
                  <a:srgbClr val="173B31"/>
                </a:solidFill>
                <a:latin typeface="Arial"/>
                <a:ea typeface="Arial"/>
                <a:cs typeface="Arial"/>
              </a:rPr>
              <a:t>DELIVERED</a:t>
            </a:r>
          </a:p>
        </p:txBody>
      </p:sp>
      <p:sp>
        <p:nvSpPr>
          <p:cNvPr id="9" name="VALUE IN THE WORKFLOW">
            <a:extLst xmlns:a="http://schemas.openxmlformats.org/drawingml/2006/main">
              <a:ext uri="{FF2B5EF4-FFF2-40B4-BE49-F238E27FC236}">
                <a16:creationId xmlns:a16="http://schemas.microsoft.com/office/drawing/2014/main" id="{BE0E39F9-296B-43AE-B198-70879032DA11}"/>
              </a:ext>
            </a:extLst>
          </p:cNvPr>
          <p:cNvSpPr>
            <a:spLocks xmlns:a="http://schemas.openxmlformats.org/drawingml/2006/main" noGrp="1"/>
          </p:cNvSpPr>
          <p:nvPr/>
        </p:nvSpPr>
        <p:spPr>
          <a:xfrm xmlns:a="http://schemas.openxmlformats.org/drawingml/2006/main">
            <a:off x="3429000" y="1857375"/>
            <a:ext cx="4933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VALUE IN THE WORKFLOW</a:t>
            </a:r>
          </a:p>
        </p:txBody>
      </p:sp>
      <p:sp>
        <p:nvSpPr>
          <p:cNvPr id="10" name="EVIDENCE">
            <a:extLst xmlns:a="http://schemas.openxmlformats.org/drawingml/2006/main">
              <a:ext uri="{FF2B5EF4-FFF2-40B4-BE49-F238E27FC236}">
                <a16:creationId xmlns:a16="http://schemas.microsoft.com/office/drawing/2014/main" id="{8692DF58-4032-4990-97EC-49AD70ABF818}"/>
              </a:ext>
            </a:extLst>
          </p:cNvPr>
          <p:cNvSpPr>
            <a:spLocks xmlns:a="http://schemas.openxmlformats.org/drawingml/2006/main" noGrp="1"/>
          </p:cNvSpPr>
          <p:nvPr/>
        </p:nvSpPr>
        <p:spPr>
          <a:xfrm xmlns:a="http://schemas.openxmlformats.org/drawingml/2006/main">
            <a:off x="8591550" y="1857375"/>
            <a:ext cx="2876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EVIDENCE</a:t>
            </a:r>
          </a:p>
        </p:txBody>
      </p:sp>
      <p:sp>
        <p:nvSpPr>
          <p:cNvPr id="11" name="">
            <a:extLst xmlns:a="http://schemas.openxmlformats.org/drawingml/2006/main">
              <a:ext uri="{FF2B5EF4-FFF2-40B4-BE49-F238E27FC236}">
                <a16:creationId xmlns:a16="http://schemas.microsoft.com/office/drawing/2014/main" id="{A362ADEA-4CB0-45AA-8769-9C1AFA2BD530}"/>
              </a:ext>
            </a:extLst>
          </p:cNvPr>
          <p:cNvSpPr>
            <a:spLocks xmlns:a="http://schemas.openxmlformats.org/drawingml/2006/main" noGrp="1"/>
          </p:cNvSpPr>
          <p:nvPr/>
        </p:nvSpPr>
        <p:spPr>
          <a:xfrm xmlns:a="http://schemas.openxmlformats.org/drawingml/2006/main">
            <a:off x="609600" y="223837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12" name="Image inspection">
            <a:extLst xmlns:a="http://schemas.openxmlformats.org/drawingml/2006/main">
              <a:ext uri="{FF2B5EF4-FFF2-40B4-BE49-F238E27FC236}">
                <a16:creationId xmlns:a16="http://schemas.microsoft.com/office/drawing/2014/main" id="{B470F852-2051-4217-9081-9A89FBF95826}"/>
              </a:ext>
            </a:extLst>
          </p:cNvPr>
          <p:cNvSpPr>
            <a:spLocks xmlns:a="http://schemas.openxmlformats.org/drawingml/2006/main" noGrp="1"/>
          </p:cNvSpPr>
          <p:nvPr/>
        </p:nvSpPr>
        <p:spPr>
          <a:xfrm xmlns:a="http://schemas.openxmlformats.org/drawingml/2006/main">
            <a:off x="723900" y="2352675"/>
            <a:ext cx="2476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73B31"/>
                </a:solidFill>
                <a:latin typeface="Arial"/>
                <a:ea typeface="Arial"/>
                <a:cs typeface="Arial"/>
              </a:defRPr>
            </a:pPr>
            <a:r>
              <a:rPr sz="1800" b="1">
                <a:solidFill>
                  <a:srgbClr val="173B31"/>
                </a:solidFill>
                <a:latin typeface="Arial"/>
                <a:ea typeface="Arial"/>
                <a:cs typeface="Arial"/>
              </a:rPr>
              <a:t>Image inspection</a:t>
            </a:r>
          </a:p>
        </p:txBody>
      </p:sp>
      <p:sp>
        <p:nvSpPr>
          <p:cNvPr id="13" name="Switch modes, inspect spectra and&#10;save the se">
            <a:extLst xmlns:a="http://schemas.openxmlformats.org/drawingml/2006/main">
              <a:ext uri="{FF2B5EF4-FFF2-40B4-BE49-F238E27FC236}">
                <a16:creationId xmlns:a16="http://schemas.microsoft.com/office/drawing/2014/main" id="{FADEE80B-97C2-43EA-AF44-308029F5C336}"/>
              </a:ext>
            </a:extLst>
          </p:cNvPr>
          <p:cNvSpPr>
            <a:spLocks xmlns:a="http://schemas.openxmlformats.org/drawingml/2006/main" noGrp="1"/>
          </p:cNvSpPr>
          <p:nvPr/>
        </p:nvSpPr>
        <p:spPr>
          <a:xfrm xmlns:a="http://schemas.openxmlformats.org/drawingml/2006/main">
            <a:off x="3429000" y="2352675"/>
            <a:ext cx="4933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Switch modes, inspect spectra and</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save the selected display.</a:t>
            </a:r>
          </a:p>
        </p:txBody>
      </p:sp>
      <p:sp>
        <p:nvSpPr>
          <p:cNvPr id="14" name="LEAF-146 · PR #24">
            <a:extLst xmlns:a="http://schemas.openxmlformats.org/drawingml/2006/main">
              <a:ext uri="{FF2B5EF4-FFF2-40B4-BE49-F238E27FC236}">
                <a16:creationId xmlns:a16="http://schemas.microsoft.com/office/drawing/2014/main" id="{557C35F8-7644-4418-A04D-429E5E4930E1}"/>
              </a:ext>
            </a:extLst>
          </p:cNvPr>
          <p:cNvSpPr>
            <a:spLocks xmlns:a="http://schemas.openxmlformats.org/drawingml/2006/main" noGrp="1"/>
          </p:cNvSpPr>
          <p:nvPr/>
        </p:nvSpPr>
        <p:spPr>
          <a:xfrm xmlns:a="http://schemas.openxmlformats.org/drawingml/2006/main">
            <a:off x="8591550" y="2352675"/>
            <a:ext cx="28765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LEAF-146 · PR #24</a:t>
            </a:r>
          </a:p>
        </p:txBody>
      </p:sp>
      <p:sp>
        <p:nvSpPr>
          <p:cNvPr id="15" name="">
            <a:extLst xmlns:a="http://schemas.openxmlformats.org/drawingml/2006/main">
              <a:ext uri="{FF2B5EF4-FFF2-40B4-BE49-F238E27FC236}">
                <a16:creationId xmlns:a16="http://schemas.microsoft.com/office/drawing/2014/main" id="{BE7472D3-83AD-4B62-AA54-BD95FD3D037D}"/>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16" name="Hypercube + SR">
            <a:extLst xmlns:a="http://schemas.openxmlformats.org/drawingml/2006/main">
              <a:ext uri="{FF2B5EF4-FFF2-40B4-BE49-F238E27FC236}">
                <a16:creationId xmlns:a16="http://schemas.microsoft.com/office/drawing/2014/main" id="{B1813E00-A8DC-4D47-837D-246D8281619F}"/>
              </a:ext>
            </a:extLst>
          </p:cNvPr>
          <p:cNvSpPr>
            <a:spLocks xmlns:a="http://schemas.openxmlformats.org/drawingml/2006/main" noGrp="1"/>
          </p:cNvSpPr>
          <p:nvPr/>
        </p:nvSpPr>
        <p:spPr>
          <a:xfrm xmlns:a="http://schemas.openxmlformats.org/drawingml/2006/main">
            <a:off x="723900" y="3152775"/>
            <a:ext cx="2476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73B31"/>
                </a:solidFill>
                <a:latin typeface="Arial"/>
                <a:ea typeface="Arial"/>
                <a:cs typeface="Arial"/>
              </a:defRPr>
            </a:pPr>
            <a:r>
              <a:rPr sz="1800" b="1">
                <a:solidFill>
                  <a:srgbClr val="173B31"/>
                </a:solidFill>
                <a:latin typeface="Arial"/>
                <a:ea typeface="Arial"/>
                <a:cs typeface="Arial"/>
              </a:rPr>
              <a:t>Hypercube + SR</a:t>
            </a:r>
          </a:p>
        </p:txBody>
      </p:sp>
      <p:sp>
        <p:nvSpPr>
          <p:cNvPr id="17" name="Explore spatial/spectral structure;&#10;compare o">
            <a:extLst xmlns:a="http://schemas.openxmlformats.org/drawingml/2006/main">
              <a:ext uri="{FF2B5EF4-FFF2-40B4-BE49-F238E27FC236}">
                <a16:creationId xmlns:a16="http://schemas.microsoft.com/office/drawing/2014/main" id="{8474476F-CD80-49F5-B963-7101B94943B1}"/>
              </a:ext>
            </a:extLst>
          </p:cNvPr>
          <p:cNvSpPr>
            <a:spLocks xmlns:a="http://schemas.openxmlformats.org/drawingml/2006/main" noGrp="1"/>
          </p:cNvSpPr>
          <p:nvPr/>
        </p:nvSpPr>
        <p:spPr>
          <a:xfrm xmlns:a="http://schemas.openxmlformats.org/drawingml/2006/main">
            <a:off x="3429000" y="3152775"/>
            <a:ext cx="49339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Explore spatial/spectral structure;</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compare original and processed data.</a:t>
            </a:r>
          </a:p>
        </p:txBody>
      </p:sp>
      <p:sp>
        <p:nvSpPr>
          <p:cNvPr id="18" name="LEAF-150 / 152 / 158&#10;PRs #29 / #33 / #34">
            <a:extLst xmlns:a="http://schemas.openxmlformats.org/drawingml/2006/main">
              <a:ext uri="{FF2B5EF4-FFF2-40B4-BE49-F238E27FC236}">
                <a16:creationId xmlns:a16="http://schemas.microsoft.com/office/drawing/2014/main" id="{DAE265F5-E8AE-4306-871E-CC1CC0B43837}"/>
              </a:ext>
            </a:extLst>
          </p:cNvPr>
          <p:cNvSpPr>
            <a:spLocks xmlns:a="http://schemas.openxmlformats.org/drawingml/2006/main" noGrp="1"/>
          </p:cNvSpPr>
          <p:nvPr/>
        </p:nvSpPr>
        <p:spPr>
          <a:xfrm xmlns:a="http://schemas.openxmlformats.org/drawingml/2006/main">
            <a:off x="8591550" y="3152775"/>
            <a:ext cx="28765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LEAF-150 / 152 / 158</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PRs #29 / #33 / #34</a:t>
            </a:r>
          </a:p>
        </p:txBody>
      </p:sp>
      <p:sp>
        <p:nvSpPr>
          <p:cNvPr id="19" name="">
            <a:extLst xmlns:a="http://schemas.openxmlformats.org/drawingml/2006/main">
              <a:ext uri="{FF2B5EF4-FFF2-40B4-BE49-F238E27FC236}">
                <a16:creationId xmlns:a16="http://schemas.microsoft.com/office/drawing/2014/main" id="{9DCDA1B2-6CB9-4A79-AF26-36F868B5D24E}"/>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20" name="Viewer fixes">
            <a:extLst xmlns:a="http://schemas.openxmlformats.org/drawingml/2006/main">
              <a:ext uri="{FF2B5EF4-FFF2-40B4-BE49-F238E27FC236}">
                <a16:creationId xmlns:a16="http://schemas.microsoft.com/office/drawing/2014/main" id="{4D2656F2-CC8C-419D-9EBB-528637253DD5}"/>
              </a:ext>
            </a:extLst>
          </p:cNvPr>
          <p:cNvSpPr>
            <a:spLocks xmlns:a="http://schemas.openxmlformats.org/drawingml/2006/main" noGrp="1"/>
          </p:cNvSpPr>
          <p:nvPr/>
        </p:nvSpPr>
        <p:spPr>
          <a:xfrm xmlns:a="http://schemas.openxmlformats.org/drawingml/2006/main">
            <a:off x="723900" y="4029075"/>
            <a:ext cx="2476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73B31"/>
                </a:solidFill>
                <a:latin typeface="Arial"/>
                <a:ea typeface="Arial"/>
                <a:cs typeface="Arial"/>
              </a:defRPr>
            </a:pPr>
            <a:r>
              <a:rPr sz="1800" b="1">
                <a:solidFill>
                  <a:srgbClr val="173B31"/>
                </a:solidFill>
                <a:latin typeface="Arial"/>
                <a:ea typeface="Arial"/>
                <a:cs typeface="Arial"/>
              </a:rPr>
              <a:t>Viewer fixes</a:t>
            </a:r>
          </a:p>
        </p:txBody>
      </p:sp>
      <p:sp>
        <p:nvSpPr>
          <p:cNvPr id="21" name="Crop refits the view; colour swatches&#10;and per">
            <a:extLst xmlns:a="http://schemas.openxmlformats.org/drawingml/2006/main">
              <a:ext uri="{FF2B5EF4-FFF2-40B4-BE49-F238E27FC236}">
                <a16:creationId xmlns:a16="http://schemas.microsoft.com/office/drawing/2014/main" id="{708EF9C8-98BB-4203-AEA7-E6F8C7DD3B38}"/>
              </a:ext>
            </a:extLst>
          </p:cNvPr>
          <p:cNvSpPr>
            <a:spLocks xmlns:a="http://schemas.openxmlformats.org/drawingml/2006/main" noGrp="1"/>
          </p:cNvSpPr>
          <p:nvPr/>
        </p:nvSpPr>
        <p:spPr>
          <a:xfrm xmlns:a="http://schemas.openxmlformats.org/drawingml/2006/main">
            <a:off x="3429000" y="4029075"/>
            <a:ext cx="49339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Crop refits the view; colour swatches</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and persistent statistics aid reading.</a:t>
            </a:r>
          </a:p>
        </p:txBody>
      </p:sp>
      <p:sp>
        <p:nvSpPr>
          <p:cNvPr id="22" name="LEAF-153 / 154 / 155&#10;PRs #30–32">
            <a:extLst xmlns:a="http://schemas.openxmlformats.org/drawingml/2006/main">
              <a:ext uri="{FF2B5EF4-FFF2-40B4-BE49-F238E27FC236}">
                <a16:creationId xmlns:a16="http://schemas.microsoft.com/office/drawing/2014/main" id="{8F6423E3-744F-4A53-A89B-21A2FBD4EE90}"/>
              </a:ext>
            </a:extLst>
          </p:cNvPr>
          <p:cNvSpPr>
            <a:spLocks xmlns:a="http://schemas.openxmlformats.org/drawingml/2006/main" noGrp="1"/>
          </p:cNvSpPr>
          <p:nvPr/>
        </p:nvSpPr>
        <p:spPr>
          <a:xfrm xmlns:a="http://schemas.openxmlformats.org/drawingml/2006/main">
            <a:off x="8591550" y="4029075"/>
            <a:ext cx="28765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LEAF-153 / 154 / 155</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PRs #30–32</a:t>
            </a:r>
          </a:p>
        </p:txBody>
      </p:sp>
      <p:sp>
        <p:nvSpPr>
          <p:cNvPr id="23" name="">
            <a:extLst xmlns:a="http://schemas.openxmlformats.org/drawingml/2006/main">
              <a:ext uri="{FF2B5EF4-FFF2-40B4-BE49-F238E27FC236}">
                <a16:creationId xmlns:a16="http://schemas.microsoft.com/office/drawing/2014/main" id="{0A9D0BBB-EF65-4030-887A-A564285FC9C8}"/>
              </a:ext>
            </a:extLst>
          </p:cNvPr>
          <p:cNvSpPr>
            <a:spLocks xmlns:a="http://schemas.openxmlformats.org/drawingml/2006/main" noGrp="1"/>
          </p:cNvSpPr>
          <p:nvPr/>
        </p:nvSpPr>
        <p:spPr>
          <a:xfrm xmlns:a="http://schemas.openxmlformats.org/drawingml/2006/main">
            <a:off x="609600" y="479107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24" name="Classification">
            <a:extLst xmlns:a="http://schemas.openxmlformats.org/drawingml/2006/main">
              <a:ext uri="{FF2B5EF4-FFF2-40B4-BE49-F238E27FC236}">
                <a16:creationId xmlns:a16="http://schemas.microsoft.com/office/drawing/2014/main" id="{6722587E-EB0B-4DB7-8393-5021C2027F96}"/>
              </a:ext>
            </a:extLst>
          </p:cNvPr>
          <p:cNvSpPr>
            <a:spLocks xmlns:a="http://schemas.openxmlformats.org/drawingml/2006/main" noGrp="1"/>
          </p:cNvSpPr>
          <p:nvPr/>
        </p:nvSpPr>
        <p:spPr>
          <a:xfrm xmlns:a="http://schemas.openxmlformats.org/drawingml/2006/main">
            <a:off x="723900" y="4905375"/>
            <a:ext cx="2476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73B31"/>
                </a:solidFill>
                <a:latin typeface="Arial"/>
                <a:ea typeface="Arial"/>
                <a:cs typeface="Arial"/>
              </a:defRPr>
            </a:pPr>
            <a:r>
              <a:rPr sz="1800" b="1">
                <a:solidFill>
                  <a:srgbClr val="173B31"/>
                </a:solidFill>
                <a:latin typeface="Arial"/>
                <a:ea typeface="Arial"/>
                <a:cs typeface="Arial"/>
              </a:rPr>
              <a:t>Classification</a:t>
            </a:r>
          </a:p>
        </p:txBody>
      </p:sp>
      <p:sp>
        <p:nvSpPr>
          <p:cNvPr id="25" name="K-means and supervised methods;&#10;reusable mask">
            <a:extLst xmlns:a="http://schemas.openxmlformats.org/drawingml/2006/main">
              <a:ext uri="{FF2B5EF4-FFF2-40B4-BE49-F238E27FC236}">
                <a16:creationId xmlns:a16="http://schemas.microsoft.com/office/drawing/2014/main" id="{D92964E0-05DE-42BF-BCB9-88F8523D9710}"/>
              </a:ext>
            </a:extLst>
          </p:cNvPr>
          <p:cNvSpPr>
            <a:spLocks xmlns:a="http://schemas.openxmlformats.org/drawingml/2006/main" noGrp="1"/>
          </p:cNvSpPr>
          <p:nvPr/>
        </p:nvSpPr>
        <p:spPr>
          <a:xfrm xmlns:a="http://schemas.openxmlformats.org/drawingml/2006/main">
            <a:off x="3429000" y="4905375"/>
            <a:ext cx="4933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K-means and supervised methods;</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reusable masks and a results API.</a:t>
            </a:r>
          </a:p>
        </p:txBody>
      </p:sp>
      <p:sp>
        <p:nvSpPr>
          <p:cNvPr id="26" name="LEAF-159–166&#10;PR #36">
            <a:extLst xmlns:a="http://schemas.openxmlformats.org/drawingml/2006/main">
              <a:ext uri="{FF2B5EF4-FFF2-40B4-BE49-F238E27FC236}">
                <a16:creationId xmlns:a16="http://schemas.microsoft.com/office/drawing/2014/main" id="{7E046357-ADD8-4BFA-AF64-75F52C5ACF03}"/>
              </a:ext>
            </a:extLst>
          </p:cNvPr>
          <p:cNvSpPr>
            <a:spLocks xmlns:a="http://schemas.openxmlformats.org/drawingml/2006/main" noGrp="1"/>
          </p:cNvSpPr>
          <p:nvPr/>
        </p:nvSpPr>
        <p:spPr>
          <a:xfrm xmlns:a="http://schemas.openxmlformats.org/drawingml/2006/main">
            <a:off x="8591550" y="4905375"/>
            <a:ext cx="28765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LEAF-159–166</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PR #36</a:t>
            </a:r>
          </a:p>
        </p:txBody>
      </p:sp>
      <p:sp>
        <p:nvSpPr>
          <p:cNvPr id="27" name="">
            <a:extLst xmlns:a="http://schemas.openxmlformats.org/drawingml/2006/main">
              <a:ext uri="{FF2B5EF4-FFF2-40B4-BE49-F238E27FC236}">
                <a16:creationId xmlns:a16="http://schemas.microsoft.com/office/drawing/2014/main" id="{79FF75E1-1AAE-49D1-95C5-859562883A86}"/>
              </a:ext>
            </a:extLst>
          </p:cNvPr>
          <p:cNvSpPr>
            <a:spLocks xmlns:a="http://schemas.openxmlformats.org/drawingml/2006/main" noGrp="1"/>
          </p:cNvSpPr>
          <p:nvPr/>
        </p:nvSpPr>
        <p:spPr>
          <a:xfrm xmlns:a="http://schemas.openxmlformats.org/drawingml/2006/main">
            <a:off x="609600" y="559117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28" name="Limits: fixed 480-band / 2× SR; scientific qu">
            <a:extLst xmlns:a="http://schemas.openxmlformats.org/drawingml/2006/main">
              <a:ext uri="{FF2B5EF4-FFF2-40B4-BE49-F238E27FC236}">
                <a16:creationId xmlns:a16="http://schemas.microsoft.com/office/drawing/2014/main" id="{313908C3-45C6-41F4-ABE0-1450ADBFE0D0}"/>
              </a:ext>
            </a:extLst>
          </p:cNvPr>
          <p:cNvSpPr>
            <a:spLocks xmlns:a="http://schemas.openxmlformats.org/drawingml/2006/main" noGrp="1"/>
          </p:cNvSpPr>
          <p:nvPr/>
        </p:nvSpPr>
        <p:spPr>
          <a:xfrm xmlns:a="http://schemas.openxmlformats.org/drawingml/2006/main">
            <a:off x="609600" y="5791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93651E"/>
                </a:solidFill>
                <a:latin typeface="Arial"/>
                <a:ea typeface="Arial"/>
                <a:cs typeface="Arial"/>
              </a:defRPr>
            </a:pPr>
            <a:r>
              <a:rPr sz="1650" b="0">
                <a:solidFill>
                  <a:srgbClr val="93651E"/>
                </a:solidFill>
                <a:latin typeface="Arial"/>
                <a:ea typeface="Arial"/>
                <a:cs typeface="Arial"/>
              </a:rPr>
              <a:t>Limits: fixed 480-band / 2× SR; scientific quality and classification regression coverage remain open.</a:t>
            </a:r>
          </a:p>
        </p:txBody>
      </p:sp>
    </p:spTree>
    <p:extLst>
      <p:ext uri="{BB962C8B-B14F-4D97-AF65-F5344CB8AC3E}">
        <p14:creationId xmlns:p14="http://schemas.microsoft.com/office/powerpoint/2010/main" val="1012557931"/>
      </p:ext>
    </p:extLst>
  </p:cSld>
</p:sld>
</file>

<file path=ppt/slides/slide4.xml><?xml version="1.0" encoding="utf-8"?>
<p:sld xmlns:p="http://schemas.openxmlformats.org/presentationml/2006/main">
  <p:cSld>
    <p:bg>
      <p:bgPr>
        <a:solidFill xmlns:a="http://schemas.openxmlformats.org/drawingml/2006/main">
          <a:srgbClr val="F4F5F0"/>
        </a:solidFill>
      </p:bgPr>
    </p:bg>
    <p:spTree>
      <p:nvGrpSpPr>
        <p:cNvPr id="1" name=""/>
        <p:cNvGrpSpPr/>
        <p:nvPr/>
      </p:nvGrpSpPr>
      <p:grpSpPr>
        <a:xfrm xmlns:a="http://schemas.openxmlformats.org/drawingml/2006/main"/>
      </p:grpSpPr>
      <p:sp>
        <p:nvSpPr>
          <p:cNvPr id="20" name="STAKEHOLDER ENGAGEMENT">
            <a:extLst xmlns:a="http://schemas.openxmlformats.org/drawingml/2006/main">
              <a:ext uri="{FF2B5EF4-FFF2-40B4-BE49-F238E27FC236}">
                <a16:creationId xmlns:a16="http://schemas.microsoft.com/office/drawing/2014/main" id="{35B7BA32-BCE1-4F0D-A85F-151A309CF47E}"/>
              </a:ext>
            </a:extLst>
          </p:cNvPr>
          <p:cNvSpPr>
            <a:spLocks xmlns:a="http://schemas.openxmlformats.org/drawingml/2006/main" noGrp="1"/>
          </p:cNvSpPr>
          <p:nvPr/>
        </p:nvSpPr>
        <p:spPr>
          <a:xfrm xmlns:a="http://schemas.openxmlformats.org/drawingml/2006/main">
            <a:off x="609600" y="4000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287553"/>
                </a:solidFill>
                <a:latin typeface="Arial"/>
                <a:ea typeface="Arial"/>
                <a:cs typeface="Arial"/>
              </a:defRPr>
            </a:pPr>
            <a:r>
              <a:rPr sz="1500" b="1">
                <a:solidFill>
                  <a:srgbClr val="287553"/>
                </a:solidFill>
                <a:latin typeface="Arial"/>
                <a:ea typeface="Arial"/>
                <a:cs typeface="Arial"/>
              </a:rPr>
              <a:t>STAKEHOLDER ENGAGEMENT</a:t>
            </a:r>
          </a:p>
        </p:txBody>
      </p:sp>
      <p:sp>
        <p:nvSpPr>
          <p:cNvPr id="2" name="Client needs are traceable to code">
            <a:extLst xmlns:a="http://schemas.openxmlformats.org/drawingml/2006/main">
              <a:ext uri="{FF2B5EF4-FFF2-40B4-BE49-F238E27FC236}">
                <a16:creationId xmlns:a16="http://schemas.microsoft.com/office/drawing/2014/main" id="{13058B7F-3613-484A-A494-5F3444F6BB2E}"/>
              </a:ext>
            </a:extLst>
          </p:cNvPr>
          <p:cNvSpPr>
            <a:spLocks xmlns:a="http://schemas.openxmlformats.org/drawingml/2006/main" noGrp="1"/>
          </p:cNvSpPr>
          <p:nvPr/>
        </p:nvSpPr>
        <p:spPr>
          <a:xfrm xmlns:a="http://schemas.openxmlformats.org/drawingml/2006/main">
            <a:off x="609600" y="86677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3B31"/>
                </a:solidFill>
                <a:latin typeface="Arial"/>
                <a:ea typeface="Arial"/>
                <a:cs typeface="Arial"/>
              </a:defRPr>
            </a:pPr>
            <a:r>
              <a:rPr sz="3600" b="1">
                <a:solidFill>
                  <a:srgbClr val="173B31"/>
                </a:solidFill>
                <a:latin typeface="Arial"/>
                <a:ea typeface="Arial"/>
                <a:cs typeface="Arial"/>
              </a:rPr>
              <a:t>Client needs are traceable to code</a:t>
            </a:r>
          </a:p>
        </p:txBody>
      </p:sp>
      <p:sp>
        <p:nvSpPr>
          <p:cNvPr id="3" name="">
            <a:extLst xmlns:a="http://schemas.openxmlformats.org/drawingml/2006/main">
              <a:ext uri="{FF2B5EF4-FFF2-40B4-BE49-F238E27FC236}">
                <a16:creationId xmlns:a16="http://schemas.microsoft.com/office/drawing/2014/main" id="{187F34BC-282A-46AD-A0EA-17B1B0B75D3D}"/>
              </a:ext>
            </a:extLst>
          </p:cNvPr>
          <p:cNvSpPr>
            <a:spLocks xmlns:a="http://schemas.openxmlformats.org/drawingml/2006/main" noGrp="1"/>
          </p:cNvSpPr>
          <p:nvPr/>
        </p:nvSpPr>
        <p:spPr>
          <a:xfrm xmlns:a="http://schemas.openxmlformats.org/drawingml/2006/main">
            <a:off x="609600" y="623887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4" name="LEAF ANALYZER  /  SPRINT 5">
            <a:extLst xmlns:a="http://schemas.openxmlformats.org/drawingml/2006/main">
              <a:ext uri="{FF2B5EF4-FFF2-40B4-BE49-F238E27FC236}">
                <a16:creationId xmlns:a16="http://schemas.microsoft.com/office/drawing/2014/main" id="{BFB7B212-E01F-464F-A9ED-7FE86D9A4E54}"/>
              </a:ext>
            </a:extLst>
          </p:cNvPr>
          <p:cNvSpPr>
            <a:spLocks xmlns:a="http://schemas.openxmlformats.org/drawingml/2006/main" noGrp="1"/>
          </p:cNvSpPr>
          <p:nvPr/>
        </p:nvSpPr>
        <p:spPr>
          <a:xfrm xmlns:a="http://schemas.openxmlformats.org/drawingml/2006/main">
            <a:off x="609600" y="6410325"/>
            <a:ext cx="323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LEAF ANALYZER  /  SPRINT 5</a:t>
            </a:r>
          </a:p>
        </p:txBody>
      </p:sp>
      <p:sp>
        <p:nvSpPr>
          <p:cNvPr id="5" name="Client meeting 7 Aug • planning document • We">
            <a:extLst xmlns:a="http://schemas.openxmlformats.org/drawingml/2006/main">
              <a:ext uri="{FF2B5EF4-FFF2-40B4-BE49-F238E27FC236}">
                <a16:creationId xmlns:a16="http://schemas.microsoft.com/office/drawing/2014/main" id="{395F314C-735E-4E2F-8C2F-BD0E66080BD1}"/>
              </a:ext>
            </a:extLst>
          </p:cNvPr>
          <p:cNvSpPr>
            <a:spLocks xmlns:a="http://schemas.openxmlformats.org/drawingml/2006/main" noGrp="1"/>
          </p:cNvSpPr>
          <p:nvPr/>
        </p:nvSpPr>
        <p:spPr>
          <a:xfrm xmlns:a="http://schemas.openxmlformats.org/drawingml/2006/main">
            <a:off x="3952875" y="6410325"/>
            <a:ext cx="708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Client meeting 7 Aug • planning document • Week 5 report</a:t>
            </a:r>
          </a:p>
        </p:txBody>
      </p:sp>
      <p:sp>
        <p:nvSpPr>
          <p:cNvPr id="6" name="04">
            <a:extLst xmlns:a="http://schemas.openxmlformats.org/drawingml/2006/main">
              <a:ext uri="{FF2B5EF4-FFF2-40B4-BE49-F238E27FC236}">
                <a16:creationId xmlns:a16="http://schemas.microsoft.com/office/drawing/2014/main" id="{7DDAE6D1-B3FB-4770-9415-F43ABB1D41AD}"/>
              </a:ext>
            </a:extLst>
          </p:cNvPr>
          <p:cNvSpPr>
            <a:spLocks xmlns:a="http://schemas.openxmlformats.org/drawingml/2006/main" noGrp="1"/>
          </p:cNvSpPr>
          <p:nvPr/>
        </p:nvSpPr>
        <p:spPr>
          <a:xfrm xmlns:a="http://schemas.openxmlformats.org/drawingml/2006/main">
            <a:off x="11239500" y="6381750"/>
            <a:ext cx="361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04</a:t>
            </a:r>
          </a:p>
        </p:txBody>
      </p:sp>
      <p:sp>
        <p:nvSpPr>
          <p:cNvPr id="7" name="Sprint 4 feedback: formally track meeting act">
            <a:extLst xmlns:a="http://schemas.openxmlformats.org/drawingml/2006/main">
              <a:ext uri="{FF2B5EF4-FFF2-40B4-BE49-F238E27FC236}">
                <a16:creationId xmlns:a16="http://schemas.microsoft.com/office/drawing/2014/main" id="{405D531A-4717-4087-A135-531668F2999D}"/>
              </a:ext>
            </a:extLst>
          </p:cNvPr>
          <p:cNvSpPr>
            <a:spLocks xmlns:a="http://schemas.openxmlformats.org/drawingml/2006/main" noGrp="1"/>
          </p:cNvSpPr>
          <p:nvPr/>
        </p:nvSpPr>
        <p:spPr>
          <a:xfrm xmlns:a="http://schemas.openxmlformats.org/drawingml/2006/main">
            <a:off x="609600" y="17049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86C63"/>
                </a:solidFill>
                <a:latin typeface="Arial"/>
                <a:ea typeface="Arial"/>
                <a:cs typeface="Arial"/>
              </a:defRPr>
            </a:pPr>
            <a:r>
              <a:rPr sz="1875" b="0">
                <a:solidFill>
                  <a:srgbClr val="586C63"/>
                </a:solidFill>
                <a:latin typeface="Arial"/>
                <a:ea typeface="Arial"/>
                <a:cs typeface="Arial"/>
              </a:rPr>
              <a:t>Sprint 4 feedback: formally track meeting actions and report their outcomes.</a:t>
            </a:r>
          </a:p>
        </p:txBody>
      </p:sp>
      <p:sp>
        <p:nvSpPr>
          <p:cNvPr id="8" name="RECORDED NEED">
            <a:extLst xmlns:a="http://schemas.openxmlformats.org/drawingml/2006/main">
              <a:ext uri="{FF2B5EF4-FFF2-40B4-BE49-F238E27FC236}">
                <a16:creationId xmlns:a16="http://schemas.microsoft.com/office/drawing/2014/main" id="{28720B28-C014-46EA-827F-24CA574AC033}"/>
              </a:ext>
            </a:extLst>
          </p:cNvPr>
          <p:cNvSpPr>
            <a:spLocks xmlns:a="http://schemas.openxmlformats.org/drawingml/2006/main" noGrp="1"/>
          </p:cNvSpPr>
          <p:nvPr/>
        </p:nvSpPr>
        <p:spPr>
          <a:xfrm xmlns:a="http://schemas.openxmlformats.org/drawingml/2006/main">
            <a:off x="609600" y="2390775"/>
            <a:ext cx="3286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287553"/>
                </a:solidFill>
                <a:latin typeface="Arial"/>
                <a:ea typeface="Arial"/>
                <a:cs typeface="Arial"/>
              </a:defRPr>
            </a:pPr>
            <a:r>
              <a:rPr sz="1575" b="1">
                <a:solidFill>
                  <a:srgbClr val="287553"/>
                </a:solidFill>
                <a:latin typeface="Arial"/>
                <a:ea typeface="Arial"/>
                <a:cs typeface="Arial"/>
              </a:rPr>
              <a:t>RECORDED NEED</a:t>
            </a:r>
          </a:p>
        </p:txBody>
      </p:sp>
      <p:sp>
        <p:nvSpPr>
          <p:cNvPr id="9" name="TRACKED ACTION">
            <a:extLst xmlns:a="http://schemas.openxmlformats.org/drawingml/2006/main">
              <a:ext uri="{FF2B5EF4-FFF2-40B4-BE49-F238E27FC236}">
                <a16:creationId xmlns:a16="http://schemas.microsoft.com/office/drawing/2014/main" id="{B65FBD5B-66C6-49E0-8AB4-9168A1F3DF4B}"/>
              </a:ext>
            </a:extLst>
          </p:cNvPr>
          <p:cNvSpPr>
            <a:spLocks xmlns:a="http://schemas.openxmlformats.org/drawingml/2006/main" noGrp="1"/>
          </p:cNvSpPr>
          <p:nvPr/>
        </p:nvSpPr>
        <p:spPr>
          <a:xfrm xmlns:a="http://schemas.openxmlformats.org/drawingml/2006/main">
            <a:off x="4171950" y="2390775"/>
            <a:ext cx="3286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287553"/>
                </a:solidFill>
                <a:latin typeface="Arial"/>
                <a:ea typeface="Arial"/>
                <a:cs typeface="Arial"/>
              </a:defRPr>
            </a:pPr>
            <a:r>
              <a:rPr sz="1575" b="1">
                <a:solidFill>
                  <a:srgbClr val="287553"/>
                </a:solidFill>
                <a:latin typeface="Arial"/>
                <a:ea typeface="Arial"/>
                <a:cs typeface="Arial"/>
              </a:rPr>
              <a:t>TRACKED ACTION</a:t>
            </a:r>
          </a:p>
        </p:txBody>
      </p:sp>
      <p:sp>
        <p:nvSpPr>
          <p:cNvPr id="10" name="IMPLEMENTED OUTCOME">
            <a:extLst xmlns:a="http://schemas.openxmlformats.org/drawingml/2006/main">
              <a:ext uri="{FF2B5EF4-FFF2-40B4-BE49-F238E27FC236}">
                <a16:creationId xmlns:a16="http://schemas.microsoft.com/office/drawing/2014/main" id="{10723389-5955-4DB6-972D-61856A3B702F}"/>
              </a:ext>
            </a:extLst>
          </p:cNvPr>
          <p:cNvSpPr>
            <a:spLocks xmlns:a="http://schemas.openxmlformats.org/drawingml/2006/main" noGrp="1"/>
          </p:cNvSpPr>
          <p:nvPr/>
        </p:nvSpPr>
        <p:spPr>
          <a:xfrm xmlns:a="http://schemas.openxmlformats.org/drawingml/2006/main">
            <a:off x="7848600" y="2390775"/>
            <a:ext cx="3286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287553"/>
                </a:solidFill>
                <a:latin typeface="Arial"/>
                <a:ea typeface="Arial"/>
                <a:cs typeface="Arial"/>
              </a:defRPr>
            </a:pPr>
            <a:r>
              <a:rPr sz="1575" b="1">
                <a:solidFill>
                  <a:srgbClr val="287553"/>
                </a:solidFill>
                <a:latin typeface="Arial"/>
                <a:ea typeface="Arial"/>
                <a:cs typeface="Arial"/>
              </a:rPr>
              <a:t>IMPLEMENTED OUTCOME</a:t>
            </a:r>
          </a:p>
        </p:txBody>
      </p:sp>
      <p:sp>
        <p:nvSpPr>
          <p:cNvPr id="11" name="">
            <a:extLst xmlns:a="http://schemas.openxmlformats.org/drawingml/2006/main">
              <a:ext uri="{FF2B5EF4-FFF2-40B4-BE49-F238E27FC236}">
                <a16:creationId xmlns:a16="http://schemas.microsoft.com/office/drawing/2014/main" id="{62888804-220B-4166-9596-F277F0107134}"/>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12" name="Frequent SR crashes;&#10;use every spectral band.">
            <a:extLst xmlns:a="http://schemas.openxmlformats.org/drawingml/2006/main">
              <a:ext uri="{FF2B5EF4-FFF2-40B4-BE49-F238E27FC236}">
                <a16:creationId xmlns:a16="http://schemas.microsoft.com/office/drawing/2014/main" id="{52116F32-1C17-40D0-9CE2-8C0B6A087BE9}"/>
              </a:ext>
            </a:extLst>
          </p:cNvPr>
          <p:cNvSpPr>
            <a:spLocks xmlns:a="http://schemas.openxmlformats.org/drawingml/2006/main" noGrp="1"/>
          </p:cNvSpPr>
          <p:nvPr/>
        </p:nvSpPr>
        <p:spPr>
          <a:xfrm xmlns:a="http://schemas.openxmlformats.org/drawingml/2006/main">
            <a:off x="609600" y="3057525"/>
            <a:ext cx="333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73B31"/>
                </a:solidFill>
                <a:latin typeface="Arial"/>
                <a:ea typeface="Arial"/>
                <a:cs typeface="Arial"/>
              </a:defRPr>
            </a:pPr>
            <a:r>
              <a:rPr sz="1875" b="1">
                <a:solidFill>
                  <a:srgbClr val="173B31"/>
                </a:solidFill>
                <a:latin typeface="Arial"/>
                <a:ea typeface="Arial"/>
                <a:cs typeface="Arial"/>
              </a:rPr>
              <a:t>Frequent SR crashes;</a:t>
            </a:r>
          </a:p>
          <a:p xmlns:a="http://schemas.openxmlformats.org/drawingml/2006/main">
            <a:pPr algn="l">
              <a:defRPr sz="1875" b="1">
                <a:solidFill>
                  <a:srgbClr val="173B31"/>
                </a:solidFill>
                <a:latin typeface="Arial"/>
                <a:ea typeface="Arial"/>
                <a:cs typeface="Arial"/>
              </a:defRPr>
            </a:pPr>
            <a:r>
              <a:rPr sz="1875" b="1">
                <a:solidFill>
                  <a:srgbClr val="173B31"/>
                </a:solidFill>
                <a:latin typeface="Arial"/>
                <a:ea typeface="Arial"/>
                <a:cs typeface="Arial"/>
              </a:rPr>
              <a:t>use every spectral band.</a:t>
            </a:r>
          </a:p>
        </p:txBody>
      </p:sp>
      <p:sp>
        <p:nvSpPr>
          <p:cNvPr id="13" name="Guochen · LEAF-152&#10;Ryan · LEAF-158">
            <a:extLst xmlns:a="http://schemas.openxmlformats.org/drawingml/2006/main">
              <a:ext uri="{FF2B5EF4-FFF2-40B4-BE49-F238E27FC236}">
                <a16:creationId xmlns:a16="http://schemas.microsoft.com/office/drawing/2014/main" id="{5C0B15E3-F6F5-4E39-AE89-1EF7624D5E04}"/>
              </a:ext>
            </a:extLst>
          </p:cNvPr>
          <p:cNvSpPr>
            <a:spLocks xmlns:a="http://schemas.openxmlformats.org/drawingml/2006/main" noGrp="1"/>
          </p:cNvSpPr>
          <p:nvPr/>
        </p:nvSpPr>
        <p:spPr>
          <a:xfrm xmlns:a="http://schemas.openxmlformats.org/drawingml/2006/main">
            <a:off x="4171950" y="3057525"/>
            <a:ext cx="333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86C63"/>
                </a:solidFill>
                <a:latin typeface="Arial"/>
                <a:ea typeface="Arial"/>
                <a:cs typeface="Arial"/>
              </a:defRPr>
            </a:pPr>
            <a:r>
              <a:rPr sz="1875" b="0">
                <a:solidFill>
                  <a:srgbClr val="586C63"/>
                </a:solidFill>
                <a:latin typeface="Arial"/>
                <a:ea typeface="Arial"/>
                <a:cs typeface="Arial"/>
              </a:rPr>
              <a:t>Guochen · LEAF-152</a:t>
            </a:r>
          </a:p>
          <a:p xmlns:a="http://schemas.openxmlformats.org/drawingml/2006/main">
            <a:pPr algn="l">
              <a:defRPr sz="1875" b="0">
                <a:solidFill>
                  <a:srgbClr val="586C63"/>
                </a:solidFill>
                <a:latin typeface="Arial"/>
                <a:ea typeface="Arial"/>
                <a:cs typeface="Arial"/>
              </a:defRPr>
            </a:pPr>
            <a:r>
              <a:rPr sz="1875" b="0">
                <a:solidFill>
                  <a:srgbClr val="586C63"/>
                </a:solidFill>
                <a:latin typeface="Arial"/>
                <a:ea typeface="Arial"/>
                <a:cs typeface="Arial"/>
              </a:rPr>
              <a:t>Ryan · LEAF-158</a:t>
            </a:r>
          </a:p>
        </p:txBody>
      </p:sp>
      <p:sp>
        <p:nvSpPr>
          <p:cNvPr id="14" name="Real inference, cancellation,&#10;recovery and sh">
            <a:extLst xmlns:a="http://schemas.openxmlformats.org/drawingml/2006/main">
              <a:ext uri="{FF2B5EF4-FFF2-40B4-BE49-F238E27FC236}">
                <a16:creationId xmlns:a16="http://schemas.microsoft.com/office/drawing/2014/main" id="{57400CEB-176E-4712-8F3E-9DF1D3977E52}"/>
              </a:ext>
            </a:extLst>
          </p:cNvPr>
          <p:cNvSpPr>
            <a:spLocks xmlns:a="http://schemas.openxmlformats.org/drawingml/2006/main" noGrp="1"/>
          </p:cNvSpPr>
          <p:nvPr/>
        </p:nvSpPr>
        <p:spPr>
          <a:xfrm xmlns:a="http://schemas.openxmlformats.org/drawingml/2006/main">
            <a:off x="7848600" y="3057525"/>
            <a:ext cx="333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86C63"/>
                </a:solidFill>
                <a:latin typeface="Arial"/>
                <a:ea typeface="Arial"/>
                <a:cs typeface="Arial"/>
              </a:defRPr>
            </a:pPr>
            <a:r>
              <a:rPr sz="1875" b="0">
                <a:solidFill>
                  <a:srgbClr val="586C63"/>
                </a:solidFill>
                <a:latin typeface="Arial"/>
                <a:ea typeface="Arial"/>
                <a:cs typeface="Arial"/>
              </a:rPr>
              <a:t>Real inference, cancellation,</a:t>
            </a:r>
          </a:p>
          <a:p xmlns:a="http://schemas.openxmlformats.org/drawingml/2006/main">
            <a:pPr algn="l">
              <a:defRPr sz="1875" b="0">
                <a:solidFill>
                  <a:srgbClr val="586C63"/>
                </a:solidFill>
                <a:latin typeface="Arial"/>
                <a:ea typeface="Arial"/>
                <a:cs typeface="Arial"/>
              </a:defRPr>
            </a:pPr>
            <a:r>
              <a:rPr sz="1875" b="0">
                <a:solidFill>
                  <a:srgbClr val="586C63"/>
                </a:solidFill>
                <a:latin typeface="Arial"/>
                <a:ea typeface="Arial"/>
                <a:cs typeface="Arial"/>
              </a:rPr>
              <a:t>recovery and shared results.</a:t>
            </a:r>
          </a:p>
        </p:txBody>
      </p:sp>
      <p:sp>
        <p:nvSpPr>
          <p:cNvPr id="15" name="">
            <a:extLst xmlns:a="http://schemas.openxmlformats.org/drawingml/2006/main">
              <a:ext uri="{FF2B5EF4-FFF2-40B4-BE49-F238E27FC236}">
                <a16:creationId xmlns:a16="http://schemas.microsoft.com/office/drawing/2014/main" id="{51C2A0A0-57EB-47CD-AD1A-BCD1002B15F0}"/>
              </a:ext>
            </a:extLst>
          </p:cNvPr>
          <p:cNvSpPr>
            <a:spLocks xmlns:a="http://schemas.openxmlformats.org/drawingml/2006/main" noGrp="1"/>
          </p:cNvSpPr>
          <p:nvPr/>
        </p:nvSpPr>
        <p:spPr>
          <a:xfrm xmlns:a="http://schemas.openxmlformats.org/drawingml/2006/main">
            <a:off x="609600" y="401002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16" name="A more professional,&#10;usable analysis interfac">
            <a:extLst xmlns:a="http://schemas.openxmlformats.org/drawingml/2006/main">
              <a:ext uri="{FF2B5EF4-FFF2-40B4-BE49-F238E27FC236}">
                <a16:creationId xmlns:a16="http://schemas.microsoft.com/office/drawing/2014/main" id="{A5B4BC66-B229-4B7B-B45E-7A086B9541DC}"/>
              </a:ext>
            </a:extLst>
          </p:cNvPr>
          <p:cNvSpPr>
            <a:spLocks xmlns:a="http://schemas.openxmlformats.org/drawingml/2006/main" noGrp="1"/>
          </p:cNvSpPr>
          <p:nvPr/>
        </p:nvSpPr>
        <p:spPr>
          <a:xfrm xmlns:a="http://schemas.openxmlformats.org/drawingml/2006/main">
            <a:off x="609600" y="4210050"/>
            <a:ext cx="333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73B31"/>
                </a:solidFill>
                <a:latin typeface="Arial"/>
                <a:ea typeface="Arial"/>
                <a:cs typeface="Arial"/>
              </a:defRPr>
            </a:pPr>
            <a:r>
              <a:rPr sz="1875" b="1">
                <a:solidFill>
                  <a:srgbClr val="173B31"/>
                </a:solidFill>
                <a:latin typeface="Arial"/>
                <a:ea typeface="Arial"/>
                <a:cs typeface="Arial"/>
              </a:rPr>
              <a:t>A more professional,</a:t>
            </a:r>
          </a:p>
          <a:p xmlns:a="http://schemas.openxmlformats.org/drawingml/2006/main">
            <a:pPr algn="l">
              <a:defRPr sz="1875" b="1">
                <a:solidFill>
                  <a:srgbClr val="173B31"/>
                </a:solidFill>
                <a:latin typeface="Arial"/>
                <a:ea typeface="Arial"/>
                <a:cs typeface="Arial"/>
              </a:defRPr>
            </a:pPr>
            <a:r>
              <a:rPr sz="1875" b="1">
                <a:solidFill>
                  <a:srgbClr val="173B31"/>
                </a:solidFill>
                <a:latin typeface="Arial"/>
                <a:ea typeface="Arial"/>
                <a:cs typeface="Arial"/>
              </a:rPr>
              <a:t>usable analysis interface.</a:t>
            </a:r>
          </a:p>
        </p:txBody>
      </p:sp>
      <p:sp>
        <p:nvSpPr>
          <p:cNvPr id="17" name="Guochen · LEAF-149&#10;Ryan · LEAF-154 / 155">
            <a:extLst xmlns:a="http://schemas.openxmlformats.org/drawingml/2006/main">
              <a:ext uri="{FF2B5EF4-FFF2-40B4-BE49-F238E27FC236}">
                <a16:creationId xmlns:a16="http://schemas.microsoft.com/office/drawing/2014/main" id="{5AD7B12E-B142-4795-A135-12FB792A040D}"/>
              </a:ext>
            </a:extLst>
          </p:cNvPr>
          <p:cNvSpPr>
            <a:spLocks xmlns:a="http://schemas.openxmlformats.org/drawingml/2006/main" noGrp="1"/>
          </p:cNvSpPr>
          <p:nvPr/>
        </p:nvSpPr>
        <p:spPr>
          <a:xfrm xmlns:a="http://schemas.openxmlformats.org/drawingml/2006/main">
            <a:off x="4171950" y="4210050"/>
            <a:ext cx="333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86C63"/>
                </a:solidFill>
                <a:latin typeface="Arial"/>
                <a:ea typeface="Arial"/>
                <a:cs typeface="Arial"/>
              </a:defRPr>
            </a:pPr>
            <a:r>
              <a:rPr sz="1875" b="0">
                <a:solidFill>
                  <a:srgbClr val="586C63"/>
                </a:solidFill>
                <a:latin typeface="Arial"/>
                <a:ea typeface="Arial"/>
                <a:cs typeface="Arial"/>
              </a:rPr>
              <a:t>Guochen · LEAF-149</a:t>
            </a:r>
          </a:p>
          <a:p xmlns:a="http://schemas.openxmlformats.org/drawingml/2006/main">
            <a:pPr algn="l">
              <a:defRPr sz="1875" b="0">
                <a:solidFill>
                  <a:srgbClr val="586C63"/>
                </a:solidFill>
                <a:latin typeface="Arial"/>
                <a:ea typeface="Arial"/>
                <a:cs typeface="Arial"/>
              </a:defRPr>
            </a:pPr>
            <a:r>
              <a:rPr sz="1875" b="0">
                <a:solidFill>
                  <a:srgbClr val="586C63"/>
                </a:solidFill>
                <a:latin typeface="Arial"/>
                <a:ea typeface="Arial"/>
                <a:cs typeface="Arial"/>
              </a:rPr>
              <a:t>Ryan · LEAF-154 / 155</a:t>
            </a:r>
          </a:p>
        </p:txBody>
      </p:sp>
      <p:sp>
        <p:nvSpPr>
          <p:cNvPr id="18" name="Clearer menus, persistent&#10;statistics and colo">
            <a:extLst xmlns:a="http://schemas.openxmlformats.org/drawingml/2006/main">
              <a:ext uri="{FF2B5EF4-FFF2-40B4-BE49-F238E27FC236}">
                <a16:creationId xmlns:a16="http://schemas.microsoft.com/office/drawing/2014/main" id="{C2174424-D525-4ECC-8A6B-134750C48288}"/>
              </a:ext>
            </a:extLst>
          </p:cNvPr>
          <p:cNvSpPr>
            <a:spLocks xmlns:a="http://schemas.openxmlformats.org/drawingml/2006/main" noGrp="1"/>
          </p:cNvSpPr>
          <p:nvPr/>
        </p:nvSpPr>
        <p:spPr>
          <a:xfrm xmlns:a="http://schemas.openxmlformats.org/drawingml/2006/main">
            <a:off x="7848600" y="4210050"/>
            <a:ext cx="333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86C63"/>
                </a:solidFill>
                <a:latin typeface="Arial"/>
                <a:ea typeface="Arial"/>
                <a:cs typeface="Arial"/>
              </a:defRPr>
            </a:pPr>
            <a:r>
              <a:rPr sz="1875" b="0">
                <a:solidFill>
                  <a:srgbClr val="586C63"/>
                </a:solidFill>
                <a:latin typeface="Arial"/>
                <a:ea typeface="Arial"/>
                <a:cs typeface="Arial"/>
              </a:rPr>
              <a:t>Clearer menus, persistent</a:t>
            </a:r>
          </a:p>
          <a:p xmlns:a="http://schemas.openxmlformats.org/drawingml/2006/main">
            <a:pPr algn="l">
              <a:defRPr sz="1875" b="0">
                <a:solidFill>
                  <a:srgbClr val="586C63"/>
                </a:solidFill>
                <a:latin typeface="Arial"/>
                <a:ea typeface="Arial"/>
                <a:cs typeface="Arial"/>
              </a:defRPr>
            </a:pPr>
            <a:r>
              <a:rPr sz="1875" b="0">
                <a:solidFill>
                  <a:srgbClr val="586C63"/>
                </a:solidFill>
                <a:latin typeface="Arial"/>
                <a:ea typeface="Arial"/>
                <a:cs typeface="Arial"/>
              </a:rPr>
              <a:t>statistics and colour swatches.</a:t>
            </a:r>
          </a:p>
        </p:txBody>
      </p:sp>
      <p:sp>
        <p:nvSpPr>
          <p:cNvPr id="19" name="Follow-up is recorded in the backlog and 28 A">
            <a:extLst xmlns:a="http://schemas.openxmlformats.org/drawingml/2006/main">
              <a:ext uri="{FF2B5EF4-FFF2-40B4-BE49-F238E27FC236}">
                <a16:creationId xmlns:a16="http://schemas.microsoft.com/office/drawing/2014/main" id="{5945B449-77FC-4CA1-817D-3A97DBE97C5D}"/>
              </a:ext>
            </a:extLst>
          </p:cNvPr>
          <p:cNvSpPr>
            <a:spLocks xmlns:a="http://schemas.openxmlformats.org/drawingml/2006/main" noGrp="1"/>
          </p:cNvSpPr>
          <p:nvPr/>
        </p:nvSpPr>
        <p:spPr>
          <a:xfrm xmlns:a="http://schemas.openxmlformats.org/drawingml/2006/main">
            <a:off x="609600" y="5362575"/>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87553"/>
                </a:solidFill>
                <a:latin typeface="Arial"/>
                <a:ea typeface="Arial"/>
                <a:cs typeface="Arial"/>
              </a:defRPr>
            </a:pPr>
            <a:r>
              <a:rPr sz="1875" b="1">
                <a:solidFill>
                  <a:srgbClr val="287553"/>
                </a:solidFill>
                <a:latin typeface="Arial"/>
                <a:ea typeface="Arial"/>
                <a:cs typeface="Arial"/>
              </a:rPr>
              <a:t>Follow-up is recorded in the backlog and 28 August report. Client acceptance is still to confirm.</a:t>
            </a:r>
          </a:p>
        </p:txBody>
      </p:sp>
    </p:spTree>
    <p:extLst>
      <p:ext uri="{BB962C8B-B14F-4D97-AF65-F5344CB8AC3E}">
        <p14:creationId xmlns:p14="http://schemas.microsoft.com/office/powerpoint/2010/main" val="16050692"/>
      </p:ext>
    </p:extLst>
  </p:cSld>
</p:sld>
</file>

<file path=ppt/slides/slide5.xml><?xml version="1.0" encoding="utf-8"?>
<p:sld xmlns:p="http://schemas.openxmlformats.org/presentationml/2006/main">
  <p:cSld>
    <p:bg>
      <p:bgPr>
        <a:solidFill xmlns:a="http://schemas.openxmlformats.org/drawingml/2006/main">
          <a:srgbClr val="F4F5F0"/>
        </a:solidFill>
      </p:bgPr>
    </p:bg>
    <p:spTree>
      <p:nvGrpSpPr>
        <p:cNvPr id="1" name=""/>
        <p:cNvGrpSpPr/>
        <p:nvPr/>
      </p:nvGrpSpPr>
      <p:grpSpPr>
        <a:xfrm xmlns:a="http://schemas.openxmlformats.org/drawingml/2006/main"/>
      </p:grpSpPr>
      <p:sp>
        <p:nvSpPr>
          <p:cNvPr id="27" name="STAKEHOLDER ENGAGEMENT">
            <a:extLst xmlns:a="http://schemas.openxmlformats.org/drawingml/2006/main">
              <a:ext uri="{FF2B5EF4-FFF2-40B4-BE49-F238E27FC236}">
                <a16:creationId xmlns:a16="http://schemas.microsoft.com/office/drawing/2014/main" id="{F4FF75FB-2A65-44B6-BC72-A7FDAC738EAC}"/>
              </a:ext>
            </a:extLst>
          </p:cNvPr>
          <p:cNvSpPr>
            <a:spLocks xmlns:a="http://schemas.openxmlformats.org/drawingml/2006/main" noGrp="1"/>
          </p:cNvSpPr>
          <p:nvPr/>
        </p:nvSpPr>
        <p:spPr>
          <a:xfrm xmlns:a="http://schemas.openxmlformats.org/drawingml/2006/main">
            <a:off x="609600" y="4000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287553"/>
                </a:solidFill>
                <a:latin typeface="Arial"/>
                <a:ea typeface="Arial"/>
                <a:cs typeface="Arial"/>
              </a:defRPr>
            </a:pPr>
            <a:r>
              <a:rPr sz="1500" b="1">
                <a:solidFill>
                  <a:srgbClr val="287553"/>
                </a:solidFill>
                <a:latin typeface="Arial"/>
                <a:ea typeface="Arial"/>
                <a:cs typeface="Arial"/>
              </a:rPr>
              <a:t>STAKEHOLDER ENGAGEMENT</a:t>
            </a:r>
          </a:p>
        </p:txBody>
      </p:sp>
      <p:sp>
        <p:nvSpPr>
          <p:cNvPr id="2" name="Tutor actions have a written follow-up">
            <a:extLst xmlns:a="http://schemas.openxmlformats.org/drawingml/2006/main">
              <a:ext uri="{FF2B5EF4-FFF2-40B4-BE49-F238E27FC236}">
                <a16:creationId xmlns:a16="http://schemas.microsoft.com/office/drawing/2014/main" id="{4921659D-6A5C-49CA-8814-9D28A504C1E4}"/>
              </a:ext>
            </a:extLst>
          </p:cNvPr>
          <p:cNvSpPr>
            <a:spLocks xmlns:a="http://schemas.openxmlformats.org/drawingml/2006/main" noGrp="1"/>
          </p:cNvSpPr>
          <p:nvPr/>
        </p:nvSpPr>
        <p:spPr>
          <a:xfrm xmlns:a="http://schemas.openxmlformats.org/drawingml/2006/main">
            <a:off x="609600" y="86677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3B31"/>
                </a:solidFill>
                <a:latin typeface="Arial"/>
                <a:ea typeface="Arial"/>
                <a:cs typeface="Arial"/>
              </a:defRPr>
            </a:pPr>
            <a:r>
              <a:rPr sz="3600" b="1">
                <a:solidFill>
                  <a:srgbClr val="173B31"/>
                </a:solidFill>
                <a:latin typeface="Arial"/>
                <a:ea typeface="Arial"/>
                <a:cs typeface="Arial"/>
              </a:rPr>
              <a:t>Tutor actions have a written follow-up</a:t>
            </a:r>
          </a:p>
        </p:txBody>
      </p:sp>
      <p:sp>
        <p:nvSpPr>
          <p:cNvPr id="3" name="">
            <a:extLst xmlns:a="http://schemas.openxmlformats.org/drawingml/2006/main">
              <a:ext uri="{FF2B5EF4-FFF2-40B4-BE49-F238E27FC236}">
                <a16:creationId xmlns:a16="http://schemas.microsoft.com/office/drawing/2014/main" id="{C5A90913-5C2E-4672-9D0E-68EC5A455A77}"/>
              </a:ext>
            </a:extLst>
          </p:cNvPr>
          <p:cNvSpPr>
            <a:spLocks xmlns:a="http://schemas.openxmlformats.org/drawingml/2006/main" noGrp="1"/>
          </p:cNvSpPr>
          <p:nvPr/>
        </p:nvSpPr>
        <p:spPr>
          <a:xfrm xmlns:a="http://schemas.openxmlformats.org/drawingml/2006/main">
            <a:off x="609600" y="623887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4" name="LEAF ANALYZER  /  SPRINT 5">
            <a:extLst xmlns:a="http://schemas.openxmlformats.org/drawingml/2006/main">
              <a:ext uri="{FF2B5EF4-FFF2-40B4-BE49-F238E27FC236}">
                <a16:creationId xmlns:a16="http://schemas.microsoft.com/office/drawing/2014/main" id="{FDDD53AB-A135-4D87-9E2A-D4BC8AA06552}"/>
              </a:ext>
            </a:extLst>
          </p:cNvPr>
          <p:cNvSpPr>
            <a:spLocks xmlns:a="http://schemas.openxmlformats.org/drawingml/2006/main" noGrp="1"/>
          </p:cNvSpPr>
          <p:nvPr/>
        </p:nvSpPr>
        <p:spPr>
          <a:xfrm xmlns:a="http://schemas.openxmlformats.org/drawingml/2006/main">
            <a:off x="609600" y="6410325"/>
            <a:ext cx="323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LEAF ANALYZER  /  SPRINT 5</a:t>
            </a:r>
          </a:p>
        </p:txBody>
      </p:sp>
      <p:sp>
        <p:nvSpPr>
          <p:cNvPr id="5" name="Tutor Meeting 21/08 • LEAF-157 • reports and ">
            <a:extLst xmlns:a="http://schemas.openxmlformats.org/drawingml/2006/main">
              <a:ext uri="{FF2B5EF4-FFF2-40B4-BE49-F238E27FC236}">
                <a16:creationId xmlns:a16="http://schemas.microsoft.com/office/drawing/2014/main" id="{47801640-D8B9-444E-8412-A5793D6FED84}"/>
              </a:ext>
            </a:extLst>
          </p:cNvPr>
          <p:cNvSpPr>
            <a:spLocks xmlns:a="http://schemas.openxmlformats.org/drawingml/2006/main" noGrp="1"/>
          </p:cNvSpPr>
          <p:nvPr/>
        </p:nvSpPr>
        <p:spPr>
          <a:xfrm xmlns:a="http://schemas.openxmlformats.org/drawingml/2006/main">
            <a:off x="3952875" y="6410325"/>
            <a:ext cx="708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Tutor Meeting 21/08 • LEAF-157 • reports and reflections</a:t>
            </a:r>
          </a:p>
        </p:txBody>
      </p:sp>
      <p:sp>
        <p:nvSpPr>
          <p:cNvPr id="6" name="05">
            <a:extLst xmlns:a="http://schemas.openxmlformats.org/drawingml/2006/main">
              <a:ext uri="{FF2B5EF4-FFF2-40B4-BE49-F238E27FC236}">
                <a16:creationId xmlns:a16="http://schemas.microsoft.com/office/drawing/2014/main" id="{A6A35694-11F8-4923-B2FD-E628EA175A8A}"/>
              </a:ext>
            </a:extLst>
          </p:cNvPr>
          <p:cNvSpPr>
            <a:spLocks xmlns:a="http://schemas.openxmlformats.org/drawingml/2006/main" noGrp="1"/>
          </p:cNvSpPr>
          <p:nvPr/>
        </p:nvSpPr>
        <p:spPr>
          <a:xfrm xmlns:a="http://schemas.openxmlformats.org/drawingml/2006/main">
            <a:off x="11239500" y="6381750"/>
            <a:ext cx="361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05</a:t>
            </a:r>
          </a:p>
        </p:txBody>
      </p:sp>
      <p:sp>
        <p:nvSpPr>
          <p:cNvPr id="7" name="21 August: record effort, reflect weekly and ">
            <a:extLst xmlns:a="http://schemas.openxmlformats.org/drawingml/2006/main">
              <a:ext uri="{FF2B5EF4-FFF2-40B4-BE49-F238E27FC236}">
                <a16:creationId xmlns:a16="http://schemas.microsoft.com/office/drawing/2014/main" id="{F3E765B8-0235-4EC4-B462-AEE30A1F126A}"/>
              </a:ext>
            </a:extLst>
          </p:cNvPr>
          <p:cNvSpPr>
            <a:spLocks xmlns:a="http://schemas.openxmlformats.org/drawingml/2006/main" noGrp="1"/>
          </p:cNvSpPr>
          <p:nvPr/>
        </p:nvSpPr>
        <p:spPr>
          <a:xfrm xmlns:a="http://schemas.openxmlformats.org/drawingml/2006/main">
            <a:off x="609600" y="17145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86C63"/>
                </a:solidFill>
                <a:latin typeface="Arial"/>
                <a:ea typeface="Arial"/>
                <a:cs typeface="Arial"/>
              </a:defRPr>
            </a:pPr>
            <a:r>
              <a:rPr sz="1950" b="0">
                <a:solidFill>
                  <a:srgbClr val="586C63"/>
                </a:solidFill>
                <a:latin typeface="Arial"/>
                <a:ea typeface="Arial"/>
                <a:cs typeface="Arial"/>
              </a:rPr>
              <a:t>21 August: record effort, reflect weekly and keep the risk plan current.</a:t>
            </a:r>
          </a:p>
        </p:txBody>
      </p:sp>
      <p:sp>
        <p:nvSpPr>
          <p:cNvPr id="8" name="→">
            <a:extLst xmlns:a="http://schemas.openxmlformats.org/drawingml/2006/main">
              <a:ext uri="{FF2B5EF4-FFF2-40B4-BE49-F238E27FC236}">
                <a16:creationId xmlns:a16="http://schemas.microsoft.com/office/drawing/2014/main" id="{475A30FD-0C03-4576-8B13-E8F2A8639365}"/>
              </a:ext>
            </a:extLst>
          </p:cNvPr>
          <p:cNvSpPr>
            <a:spLocks xmlns:a="http://schemas.openxmlformats.org/drawingml/2006/main" noGrp="1"/>
          </p:cNvSpPr>
          <p:nvPr/>
        </p:nvSpPr>
        <p:spPr>
          <a:xfrm xmlns:a="http://schemas.openxmlformats.org/drawingml/2006/main">
            <a:off x="3143250" y="2705100"/>
            <a:ext cx="247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287553"/>
                </a:solidFill>
                <a:latin typeface="Arial"/>
                <a:ea typeface="Arial"/>
                <a:cs typeface="Arial"/>
              </a:defRPr>
            </a:pPr>
            <a:r>
              <a:rPr sz="1950" b="1">
                <a:solidFill>
                  <a:srgbClr val="287553"/>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3A61A13A-64D4-4EEB-B210-ECEE769D85C2}"/>
              </a:ext>
            </a:extLst>
          </p:cNvPr>
          <p:cNvSpPr>
            <a:spLocks xmlns:a="http://schemas.openxmlformats.org/drawingml/2006/main" noGrp="1"/>
          </p:cNvSpPr>
          <p:nvPr/>
        </p:nvSpPr>
        <p:spPr>
          <a:xfrm xmlns:a="http://schemas.openxmlformats.org/drawingml/2006/main">
            <a:off x="5972175" y="2705100"/>
            <a:ext cx="247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287553"/>
                </a:solidFill>
                <a:latin typeface="Arial"/>
                <a:ea typeface="Arial"/>
                <a:cs typeface="Arial"/>
              </a:defRPr>
            </a:pPr>
            <a:r>
              <a:rPr sz="1950" b="1">
                <a:solidFill>
                  <a:srgbClr val="287553"/>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409FAA00-2622-4FAC-B4DE-636BB83B75DA}"/>
              </a:ext>
            </a:extLst>
          </p:cNvPr>
          <p:cNvSpPr>
            <a:spLocks xmlns:a="http://schemas.openxmlformats.org/drawingml/2006/main" noGrp="1"/>
          </p:cNvSpPr>
          <p:nvPr/>
        </p:nvSpPr>
        <p:spPr>
          <a:xfrm xmlns:a="http://schemas.openxmlformats.org/drawingml/2006/main">
            <a:off x="8801100" y="2705100"/>
            <a:ext cx="247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287553"/>
                </a:solidFill>
                <a:latin typeface="Arial"/>
                <a:ea typeface="Arial"/>
                <a:cs typeface="Arial"/>
              </a:defRPr>
            </a:pPr>
            <a:r>
              <a:rPr sz="1950" b="1">
                <a:solidFill>
                  <a:srgbClr val="287553"/>
                </a:solidFill>
                <a:latin typeface="Arial"/>
                <a:ea typeface="Arial"/>
                <a:cs typeface="Arial"/>
              </a:rPr>
              <a:t>→</a:t>
            </a:r>
          </a:p>
        </p:txBody>
      </p:sp>
      <p:sp>
        <p:nvSpPr>
          <p:cNvPr id="11" name="">
            <a:extLst xmlns:a="http://schemas.openxmlformats.org/drawingml/2006/main">
              <a:ext uri="{FF2B5EF4-FFF2-40B4-BE49-F238E27FC236}">
                <a16:creationId xmlns:a16="http://schemas.microsoft.com/office/drawing/2014/main" id="{DA83840A-EE7F-4A6F-AD5C-AD090B5A4375}"/>
              </a:ext>
            </a:extLst>
          </p:cNvPr>
          <p:cNvSpPr>
            <a:spLocks xmlns:a="http://schemas.openxmlformats.org/drawingml/2006/main" noGrp="1"/>
          </p:cNvSpPr>
          <p:nvPr/>
        </p:nvSpPr>
        <p:spPr>
          <a:xfrm xmlns:a="http://schemas.openxmlformats.org/drawingml/2006/main">
            <a:off x="609600" y="2419350"/>
            <a:ext cx="2486025" cy="1104900"/>
          </a:xfrm>
          <a:prstGeom xmlns:a="http://schemas.openxmlformats.org/drawingml/2006/main" prst="rect">
            <a:avLst/>
          </a:prstGeom>
          <a:solidFill xmlns:a="http://schemas.openxmlformats.org/drawingml/2006/main">
            <a:srgbClr val="E4ECE3"/>
          </a:solidFill>
          <a:ln xmlns:a="http://schemas.openxmlformats.org/drawingml/2006/main" w="0">
            <a:noFill/>
          </a:ln>
        </p:spPr>
      </p:sp>
      <p:sp>
        <p:nvSpPr>
          <p:cNvPr id="12" name="Feedback">
            <a:extLst xmlns:a="http://schemas.openxmlformats.org/drawingml/2006/main">
              <a:ext uri="{FF2B5EF4-FFF2-40B4-BE49-F238E27FC236}">
                <a16:creationId xmlns:a16="http://schemas.microsoft.com/office/drawing/2014/main" id="{CEEA4FD6-AAB1-4774-A0C2-0EDF8C48C9DE}"/>
              </a:ext>
            </a:extLst>
          </p:cNvPr>
          <p:cNvSpPr>
            <a:spLocks xmlns:a="http://schemas.openxmlformats.org/drawingml/2006/main" noGrp="1"/>
          </p:cNvSpPr>
          <p:nvPr/>
        </p:nvSpPr>
        <p:spPr>
          <a:xfrm xmlns:a="http://schemas.openxmlformats.org/drawingml/2006/main">
            <a:off x="781050" y="2590800"/>
            <a:ext cx="2143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3B31"/>
                </a:solidFill>
                <a:latin typeface="Arial"/>
                <a:ea typeface="Arial"/>
                <a:cs typeface="Arial"/>
              </a:defRPr>
            </a:pPr>
            <a:r>
              <a:rPr sz="2400" b="1">
                <a:solidFill>
                  <a:srgbClr val="173B31"/>
                </a:solidFill>
                <a:latin typeface="Arial"/>
                <a:ea typeface="Arial"/>
                <a:cs typeface="Arial"/>
              </a:rPr>
              <a:t>Feedback</a:t>
            </a:r>
          </a:p>
        </p:txBody>
      </p:sp>
      <p:sp>
        <p:nvSpPr>
          <p:cNvPr id="13" name="Tutor meeting notes">
            <a:extLst xmlns:a="http://schemas.openxmlformats.org/drawingml/2006/main">
              <a:ext uri="{FF2B5EF4-FFF2-40B4-BE49-F238E27FC236}">
                <a16:creationId xmlns:a16="http://schemas.microsoft.com/office/drawing/2014/main" id="{AF88D70D-B55D-4EB1-A8A5-FFEDD5F6A350}"/>
              </a:ext>
            </a:extLst>
          </p:cNvPr>
          <p:cNvSpPr>
            <a:spLocks xmlns:a="http://schemas.openxmlformats.org/drawingml/2006/main" noGrp="1"/>
          </p:cNvSpPr>
          <p:nvPr/>
        </p:nvSpPr>
        <p:spPr>
          <a:xfrm xmlns:a="http://schemas.openxmlformats.org/drawingml/2006/main">
            <a:off x="781050" y="3028950"/>
            <a:ext cx="2143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86C63"/>
                </a:solidFill>
                <a:latin typeface="Arial"/>
                <a:ea typeface="Arial"/>
                <a:cs typeface="Arial"/>
              </a:defRPr>
            </a:pPr>
            <a:r>
              <a:rPr sz="1650" b="0">
                <a:solidFill>
                  <a:srgbClr val="586C63"/>
                </a:solidFill>
                <a:latin typeface="Arial"/>
                <a:ea typeface="Arial"/>
                <a:cs typeface="Arial"/>
              </a:rPr>
              <a:t>Tutor meeting notes</a:t>
            </a:r>
          </a:p>
        </p:txBody>
      </p:sp>
      <p:sp>
        <p:nvSpPr>
          <p:cNvPr id="14" name="">
            <a:extLst xmlns:a="http://schemas.openxmlformats.org/drawingml/2006/main">
              <a:ext uri="{FF2B5EF4-FFF2-40B4-BE49-F238E27FC236}">
                <a16:creationId xmlns:a16="http://schemas.microsoft.com/office/drawing/2014/main" id="{5A59DFA4-533E-452B-A03F-D7323AFC3A5B}"/>
              </a:ext>
            </a:extLst>
          </p:cNvPr>
          <p:cNvSpPr>
            <a:spLocks xmlns:a="http://schemas.openxmlformats.org/drawingml/2006/main" noGrp="1"/>
          </p:cNvSpPr>
          <p:nvPr/>
        </p:nvSpPr>
        <p:spPr>
          <a:xfrm xmlns:a="http://schemas.openxmlformats.org/drawingml/2006/main">
            <a:off x="3438525" y="2419350"/>
            <a:ext cx="2486025" cy="1104900"/>
          </a:xfrm>
          <a:prstGeom xmlns:a="http://schemas.openxmlformats.org/drawingml/2006/main" prst="rect">
            <a:avLst/>
          </a:prstGeom>
          <a:solidFill xmlns:a="http://schemas.openxmlformats.org/drawingml/2006/main">
            <a:srgbClr val="E4ECE3"/>
          </a:solidFill>
          <a:ln xmlns:a="http://schemas.openxmlformats.org/drawingml/2006/main" w="0">
            <a:noFill/>
          </a:ln>
        </p:spPr>
      </p:sp>
      <p:sp>
        <p:nvSpPr>
          <p:cNvPr id="15" name="Action">
            <a:extLst xmlns:a="http://schemas.openxmlformats.org/drawingml/2006/main">
              <a:ext uri="{FF2B5EF4-FFF2-40B4-BE49-F238E27FC236}">
                <a16:creationId xmlns:a16="http://schemas.microsoft.com/office/drawing/2014/main" id="{4B10A73F-555A-4B85-B730-AED231DDFAD6}"/>
              </a:ext>
            </a:extLst>
          </p:cNvPr>
          <p:cNvSpPr>
            <a:spLocks xmlns:a="http://schemas.openxmlformats.org/drawingml/2006/main" noGrp="1"/>
          </p:cNvSpPr>
          <p:nvPr/>
        </p:nvSpPr>
        <p:spPr>
          <a:xfrm xmlns:a="http://schemas.openxmlformats.org/drawingml/2006/main">
            <a:off x="3609975" y="2590800"/>
            <a:ext cx="2143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3B31"/>
                </a:solidFill>
                <a:latin typeface="Arial"/>
                <a:ea typeface="Arial"/>
                <a:cs typeface="Arial"/>
              </a:defRPr>
            </a:pPr>
            <a:r>
              <a:rPr sz="2400" b="1">
                <a:solidFill>
                  <a:srgbClr val="173B31"/>
                </a:solidFill>
                <a:latin typeface="Arial"/>
                <a:ea typeface="Arial"/>
                <a:cs typeface="Arial"/>
              </a:rPr>
              <a:t>Action</a:t>
            </a:r>
          </a:p>
        </p:txBody>
      </p:sp>
      <p:sp>
        <p:nvSpPr>
          <p:cNvPr id="16" name="LEAF-157 · Guochen">
            <a:extLst xmlns:a="http://schemas.openxmlformats.org/drawingml/2006/main">
              <a:ext uri="{FF2B5EF4-FFF2-40B4-BE49-F238E27FC236}">
                <a16:creationId xmlns:a16="http://schemas.microsoft.com/office/drawing/2014/main" id="{57A41F6C-DE8C-4087-A05F-5C986C18E6A8}"/>
              </a:ext>
            </a:extLst>
          </p:cNvPr>
          <p:cNvSpPr>
            <a:spLocks xmlns:a="http://schemas.openxmlformats.org/drawingml/2006/main" noGrp="1"/>
          </p:cNvSpPr>
          <p:nvPr/>
        </p:nvSpPr>
        <p:spPr>
          <a:xfrm xmlns:a="http://schemas.openxmlformats.org/drawingml/2006/main">
            <a:off x="3609975" y="3028950"/>
            <a:ext cx="2143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86C63"/>
                </a:solidFill>
                <a:latin typeface="Arial"/>
                <a:ea typeface="Arial"/>
                <a:cs typeface="Arial"/>
              </a:defRPr>
            </a:pPr>
            <a:r>
              <a:rPr sz="1650" b="0">
                <a:solidFill>
                  <a:srgbClr val="586C63"/>
                </a:solidFill>
                <a:latin typeface="Arial"/>
                <a:ea typeface="Arial"/>
                <a:cs typeface="Arial"/>
              </a:rPr>
              <a:t>LEAF-157 · Guochen</a:t>
            </a:r>
          </a:p>
        </p:txBody>
      </p:sp>
      <p:sp>
        <p:nvSpPr>
          <p:cNvPr id="17" name="">
            <a:extLst xmlns:a="http://schemas.openxmlformats.org/drawingml/2006/main">
              <a:ext uri="{FF2B5EF4-FFF2-40B4-BE49-F238E27FC236}">
                <a16:creationId xmlns:a16="http://schemas.microsoft.com/office/drawing/2014/main" id="{28C52427-EDBB-4EA5-9783-4FB8C6F834A1}"/>
              </a:ext>
            </a:extLst>
          </p:cNvPr>
          <p:cNvSpPr>
            <a:spLocks xmlns:a="http://schemas.openxmlformats.org/drawingml/2006/main" noGrp="1"/>
          </p:cNvSpPr>
          <p:nvPr/>
        </p:nvSpPr>
        <p:spPr>
          <a:xfrm xmlns:a="http://schemas.openxmlformats.org/drawingml/2006/main">
            <a:off x="6267450" y="2419350"/>
            <a:ext cx="2486025" cy="1104900"/>
          </a:xfrm>
          <a:prstGeom xmlns:a="http://schemas.openxmlformats.org/drawingml/2006/main" prst="rect">
            <a:avLst/>
          </a:prstGeom>
          <a:solidFill xmlns:a="http://schemas.openxmlformats.org/drawingml/2006/main">
            <a:srgbClr val="E4ECE3"/>
          </a:solidFill>
          <a:ln xmlns:a="http://schemas.openxmlformats.org/drawingml/2006/main" w="0">
            <a:noFill/>
          </a:ln>
        </p:spPr>
      </p:sp>
      <p:sp>
        <p:nvSpPr>
          <p:cNvPr id="18" name="Delivery">
            <a:extLst xmlns:a="http://schemas.openxmlformats.org/drawingml/2006/main">
              <a:ext uri="{FF2B5EF4-FFF2-40B4-BE49-F238E27FC236}">
                <a16:creationId xmlns:a16="http://schemas.microsoft.com/office/drawing/2014/main" id="{29E01062-B7D8-450A-9FA0-AF1CAFFD040B}"/>
              </a:ext>
            </a:extLst>
          </p:cNvPr>
          <p:cNvSpPr>
            <a:spLocks xmlns:a="http://schemas.openxmlformats.org/drawingml/2006/main" noGrp="1"/>
          </p:cNvSpPr>
          <p:nvPr/>
        </p:nvSpPr>
        <p:spPr>
          <a:xfrm xmlns:a="http://schemas.openxmlformats.org/drawingml/2006/main">
            <a:off x="6438900" y="2590800"/>
            <a:ext cx="2143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3B31"/>
                </a:solidFill>
                <a:latin typeface="Arial"/>
                <a:ea typeface="Arial"/>
                <a:cs typeface="Arial"/>
              </a:defRPr>
            </a:pPr>
            <a:r>
              <a:rPr sz="2400" b="1">
                <a:solidFill>
                  <a:srgbClr val="173B31"/>
                </a:solidFill>
                <a:latin typeface="Arial"/>
                <a:ea typeface="Arial"/>
                <a:cs typeface="Arial"/>
              </a:rPr>
              <a:t>Delivery</a:t>
            </a:r>
          </a:p>
        </p:txBody>
      </p:sp>
      <p:sp>
        <p:nvSpPr>
          <p:cNvPr id="19" name="Linked documents">
            <a:extLst xmlns:a="http://schemas.openxmlformats.org/drawingml/2006/main">
              <a:ext uri="{FF2B5EF4-FFF2-40B4-BE49-F238E27FC236}">
                <a16:creationId xmlns:a16="http://schemas.microsoft.com/office/drawing/2014/main" id="{8D88BAA2-0CC1-4F60-8228-EA0BB6474404}"/>
              </a:ext>
            </a:extLst>
          </p:cNvPr>
          <p:cNvSpPr>
            <a:spLocks xmlns:a="http://schemas.openxmlformats.org/drawingml/2006/main" noGrp="1"/>
          </p:cNvSpPr>
          <p:nvPr/>
        </p:nvSpPr>
        <p:spPr>
          <a:xfrm xmlns:a="http://schemas.openxmlformats.org/drawingml/2006/main">
            <a:off x="6438900" y="3028950"/>
            <a:ext cx="2143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86C63"/>
                </a:solidFill>
                <a:latin typeface="Arial"/>
                <a:ea typeface="Arial"/>
                <a:cs typeface="Arial"/>
              </a:defRPr>
            </a:pPr>
            <a:r>
              <a:rPr sz="1650" b="0">
                <a:solidFill>
                  <a:srgbClr val="586C63"/>
                </a:solidFill>
                <a:latin typeface="Arial"/>
                <a:ea typeface="Arial"/>
                <a:cs typeface="Arial"/>
              </a:rPr>
              <a:t>Linked documents</a:t>
            </a:r>
          </a:p>
        </p:txBody>
      </p:sp>
      <p:sp>
        <p:nvSpPr>
          <p:cNvPr id="20" name="">
            <a:extLst xmlns:a="http://schemas.openxmlformats.org/drawingml/2006/main">
              <a:ext uri="{FF2B5EF4-FFF2-40B4-BE49-F238E27FC236}">
                <a16:creationId xmlns:a16="http://schemas.microsoft.com/office/drawing/2014/main" id="{F474D23C-E689-4469-A251-F4C29D3C582F}"/>
              </a:ext>
            </a:extLst>
          </p:cNvPr>
          <p:cNvSpPr>
            <a:spLocks xmlns:a="http://schemas.openxmlformats.org/drawingml/2006/main" noGrp="1"/>
          </p:cNvSpPr>
          <p:nvPr/>
        </p:nvSpPr>
        <p:spPr>
          <a:xfrm xmlns:a="http://schemas.openxmlformats.org/drawingml/2006/main">
            <a:off x="9096375" y="2419350"/>
            <a:ext cx="2486025" cy="1104900"/>
          </a:xfrm>
          <a:prstGeom xmlns:a="http://schemas.openxmlformats.org/drawingml/2006/main" prst="rect">
            <a:avLst/>
          </a:prstGeom>
          <a:solidFill xmlns:a="http://schemas.openxmlformats.org/drawingml/2006/main">
            <a:srgbClr val="E4ECE3"/>
          </a:solidFill>
          <a:ln xmlns:a="http://schemas.openxmlformats.org/drawingml/2006/main" w="0">
            <a:noFill/>
          </a:ln>
        </p:spPr>
      </p:sp>
      <p:sp>
        <p:nvSpPr>
          <p:cNvPr id="21" name="Report back">
            <a:extLst xmlns:a="http://schemas.openxmlformats.org/drawingml/2006/main">
              <a:ext uri="{FF2B5EF4-FFF2-40B4-BE49-F238E27FC236}">
                <a16:creationId xmlns:a16="http://schemas.microsoft.com/office/drawing/2014/main" id="{C8AA44DF-6AEA-4577-8E1D-2E7363A3F612}"/>
              </a:ext>
            </a:extLst>
          </p:cNvPr>
          <p:cNvSpPr>
            <a:spLocks xmlns:a="http://schemas.openxmlformats.org/drawingml/2006/main" noGrp="1"/>
          </p:cNvSpPr>
          <p:nvPr/>
        </p:nvSpPr>
        <p:spPr>
          <a:xfrm xmlns:a="http://schemas.openxmlformats.org/drawingml/2006/main">
            <a:off x="9267825" y="2590800"/>
            <a:ext cx="2143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3B31"/>
                </a:solidFill>
                <a:latin typeface="Arial"/>
                <a:ea typeface="Arial"/>
                <a:cs typeface="Arial"/>
              </a:defRPr>
            </a:pPr>
            <a:r>
              <a:rPr sz="2400" b="1">
                <a:solidFill>
                  <a:srgbClr val="173B31"/>
                </a:solidFill>
                <a:latin typeface="Arial"/>
                <a:ea typeface="Arial"/>
                <a:cs typeface="Arial"/>
              </a:rPr>
              <a:t>Report back</a:t>
            </a:r>
          </a:p>
        </p:txBody>
      </p:sp>
      <p:sp>
        <p:nvSpPr>
          <p:cNvPr id="22" name="Week 5 tutor report">
            <a:extLst xmlns:a="http://schemas.openxmlformats.org/drawingml/2006/main">
              <a:ext uri="{FF2B5EF4-FFF2-40B4-BE49-F238E27FC236}">
                <a16:creationId xmlns:a16="http://schemas.microsoft.com/office/drawing/2014/main" id="{B9BE389C-9B08-4319-84A4-BF1E8D9059A3}"/>
              </a:ext>
            </a:extLst>
          </p:cNvPr>
          <p:cNvSpPr>
            <a:spLocks xmlns:a="http://schemas.openxmlformats.org/drawingml/2006/main" noGrp="1"/>
          </p:cNvSpPr>
          <p:nvPr/>
        </p:nvSpPr>
        <p:spPr>
          <a:xfrm xmlns:a="http://schemas.openxmlformats.org/drawingml/2006/main">
            <a:off x="9267825" y="3028950"/>
            <a:ext cx="2143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86C63"/>
                </a:solidFill>
                <a:latin typeface="Arial"/>
                <a:ea typeface="Arial"/>
                <a:cs typeface="Arial"/>
              </a:defRPr>
            </a:pPr>
            <a:r>
              <a:rPr sz="1650" b="0">
                <a:solidFill>
                  <a:srgbClr val="586C63"/>
                </a:solidFill>
                <a:latin typeface="Arial"/>
                <a:ea typeface="Arial"/>
                <a:cs typeface="Arial"/>
              </a:rPr>
              <a:t>Week 5 tutor report</a:t>
            </a:r>
          </a:p>
        </p:txBody>
      </p:sp>
      <p:sp>
        <p:nvSpPr>
          <p:cNvPr id="23" name="What the record now contains">
            <a:extLst xmlns:a="http://schemas.openxmlformats.org/drawingml/2006/main">
              <a:ext uri="{FF2B5EF4-FFF2-40B4-BE49-F238E27FC236}">
                <a16:creationId xmlns:a16="http://schemas.microsoft.com/office/drawing/2014/main" id="{31F16909-B4DB-4AD6-AA30-3008AE61617A}"/>
              </a:ext>
            </a:extLst>
          </p:cNvPr>
          <p:cNvSpPr>
            <a:spLocks xmlns:a="http://schemas.openxmlformats.org/drawingml/2006/main" noGrp="1"/>
          </p:cNvSpPr>
          <p:nvPr/>
        </p:nvSpPr>
        <p:spPr>
          <a:xfrm xmlns:a="http://schemas.openxmlformats.org/drawingml/2006/main">
            <a:off x="609600" y="3886200"/>
            <a:ext cx="5238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3B31"/>
                </a:solidFill>
                <a:latin typeface="Arial"/>
                <a:ea typeface="Arial"/>
                <a:cs typeface="Arial"/>
              </a:defRPr>
            </a:pPr>
            <a:r>
              <a:rPr sz="2400" b="1">
                <a:solidFill>
                  <a:srgbClr val="173B31"/>
                </a:solidFill>
                <a:latin typeface="Arial"/>
                <a:ea typeface="Arial"/>
                <a:cs typeface="Arial"/>
              </a:rPr>
              <a:t>What the record now contains</a:t>
            </a:r>
          </a:p>
        </p:txBody>
      </p:sp>
      <p:sp>
        <p:nvSpPr>
          <p:cNvPr id="24" name="A Jira checklist linking requirements, backlo">
            <a:extLst xmlns:a="http://schemas.openxmlformats.org/drawingml/2006/main">
              <a:ext uri="{FF2B5EF4-FFF2-40B4-BE49-F238E27FC236}">
                <a16:creationId xmlns:a16="http://schemas.microsoft.com/office/drawing/2014/main" id="{0B16DC0A-9050-4361-B87C-3D20E5831897}"/>
              </a:ext>
            </a:extLst>
          </p:cNvPr>
          <p:cNvSpPr>
            <a:spLocks xmlns:a="http://schemas.openxmlformats.org/drawingml/2006/main" noGrp="1"/>
          </p:cNvSpPr>
          <p:nvPr/>
        </p:nvSpPr>
        <p:spPr>
          <a:xfrm xmlns:a="http://schemas.openxmlformats.org/drawingml/2006/main">
            <a:off x="609600" y="4438650"/>
            <a:ext cx="10477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586C63"/>
                </a:solidFill>
                <a:latin typeface="Arial"/>
                <a:ea typeface="Arial"/>
                <a:cs typeface="Arial"/>
              </a:defRPr>
            </a:pPr>
            <a:r>
              <a:rPr sz="2025" b="0">
                <a:solidFill>
                  <a:srgbClr val="586C63"/>
                </a:solidFill>
                <a:latin typeface="Arial"/>
                <a:ea typeface="Arial"/>
                <a:cs typeface="Arial"/>
              </a:rPr>
              <a:t>A Jira checklist linking requirements, backlog, risk plan,</a:t>
            </a:r>
          </a:p>
          <a:p xmlns:a="http://schemas.openxmlformats.org/drawingml/2006/main">
            <a:pPr algn="l">
              <a:defRPr sz="2025" b="0">
                <a:solidFill>
                  <a:srgbClr val="586C63"/>
                </a:solidFill>
                <a:latin typeface="Arial"/>
                <a:ea typeface="Arial"/>
                <a:cs typeface="Arial"/>
              </a:defRPr>
            </a:pPr>
            <a:r>
              <a:rPr sz="2025" b="0">
                <a:solidFill>
                  <a:srgbClr val="586C63"/>
                </a:solidFill>
                <a:latin typeface="Arial"/>
                <a:ea typeface="Arial"/>
                <a:cs typeface="Arial"/>
              </a:rPr>
              <a:t>reflection, report and review slides.</a:t>
            </a:r>
          </a:p>
        </p:txBody>
      </p:sp>
      <p:sp>
        <p:nvSpPr>
          <p:cNvPr id="25" name="">
            <a:extLst xmlns:a="http://schemas.openxmlformats.org/drawingml/2006/main">
              <a:ext uri="{FF2B5EF4-FFF2-40B4-BE49-F238E27FC236}">
                <a16:creationId xmlns:a16="http://schemas.microsoft.com/office/drawing/2014/main" id="{0E2A0CAF-C0F8-4C50-A086-76F66409E548}"/>
              </a:ext>
            </a:extLst>
          </p:cNvPr>
          <p:cNvSpPr>
            <a:spLocks xmlns:a="http://schemas.openxmlformats.org/drawingml/2006/main" noGrp="1"/>
          </p:cNvSpPr>
          <p:nvPr/>
        </p:nvSpPr>
        <p:spPr>
          <a:xfrm xmlns:a="http://schemas.openxmlformats.org/drawingml/2006/main">
            <a:off x="609600" y="5457825"/>
            <a:ext cx="10972800" cy="0"/>
          </a:xfrm>
          <a:prstGeom xmlns:a="http://schemas.openxmlformats.org/drawingml/2006/main" prst="line">
            <a:avLst/>
          </a:prstGeom>
          <a:noFill xmlns:a="http://schemas.openxmlformats.org/drawingml/2006/main"/>
          <a:ln xmlns:a="http://schemas.openxmlformats.org/drawingml/2006/main" w="14288">
            <a:solidFill>
              <a:srgbClr val="287553"/>
            </a:solidFill>
          </a:ln>
        </p:spPr>
      </p:sp>
      <p:sp>
        <p:nvSpPr>
          <p:cNvPr id="26" name="Impact: the tutor can follow an action to its">
            <a:extLst xmlns:a="http://schemas.openxmlformats.org/drawingml/2006/main">
              <a:ext uri="{FF2B5EF4-FFF2-40B4-BE49-F238E27FC236}">
                <a16:creationId xmlns:a16="http://schemas.microsoft.com/office/drawing/2014/main" id="{63C4556A-9388-475A-BC13-5151D2CCE6BD}"/>
              </a:ext>
            </a:extLst>
          </p:cNvPr>
          <p:cNvSpPr>
            <a:spLocks xmlns:a="http://schemas.openxmlformats.org/drawingml/2006/main" noGrp="1"/>
          </p:cNvSpPr>
          <p:nvPr/>
        </p:nvSpPr>
        <p:spPr>
          <a:xfrm xmlns:a="http://schemas.openxmlformats.org/drawingml/2006/main">
            <a:off x="609600" y="55911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287553"/>
                </a:solidFill>
                <a:latin typeface="Arial"/>
                <a:ea typeface="Arial"/>
                <a:cs typeface="Arial"/>
              </a:defRPr>
            </a:pPr>
            <a:r>
              <a:rPr sz="1800" b="1">
                <a:solidFill>
                  <a:srgbClr val="287553"/>
                </a:solidFill>
                <a:latin typeface="Arial"/>
                <a:ea typeface="Arial"/>
                <a:cs typeface="Arial"/>
              </a:rPr>
              <a:t>Impact: the tutor can follow an action to its owner, document and reported result.</a:t>
            </a:r>
          </a:p>
        </p:txBody>
      </p:sp>
    </p:spTree>
    <p:extLst>
      <p:ext uri="{BB962C8B-B14F-4D97-AF65-F5344CB8AC3E}">
        <p14:creationId xmlns:p14="http://schemas.microsoft.com/office/powerpoint/2010/main" val="1406063070"/>
      </p:ext>
    </p:extLst>
  </p:cSld>
</p:sld>
</file>

<file path=ppt/slides/slide6.xml><?xml version="1.0" encoding="utf-8"?>
<p:sld xmlns:p="http://schemas.openxmlformats.org/presentationml/2006/main">
  <p:cSld>
    <p:bg>
      <p:bgPr>
        <a:solidFill xmlns:a="http://schemas.openxmlformats.org/drawingml/2006/main">
          <a:srgbClr val="F4F5F0"/>
        </a:solidFill>
      </p:bgPr>
    </p:bg>
    <p:spTree>
      <p:nvGrpSpPr>
        <p:cNvPr id="1" name=""/>
        <p:cNvGrpSpPr/>
        <p:nvPr/>
      </p:nvGrpSpPr>
      <p:grpSpPr>
        <a:xfrm xmlns:a="http://schemas.openxmlformats.org/drawingml/2006/main"/>
      </p:grpSpPr>
      <p:sp>
        <p:nvSpPr>
          <p:cNvPr id="23" name="PLANNING AND ORGANISATION">
            <a:extLst xmlns:a="http://schemas.openxmlformats.org/drawingml/2006/main">
              <a:ext uri="{FF2B5EF4-FFF2-40B4-BE49-F238E27FC236}">
                <a16:creationId xmlns:a16="http://schemas.microsoft.com/office/drawing/2014/main" id="{63BD5CF1-58BA-469E-AB2B-18B8080251D5}"/>
              </a:ext>
            </a:extLst>
          </p:cNvPr>
          <p:cNvSpPr>
            <a:spLocks xmlns:a="http://schemas.openxmlformats.org/drawingml/2006/main" noGrp="1"/>
          </p:cNvSpPr>
          <p:nvPr/>
        </p:nvSpPr>
        <p:spPr>
          <a:xfrm xmlns:a="http://schemas.openxmlformats.org/drawingml/2006/main">
            <a:off x="609600" y="4000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287553"/>
                </a:solidFill>
                <a:latin typeface="Arial"/>
                <a:ea typeface="Arial"/>
                <a:cs typeface="Arial"/>
              </a:defRPr>
            </a:pPr>
            <a:r>
              <a:rPr sz="1500" b="1">
                <a:solidFill>
                  <a:srgbClr val="287553"/>
                </a:solidFill>
                <a:latin typeface="Arial"/>
                <a:ea typeface="Arial"/>
                <a:cs typeface="Arial"/>
              </a:rPr>
              <a:t>PLANNING AND ORGANISATION</a:t>
            </a:r>
          </a:p>
        </p:txBody>
      </p:sp>
      <p:sp>
        <p:nvSpPr>
          <p:cNvPr id="2" name="Owners and hand-offs are more visible">
            <a:extLst xmlns:a="http://schemas.openxmlformats.org/drawingml/2006/main">
              <a:ext uri="{FF2B5EF4-FFF2-40B4-BE49-F238E27FC236}">
                <a16:creationId xmlns:a16="http://schemas.microsoft.com/office/drawing/2014/main" id="{8CB87128-2A15-49D5-99E6-D84D98C887A2}"/>
              </a:ext>
            </a:extLst>
          </p:cNvPr>
          <p:cNvSpPr>
            <a:spLocks xmlns:a="http://schemas.openxmlformats.org/drawingml/2006/main" noGrp="1"/>
          </p:cNvSpPr>
          <p:nvPr/>
        </p:nvSpPr>
        <p:spPr>
          <a:xfrm xmlns:a="http://schemas.openxmlformats.org/drawingml/2006/main">
            <a:off x="609600" y="86677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3B31"/>
                </a:solidFill>
                <a:latin typeface="Arial"/>
                <a:ea typeface="Arial"/>
                <a:cs typeface="Arial"/>
              </a:defRPr>
            </a:pPr>
            <a:r>
              <a:rPr sz="3600" b="1">
                <a:solidFill>
                  <a:srgbClr val="173B31"/>
                </a:solidFill>
                <a:latin typeface="Arial"/>
                <a:ea typeface="Arial"/>
                <a:cs typeface="Arial"/>
              </a:rPr>
              <a:t>Owners and hand-offs are more visible</a:t>
            </a:r>
          </a:p>
        </p:txBody>
      </p:sp>
      <p:sp>
        <p:nvSpPr>
          <p:cNvPr id="3" name="">
            <a:extLst xmlns:a="http://schemas.openxmlformats.org/drawingml/2006/main">
              <a:ext uri="{FF2B5EF4-FFF2-40B4-BE49-F238E27FC236}">
                <a16:creationId xmlns:a16="http://schemas.microsoft.com/office/drawing/2014/main" id="{5B20C7CD-0921-42F5-833F-C6E3746489C4}"/>
              </a:ext>
            </a:extLst>
          </p:cNvPr>
          <p:cNvSpPr>
            <a:spLocks xmlns:a="http://schemas.openxmlformats.org/drawingml/2006/main" noGrp="1"/>
          </p:cNvSpPr>
          <p:nvPr/>
        </p:nvSpPr>
        <p:spPr>
          <a:xfrm xmlns:a="http://schemas.openxmlformats.org/drawingml/2006/main">
            <a:off x="609600" y="623887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4" name="LEAF ANALYZER  /  SPRINT 5">
            <a:extLst xmlns:a="http://schemas.openxmlformats.org/drawingml/2006/main">
              <a:ext uri="{FF2B5EF4-FFF2-40B4-BE49-F238E27FC236}">
                <a16:creationId xmlns:a16="http://schemas.microsoft.com/office/drawing/2014/main" id="{4FCD960D-8F0A-41F8-A3AC-B387CCF3BD08}"/>
              </a:ext>
            </a:extLst>
          </p:cNvPr>
          <p:cNvSpPr>
            <a:spLocks xmlns:a="http://schemas.openxmlformats.org/drawingml/2006/main" noGrp="1"/>
          </p:cNvSpPr>
          <p:nvPr/>
        </p:nvSpPr>
        <p:spPr>
          <a:xfrm xmlns:a="http://schemas.openxmlformats.org/drawingml/2006/main">
            <a:off x="609600" y="6410325"/>
            <a:ext cx="323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LEAF ANALYZER  /  SPRINT 5</a:t>
            </a:r>
          </a:p>
        </p:txBody>
      </p:sp>
      <p:sp>
        <p:nvSpPr>
          <p:cNvPr id="5" name="Jira assignments • Week 4/5 reflections • PRs">
            <a:extLst xmlns:a="http://schemas.openxmlformats.org/drawingml/2006/main">
              <a:ext uri="{FF2B5EF4-FFF2-40B4-BE49-F238E27FC236}">
                <a16:creationId xmlns:a16="http://schemas.microsoft.com/office/drawing/2014/main" id="{1B2C09B2-AF81-4089-8ECF-A5F8DDE99363}"/>
              </a:ext>
            </a:extLst>
          </p:cNvPr>
          <p:cNvSpPr>
            <a:spLocks xmlns:a="http://schemas.openxmlformats.org/drawingml/2006/main" noGrp="1"/>
          </p:cNvSpPr>
          <p:nvPr/>
        </p:nvSpPr>
        <p:spPr>
          <a:xfrm xmlns:a="http://schemas.openxmlformats.org/drawingml/2006/main">
            <a:off x="3952875" y="6410325"/>
            <a:ext cx="708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Jira assignments • Week 4/5 reflections • PRs #28, #29</a:t>
            </a:r>
          </a:p>
        </p:txBody>
      </p:sp>
      <p:sp>
        <p:nvSpPr>
          <p:cNvPr id="6" name="06">
            <a:extLst xmlns:a="http://schemas.openxmlformats.org/drawingml/2006/main">
              <a:ext uri="{FF2B5EF4-FFF2-40B4-BE49-F238E27FC236}">
                <a16:creationId xmlns:a16="http://schemas.microsoft.com/office/drawing/2014/main" id="{8142C773-B680-4BFF-9E4A-F93E263D6D89}"/>
              </a:ext>
            </a:extLst>
          </p:cNvPr>
          <p:cNvSpPr>
            <a:spLocks xmlns:a="http://schemas.openxmlformats.org/drawingml/2006/main" noGrp="1"/>
          </p:cNvSpPr>
          <p:nvPr/>
        </p:nvSpPr>
        <p:spPr>
          <a:xfrm xmlns:a="http://schemas.openxmlformats.org/drawingml/2006/main">
            <a:off x="11239500" y="6381750"/>
            <a:ext cx="361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06</a:t>
            </a:r>
          </a:p>
        </p:txBody>
      </p:sp>
      <p:sp>
        <p:nvSpPr>
          <p:cNvPr id="7" name="Ryan">
            <a:extLst xmlns:a="http://schemas.openxmlformats.org/drawingml/2006/main">
              <a:ext uri="{FF2B5EF4-FFF2-40B4-BE49-F238E27FC236}">
                <a16:creationId xmlns:a16="http://schemas.microsoft.com/office/drawing/2014/main" id="{2ED79CCA-D502-447C-9F73-20D8BDEF3DBF}"/>
              </a:ext>
            </a:extLst>
          </p:cNvPr>
          <p:cNvSpPr>
            <a:spLocks xmlns:a="http://schemas.openxmlformats.org/drawingml/2006/main" noGrp="1"/>
          </p:cNvSpPr>
          <p:nvPr/>
        </p:nvSpPr>
        <p:spPr>
          <a:xfrm xmlns:a="http://schemas.openxmlformats.org/drawingml/2006/main">
            <a:off x="609600" y="1819275"/>
            <a:ext cx="2524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3B31"/>
                </a:solidFill>
                <a:latin typeface="Arial"/>
                <a:ea typeface="Arial"/>
                <a:cs typeface="Arial"/>
              </a:defRPr>
            </a:pPr>
            <a:r>
              <a:rPr sz="2550" b="1">
                <a:solidFill>
                  <a:srgbClr val="173B31"/>
                </a:solidFill>
                <a:latin typeface="Arial"/>
                <a:ea typeface="Arial"/>
                <a:cs typeface="Arial"/>
              </a:rPr>
              <a:t>Ryan</a:t>
            </a:r>
          </a:p>
        </p:txBody>
      </p:sp>
      <p:sp>
        <p:nvSpPr>
          <p:cNvPr id="8" name="UI, Hypercube, crop fixes&#10;and shared SR.">
            <a:extLst xmlns:a="http://schemas.openxmlformats.org/drawingml/2006/main">
              <a:ext uri="{FF2B5EF4-FFF2-40B4-BE49-F238E27FC236}">
                <a16:creationId xmlns:a16="http://schemas.microsoft.com/office/drawing/2014/main" id="{1F82EC45-1120-40D9-83E5-7FD6CAC46240}"/>
              </a:ext>
            </a:extLst>
          </p:cNvPr>
          <p:cNvSpPr>
            <a:spLocks xmlns:a="http://schemas.openxmlformats.org/drawingml/2006/main" noGrp="1"/>
          </p:cNvSpPr>
          <p:nvPr/>
        </p:nvSpPr>
        <p:spPr>
          <a:xfrm xmlns:a="http://schemas.openxmlformats.org/drawingml/2006/main">
            <a:off x="609600" y="2400300"/>
            <a:ext cx="257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UI, Hypercube, crop fixes</a:t>
            </a:r>
          </a:p>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and shared SR.</a:t>
            </a:r>
          </a:p>
        </p:txBody>
      </p:sp>
      <p:sp>
        <p:nvSpPr>
          <p:cNvPr id="9" name="LEAF-146–148, 150&#10;LEAF-153–156, 158">
            <a:extLst xmlns:a="http://schemas.openxmlformats.org/drawingml/2006/main">
              <a:ext uri="{FF2B5EF4-FFF2-40B4-BE49-F238E27FC236}">
                <a16:creationId xmlns:a16="http://schemas.microsoft.com/office/drawing/2014/main" id="{4F92FEAD-6D32-4F86-8DE0-B05B4D3D335A}"/>
              </a:ext>
            </a:extLst>
          </p:cNvPr>
          <p:cNvSpPr>
            <a:spLocks xmlns:a="http://schemas.openxmlformats.org/drawingml/2006/main" noGrp="1"/>
          </p:cNvSpPr>
          <p:nvPr/>
        </p:nvSpPr>
        <p:spPr>
          <a:xfrm xmlns:a="http://schemas.openxmlformats.org/drawingml/2006/main">
            <a:off x="609600" y="3390900"/>
            <a:ext cx="2571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287553"/>
                </a:solidFill>
                <a:latin typeface="Arial"/>
                <a:ea typeface="Arial"/>
                <a:cs typeface="Arial"/>
              </a:defRPr>
            </a:pPr>
            <a:r>
              <a:rPr sz="1575" b="0">
                <a:solidFill>
                  <a:srgbClr val="287553"/>
                </a:solidFill>
                <a:latin typeface="Arial"/>
                <a:ea typeface="Arial"/>
                <a:cs typeface="Arial"/>
              </a:rPr>
              <a:t>LEAF-146–148, 150</a:t>
            </a:r>
          </a:p>
          <a:p xmlns:a="http://schemas.openxmlformats.org/drawingml/2006/main">
            <a:pPr algn="l">
              <a:defRPr sz="1575" b="0">
                <a:solidFill>
                  <a:srgbClr val="287553"/>
                </a:solidFill>
                <a:latin typeface="Arial"/>
                <a:ea typeface="Arial"/>
                <a:cs typeface="Arial"/>
              </a:defRPr>
            </a:pPr>
            <a:r>
              <a:rPr sz="1575" b="0">
                <a:solidFill>
                  <a:srgbClr val="287553"/>
                </a:solidFill>
                <a:latin typeface="Arial"/>
                <a:ea typeface="Arial"/>
                <a:cs typeface="Arial"/>
              </a:rPr>
              <a:t>LEAF-153–156, 158</a:t>
            </a:r>
          </a:p>
        </p:txBody>
      </p:sp>
      <p:sp>
        <p:nvSpPr>
          <p:cNvPr id="10" name="Guochen">
            <a:extLst xmlns:a="http://schemas.openxmlformats.org/drawingml/2006/main">
              <a:ext uri="{FF2B5EF4-FFF2-40B4-BE49-F238E27FC236}">
                <a16:creationId xmlns:a16="http://schemas.microsoft.com/office/drawing/2014/main" id="{6D596703-69D2-4BD1-941E-7225E4B4C42A}"/>
              </a:ext>
            </a:extLst>
          </p:cNvPr>
          <p:cNvSpPr>
            <a:spLocks xmlns:a="http://schemas.openxmlformats.org/drawingml/2006/main" noGrp="1"/>
          </p:cNvSpPr>
          <p:nvPr/>
        </p:nvSpPr>
        <p:spPr>
          <a:xfrm xmlns:a="http://schemas.openxmlformats.org/drawingml/2006/main">
            <a:off x="3400425" y="1819275"/>
            <a:ext cx="2524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3B31"/>
                </a:solidFill>
                <a:latin typeface="Arial"/>
                <a:ea typeface="Arial"/>
                <a:cs typeface="Arial"/>
              </a:defRPr>
            </a:pPr>
            <a:r>
              <a:rPr sz="2550" b="1">
                <a:solidFill>
                  <a:srgbClr val="173B31"/>
                </a:solidFill>
                <a:latin typeface="Arial"/>
                <a:ea typeface="Arial"/>
                <a:cs typeface="Arial"/>
              </a:rPr>
              <a:t>Guochen</a:t>
            </a:r>
          </a:p>
        </p:txBody>
      </p:sp>
      <p:sp>
        <p:nvSpPr>
          <p:cNvPr id="11" name="SR integration, UI polish&#10;and project reporti">
            <a:extLst xmlns:a="http://schemas.openxmlformats.org/drawingml/2006/main">
              <a:ext uri="{FF2B5EF4-FFF2-40B4-BE49-F238E27FC236}">
                <a16:creationId xmlns:a16="http://schemas.microsoft.com/office/drawing/2014/main" id="{D36D158A-3AA2-4799-8A3B-2E7D350CAAC8}"/>
              </a:ext>
            </a:extLst>
          </p:cNvPr>
          <p:cNvSpPr>
            <a:spLocks xmlns:a="http://schemas.openxmlformats.org/drawingml/2006/main" noGrp="1"/>
          </p:cNvSpPr>
          <p:nvPr/>
        </p:nvSpPr>
        <p:spPr>
          <a:xfrm xmlns:a="http://schemas.openxmlformats.org/drawingml/2006/main">
            <a:off x="3400425" y="2400300"/>
            <a:ext cx="257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SR integration, UI polish</a:t>
            </a:r>
          </a:p>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and project reporting.</a:t>
            </a:r>
          </a:p>
        </p:txBody>
      </p:sp>
      <p:sp>
        <p:nvSpPr>
          <p:cNvPr id="12" name="LEAF-149, 152, 157">
            <a:extLst xmlns:a="http://schemas.openxmlformats.org/drawingml/2006/main">
              <a:ext uri="{FF2B5EF4-FFF2-40B4-BE49-F238E27FC236}">
                <a16:creationId xmlns:a16="http://schemas.microsoft.com/office/drawing/2014/main" id="{5D5F8E27-D450-49BC-B839-E2F24E28D4A4}"/>
              </a:ext>
            </a:extLst>
          </p:cNvPr>
          <p:cNvSpPr>
            <a:spLocks xmlns:a="http://schemas.openxmlformats.org/drawingml/2006/main" noGrp="1"/>
          </p:cNvSpPr>
          <p:nvPr/>
        </p:nvSpPr>
        <p:spPr>
          <a:xfrm xmlns:a="http://schemas.openxmlformats.org/drawingml/2006/main">
            <a:off x="3400425" y="3390900"/>
            <a:ext cx="2571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287553"/>
                </a:solidFill>
                <a:latin typeface="Arial"/>
                <a:ea typeface="Arial"/>
                <a:cs typeface="Arial"/>
              </a:defRPr>
            </a:pPr>
            <a:r>
              <a:rPr sz="1575" b="0">
                <a:solidFill>
                  <a:srgbClr val="287553"/>
                </a:solidFill>
                <a:latin typeface="Arial"/>
                <a:ea typeface="Arial"/>
                <a:cs typeface="Arial"/>
              </a:rPr>
              <a:t>LEAF-149, 152, 157</a:t>
            </a:r>
          </a:p>
        </p:txBody>
      </p:sp>
      <p:sp>
        <p:nvSpPr>
          <p:cNvPr id="13" name="Jingyi">
            <a:extLst xmlns:a="http://schemas.openxmlformats.org/drawingml/2006/main">
              <a:ext uri="{FF2B5EF4-FFF2-40B4-BE49-F238E27FC236}">
                <a16:creationId xmlns:a16="http://schemas.microsoft.com/office/drawing/2014/main" id="{483E10F5-6F95-4EC1-B1DF-C3EA349895AF}"/>
              </a:ext>
            </a:extLst>
          </p:cNvPr>
          <p:cNvSpPr>
            <a:spLocks xmlns:a="http://schemas.openxmlformats.org/drawingml/2006/main" noGrp="1"/>
          </p:cNvSpPr>
          <p:nvPr/>
        </p:nvSpPr>
        <p:spPr>
          <a:xfrm xmlns:a="http://schemas.openxmlformats.org/drawingml/2006/main">
            <a:off x="6191250" y="1819275"/>
            <a:ext cx="2524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3B31"/>
                </a:solidFill>
                <a:latin typeface="Arial"/>
                <a:ea typeface="Arial"/>
                <a:cs typeface="Arial"/>
              </a:defRPr>
            </a:pPr>
            <a:r>
              <a:rPr sz="2550" b="1">
                <a:solidFill>
                  <a:srgbClr val="173B31"/>
                </a:solidFill>
                <a:latin typeface="Arial"/>
                <a:ea typeface="Arial"/>
                <a:cs typeface="Arial"/>
              </a:rPr>
              <a:t>Jingyi</a:t>
            </a:r>
          </a:p>
        </p:txBody>
      </p:sp>
      <p:sp>
        <p:nvSpPr>
          <p:cNvPr id="14" name="Visualization models and&#10;supervised classific">
            <a:extLst xmlns:a="http://schemas.openxmlformats.org/drawingml/2006/main">
              <a:ext uri="{FF2B5EF4-FFF2-40B4-BE49-F238E27FC236}">
                <a16:creationId xmlns:a16="http://schemas.microsoft.com/office/drawing/2014/main" id="{B77B18C1-9262-4C7C-A95B-BFD8A5967EAF}"/>
              </a:ext>
            </a:extLst>
          </p:cNvPr>
          <p:cNvSpPr>
            <a:spLocks xmlns:a="http://schemas.openxmlformats.org/drawingml/2006/main" noGrp="1"/>
          </p:cNvSpPr>
          <p:nvPr/>
        </p:nvSpPr>
        <p:spPr>
          <a:xfrm xmlns:a="http://schemas.openxmlformats.org/drawingml/2006/main">
            <a:off x="6191250" y="2400300"/>
            <a:ext cx="257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Visualization models and</a:t>
            </a:r>
          </a:p>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supervised classification.</a:t>
            </a:r>
          </a:p>
        </p:txBody>
      </p:sp>
      <p:sp>
        <p:nvSpPr>
          <p:cNvPr id="15" name="LEAF-125–131&#10;LEAF-160–162, 164">
            <a:extLst xmlns:a="http://schemas.openxmlformats.org/drawingml/2006/main">
              <a:ext uri="{FF2B5EF4-FFF2-40B4-BE49-F238E27FC236}">
                <a16:creationId xmlns:a16="http://schemas.microsoft.com/office/drawing/2014/main" id="{B06C6CAA-F4AE-41FA-AE24-E54E651C43BA}"/>
              </a:ext>
            </a:extLst>
          </p:cNvPr>
          <p:cNvSpPr>
            <a:spLocks xmlns:a="http://schemas.openxmlformats.org/drawingml/2006/main" noGrp="1"/>
          </p:cNvSpPr>
          <p:nvPr/>
        </p:nvSpPr>
        <p:spPr>
          <a:xfrm xmlns:a="http://schemas.openxmlformats.org/drawingml/2006/main">
            <a:off x="6191250" y="3390900"/>
            <a:ext cx="2571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287553"/>
                </a:solidFill>
                <a:latin typeface="Arial"/>
                <a:ea typeface="Arial"/>
                <a:cs typeface="Arial"/>
              </a:defRPr>
            </a:pPr>
            <a:r>
              <a:rPr sz="1575" b="0">
                <a:solidFill>
                  <a:srgbClr val="287553"/>
                </a:solidFill>
                <a:latin typeface="Arial"/>
                <a:ea typeface="Arial"/>
                <a:cs typeface="Arial"/>
              </a:rPr>
              <a:t>LEAF-125–131</a:t>
            </a:r>
          </a:p>
          <a:p xmlns:a="http://schemas.openxmlformats.org/drawingml/2006/main">
            <a:pPr algn="l">
              <a:defRPr sz="1575" b="0">
                <a:solidFill>
                  <a:srgbClr val="287553"/>
                </a:solidFill>
                <a:latin typeface="Arial"/>
                <a:ea typeface="Arial"/>
                <a:cs typeface="Arial"/>
              </a:defRPr>
            </a:pPr>
            <a:r>
              <a:rPr sz="1575" b="0">
                <a:solidFill>
                  <a:srgbClr val="287553"/>
                </a:solidFill>
                <a:latin typeface="Arial"/>
                <a:ea typeface="Arial"/>
                <a:cs typeface="Arial"/>
              </a:rPr>
              <a:t>LEAF-160–162, 164</a:t>
            </a:r>
          </a:p>
        </p:txBody>
      </p:sp>
      <p:sp>
        <p:nvSpPr>
          <p:cNvPr id="16" name="Pengyun">
            <a:extLst xmlns:a="http://schemas.openxmlformats.org/drawingml/2006/main">
              <a:ext uri="{FF2B5EF4-FFF2-40B4-BE49-F238E27FC236}">
                <a16:creationId xmlns:a16="http://schemas.microsoft.com/office/drawing/2014/main" id="{62C1EAE0-281C-4C57-8185-43350A786A6B}"/>
              </a:ext>
            </a:extLst>
          </p:cNvPr>
          <p:cNvSpPr>
            <a:spLocks xmlns:a="http://schemas.openxmlformats.org/drawingml/2006/main" noGrp="1"/>
          </p:cNvSpPr>
          <p:nvPr/>
        </p:nvSpPr>
        <p:spPr>
          <a:xfrm xmlns:a="http://schemas.openxmlformats.org/drawingml/2006/main">
            <a:off x="8982075" y="1819275"/>
            <a:ext cx="2524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3B31"/>
                </a:solidFill>
                <a:latin typeface="Arial"/>
                <a:ea typeface="Arial"/>
                <a:cs typeface="Arial"/>
              </a:defRPr>
            </a:pPr>
            <a:r>
              <a:rPr sz="2550" b="1">
                <a:solidFill>
                  <a:srgbClr val="173B31"/>
                </a:solidFill>
                <a:latin typeface="Arial"/>
                <a:ea typeface="Arial"/>
                <a:cs typeface="Arial"/>
              </a:rPr>
              <a:t>Pengyun</a:t>
            </a:r>
          </a:p>
        </p:txBody>
      </p:sp>
      <p:sp>
        <p:nvSpPr>
          <p:cNvPr id="17" name="Hypercube components,&#10;K-means, GUI and API.">
            <a:extLst xmlns:a="http://schemas.openxmlformats.org/drawingml/2006/main">
              <a:ext uri="{FF2B5EF4-FFF2-40B4-BE49-F238E27FC236}">
                <a16:creationId xmlns:a16="http://schemas.microsoft.com/office/drawing/2014/main" id="{07F736A1-DDB0-4AAE-A726-525A8F80BB76}"/>
              </a:ext>
            </a:extLst>
          </p:cNvPr>
          <p:cNvSpPr>
            <a:spLocks xmlns:a="http://schemas.openxmlformats.org/drawingml/2006/main" noGrp="1"/>
          </p:cNvSpPr>
          <p:nvPr/>
        </p:nvSpPr>
        <p:spPr>
          <a:xfrm xmlns:a="http://schemas.openxmlformats.org/drawingml/2006/main">
            <a:off x="8982075" y="2400300"/>
            <a:ext cx="257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Hypercube components,</a:t>
            </a:r>
          </a:p>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K-means, GUI and API.</a:t>
            </a:r>
          </a:p>
        </p:txBody>
      </p:sp>
      <p:sp>
        <p:nvSpPr>
          <p:cNvPr id="18" name="LEAF-132–139&#10;LEAF-159, 163, 165–166">
            <a:extLst xmlns:a="http://schemas.openxmlformats.org/drawingml/2006/main">
              <a:ext uri="{FF2B5EF4-FFF2-40B4-BE49-F238E27FC236}">
                <a16:creationId xmlns:a16="http://schemas.microsoft.com/office/drawing/2014/main" id="{F491338E-0D28-4A56-A004-FFC0526B5310}"/>
              </a:ext>
            </a:extLst>
          </p:cNvPr>
          <p:cNvSpPr>
            <a:spLocks xmlns:a="http://schemas.openxmlformats.org/drawingml/2006/main" noGrp="1"/>
          </p:cNvSpPr>
          <p:nvPr/>
        </p:nvSpPr>
        <p:spPr>
          <a:xfrm xmlns:a="http://schemas.openxmlformats.org/drawingml/2006/main">
            <a:off x="8982075" y="3390900"/>
            <a:ext cx="2571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287553"/>
                </a:solidFill>
                <a:latin typeface="Arial"/>
                <a:ea typeface="Arial"/>
                <a:cs typeface="Arial"/>
              </a:defRPr>
            </a:pPr>
            <a:r>
              <a:rPr sz="1575" b="0">
                <a:solidFill>
                  <a:srgbClr val="287553"/>
                </a:solidFill>
                <a:latin typeface="Arial"/>
                <a:ea typeface="Arial"/>
                <a:cs typeface="Arial"/>
              </a:rPr>
              <a:t>LEAF-132–139</a:t>
            </a:r>
          </a:p>
          <a:p xmlns:a="http://schemas.openxmlformats.org/drawingml/2006/main">
            <a:pPr algn="l">
              <a:defRPr sz="1575" b="0">
                <a:solidFill>
                  <a:srgbClr val="287553"/>
                </a:solidFill>
                <a:latin typeface="Arial"/>
                <a:ea typeface="Arial"/>
                <a:cs typeface="Arial"/>
              </a:defRPr>
            </a:pPr>
            <a:r>
              <a:rPr sz="1575" b="0">
                <a:solidFill>
                  <a:srgbClr val="287553"/>
                </a:solidFill>
                <a:latin typeface="Arial"/>
                <a:ea typeface="Arial"/>
                <a:cs typeface="Arial"/>
              </a:rPr>
              <a:t>LEAF-159, 163, 165–166</a:t>
            </a:r>
          </a:p>
        </p:txBody>
      </p:sp>
      <p:sp>
        <p:nvSpPr>
          <p:cNvPr id="19" name="">
            <a:extLst xmlns:a="http://schemas.openxmlformats.org/drawingml/2006/main">
              <a:ext uri="{FF2B5EF4-FFF2-40B4-BE49-F238E27FC236}">
                <a16:creationId xmlns:a16="http://schemas.microsoft.com/office/drawing/2014/main" id="{8E68A839-A075-47A9-A5A1-45D41009522F}"/>
              </a:ext>
            </a:extLst>
          </p:cNvPr>
          <p:cNvSpPr>
            <a:spLocks xmlns:a="http://schemas.openxmlformats.org/drawingml/2006/main" noGrp="1"/>
          </p:cNvSpPr>
          <p:nvPr/>
        </p:nvSpPr>
        <p:spPr>
          <a:xfrm xmlns:a="http://schemas.openxmlformats.org/drawingml/2006/main">
            <a:off x="609600" y="409575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20" name="Integration needed rework">
            <a:extLst xmlns:a="http://schemas.openxmlformats.org/drawingml/2006/main">
              <a:ext uri="{FF2B5EF4-FFF2-40B4-BE49-F238E27FC236}">
                <a16:creationId xmlns:a16="http://schemas.microsoft.com/office/drawing/2014/main" id="{0F8CFE1D-5154-489C-8578-7D0AE30EFC8A}"/>
              </a:ext>
            </a:extLst>
          </p:cNvPr>
          <p:cNvSpPr>
            <a:spLocks xmlns:a="http://schemas.openxmlformats.org/drawingml/2006/main" noGrp="1"/>
          </p:cNvSpPr>
          <p:nvPr/>
        </p:nvSpPr>
        <p:spPr>
          <a:xfrm xmlns:a="http://schemas.openxmlformats.org/drawingml/2006/main">
            <a:off x="609600" y="4333875"/>
            <a:ext cx="4286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3B31"/>
                </a:solidFill>
                <a:latin typeface="Arial"/>
                <a:ea typeface="Arial"/>
                <a:cs typeface="Arial"/>
              </a:defRPr>
            </a:pPr>
            <a:r>
              <a:rPr sz="2400" b="1">
                <a:solidFill>
                  <a:srgbClr val="173B31"/>
                </a:solidFill>
                <a:latin typeface="Arial"/>
                <a:ea typeface="Arial"/>
                <a:cs typeface="Arial"/>
              </a:rPr>
              <a:t>Integration needed rework</a:t>
            </a:r>
          </a:p>
        </p:txBody>
      </p:sp>
      <p:sp>
        <p:nvSpPr>
          <p:cNvPr id="21" name="21 Aug: Hypercube returned to In Progress.&#10;28">
            <a:extLst xmlns:a="http://schemas.openxmlformats.org/drawingml/2006/main">
              <a:ext uri="{FF2B5EF4-FFF2-40B4-BE49-F238E27FC236}">
                <a16:creationId xmlns:a16="http://schemas.microsoft.com/office/drawing/2014/main" id="{84E7D520-D054-42C6-A871-DB3E9DF82C21}"/>
              </a:ext>
            </a:extLst>
          </p:cNvPr>
          <p:cNvSpPr>
            <a:spLocks xmlns:a="http://schemas.openxmlformats.org/drawingml/2006/main" noGrp="1"/>
          </p:cNvSpPr>
          <p:nvPr/>
        </p:nvSpPr>
        <p:spPr>
          <a:xfrm xmlns:a="http://schemas.openxmlformats.org/drawingml/2006/main">
            <a:off x="5143500" y="4333875"/>
            <a:ext cx="6381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86C63"/>
                </a:solidFill>
                <a:latin typeface="Arial"/>
                <a:ea typeface="Arial"/>
                <a:cs typeface="Arial"/>
              </a:defRPr>
            </a:pPr>
            <a:r>
              <a:rPr sz="1950" b="0">
                <a:solidFill>
                  <a:srgbClr val="586C63"/>
                </a:solidFill>
                <a:latin typeface="Arial"/>
                <a:ea typeface="Arial"/>
                <a:cs typeface="Arial"/>
              </a:rPr>
              <a:t>21 Aug: Hypercube returned to In Progress.</a:t>
            </a:r>
          </a:p>
          <a:p xmlns:a="http://schemas.openxmlformats.org/drawingml/2006/main">
            <a:pPr algn="l">
              <a:defRPr sz="1950" b="0">
                <a:solidFill>
                  <a:srgbClr val="586C63"/>
                </a:solidFill>
                <a:latin typeface="Arial"/>
                <a:ea typeface="Arial"/>
                <a:cs typeface="Arial"/>
              </a:defRPr>
            </a:pPr>
            <a:r>
              <a:rPr sz="1950" b="0">
                <a:solidFill>
                  <a:srgbClr val="586C63"/>
                </a:solidFill>
                <a:latin typeface="Arial"/>
                <a:ea typeface="Arial"/>
                <a:cs typeface="Arial"/>
              </a:rPr>
              <a:t>28 Aug: repaired UI integration merged as PR #29.</a:t>
            </a:r>
          </a:p>
        </p:txBody>
      </p:sp>
      <p:sp>
        <p:nvSpPr>
          <p:cNvPr id="22" name="Lesson: plan the model–UI hand-off and integr">
            <a:extLst xmlns:a="http://schemas.openxmlformats.org/drawingml/2006/main">
              <a:ext uri="{FF2B5EF4-FFF2-40B4-BE49-F238E27FC236}">
                <a16:creationId xmlns:a16="http://schemas.microsoft.com/office/drawing/2014/main" id="{F4068130-95B6-4807-B2CF-8203693C230D}"/>
              </a:ext>
            </a:extLst>
          </p:cNvPr>
          <p:cNvSpPr>
            <a:spLocks xmlns:a="http://schemas.openxmlformats.org/drawingml/2006/main" noGrp="1"/>
          </p:cNvSpPr>
          <p:nvPr/>
        </p:nvSpPr>
        <p:spPr>
          <a:xfrm xmlns:a="http://schemas.openxmlformats.org/drawingml/2006/main">
            <a:off x="609600" y="55054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87553"/>
                </a:solidFill>
                <a:latin typeface="Arial"/>
                <a:ea typeface="Arial"/>
                <a:cs typeface="Arial"/>
              </a:defRPr>
            </a:pPr>
            <a:r>
              <a:rPr sz="1875" b="1">
                <a:solidFill>
                  <a:srgbClr val="287553"/>
                </a:solidFill>
                <a:latin typeface="Arial"/>
                <a:ea typeface="Arial"/>
                <a:cs typeface="Arial"/>
              </a:rPr>
              <a:t>Lesson: plan the model–UI hand-off and integration checks before calling a feature complete.</a:t>
            </a:r>
          </a:p>
        </p:txBody>
      </p:sp>
    </p:spTree>
    <p:extLst>
      <p:ext uri="{BB962C8B-B14F-4D97-AF65-F5344CB8AC3E}">
        <p14:creationId xmlns:p14="http://schemas.microsoft.com/office/powerpoint/2010/main" val="263024569"/>
      </p:ext>
    </p:extLst>
  </p:cSld>
</p:sld>
</file>

<file path=ppt/slides/slide7.xml><?xml version="1.0" encoding="utf-8"?>
<p:sld xmlns:p="http://schemas.openxmlformats.org/presentationml/2006/main">
  <p:cSld>
    <p:bg>
      <p:bgPr>
        <a:solidFill xmlns:a="http://schemas.openxmlformats.org/drawingml/2006/main">
          <a:srgbClr val="F4F5F0"/>
        </a:solidFill>
      </p:bgPr>
    </p:bg>
    <p:spTree>
      <p:nvGrpSpPr>
        <p:cNvPr id="1" name=""/>
        <p:cNvGrpSpPr/>
        <p:nvPr/>
      </p:nvGrpSpPr>
      <p:grpSpPr>
        <a:xfrm xmlns:a="http://schemas.openxmlformats.org/drawingml/2006/main"/>
      </p:grpSpPr>
      <p:sp>
        <p:nvSpPr>
          <p:cNvPr id="41" name="PLANNING AND ORGANISATION">
            <a:extLst xmlns:a="http://schemas.openxmlformats.org/drawingml/2006/main">
              <a:ext uri="{FF2B5EF4-FFF2-40B4-BE49-F238E27FC236}">
                <a16:creationId xmlns:a16="http://schemas.microsoft.com/office/drawing/2014/main" id="{35B71D50-32C3-45D7-89CD-030228BFBB84}"/>
              </a:ext>
            </a:extLst>
          </p:cNvPr>
          <p:cNvSpPr>
            <a:spLocks xmlns:a="http://schemas.openxmlformats.org/drawingml/2006/main" noGrp="1"/>
          </p:cNvSpPr>
          <p:nvPr/>
        </p:nvSpPr>
        <p:spPr>
          <a:xfrm xmlns:a="http://schemas.openxmlformats.org/drawingml/2006/main">
            <a:off x="609600" y="4000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287553"/>
                </a:solidFill>
                <a:latin typeface="Arial"/>
                <a:ea typeface="Arial"/>
                <a:cs typeface="Arial"/>
              </a:defRPr>
            </a:pPr>
            <a:r>
              <a:rPr sz="1500" b="1">
                <a:solidFill>
                  <a:srgbClr val="287553"/>
                </a:solidFill>
                <a:latin typeface="Arial"/>
                <a:ea typeface="Arial"/>
                <a:cs typeface="Arial"/>
              </a:rPr>
              <a:t>PLANNING AND ORGANISATION</a:t>
            </a:r>
          </a:p>
        </p:txBody>
      </p:sp>
      <p:sp>
        <p:nvSpPr>
          <p:cNvPr id="2" name="Effort tracking now supports comparison">
            <a:extLst xmlns:a="http://schemas.openxmlformats.org/drawingml/2006/main">
              <a:ext uri="{FF2B5EF4-FFF2-40B4-BE49-F238E27FC236}">
                <a16:creationId xmlns:a16="http://schemas.microsoft.com/office/drawing/2014/main" id="{3814BFFE-3B9C-401C-B223-CC85C48CA651}"/>
              </a:ext>
            </a:extLst>
          </p:cNvPr>
          <p:cNvSpPr>
            <a:spLocks xmlns:a="http://schemas.openxmlformats.org/drawingml/2006/main" noGrp="1"/>
          </p:cNvSpPr>
          <p:nvPr/>
        </p:nvSpPr>
        <p:spPr>
          <a:xfrm xmlns:a="http://schemas.openxmlformats.org/drawingml/2006/main">
            <a:off x="609600" y="86677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3B31"/>
                </a:solidFill>
                <a:latin typeface="Arial"/>
                <a:ea typeface="Arial"/>
                <a:cs typeface="Arial"/>
              </a:defRPr>
            </a:pPr>
            <a:r>
              <a:rPr sz="3600" b="1">
                <a:solidFill>
                  <a:srgbClr val="173B31"/>
                </a:solidFill>
                <a:latin typeface="Arial"/>
                <a:ea typeface="Arial"/>
                <a:cs typeface="Arial"/>
              </a:rPr>
              <a:t>Effort tracking now supports comparison</a:t>
            </a:r>
          </a:p>
        </p:txBody>
      </p:sp>
      <p:sp>
        <p:nvSpPr>
          <p:cNvPr id="3" name="">
            <a:extLst xmlns:a="http://schemas.openxmlformats.org/drawingml/2006/main">
              <a:ext uri="{FF2B5EF4-FFF2-40B4-BE49-F238E27FC236}">
                <a16:creationId xmlns:a16="http://schemas.microsoft.com/office/drawing/2014/main" id="{AB226479-BD51-4324-BBB5-A189C27F22B6}"/>
              </a:ext>
            </a:extLst>
          </p:cNvPr>
          <p:cNvSpPr>
            <a:spLocks xmlns:a="http://schemas.openxmlformats.org/drawingml/2006/main" noGrp="1"/>
          </p:cNvSpPr>
          <p:nvPr/>
        </p:nvSpPr>
        <p:spPr>
          <a:xfrm xmlns:a="http://schemas.openxmlformats.org/drawingml/2006/main">
            <a:off x="609600" y="623887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4" name="LEAF ANALYZER  /  SPRINT 5">
            <a:extLst xmlns:a="http://schemas.openxmlformats.org/drawingml/2006/main">
              <a:ext uri="{FF2B5EF4-FFF2-40B4-BE49-F238E27FC236}">
                <a16:creationId xmlns:a16="http://schemas.microsoft.com/office/drawing/2014/main" id="{6E6EF2A4-65DE-48D7-BA1B-0CB3A36D9A32}"/>
              </a:ext>
            </a:extLst>
          </p:cNvPr>
          <p:cNvSpPr>
            <a:spLocks xmlns:a="http://schemas.openxmlformats.org/drawingml/2006/main" noGrp="1"/>
          </p:cNvSpPr>
          <p:nvPr/>
        </p:nvSpPr>
        <p:spPr>
          <a:xfrm xmlns:a="http://schemas.openxmlformats.org/drawingml/2006/main">
            <a:off x="609600" y="6410325"/>
            <a:ext cx="323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LEAF ANALYZER  /  SPRINT 5</a:t>
            </a:r>
          </a:p>
        </p:txBody>
      </p:sp>
      <p:sp>
        <p:nvSpPr>
          <p:cNvPr id="5" name="Jira original-estimate fields, worklogs and h">
            <a:extLst xmlns:a="http://schemas.openxmlformats.org/drawingml/2006/main">
              <a:ext uri="{FF2B5EF4-FFF2-40B4-BE49-F238E27FC236}">
                <a16:creationId xmlns:a16="http://schemas.microsoft.com/office/drawing/2014/main" id="{0BB78B20-A309-44C9-84D1-EFFBA270445A}"/>
              </a:ext>
            </a:extLst>
          </p:cNvPr>
          <p:cNvSpPr>
            <a:spLocks xmlns:a="http://schemas.openxmlformats.org/drawingml/2006/main" noGrp="1"/>
          </p:cNvSpPr>
          <p:nvPr/>
        </p:nvSpPr>
        <p:spPr>
          <a:xfrm xmlns:a="http://schemas.openxmlformats.org/drawingml/2006/main">
            <a:off x="3952875" y="6410325"/>
            <a:ext cx="708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Jira original-estimate fields, worklogs and history • 28 Aug</a:t>
            </a:r>
          </a:p>
        </p:txBody>
      </p:sp>
      <p:sp>
        <p:nvSpPr>
          <p:cNvPr id="6" name="07">
            <a:extLst xmlns:a="http://schemas.openxmlformats.org/drawingml/2006/main">
              <a:ext uri="{FF2B5EF4-FFF2-40B4-BE49-F238E27FC236}">
                <a16:creationId xmlns:a16="http://schemas.microsoft.com/office/drawing/2014/main" id="{E5A34639-7809-4E4D-99C2-EA718E5D727C}"/>
              </a:ext>
            </a:extLst>
          </p:cNvPr>
          <p:cNvSpPr>
            <a:spLocks xmlns:a="http://schemas.openxmlformats.org/drawingml/2006/main" noGrp="1"/>
          </p:cNvSpPr>
          <p:nvPr/>
        </p:nvSpPr>
        <p:spPr>
          <a:xfrm xmlns:a="http://schemas.openxmlformats.org/drawingml/2006/main">
            <a:off x="11239500" y="6381750"/>
            <a:ext cx="361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07</a:t>
            </a:r>
          </a:p>
        </p:txBody>
      </p:sp>
      <p:sp>
        <p:nvSpPr>
          <p:cNvPr id="7" name="Recorded estimate vs logged actual — selected">
            <a:extLst xmlns:a="http://schemas.openxmlformats.org/drawingml/2006/main">
              <a:ext uri="{FF2B5EF4-FFF2-40B4-BE49-F238E27FC236}">
                <a16:creationId xmlns:a16="http://schemas.microsoft.com/office/drawing/2014/main" id="{8D4E5E05-27B8-4C47-9D65-351893D918C7}"/>
              </a:ext>
            </a:extLst>
          </p:cNvPr>
          <p:cNvSpPr>
            <a:spLocks xmlns:a="http://schemas.openxmlformats.org/drawingml/2006/main" noGrp="1"/>
          </p:cNvSpPr>
          <p:nvPr/>
        </p:nvSpPr>
        <p:spPr>
          <a:xfrm xmlns:a="http://schemas.openxmlformats.org/drawingml/2006/main">
            <a:off x="609600" y="1657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86C63"/>
                </a:solidFill>
                <a:latin typeface="Arial"/>
                <a:ea typeface="Arial"/>
                <a:cs typeface="Arial"/>
              </a:defRPr>
            </a:pPr>
            <a:r>
              <a:rPr sz="1950" b="0">
                <a:solidFill>
                  <a:srgbClr val="586C63"/>
                </a:solidFill>
                <a:latin typeface="Arial"/>
                <a:ea typeface="Arial"/>
                <a:cs typeface="Arial"/>
              </a:rPr>
              <a:t>Recorded estimate vs logged actual — selected completed tasks</a:t>
            </a:r>
          </a:p>
        </p:txBody>
      </p:sp>
      <p:sp>
        <p:nvSpPr>
          <p:cNvPr id="8" name="">
            <a:extLst xmlns:a="http://schemas.openxmlformats.org/drawingml/2006/main">
              <a:ext uri="{FF2B5EF4-FFF2-40B4-BE49-F238E27FC236}">
                <a16:creationId xmlns:a16="http://schemas.microsoft.com/office/drawing/2014/main" id="{F9226450-1767-4186-9B8F-28DC17C0EB59}"/>
              </a:ext>
            </a:extLst>
          </p:cNvPr>
          <p:cNvSpPr>
            <a:spLocks xmlns:a="http://schemas.openxmlformats.org/drawingml/2006/main" noGrp="1"/>
          </p:cNvSpPr>
          <p:nvPr/>
        </p:nvSpPr>
        <p:spPr>
          <a:xfrm xmlns:a="http://schemas.openxmlformats.org/drawingml/2006/main">
            <a:off x="609600" y="2181225"/>
            <a:ext cx="10972800" cy="485775"/>
          </a:xfrm>
          <a:prstGeom xmlns:a="http://schemas.openxmlformats.org/drawingml/2006/main" prst="rect">
            <a:avLst/>
          </a:prstGeom>
          <a:solidFill xmlns:a="http://schemas.openxmlformats.org/drawingml/2006/main">
            <a:srgbClr val="E4ECE3"/>
          </a:solidFill>
          <a:ln xmlns:a="http://schemas.openxmlformats.org/drawingml/2006/main" w="0">
            <a:noFill/>
          </a:ln>
        </p:spPr>
      </p:sp>
      <p:sp>
        <p:nvSpPr>
          <p:cNvPr id="9" name="TASK">
            <a:extLst xmlns:a="http://schemas.openxmlformats.org/drawingml/2006/main">
              <a:ext uri="{FF2B5EF4-FFF2-40B4-BE49-F238E27FC236}">
                <a16:creationId xmlns:a16="http://schemas.microsoft.com/office/drawing/2014/main" id="{ABA13910-8C91-42EA-844F-A073A7023A6B}"/>
              </a:ext>
            </a:extLst>
          </p:cNvPr>
          <p:cNvSpPr>
            <a:spLocks xmlns:a="http://schemas.openxmlformats.org/drawingml/2006/main" noGrp="1"/>
          </p:cNvSpPr>
          <p:nvPr/>
        </p:nvSpPr>
        <p:spPr>
          <a:xfrm xmlns:a="http://schemas.openxmlformats.org/drawingml/2006/main">
            <a:off x="723900" y="2295525"/>
            <a:ext cx="4095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173B31"/>
                </a:solidFill>
                <a:latin typeface="Arial"/>
                <a:ea typeface="Arial"/>
                <a:cs typeface="Arial"/>
              </a:defRPr>
            </a:pPr>
            <a:r>
              <a:rPr sz="1575" b="1">
                <a:solidFill>
                  <a:srgbClr val="173B31"/>
                </a:solidFill>
                <a:latin typeface="Arial"/>
                <a:ea typeface="Arial"/>
                <a:cs typeface="Arial"/>
              </a:rPr>
              <a:t>TASK</a:t>
            </a:r>
          </a:p>
        </p:txBody>
      </p:sp>
      <p:sp>
        <p:nvSpPr>
          <p:cNvPr id="10" name="ESTIMATE*">
            <a:extLst xmlns:a="http://schemas.openxmlformats.org/drawingml/2006/main">
              <a:ext uri="{FF2B5EF4-FFF2-40B4-BE49-F238E27FC236}">
                <a16:creationId xmlns:a16="http://schemas.microsoft.com/office/drawing/2014/main" id="{B1D89B9F-1CD5-430D-9D67-30E78CEE0A4D}"/>
              </a:ext>
            </a:extLst>
          </p:cNvPr>
          <p:cNvSpPr>
            <a:spLocks xmlns:a="http://schemas.openxmlformats.org/drawingml/2006/main" noGrp="1"/>
          </p:cNvSpPr>
          <p:nvPr/>
        </p:nvSpPr>
        <p:spPr>
          <a:xfrm xmlns:a="http://schemas.openxmlformats.org/drawingml/2006/main">
            <a:off x="5048250" y="2295525"/>
            <a:ext cx="19145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ESTIMATE*</a:t>
            </a:r>
          </a:p>
        </p:txBody>
      </p:sp>
      <p:sp>
        <p:nvSpPr>
          <p:cNvPr id="11" name="LOGGED ACTUAL">
            <a:extLst xmlns:a="http://schemas.openxmlformats.org/drawingml/2006/main">
              <a:ext uri="{FF2B5EF4-FFF2-40B4-BE49-F238E27FC236}">
                <a16:creationId xmlns:a16="http://schemas.microsoft.com/office/drawing/2014/main" id="{E12091BA-AEA0-48EB-AF4F-FB47A114B669}"/>
              </a:ext>
            </a:extLst>
          </p:cNvPr>
          <p:cNvSpPr>
            <a:spLocks xmlns:a="http://schemas.openxmlformats.org/drawingml/2006/main" noGrp="1"/>
          </p:cNvSpPr>
          <p:nvPr/>
        </p:nvSpPr>
        <p:spPr>
          <a:xfrm xmlns:a="http://schemas.openxmlformats.org/drawingml/2006/main">
            <a:off x="7191375" y="2295525"/>
            <a:ext cx="1981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LOGGED ACTUAL</a:t>
            </a:r>
          </a:p>
        </p:txBody>
      </p:sp>
      <p:sp>
        <p:nvSpPr>
          <p:cNvPr id="12" name="DIFFERENCE">
            <a:extLst xmlns:a="http://schemas.openxmlformats.org/drawingml/2006/main">
              <a:ext uri="{FF2B5EF4-FFF2-40B4-BE49-F238E27FC236}">
                <a16:creationId xmlns:a16="http://schemas.microsoft.com/office/drawing/2014/main" id="{EDCC1C36-26DD-40CB-A5D8-0CC2A5013461}"/>
              </a:ext>
            </a:extLst>
          </p:cNvPr>
          <p:cNvSpPr>
            <a:spLocks xmlns:a="http://schemas.openxmlformats.org/drawingml/2006/main" noGrp="1"/>
          </p:cNvSpPr>
          <p:nvPr/>
        </p:nvSpPr>
        <p:spPr>
          <a:xfrm xmlns:a="http://schemas.openxmlformats.org/drawingml/2006/main">
            <a:off x="9401175" y="2295525"/>
            <a:ext cx="20669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DIFFERENCE</a:t>
            </a:r>
          </a:p>
        </p:txBody>
      </p:sp>
      <p:sp>
        <p:nvSpPr>
          <p:cNvPr id="13" name="">
            <a:extLst xmlns:a="http://schemas.openxmlformats.org/drawingml/2006/main">
              <a:ext uri="{FF2B5EF4-FFF2-40B4-BE49-F238E27FC236}">
                <a16:creationId xmlns:a16="http://schemas.microsoft.com/office/drawing/2014/main" id="{F6450926-34E3-4CE8-9CE6-47028422CE3E}"/>
              </a:ext>
            </a:extLst>
          </p:cNvPr>
          <p:cNvSpPr>
            <a:spLocks xmlns:a="http://schemas.openxmlformats.org/drawingml/2006/main" noGrp="1"/>
          </p:cNvSpPr>
          <p:nvPr/>
        </p:nvSpPr>
        <p:spPr>
          <a:xfrm xmlns:a="http://schemas.openxmlformats.org/drawingml/2006/main">
            <a:off x="609600" y="266700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14" name="LEAF-150 · Hypercube">
            <a:extLst xmlns:a="http://schemas.openxmlformats.org/drawingml/2006/main">
              <a:ext uri="{FF2B5EF4-FFF2-40B4-BE49-F238E27FC236}">
                <a16:creationId xmlns:a16="http://schemas.microsoft.com/office/drawing/2014/main" id="{D92AFEBF-AF2E-4811-BD7E-F4C123117EAE}"/>
              </a:ext>
            </a:extLst>
          </p:cNvPr>
          <p:cNvSpPr>
            <a:spLocks xmlns:a="http://schemas.openxmlformats.org/drawingml/2006/main" noGrp="1"/>
          </p:cNvSpPr>
          <p:nvPr/>
        </p:nvSpPr>
        <p:spPr>
          <a:xfrm xmlns:a="http://schemas.openxmlformats.org/drawingml/2006/main">
            <a:off x="723900" y="2781300"/>
            <a:ext cx="4095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173B31"/>
                </a:solidFill>
                <a:latin typeface="Arial"/>
                <a:ea typeface="Arial"/>
                <a:cs typeface="Arial"/>
              </a:defRPr>
            </a:pPr>
            <a:r>
              <a:rPr sz="1725" b="1">
                <a:solidFill>
                  <a:srgbClr val="173B31"/>
                </a:solidFill>
                <a:latin typeface="Arial"/>
                <a:ea typeface="Arial"/>
                <a:cs typeface="Arial"/>
              </a:rPr>
              <a:t>LEAF-150 · Hypercube</a:t>
            </a:r>
          </a:p>
        </p:txBody>
      </p:sp>
      <p:sp>
        <p:nvSpPr>
          <p:cNvPr id="15" name="5h">
            <a:extLst xmlns:a="http://schemas.openxmlformats.org/drawingml/2006/main">
              <a:ext uri="{FF2B5EF4-FFF2-40B4-BE49-F238E27FC236}">
                <a16:creationId xmlns:a16="http://schemas.microsoft.com/office/drawing/2014/main" id="{748751BD-28DA-4E30-84B1-5F245FCBF94D}"/>
              </a:ext>
            </a:extLst>
          </p:cNvPr>
          <p:cNvSpPr>
            <a:spLocks xmlns:a="http://schemas.openxmlformats.org/drawingml/2006/main" noGrp="1"/>
          </p:cNvSpPr>
          <p:nvPr/>
        </p:nvSpPr>
        <p:spPr>
          <a:xfrm xmlns:a="http://schemas.openxmlformats.org/drawingml/2006/main">
            <a:off x="5048250" y="2781300"/>
            <a:ext cx="19145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5h</a:t>
            </a:r>
          </a:p>
        </p:txBody>
      </p:sp>
      <p:sp>
        <p:nvSpPr>
          <p:cNvPr id="16" name="6h">
            <a:extLst xmlns:a="http://schemas.openxmlformats.org/drawingml/2006/main">
              <a:ext uri="{FF2B5EF4-FFF2-40B4-BE49-F238E27FC236}">
                <a16:creationId xmlns:a16="http://schemas.microsoft.com/office/drawing/2014/main" id="{9DA3A5A4-D264-4305-B056-9203A515B8EB}"/>
              </a:ext>
            </a:extLst>
          </p:cNvPr>
          <p:cNvSpPr>
            <a:spLocks xmlns:a="http://schemas.openxmlformats.org/drawingml/2006/main" noGrp="1"/>
          </p:cNvSpPr>
          <p:nvPr/>
        </p:nvSpPr>
        <p:spPr>
          <a:xfrm xmlns:a="http://schemas.openxmlformats.org/drawingml/2006/main">
            <a:off x="7191375" y="27813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6h</a:t>
            </a:r>
          </a:p>
        </p:txBody>
      </p:sp>
      <p:sp>
        <p:nvSpPr>
          <p:cNvPr id="17" name="+1h">
            <a:extLst xmlns:a="http://schemas.openxmlformats.org/drawingml/2006/main">
              <a:ext uri="{FF2B5EF4-FFF2-40B4-BE49-F238E27FC236}">
                <a16:creationId xmlns:a16="http://schemas.microsoft.com/office/drawing/2014/main" id="{76FCF324-5684-4642-988C-0FC01DA14DA2}"/>
              </a:ext>
            </a:extLst>
          </p:cNvPr>
          <p:cNvSpPr>
            <a:spLocks xmlns:a="http://schemas.openxmlformats.org/drawingml/2006/main" noGrp="1"/>
          </p:cNvSpPr>
          <p:nvPr/>
        </p:nvSpPr>
        <p:spPr>
          <a:xfrm xmlns:a="http://schemas.openxmlformats.org/drawingml/2006/main">
            <a:off x="9401175" y="2781300"/>
            <a:ext cx="2066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+1h</a:t>
            </a:r>
          </a:p>
        </p:txBody>
      </p:sp>
      <p:sp>
        <p:nvSpPr>
          <p:cNvPr id="18" name="">
            <a:extLst xmlns:a="http://schemas.openxmlformats.org/drawingml/2006/main">
              <a:ext uri="{FF2B5EF4-FFF2-40B4-BE49-F238E27FC236}">
                <a16:creationId xmlns:a16="http://schemas.microsoft.com/office/drawing/2014/main" id="{FA9667BA-E988-44CE-8AF0-E935069B0319}"/>
              </a:ext>
            </a:extLst>
          </p:cNvPr>
          <p:cNvSpPr>
            <a:spLocks xmlns:a="http://schemas.openxmlformats.org/drawingml/2006/main" noGrp="1"/>
          </p:cNvSpPr>
          <p:nvPr/>
        </p:nvSpPr>
        <p:spPr>
          <a:xfrm xmlns:a="http://schemas.openxmlformats.org/drawingml/2006/main">
            <a:off x="609600" y="314325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19" name="LEAF-152 · Super-resolution">
            <a:extLst xmlns:a="http://schemas.openxmlformats.org/drawingml/2006/main">
              <a:ext uri="{FF2B5EF4-FFF2-40B4-BE49-F238E27FC236}">
                <a16:creationId xmlns:a16="http://schemas.microsoft.com/office/drawing/2014/main" id="{6FB87414-2888-4C27-AF58-92805BE26E30}"/>
              </a:ext>
            </a:extLst>
          </p:cNvPr>
          <p:cNvSpPr>
            <a:spLocks xmlns:a="http://schemas.openxmlformats.org/drawingml/2006/main" noGrp="1"/>
          </p:cNvSpPr>
          <p:nvPr/>
        </p:nvSpPr>
        <p:spPr>
          <a:xfrm xmlns:a="http://schemas.openxmlformats.org/drawingml/2006/main">
            <a:off x="723900" y="3257550"/>
            <a:ext cx="4095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173B31"/>
                </a:solidFill>
                <a:latin typeface="Arial"/>
                <a:ea typeface="Arial"/>
                <a:cs typeface="Arial"/>
              </a:defRPr>
            </a:pPr>
            <a:r>
              <a:rPr sz="1725" b="1">
                <a:solidFill>
                  <a:srgbClr val="173B31"/>
                </a:solidFill>
                <a:latin typeface="Arial"/>
                <a:ea typeface="Arial"/>
                <a:cs typeface="Arial"/>
              </a:rPr>
              <a:t>LEAF-152 · Super-resolution</a:t>
            </a:r>
          </a:p>
        </p:txBody>
      </p:sp>
      <p:sp>
        <p:nvSpPr>
          <p:cNvPr id="20" name="5h">
            <a:extLst xmlns:a="http://schemas.openxmlformats.org/drawingml/2006/main">
              <a:ext uri="{FF2B5EF4-FFF2-40B4-BE49-F238E27FC236}">
                <a16:creationId xmlns:a16="http://schemas.microsoft.com/office/drawing/2014/main" id="{B5416B2C-C49F-404C-AAD3-9418E7233FF1}"/>
              </a:ext>
            </a:extLst>
          </p:cNvPr>
          <p:cNvSpPr>
            <a:spLocks xmlns:a="http://schemas.openxmlformats.org/drawingml/2006/main" noGrp="1"/>
          </p:cNvSpPr>
          <p:nvPr/>
        </p:nvSpPr>
        <p:spPr>
          <a:xfrm xmlns:a="http://schemas.openxmlformats.org/drawingml/2006/main">
            <a:off x="5048250" y="3257550"/>
            <a:ext cx="19145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5h</a:t>
            </a:r>
          </a:p>
        </p:txBody>
      </p:sp>
      <p:sp>
        <p:nvSpPr>
          <p:cNvPr id="21" name="7h">
            <a:extLst xmlns:a="http://schemas.openxmlformats.org/drawingml/2006/main">
              <a:ext uri="{FF2B5EF4-FFF2-40B4-BE49-F238E27FC236}">
                <a16:creationId xmlns:a16="http://schemas.microsoft.com/office/drawing/2014/main" id="{990553A7-1668-4C7A-8D06-F1D123E811CC}"/>
              </a:ext>
            </a:extLst>
          </p:cNvPr>
          <p:cNvSpPr>
            <a:spLocks xmlns:a="http://schemas.openxmlformats.org/drawingml/2006/main" noGrp="1"/>
          </p:cNvSpPr>
          <p:nvPr/>
        </p:nvSpPr>
        <p:spPr>
          <a:xfrm xmlns:a="http://schemas.openxmlformats.org/drawingml/2006/main">
            <a:off x="7191375" y="325755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7h</a:t>
            </a:r>
          </a:p>
        </p:txBody>
      </p:sp>
      <p:sp>
        <p:nvSpPr>
          <p:cNvPr id="22" name="+2h">
            <a:extLst xmlns:a="http://schemas.openxmlformats.org/drawingml/2006/main">
              <a:ext uri="{FF2B5EF4-FFF2-40B4-BE49-F238E27FC236}">
                <a16:creationId xmlns:a16="http://schemas.microsoft.com/office/drawing/2014/main" id="{9A9CEA04-2A1B-4BBB-8841-973EB167D4BF}"/>
              </a:ext>
            </a:extLst>
          </p:cNvPr>
          <p:cNvSpPr>
            <a:spLocks xmlns:a="http://schemas.openxmlformats.org/drawingml/2006/main" noGrp="1"/>
          </p:cNvSpPr>
          <p:nvPr/>
        </p:nvSpPr>
        <p:spPr>
          <a:xfrm xmlns:a="http://schemas.openxmlformats.org/drawingml/2006/main">
            <a:off x="9401175" y="3257550"/>
            <a:ext cx="2066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+2h</a:t>
            </a:r>
          </a:p>
        </p:txBody>
      </p:sp>
      <p:sp>
        <p:nvSpPr>
          <p:cNvPr id="23" name="">
            <a:extLst xmlns:a="http://schemas.openxmlformats.org/drawingml/2006/main">
              <a:ext uri="{FF2B5EF4-FFF2-40B4-BE49-F238E27FC236}">
                <a16:creationId xmlns:a16="http://schemas.microsoft.com/office/drawing/2014/main" id="{609E34CD-E2E8-40C3-AEF0-E6B2BF2DC14A}"/>
              </a:ext>
            </a:extLst>
          </p:cNvPr>
          <p:cNvSpPr>
            <a:spLocks xmlns:a="http://schemas.openxmlformats.org/drawingml/2006/main" noGrp="1"/>
          </p:cNvSpPr>
          <p:nvPr/>
        </p:nvSpPr>
        <p:spPr>
          <a:xfrm xmlns:a="http://schemas.openxmlformats.org/drawingml/2006/main">
            <a:off x="609600" y="361950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24" name="LEAF-149 · Context menu">
            <a:extLst xmlns:a="http://schemas.openxmlformats.org/drawingml/2006/main">
              <a:ext uri="{FF2B5EF4-FFF2-40B4-BE49-F238E27FC236}">
                <a16:creationId xmlns:a16="http://schemas.microsoft.com/office/drawing/2014/main" id="{A6EBBD44-41C8-4A03-8891-1112A119BA86}"/>
              </a:ext>
            </a:extLst>
          </p:cNvPr>
          <p:cNvSpPr>
            <a:spLocks xmlns:a="http://schemas.openxmlformats.org/drawingml/2006/main" noGrp="1"/>
          </p:cNvSpPr>
          <p:nvPr/>
        </p:nvSpPr>
        <p:spPr>
          <a:xfrm xmlns:a="http://schemas.openxmlformats.org/drawingml/2006/main">
            <a:off x="723900" y="3733800"/>
            <a:ext cx="4095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173B31"/>
                </a:solidFill>
                <a:latin typeface="Arial"/>
                <a:ea typeface="Arial"/>
                <a:cs typeface="Arial"/>
              </a:defRPr>
            </a:pPr>
            <a:r>
              <a:rPr sz="1725" b="1">
                <a:solidFill>
                  <a:srgbClr val="173B31"/>
                </a:solidFill>
                <a:latin typeface="Arial"/>
                <a:ea typeface="Arial"/>
                <a:cs typeface="Arial"/>
              </a:rPr>
              <a:t>LEAF-149 · Context menu</a:t>
            </a:r>
          </a:p>
        </p:txBody>
      </p:sp>
      <p:sp>
        <p:nvSpPr>
          <p:cNvPr id="25" name="40m">
            <a:extLst xmlns:a="http://schemas.openxmlformats.org/drawingml/2006/main">
              <a:ext uri="{FF2B5EF4-FFF2-40B4-BE49-F238E27FC236}">
                <a16:creationId xmlns:a16="http://schemas.microsoft.com/office/drawing/2014/main" id="{9336C493-BBF0-41D2-AD6E-A6B65F9C9455}"/>
              </a:ext>
            </a:extLst>
          </p:cNvPr>
          <p:cNvSpPr>
            <a:spLocks xmlns:a="http://schemas.openxmlformats.org/drawingml/2006/main" noGrp="1"/>
          </p:cNvSpPr>
          <p:nvPr/>
        </p:nvSpPr>
        <p:spPr>
          <a:xfrm xmlns:a="http://schemas.openxmlformats.org/drawingml/2006/main">
            <a:off x="5048250" y="3733800"/>
            <a:ext cx="19145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40m</a:t>
            </a:r>
          </a:p>
        </p:txBody>
      </p:sp>
      <p:sp>
        <p:nvSpPr>
          <p:cNvPr id="26" name="40m">
            <a:extLst xmlns:a="http://schemas.openxmlformats.org/drawingml/2006/main">
              <a:ext uri="{FF2B5EF4-FFF2-40B4-BE49-F238E27FC236}">
                <a16:creationId xmlns:a16="http://schemas.microsoft.com/office/drawing/2014/main" id="{264D8C34-5D4E-499E-B45A-A25CB08AC170}"/>
              </a:ext>
            </a:extLst>
          </p:cNvPr>
          <p:cNvSpPr>
            <a:spLocks xmlns:a="http://schemas.openxmlformats.org/drawingml/2006/main" noGrp="1"/>
          </p:cNvSpPr>
          <p:nvPr/>
        </p:nvSpPr>
        <p:spPr>
          <a:xfrm xmlns:a="http://schemas.openxmlformats.org/drawingml/2006/main">
            <a:off x="7191375" y="37338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40m</a:t>
            </a:r>
          </a:p>
        </p:txBody>
      </p:sp>
      <p:sp>
        <p:nvSpPr>
          <p:cNvPr id="27" name="0">
            <a:extLst xmlns:a="http://schemas.openxmlformats.org/drawingml/2006/main">
              <a:ext uri="{FF2B5EF4-FFF2-40B4-BE49-F238E27FC236}">
                <a16:creationId xmlns:a16="http://schemas.microsoft.com/office/drawing/2014/main" id="{404C7B7E-0B65-440D-A98C-C49D07B37AA4}"/>
              </a:ext>
            </a:extLst>
          </p:cNvPr>
          <p:cNvSpPr>
            <a:spLocks xmlns:a="http://schemas.openxmlformats.org/drawingml/2006/main" noGrp="1"/>
          </p:cNvSpPr>
          <p:nvPr/>
        </p:nvSpPr>
        <p:spPr>
          <a:xfrm xmlns:a="http://schemas.openxmlformats.org/drawingml/2006/main">
            <a:off x="9401175" y="3733800"/>
            <a:ext cx="2066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0</a:t>
            </a:r>
          </a:p>
        </p:txBody>
      </p:sp>
      <p:sp>
        <p:nvSpPr>
          <p:cNvPr id="28" name="">
            <a:extLst xmlns:a="http://schemas.openxmlformats.org/drawingml/2006/main">
              <a:ext uri="{FF2B5EF4-FFF2-40B4-BE49-F238E27FC236}">
                <a16:creationId xmlns:a16="http://schemas.microsoft.com/office/drawing/2014/main" id="{BEA93B95-988D-4434-B640-E801AD82D049}"/>
              </a:ext>
            </a:extLst>
          </p:cNvPr>
          <p:cNvSpPr>
            <a:spLocks xmlns:a="http://schemas.openxmlformats.org/drawingml/2006/main" noGrp="1"/>
          </p:cNvSpPr>
          <p:nvPr/>
        </p:nvSpPr>
        <p:spPr>
          <a:xfrm xmlns:a="http://schemas.openxmlformats.org/drawingml/2006/main">
            <a:off x="609600" y="409575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29" name="LEAF-153 · Crop scaling">
            <a:extLst xmlns:a="http://schemas.openxmlformats.org/drawingml/2006/main">
              <a:ext uri="{FF2B5EF4-FFF2-40B4-BE49-F238E27FC236}">
                <a16:creationId xmlns:a16="http://schemas.microsoft.com/office/drawing/2014/main" id="{CF991D7B-51C9-4217-935E-DD4D6E9706A5}"/>
              </a:ext>
            </a:extLst>
          </p:cNvPr>
          <p:cNvSpPr>
            <a:spLocks xmlns:a="http://schemas.openxmlformats.org/drawingml/2006/main" noGrp="1"/>
          </p:cNvSpPr>
          <p:nvPr/>
        </p:nvSpPr>
        <p:spPr>
          <a:xfrm xmlns:a="http://schemas.openxmlformats.org/drawingml/2006/main">
            <a:off x="723900" y="4210050"/>
            <a:ext cx="4095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173B31"/>
                </a:solidFill>
                <a:latin typeface="Arial"/>
                <a:ea typeface="Arial"/>
                <a:cs typeface="Arial"/>
              </a:defRPr>
            </a:pPr>
            <a:r>
              <a:rPr sz="1725" b="1">
                <a:solidFill>
                  <a:srgbClr val="173B31"/>
                </a:solidFill>
                <a:latin typeface="Arial"/>
                <a:ea typeface="Arial"/>
                <a:cs typeface="Arial"/>
              </a:rPr>
              <a:t>LEAF-153 · Crop scaling</a:t>
            </a:r>
          </a:p>
        </p:txBody>
      </p:sp>
      <p:sp>
        <p:nvSpPr>
          <p:cNvPr id="30" name="30m">
            <a:extLst xmlns:a="http://schemas.openxmlformats.org/drawingml/2006/main">
              <a:ext uri="{FF2B5EF4-FFF2-40B4-BE49-F238E27FC236}">
                <a16:creationId xmlns:a16="http://schemas.microsoft.com/office/drawing/2014/main" id="{C7DFBA05-C34B-4DEE-8D3F-9A5282DD45D2}"/>
              </a:ext>
            </a:extLst>
          </p:cNvPr>
          <p:cNvSpPr>
            <a:spLocks xmlns:a="http://schemas.openxmlformats.org/drawingml/2006/main" noGrp="1"/>
          </p:cNvSpPr>
          <p:nvPr/>
        </p:nvSpPr>
        <p:spPr>
          <a:xfrm xmlns:a="http://schemas.openxmlformats.org/drawingml/2006/main">
            <a:off x="5048250" y="4210050"/>
            <a:ext cx="19145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30m</a:t>
            </a:r>
          </a:p>
        </p:txBody>
      </p:sp>
      <p:sp>
        <p:nvSpPr>
          <p:cNvPr id="31" name="15m">
            <a:extLst xmlns:a="http://schemas.openxmlformats.org/drawingml/2006/main">
              <a:ext uri="{FF2B5EF4-FFF2-40B4-BE49-F238E27FC236}">
                <a16:creationId xmlns:a16="http://schemas.microsoft.com/office/drawing/2014/main" id="{A912BFDE-8505-4C04-AF6F-5903BD179C26}"/>
              </a:ext>
            </a:extLst>
          </p:cNvPr>
          <p:cNvSpPr>
            <a:spLocks xmlns:a="http://schemas.openxmlformats.org/drawingml/2006/main" noGrp="1"/>
          </p:cNvSpPr>
          <p:nvPr/>
        </p:nvSpPr>
        <p:spPr>
          <a:xfrm xmlns:a="http://schemas.openxmlformats.org/drawingml/2006/main">
            <a:off x="7191375" y="421005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15m</a:t>
            </a:r>
          </a:p>
        </p:txBody>
      </p:sp>
      <p:sp>
        <p:nvSpPr>
          <p:cNvPr id="32" name="−15m">
            <a:extLst xmlns:a="http://schemas.openxmlformats.org/drawingml/2006/main">
              <a:ext uri="{FF2B5EF4-FFF2-40B4-BE49-F238E27FC236}">
                <a16:creationId xmlns:a16="http://schemas.microsoft.com/office/drawing/2014/main" id="{1D4863D4-CF8E-43BF-AC99-71DBC5F2355B}"/>
              </a:ext>
            </a:extLst>
          </p:cNvPr>
          <p:cNvSpPr>
            <a:spLocks xmlns:a="http://schemas.openxmlformats.org/drawingml/2006/main" noGrp="1"/>
          </p:cNvSpPr>
          <p:nvPr/>
        </p:nvSpPr>
        <p:spPr>
          <a:xfrm xmlns:a="http://schemas.openxmlformats.org/drawingml/2006/main">
            <a:off x="9401175" y="4210050"/>
            <a:ext cx="2066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−15m</a:t>
            </a:r>
          </a:p>
        </p:txBody>
      </p:sp>
      <p:sp>
        <p:nvSpPr>
          <p:cNvPr id="33" name="">
            <a:extLst xmlns:a="http://schemas.openxmlformats.org/drawingml/2006/main">
              <a:ext uri="{FF2B5EF4-FFF2-40B4-BE49-F238E27FC236}">
                <a16:creationId xmlns:a16="http://schemas.microsoft.com/office/drawing/2014/main" id="{E8294425-343B-4A4C-B009-F3A873E31008}"/>
              </a:ext>
            </a:extLst>
          </p:cNvPr>
          <p:cNvSpPr>
            <a:spLocks xmlns:a="http://schemas.openxmlformats.org/drawingml/2006/main" noGrp="1"/>
          </p:cNvSpPr>
          <p:nvPr/>
        </p:nvSpPr>
        <p:spPr>
          <a:xfrm xmlns:a="http://schemas.openxmlformats.org/drawingml/2006/main">
            <a:off x="609600" y="457200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34" name="LEAF-155 · Colour swatches">
            <a:extLst xmlns:a="http://schemas.openxmlformats.org/drawingml/2006/main">
              <a:ext uri="{FF2B5EF4-FFF2-40B4-BE49-F238E27FC236}">
                <a16:creationId xmlns:a16="http://schemas.microsoft.com/office/drawing/2014/main" id="{BA995AB0-42AB-4543-9BE5-C4A622BF1DF5}"/>
              </a:ext>
            </a:extLst>
          </p:cNvPr>
          <p:cNvSpPr>
            <a:spLocks xmlns:a="http://schemas.openxmlformats.org/drawingml/2006/main" noGrp="1"/>
          </p:cNvSpPr>
          <p:nvPr/>
        </p:nvSpPr>
        <p:spPr>
          <a:xfrm xmlns:a="http://schemas.openxmlformats.org/drawingml/2006/main">
            <a:off x="723900" y="4686300"/>
            <a:ext cx="4095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173B31"/>
                </a:solidFill>
                <a:latin typeface="Arial"/>
                <a:ea typeface="Arial"/>
                <a:cs typeface="Arial"/>
              </a:defRPr>
            </a:pPr>
            <a:r>
              <a:rPr sz="1725" b="1">
                <a:solidFill>
                  <a:srgbClr val="173B31"/>
                </a:solidFill>
                <a:latin typeface="Arial"/>
                <a:ea typeface="Arial"/>
                <a:cs typeface="Arial"/>
              </a:rPr>
              <a:t>LEAF-155 · Colour swatches</a:t>
            </a:r>
          </a:p>
        </p:txBody>
      </p:sp>
      <p:sp>
        <p:nvSpPr>
          <p:cNvPr id="35" name="2h">
            <a:extLst xmlns:a="http://schemas.openxmlformats.org/drawingml/2006/main">
              <a:ext uri="{FF2B5EF4-FFF2-40B4-BE49-F238E27FC236}">
                <a16:creationId xmlns:a16="http://schemas.microsoft.com/office/drawing/2014/main" id="{35FE8E4C-4F63-4B25-A079-943AA812311A}"/>
              </a:ext>
            </a:extLst>
          </p:cNvPr>
          <p:cNvSpPr>
            <a:spLocks xmlns:a="http://schemas.openxmlformats.org/drawingml/2006/main" noGrp="1"/>
          </p:cNvSpPr>
          <p:nvPr/>
        </p:nvSpPr>
        <p:spPr>
          <a:xfrm xmlns:a="http://schemas.openxmlformats.org/drawingml/2006/main">
            <a:off x="5048250" y="4686300"/>
            <a:ext cx="19145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2h</a:t>
            </a:r>
          </a:p>
        </p:txBody>
      </p:sp>
      <p:sp>
        <p:nvSpPr>
          <p:cNvPr id="36" name="40m">
            <a:extLst xmlns:a="http://schemas.openxmlformats.org/drawingml/2006/main">
              <a:ext uri="{FF2B5EF4-FFF2-40B4-BE49-F238E27FC236}">
                <a16:creationId xmlns:a16="http://schemas.microsoft.com/office/drawing/2014/main" id="{50924E42-DC6F-4AA8-AC3F-0EEDBAF3693A}"/>
              </a:ext>
            </a:extLst>
          </p:cNvPr>
          <p:cNvSpPr>
            <a:spLocks xmlns:a="http://schemas.openxmlformats.org/drawingml/2006/main" noGrp="1"/>
          </p:cNvSpPr>
          <p:nvPr/>
        </p:nvSpPr>
        <p:spPr>
          <a:xfrm xmlns:a="http://schemas.openxmlformats.org/drawingml/2006/main">
            <a:off x="7191375" y="46863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40m</a:t>
            </a:r>
          </a:p>
        </p:txBody>
      </p:sp>
      <p:sp>
        <p:nvSpPr>
          <p:cNvPr id="37" name="−1h 20m">
            <a:extLst xmlns:a="http://schemas.openxmlformats.org/drawingml/2006/main">
              <a:ext uri="{FF2B5EF4-FFF2-40B4-BE49-F238E27FC236}">
                <a16:creationId xmlns:a16="http://schemas.microsoft.com/office/drawing/2014/main" id="{DF87B607-D274-4493-9DBD-9396133BEFDD}"/>
              </a:ext>
            </a:extLst>
          </p:cNvPr>
          <p:cNvSpPr>
            <a:spLocks xmlns:a="http://schemas.openxmlformats.org/drawingml/2006/main" noGrp="1"/>
          </p:cNvSpPr>
          <p:nvPr/>
        </p:nvSpPr>
        <p:spPr>
          <a:xfrm xmlns:a="http://schemas.openxmlformats.org/drawingml/2006/main">
            <a:off x="9401175" y="4686300"/>
            <a:ext cx="2066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−1h 20m</a:t>
            </a:r>
          </a:p>
        </p:txBody>
      </p:sp>
      <p:sp>
        <p:nvSpPr>
          <p:cNvPr id="38" name="">
            <a:extLst xmlns:a="http://schemas.openxmlformats.org/drawingml/2006/main">
              <a:ext uri="{FF2B5EF4-FFF2-40B4-BE49-F238E27FC236}">
                <a16:creationId xmlns:a16="http://schemas.microsoft.com/office/drawing/2014/main" id="{6D2B0EDD-C77A-4F42-8FE0-B989EE16BD97}"/>
              </a:ext>
            </a:extLst>
          </p:cNvPr>
          <p:cNvSpPr>
            <a:spLocks xmlns:a="http://schemas.openxmlformats.org/drawingml/2006/main" noGrp="1"/>
          </p:cNvSpPr>
          <p:nvPr/>
        </p:nvSpPr>
        <p:spPr>
          <a:xfrm xmlns:a="http://schemas.openxmlformats.org/drawingml/2006/main">
            <a:off x="609600" y="504825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39" name="*Current Jira estimate. SR changed 3h → 4h → ">
            <a:extLst xmlns:a="http://schemas.openxmlformats.org/drawingml/2006/main">
              <a:ext uri="{FF2B5EF4-FFF2-40B4-BE49-F238E27FC236}">
                <a16:creationId xmlns:a16="http://schemas.microsoft.com/office/drawing/2014/main" id="{F21CA4DD-2FF3-4280-8CE2-A30FD6B5637E}"/>
              </a:ext>
            </a:extLst>
          </p:cNvPr>
          <p:cNvSpPr>
            <a:spLocks xmlns:a="http://schemas.openxmlformats.org/drawingml/2006/main" noGrp="1"/>
          </p:cNvSpPr>
          <p:nvPr/>
        </p:nvSpPr>
        <p:spPr>
          <a:xfrm xmlns:a="http://schemas.openxmlformats.org/drawingml/2006/main">
            <a:off x="609600" y="522922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93651E"/>
                </a:solidFill>
                <a:latin typeface="Arial"/>
                <a:ea typeface="Arial"/>
                <a:cs typeface="Arial"/>
              </a:defRPr>
            </a:pPr>
            <a:r>
              <a:rPr sz="1650" b="0">
                <a:solidFill>
                  <a:srgbClr val="93651E"/>
                </a:solidFill>
                <a:latin typeface="Arial"/>
                <a:ea typeface="Arial"/>
                <a:cs typeface="Arial"/>
              </a:rPr>
              <a:t>*Current Jira estimate. SR changed 3h → 4h → 5h; Hypercube’s estimate was entered during review.</a:t>
            </a:r>
          </a:p>
        </p:txBody>
      </p:sp>
      <p:sp>
        <p:nvSpPr>
          <p:cNvPr id="40" name="Sprint 6 proposal: save the starting estimate">
            <a:extLst xmlns:a="http://schemas.openxmlformats.org/drawingml/2006/main">
              <a:ext uri="{FF2B5EF4-FFF2-40B4-BE49-F238E27FC236}">
                <a16:creationId xmlns:a16="http://schemas.microsoft.com/office/drawing/2014/main" id="{2E1D47B9-48C9-48B2-8366-1D69D9A7EF3B}"/>
              </a:ext>
            </a:extLst>
          </p:cNvPr>
          <p:cNvSpPr>
            <a:spLocks xmlns:a="http://schemas.openxmlformats.org/drawingml/2006/main" noGrp="1"/>
          </p:cNvSpPr>
          <p:nvPr/>
        </p:nvSpPr>
        <p:spPr>
          <a:xfrm xmlns:a="http://schemas.openxmlformats.org/drawingml/2006/main">
            <a:off x="609600" y="57626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287553"/>
                </a:solidFill>
                <a:latin typeface="Arial"/>
                <a:ea typeface="Arial"/>
                <a:cs typeface="Arial"/>
              </a:defRPr>
            </a:pPr>
            <a:r>
              <a:rPr sz="1725" b="1">
                <a:solidFill>
                  <a:srgbClr val="287553"/>
                </a:solidFill>
                <a:latin typeface="Arial"/>
                <a:ea typeface="Arial"/>
                <a:cs typeface="Arial"/>
              </a:rPr>
              <a:t>Sprint 6 proposal: save the starting estimate; track revisions; reserve time for integration and tests.</a:t>
            </a:r>
          </a:p>
        </p:txBody>
      </p:sp>
    </p:spTree>
    <p:extLst>
      <p:ext uri="{BB962C8B-B14F-4D97-AF65-F5344CB8AC3E}">
        <p14:creationId xmlns:p14="http://schemas.microsoft.com/office/powerpoint/2010/main" val="828627161"/>
      </p:ext>
    </p:extLst>
  </p:cSld>
</p:sld>
</file>

<file path=ppt/slides/slide8.xml><?xml version="1.0" encoding="utf-8"?>
<p:sld xmlns:p="http://schemas.openxmlformats.org/presentationml/2006/main">
  <p:cSld>
    <p:bg>
      <p:bgPr>
        <a:solidFill xmlns:a="http://schemas.openxmlformats.org/drawingml/2006/main">
          <a:srgbClr val="F4F5F0"/>
        </a:solidFill>
      </p:bgPr>
    </p:bg>
    <p:spTree>
      <p:nvGrpSpPr>
        <p:cNvPr id="1" name=""/>
        <p:cNvGrpSpPr/>
        <p:nvPr/>
      </p:nvGrpSpPr>
      <p:grpSpPr>
        <a:xfrm xmlns:a="http://schemas.openxmlformats.org/drawingml/2006/main"/>
      </p:grpSpPr>
      <p:sp>
        <p:nvSpPr>
          <p:cNvPr id="26" name="PLANNING AND ORGANISATION">
            <a:extLst xmlns:a="http://schemas.openxmlformats.org/drawingml/2006/main">
              <a:ext uri="{FF2B5EF4-FFF2-40B4-BE49-F238E27FC236}">
                <a16:creationId xmlns:a16="http://schemas.microsoft.com/office/drawing/2014/main" id="{0C4BB752-DD06-4F94-A98A-0C51448C2D0F}"/>
              </a:ext>
            </a:extLst>
          </p:cNvPr>
          <p:cNvSpPr>
            <a:spLocks xmlns:a="http://schemas.openxmlformats.org/drawingml/2006/main" noGrp="1"/>
          </p:cNvSpPr>
          <p:nvPr/>
        </p:nvSpPr>
        <p:spPr>
          <a:xfrm xmlns:a="http://schemas.openxmlformats.org/drawingml/2006/main">
            <a:off x="609600" y="4000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287553"/>
                </a:solidFill>
                <a:latin typeface="Arial"/>
                <a:ea typeface="Arial"/>
                <a:cs typeface="Arial"/>
              </a:defRPr>
            </a:pPr>
            <a:r>
              <a:rPr sz="1500" b="1">
                <a:solidFill>
                  <a:srgbClr val="287553"/>
                </a:solidFill>
                <a:latin typeface="Arial"/>
                <a:ea typeface="Arial"/>
                <a:cs typeface="Arial"/>
              </a:rPr>
              <a:t>PLANNING AND ORGANISATION</a:t>
            </a:r>
          </a:p>
        </p:txBody>
      </p:sp>
      <p:sp>
        <p:nvSpPr>
          <p:cNvPr id="2" name="Risks changed as integration grew">
            <a:extLst xmlns:a="http://schemas.openxmlformats.org/drawingml/2006/main">
              <a:ext uri="{FF2B5EF4-FFF2-40B4-BE49-F238E27FC236}">
                <a16:creationId xmlns:a16="http://schemas.microsoft.com/office/drawing/2014/main" id="{4DFD7516-8C20-4F24-B0F4-E1EB5F6766CD}"/>
              </a:ext>
            </a:extLst>
          </p:cNvPr>
          <p:cNvSpPr>
            <a:spLocks xmlns:a="http://schemas.openxmlformats.org/drawingml/2006/main" noGrp="1"/>
          </p:cNvSpPr>
          <p:nvPr/>
        </p:nvSpPr>
        <p:spPr>
          <a:xfrm xmlns:a="http://schemas.openxmlformats.org/drawingml/2006/main">
            <a:off x="609600" y="86677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3B31"/>
                </a:solidFill>
                <a:latin typeface="Arial"/>
                <a:ea typeface="Arial"/>
                <a:cs typeface="Arial"/>
              </a:defRPr>
            </a:pPr>
            <a:r>
              <a:rPr sz="3600" b="1">
                <a:solidFill>
                  <a:srgbClr val="173B31"/>
                </a:solidFill>
                <a:latin typeface="Arial"/>
                <a:ea typeface="Arial"/>
                <a:cs typeface="Arial"/>
              </a:rPr>
              <a:t>Risks changed as integration grew</a:t>
            </a:r>
          </a:p>
        </p:txBody>
      </p:sp>
      <p:sp>
        <p:nvSpPr>
          <p:cNvPr id="3" name="">
            <a:extLst xmlns:a="http://schemas.openxmlformats.org/drawingml/2006/main">
              <a:ext uri="{FF2B5EF4-FFF2-40B4-BE49-F238E27FC236}">
                <a16:creationId xmlns:a16="http://schemas.microsoft.com/office/drawing/2014/main" id="{F707922B-3DB3-44CB-A2C6-D35C37617092}"/>
              </a:ext>
            </a:extLst>
          </p:cNvPr>
          <p:cNvSpPr>
            <a:spLocks xmlns:a="http://schemas.openxmlformats.org/drawingml/2006/main" noGrp="1"/>
          </p:cNvSpPr>
          <p:nvPr/>
        </p:nvSpPr>
        <p:spPr>
          <a:xfrm xmlns:a="http://schemas.openxmlformats.org/drawingml/2006/main">
            <a:off x="609600" y="623887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4" name="LEAF ANALYZER  /  SPRINT 5">
            <a:extLst xmlns:a="http://schemas.openxmlformats.org/drawingml/2006/main">
              <a:ext uri="{FF2B5EF4-FFF2-40B4-BE49-F238E27FC236}">
                <a16:creationId xmlns:a16="http://schemas.microsoft.com/office/drawing/2014/main" id="{961FB640-8C76-4564-BC34-76368490634C}"/>
              </a:ext>
            </a:extLst>
          </p:cNvPr>
          <p:cNvSpPr>
            <a:spLocks xmlns:a="http://schemas.openxmlformats.org/drawingml/2006/main" noGrp="1"/>
          </p:cNvSpPr>
          <p:nvPr/>
        </p:nvSpPr>
        <p:spPr>
          <a:xfrm xmlns:a="http://schemas.openxmlformats.org/drawingml/2006/main">
            <a:off x="609600" y="6410325"/>
            <a:ext cx="323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LEAF ANALYZER  /  SPRINT 5</a:t>
            </a:r>
          </a:p>
        </p:txBody>
      </p:sp>
      <p:sp>
        <p:nvSpPr>
          <p:cNvPr id="5" name="Risk Management Plan • reviewed 21 and 28 Aug">
            <a:extLst xmlns:a="http://schemas.openxmlformats.org/drawingml/2006/main">
              <a:ext uri="{FF2B5EF4-FFF2-40B4-BE49-F238E27FC236}">
                <a16:creationId xmlns:a16="http://schemas.microsoft.com/office/drawing/2014/main" id="{BE88B09C-167E-458B-BD3B-7DA5408C766C}"/>
              </a:ext>
            </a:extLst>
          </p:cNvPr>
          <p:cNvSpPr>
            <a:spLocks xmlns:a="http://schemas.openxmlformats.org/drawingml/2006/main" noGrp="1"/>
          </p:cNvSpPr>
          <p:nvPr/>
        </p:nvSpPr>
        <p:spPr>
          <a:xfrm xmlns:a="http://schemas.openxmlformats.org/drawingml/2006/main">
            <a:off x="3952875" y="6410325"/>
            <a:ext cx="708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Risk Management Plan • reviewed 21 and 28 August</a:t>
            </a:r>
          </a:p>
        </p:txBody>
      </p:sp>
      <p:sp>
        <p:nvSpPr>
          <p:cNvPr id="6" name="08">
            <a:extLst xmlns:a="http://schemas.openxmlformats.org/drawingml/2006/main">
              <a:ext uri="{FF2B5EF4-FFF2-40B4-BE49-F238E27FC236}">
                <a16:creationId xmlns:a16="http://schemas.microsoft.com/office/drawing/2014/main" id="{6FE23607-17E6-4264-B965-3BC6C7F0F9AB}"/>
              </a:ext>
            </a:extLst>
          </p:cNvPr>
          <p:cNvSpPr>
            <a:spLocks xmlns:a="http://schemas.openxmlformats.org/drawingml/2006/main" noGrp="1"/>
          </p:cNvSpPr>
          <p:nvPr/>
        </p:nvSpPr>
        <p:spPr>
          <a:xfrm xmlns:a="http://schemas.openxmlformats.org/drawingml/2006/main">
            <a:off x="11239500" y="6381750"/>
            <a:ext cx="361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08</a:t>
            </a:r>
          </a:p>
        </p:txBody>
      </p:sp>
      <p:sp>
        <p:nvSpPr>
          <p:cNvPr id="7" name="Owners, triggers and responses are recorded; ">
            <a:extLst xmlns:a="http://schemas.openxmlformats.org/drawingml/2006/main">
              <a:ext uri="{FF2B5EF4-FFF2-40B4-BE49-F238E27FC236}">
                <a16:creationId xmlns:a16="http://schemas.microsoft.com/office/drawing/2014/main" id="{C1A81FE2-B9D6-4D7E-BE6F-F078F9F06DE4}"/>
              </a:ext>
            </a:extLst>
          </p:cNvPr>
          <p:cNvSpPr>
            <a:spLocks xmlns:a="http://schemas.openxmlformats.org/drawingml/2006/main" noGrp="1"/>
          </p:cNvSpPr>
          <p:nvPr/>
        </p:nvSpPr>
        <p:spPr>
          <a:xfrm xmlns:a="http://schemas.openxmlformats.org/drawingml/2006/main">
            <a:off x="609600" y="16859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86C63"/>
                </a:solidFill>
                <a:latin typeface="Arial"/>
                <a:ea typeface="Arial"/>
                <a:cs typeface="Arial"/>
              </a:defRPr>
            </a:pPr>
            <a:r>
              <a:rPr sz="1950" b="0">
                <a:solidFill>
                  <a:srgbClr val="586C63"/>
                </a:solidFill>
                <a:latin typeface="Arial"/>
                <a:ea typeface="Arial"/>
                <a:cs typeface="Arial"/>
              </a:rPr>
              <a:t>Owners, triggers and responses are recorded; next review: 4 September.</a:t>
            </a:r>
          </a:p>
        </p:txBody>
      </p:sp>
      <p:sp>
        <p:nvSpPr>
          <p:cNvPr id="8" name="">
            <a:extLst xmlns:a="http://schemas.openxmlformats.org/drawingml/2006/main">
              <a:ext uri="{FF2B5EF4-FFF2-40B4-BE49-F238E27FC236}">
                <a16:creationId xmlns:a16="http://schemas.microsoft.com/office/drawing/2014/main" id="{66721D3D-796A-40D6-A8E1-761256309F7C}"/>
              </a:ext>
            </a:extLst>
          </p:cNvPr>
          <p:cNvSpPr>
            <a:spLocks xmlns:a="http://schemas.openxmlformats.org/drawingml/2006/main" noGrp="1"/>
          </p:cNvSpPr>
          <p:nvPr/>
        </p:nvSpPr>
        <p:spPr>
          <a:xfrm xmlns:a="http://schemas.openxmlformats.org/drawingml/2006/main">
            <a:off x="609600" y="2276475"/>
            <a:ext cx="10972800" cy="485775"/>
          </a:xfrm>
          <a:prstGeom xmlns:a="http://schemas.openxmlformats.org/drawingml/2006/main" prst="rect">
            <a:avLst/>
          </a:prstGeom>
          <a:solidFill xmlns:a="http://schemas.openxmlformats.org/drawingml/2006/main">
            <a:srgbClr val="E4ECE3"/>
          </a:solidFill>
          <a:ln xmlns:a="http://schemas.openxmlformats.org/drawingml/2006/main" w="0">
            <a:noFill/>
          </a:ln>
        </p:spPr>
      </p:sp>
      <p:sp>
        <p:nvSpPr>
          <p:cNvPr id="9" name="RISK / PRIORITY">
            <a:extLst xmlns:a="http://schemas.openxmlformats.org/drawingml/2006/main">
              <a:ext uri="{FF2B5EF4-FFF2-40B4-BE49-F238E27FC236}">
                <a16:creationId xmlns:a16="http://schemas.microsoft.com/office/drawing/2014/main" id="{4ED48AE0-22C3-4470-A0FB-1ACB30470949}"/>
              </a:ext>
            </a:extLst>
          </p:cNvPr>
          <p:cNvSpPr>
            <a:spLocks xmlns:a="http://schemas.openxmlformats.org/drawingml/2006/main" noGrp="1"/>
          </p:cNvSpPr>
          <p:nvPr/>
        </p:nvSpPr>
        <p:spPr>
          <a:xfrm xmlns:a="http://schemas.openxmlformats.org/drawingml/2006/main">
            <a:off x="723900" y="2390775"/>
            <a:ext cx="304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173B31"/>
                </a:solidFill>
                <a:latin typeface="Arial"/>
                <a:ea typeface="Arial"/>
                <a:cs typeface="Arial"/>
              </a:defRPr>
            </a:pPr>
            <a:r>
              <a:rPr sz="1575" b="1">
                <a:solidFill>
                  <a:srgbClr val="173B31"/>
                </a:solidFill>
                <a:latin typeface="Arial"/>
                <a:ea typeface="Arial"/>
                <a:cs typeface="Arial"/>
              </a:rPr>
              <a:t>RISK / PRIORITY</a:t>
            </a:r>
          </a:p>
        </p:txBody>
      </p:sp>
      <p:sp>
        <p:nvSpPr>
          <p:cNvPr id="10" name="CONTROL IN PLACE">
            <a:extLst xmlns:a="http://schemas.openxmlformats.org/drawingml/2006/main">
              <a:ext uri="{FF2B5EF4-FFF2-40B4-BE49-F238E27FC236}">
                <a16:creationId xmlns:a16="http://schemas.microsoft.com/office/drawing/2014/main" id="{ED3820F5-AFBB-47D4-BBC4-F92C754F18AF}"/>
              </a:ext>
            </a:extLst>
          </p:cNvPr>
          <p:cNvSpPr>
            <a:spLocks xmlns:a="http://schemas.openxmlformats.org/drawingml/2006/main" noGrp="1"/>
          </p:cNvSpPr>
          <p:nvPr/>
        </p:nvSpPr>
        <p:spPr>
          <a:xfrm xmlns:a="http://schemas.openxmlformats.org/drawingml/2006/main">
            <a:off x="4000500" y="23907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CONTROL IN PLACE</a:t>
            </a:r>
          </a:p>
        </p:txBody>
      </p:sp>
      <p:sp>
        <p:nvSpPr>
          <p:cNvPr id="11" name="NEXT EVIDENCE NEEDED">
            <a:extLst xmlns:a="http://schemas.openxmlformats.org/drawingml/2006/main">
              <a:ext uri="{FF2B5EF4-FFF2-40B4-BE49-F238E27FC236}">
                <a16:creationId xmlns:a16="http://schemas.microsoft.com/office/drawing/2014/main" id="{0E02D5EF-A47B-40B4-845A-06FF841B5D73}"/>
              </a:ext>
            </a:extLst>
          </p:cNvPr>
          <p:cNvSpPr>
            <a:spLocks xmlns:a="http://schemas.openxmlformats.org/drawingml/2006/main" noGrp="1"/>
          </p:cNvSpPr>
          <p:nvPr/>
        </p:nvSpPr>
        <p:spPr>
          <a:xfrm xmlns:a="http://schemas.openxmlformats.org/drawingml/2006/main">
            <a:off x="7848600" y="23907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NEXT EVIDENCE NEEDED</a:t>
            </a:r>
          </a:p>
        </p:txBody>
      </p:sp>
      <p:sp>
        <p:nvSpPr>
          <p:cNvPr id="12" name="">
            <a:extLst xmlns:a="http://schemas.openxmlformats.org/drawingml/2006/main">
              <a:ext uri="{FF2B5EF4-FFF2-40B4-BE49-F238E27FC236}">
                <a16:creationId xmlns:a16="http://schemas.microsoft.com/office/drawing/2014/main" id="{EFB556D9-73FD-4F3A-B378-52EE421D9C15}"/>
              </a:ext>
            </a:extLst>
          </p:cNvPr>
          <p:cNvSpPr>
            <a:spLocks xmlns:a="http://schemas.openxmlformats.org/drawingml/2006/main" noGrp="1"/>
          </p:cNvSpPr>
          <p:nvPr/>
        </p:nvSpPr>
        <p:spPr>
          <a:xfrm xmlns:a="http://schemas.openxmlformats.org/drawingml/2006/main">
            <a:off x="609600" y="276225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13" name="Large captures · Critical">
            <a:extLst xmlns:a="http://schemas.openxmlformats.org/drawingml/2006/main">
              <a:ext uri="{FF2B5EF4-FFF2-40B4-BE49-F238E27FC236}">
                <a16:creationId xmlns:a16="http://schemas.microsoft.com/office/drawing/2014/main" id="{57636DEC-E2E6-417C-B342-91FBE3F147B5}"/>
              </a:ext>
            </a:extLst>
          </p:cNvPr>
          <p:cNvSpPr>
            <a:spLocks xmlns:a="http://schemas.openxmlformats.org/drawingml/2006/main" noGrp="1"/>
          </p:cNvSpPr>
          <p:nvPr/>
        </p:nvSpPr>
        <p:spPr>
          <a:xfrm xmlns:a="http://schemas.openxmlformats.org/drawingml/2006/main">
            <a:off x="723900" y="2876550"/>
            <a:ext cx="304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73B31"/>
                </a:solidFill>
                <a:latin typeface="Arial"/>
                <a:ea typeface="Arial"/>
                <a:cs typeface="Arial"/>
              </a:defRPr>
            </a:pPr>
            <a:r>
              <a:rPr sz="1800" b="1">
                <a:solidFill>
                  <a:srgbClr val="173B31"/>
                </a:solidFill>
                <a:latin typeface="Arial"/>
                <a:ea typeface="Arial"/>
                <a:cs typeface="Arial"/>
              </a:rPr>
              <a:t>Large captures · Critical</a:t>
            </a:r>
          </a:p>
        </p:txBody>
      </p:sp>
      <p:sp>
        <p:nvSpPr>
          <p:cNvPr id="14" name="Background workers; tiled SR;&#10;original data p">
            <a:extLst xmlns:a="http://schemas.openxmlformats.org/drawingml/2006/main">
              <a:ext uri="{FF2B5EF4-FFF2-40B4-BE49-F238E27FC236}">
                <a16:creationId xmlns:a16="http://schemas.microsoft.com/office/drawing/2014/main" id="{047521FB-BF06-43B2-B8DE-26C016E54B7C}"/>
              </a:ext>
            </a:extLst>
          </p:cNvPr>
          <p:cNvSpPr>
            <a:spLocks xmlns:a="http://schemas.openxmlformats.org/drawingml/2006/main" noGrp="1"/>
          </p:cNvSpPr>
          <p:nvPr/>
        </p:nvSpPr>
        <p:spPr>
          <a:xfrm xmlns:a="http://schemas.openxmlformats.org/drawingml/2006/main">
            <a:off x="4000500" y="2876550"/>
            <a:ext cx="3619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Background workers; tiled SR;</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original data preserved.</a:t>
            </a:r>
          </a:p>
        </p:txBody>
      </p:sp>
      <p:sp>
        <p:nvSpPr>
          <p:cNvPr id="15" name="Runtime, RAM and disk tests;&#10;~7 GiB estimated">
            <a:extLst xmlns:a="http://schemas.openxmlformats.org/drawingml/2006/main">
              <a:ext uri="{FF2B5EF4-FFF2-40B4-BE49-F238E27FC236}">
                <a16:creationId xmlns:a16="http://schemas.microsoft.com/office/drawing/2014/main" id="{4BC6DA36-D941-44DF-A6BF-EA070B0CF583}"/>
              </a:ext>
            </a:extLst>
          </p:cNvPr>
          <p:cNvSpPr>
            <a:spLocks xmlns:a="http://schemas.openxmlformats.org/drawingml/2006/main" noGrp="1"/>
          </p:cNvSpPr>
          <p:nvPr/>
        </p:nvSpPr>
        <p:spPr>
          <a:xfrm xmlns:a="http://schemas.openxmlformats.org/drawingml/2006/main">
            <a:off x="7848600" y="2876550"/>
            <a:ext cx="3619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Runtime, RAM and disk tests;</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~7 GiB estimated SR output.</a:t>
            </a:r>
          </a:p>
        </p:txBody>
      </p:sp>
      <p:sp>
        <p:nvSpPr>
          <p:cNvPr id="16" name="">
            <a:extLst xmlns:a="http://schemas.openxmlformats.org/drawingml/2006/main">
              <a:ext uri="{FF2B5EF4-FFF2-40B4-BE49-F238E27FC236}">
                <a16:creationId xmlns:a16="http://schemas.microsoft.com/office/drawing/2014/main" id="{7663C5A1-F63E-49EF-A35D-BB0C333C818E}"/>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17" name="Scientific validity · Critical">
            <a:extLst xmlns:a="http://schemas.openxmlformats.org/drawingml/2006/main">
              <a:ext uri="{FF2B5EF4-FFF2-40B4-BE49-F238E27FC236}">
                <a16:creationId xmlns:a16="http://schemas.microsoft.com/office/drawing/2014/main" id="{2036E7C2-0455-4E74-B327-CF9E227ABE69}"/>
              </a:ext>
            </a:extLst>
          </p:cNvPr>
          <p:cNvSpPr>
            <a:spLocks xmlns:a="http://schemas.openxmlformats.org/drawingml/2006/main" noGrp="1"/>
          </p:cNvSpPr>
          <p:nvPr/>
        </p:nvSpPr>
        <p:spPr>
          <a:xfrm xmlns:a="http://schemas.openxmlformats.org/drawingml/2006/main">
            <a:off x="723900" y="3762375"/>
            <a:ext cx="304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73B31"/>
                </a:solidFill>
                <a:latin typeface="Arial"/>
                <a:ea typeface="Arial"/>
                <a:cs typeface="Arial"/>
              </a:defRPr>
            </a:pPr>
            <a:r>
              <a:rPr sz="1800" b="1">
                <a:solidFill>
                  <a:srgbClr val="173B31"/>
                </a:solidFill>
                <a:latin typeface="Arial"/>
                <a:ea typeface="Arial"/>
                <a:cs typeface="Arial"/>
              </a:rPr>
              <a:t>Scientific validity · Critical</a:t>
            </a:r>
          </a:p>
        </p:txBody>
      </p:sp>
      <p:sp>
        <p:nvSpPr>
          <p:cNvPr id="18" name="Model limits and provenance&#10;are documented.">
            <a:extLst xmlns:a="http://schemas.openxmlformats.org/drawingml/2006/main">
              <a:ext uri="{FF2B5EF4-FFF2-40B4-BE49-F238E27FC236}">
                <a16:creationId xmlns:a16="http://schemas.microsoft.com/office/drawing/2014/main" id="{7699886C-C07B-495C-A676-E26B6F5B2883}"/>
              </a:ext>
            </a:extLst>
          </p:cNvPr>
          <p:cNvSpPr>
            <a:spLocks xmlns:a="http://schemas.openxmlformats.org/drawingml/2006/main" noGrp="1"/>
          </p:cNvSpPr>
          <p:nvPr/>
        </p:nvSpPr>
        <p:spPr>
          <a:xfrm xmlns:a="http://schemas.openxmlformats.org/drawingml/2006/main">
            <a:off x="4000500" y="3762375"/>
            <a:ext cx="3619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Model limits and provenance</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are documented.</a:t>
            </a:r>
          </a:p>
        </p:txBody>
      </p:sp>
      <p:sp>
        <p:nvSpPr>
          <p:cNvPr id="19" name="Index reference tests; sensor&#10;compatibility a">
            <a:extLst xmlns:a="http://schemas.openxmlformats.org/drawingml/2006/main">
              <a:ext uri="{FF2B5EF4-FFF2-40B4-BE49-F238E27FC236}">
                <a16:creationId xmlns:a16="http://schemas.microsoft.com/office/drawing/2014/main" id="{A8463E86-C6B2-49F9-8F4B-B656D8B3336B}"/>
              </a:ext>
            </a:extLst>
          </p:cNvPr>
          <p:cNvSpPr>
            <a:spLocks xmlns:a="http://schemas.openxmlformats.org/drawingml/2006/main" noGrp="1"/>
          </p:cNvSpPr>
          <p:nvPr/>
        </p:nvSpPr>
        <p:spPr>
          <a:xfrm xmlns:a="http://schemas.openxmlformats.org/drawingml/2006/main">
            <a:off x="7848600" y="3762375"/>
            <a:ext cx="3619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Index reference tests; sensor</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compatibility and paired data.</a:t>
            </a:r>
          </a:p>
        </p:txBody>
      </p:sp>
      <p:sp>
        <p:nvSpPr>
          <p:cNvPr id="20" name="">
            <a:extLst xmlns:a="http://schemas.openxmlformats.org/drawingml/2006/main">
              <a:ext uri="{FF2B5EF4-FFF2-40B4-BE49-F238E27FC236}">
                <a16:creationId xmlns:a16="http://schemas.microsoft.com/office/drawing/2014/main" id="{F0B9BEE3-74CC-47DA-A074-ED7200E4A437}"/>
              </a:ext>
            </a:extLst>
          </p:cNvPr>
          <p:cNvSpPr>
            <a:spLocks xmlns:a="http://schemas.openxmlformats.org/drawingml/2006/main" noGrp="1"/>
          </p:cNvSpPr>
          <p:nvPr/>
        </p:nvSpPr>
        <p:spPr>
          <a:xfrm xmlns:a="http://schemas.openxmlformats.org/drawingml/2006/main">
            <a:off x="609600" y="453390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21" name="Environment gaps · High">
            <a:extLst xmlns:a="http://schemas.openxmlformats.org/drawingml/2006/main">
              <a:ext uri="{FF2B5EF4-FFF2-40B4-BE49-F238E27FC236}">
                <a16:creationId xmlns:a16="http://schemas.microsoft.com/office/drawing/2014/main" id="{E5385CB3-CC71-46EC-9CD6-580CE8E71B06}"/>
              </a:ext>
            </a:extLst>
          </p:cNvPr>
          <p:cNvSpPr>
            <a:spLocks xmlns:a="http://schemas.openxmlformats.org/drawingml/2006/main" noGrp="1"/>
          </p:cNvSpPr>
          <p:nvPr/>
        </p:nvSpPr>
        <p:spPr>
          <a:xfrm xmlns:a="http://schemas.openxmlformats.org/drawingml/2006/main">
            <a:off x="723900" y="4648200"/>
            <a:ext cx="304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73B31"/>
                </a:solidFill>
                <a:latin typeface="Arial"/>
                <a:ea typeface="Arial"/>
                <a:cs typeface="Arial"/>
              </a:defRPr>
            </a:pPr>
            <a:r>
              <a:rPr sz="1800" b="1">
                <a:solidFill>
                  <a:srgbClr val="173B31"/>
                </a:solidFill>
                <a:latin typeface="Arial"/>
                <a:ea typeface="Arial"/>
                <a:cs typeface="Arial"/>
              </a:rPr>
              <a:t>Environment gaps · High</a:t>
            </a:r>
          </a:p>
        </p:txBody>
      </p:sp>
      <p:sp>
        <p:nvSpPr>
          <p:cNvPr id="22" name="Ubuntu CI and explicit&#10;dependency/sample skip">
            <a:extLst xmlns:a="http://schemas.openxmlformats.org/drawingml/2006/main">
              <a:ext uri="{FF2B5EF4-FFF2-40B4-BE49-F238E27FC236}">
                <a16:creationId xmlns:a16="http://schemas.microsoft.com/office/drawing/2014/main" id="{CE7FF553-986F-455D-BB0F-A51A20D1902F}"/>
              </a:ext>
            </a:extLst>
          </p:cNvPr>
          <p:cNvSpPr>
            <a:spLocks xmlns:a="http://schemas.openxmlformats.org/drawingml/2006/main" noGrp="1"/>
          </p:cNvSpPr>
          <p:nvPr/>
        </p:nvSpPr>
        <p:spPr>
          <a:xfrm xmlns:a="http://schemas.openxmlformats.org/drawingml/2006/main">
            <a:off x="4000500" y="4648200"/>
            <a:ext cx="3619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Ubuntu CI and explicit</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dependency/sample skips.</a:t>
            </a:r>
          </a:p>
        </p:txBody>
      </p:sp>
      <p:sp>
        <p:nvSpPr>
          <p:cNvPr id="23" name="SR-enabled CPU tests and&#10;Windows/OpenGL check">
            <a:extLst xmlns:a="http://schemas.openxmlformats.org/drawingml/2006/main">
              <a:ext uri="{FF2B5EF4-FFF2-40B4-BE49-F238E27FC236}">
                <a16:creationId xmlns:a16="http://schemas.microsoft.com/office/drawing/2014/main" id="{C2DC8DE9-CFF4-4134-BDA1-D66F2E5DE8FC}"/>
              </a:ext>
            </a:extLst>
          </p:cNvPr>
          <p:cNvSpPr>
            <a:spLocks xmlns:a="http://schemas.openxmlformats.org/drawingml/2006/main" noGrp="1"/>
          </p:cNvSpPr>
          <p:nvPr/>
        </p:nvSpPr>
        <p:spPr>
          <a:xfrm xmlns:a="http://schemas.openxmlformats.org/drawingml/2006/main">
            <a:off x="7848600" y="4648200"/>
            <a:ext cx="3619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SR-enabled CPU tests and</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Windows/OpenGL checks.</a:t>
            </a:r>
          </a:p>
        </p:txBody>
      </p:sp>
      <p:sp>
        <p:nvSpPr>
          <p:cNvPr id="24" name="">
            <a:extLst xmlns:a="http://schemas.openxmlformats.org/drawingml/2006/main">
              <a:ext uri="{FF2B5EF4-FFF2-40B4-BE49-F238E27FC236}">
                <a16:creationId xmlns:a16="http://schemas.microsoft.com/office/drawing/2014/main" id="{B1237732-6BE7-41F7-B975-DDE843667CDB}"/>
              </a:ext>
            </a:extLst>
          </p:cNvPr>
          <p:cNvSpPr>
            <a:spLocks xmlns:a="http://schemas.openxmlformats.org/drawingml/2006/main" noGrp="1"/>
          </p:cNvSpPr>
          <p:nvPr/>
        </p:nvSpPr>
        <p:spPr>
          <a:xfrm xmlns:a="http://schemas.openxmlformats.org/drawingml/2006/main">
            <a:off x="609600" y="541972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25" name="Next: confirm named accountable owners for th">
            <a:extLst xmlns:a="http://schemas.openxmlformats.org/drawingml/2006/main">
              <a:ext uri="{FF2B5EF4-FFF2-40B4-BE49-F238E27FC236}">
                <a16:creationId xmlns:a16="http://schemas.microsoft.com/office/drawing/2014/main" id="{4A34E8A8-44FE-4F6E-AAC7-94AE769F1430}"/>
              </a:ext>
            </a:extLst>
          </p:cNvPr>
          <p:cNvSpPr>
            <a:spLocks xmlns:a="http://schemas.openxmlformats.org/drawingml/2006/main" noGrp="1"/>
          </p:cNvSpPr>
          <p:nvPr/>
        </p:nvSpPr>
        <p:spPr>
          <a:xfrm xmlns:a="http://schemas.openxmlformats.org/drawingml/2006/main">
            <a:off x="609600" y="57150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287553"/>
                </a:solidFill>
                <a:latin typeface="Arial"/>
                <a:ea typeface="Arial"/>
                <a:cs typeface="Arial"/>
              </a:defRPr>
            </a:pPr>
            <a:r>
              <a:rPr sz="1800" b="1">
                <a:solidFill>
                  <a:srgbClr val="287553"/>
                </a:solidFill>
                <a:latin typeface="Arial"/>
                <a:ea typeface="Arial"/>
                <a:cs typeface="Arial"/>
              </a:rPr>
              <a:t>Next: confirm named accountable owners for the role-based risk register.</a:t>
            </a:r>
          </a:p>
        </p:txBody>
      </p:sp>
    </p:spTree>
    <p:extLst>
      <p:ext uri="{BB962C8B-B14F-4D97-AF65-F5344CB8AC3E}">
        <p14:creationId xmlns:p14="http://schemas.microsoft.com/office/powerpoint/2010/main" val="27894910"/>
      </p:ext>
    </p:extLst>
  </p:cSld>
</p:sld>
</file>

<file path=ppt/slides/slide9.xml><?xml version="1.0" encoding="utf-8"?>
<p:sld xmlns:p="http://schemas.openxmlformats.org/presentationml/2006/main">
  <p:cSld>
    <p:bg>
      <p:bgPr>
        <a:solidFill xmlns:a="http://schemas.openxmlformats.org/drawingml/2006/main">
          <a:srgbClr val="F4F5F0"/>
        </a:solidFill>
      </p:bgPr>
    </p:bg>
    <p:spTree>
      <p:nvGrpSpPr>
        <p:cNvPr id="1" name=""/>
        <p:cNvGrpSpPr/>
        <p:nvPr/>
      </p:nvGrpSpPr>
      <p:grpSpPr>
        <a:xfrm xmlns:a="http://schemas.openxmlformats.org/drawingml/2006/main"/>
      </p:grpSpPr>
      <p:sp>
        <p:nvSpPr>
          <p:cNvPr id="27" name="EXECUTION AND QUALITY">
            <a:extLst xmlns:a="http://schemas.openxmlformats.org/drawingml/2006/main">
              <a:ext uri="{FF2B5EF4-FFF2-40B4-BE49-F238E27FC236}">
                <a16:creationId xmlns:a16="http://schemas.microsoft.com/office/drawing/2014/main" id="{CAE07812-0E7B-40DC-8CBB-CF0149200396}"/>
              </a:ext>
            </a:extLst>
          </p:cNvPr>
          <p:cNvSpPr>
            <a:spLocks xmlns:a="http://schemas.openxmlformats.org/drawingml/2006/main" noGrp="1"/>
          </p:cNvSpPr>
          <p:nvPr/>
        </p:nvSpPr>
        <p:spPr>
          <a:xfrm xmlns:a="http://schemas.openxmlformats.org/drawingml/2006/main">
            <a:off x="609600" y="4000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287553"/>
                </a:solidFill>
                <a:latin typeface="Arial"/>
                <a:ea typeface="Arial"/>
                <a:cs typeface="Arial"/>
              </a:defRPr>
            </a:pPr>
            <a:r>
              <a:rPr sz="1500" b="1">
                <a:solidFill>
                  <a:srgbClr val="287553"/>
                </a:solidFill>
                <a:latin typeface="Arial"/>
                <a:ea typeface="Arial"/>
                <a:cs typeface="Arial"/>
              </a:rPr>
              <a:t>EXECUTION AND QUALITY</a:t>
            </a:r>
          </a:p>
        </p:txBody>
      </p:sp>
      <p:sp>
        <p:nvSpPr>
          <p:cNvPr id="2" name="Tests cover connected user workflows">
            <a:extLst xmlns:a="http://schemas.openxmlformats.org/drawingml/2006/main">
              <a:ext uri="{FF2B5EF4-FFF2-40B4-BE49-F238E27FC236}">
                <a16:creationId xmlns:a16="http://schemas.microsoft.com/office/drawing/2014/main" id="{848ADC8B-0394-4A9D-A9B5-368A8D2DC9A7}"/>
              </a:ext>
            </a:extLst>
          </p:cNvPr>
          <p:cNvSpPr>
            <a:spLocks xmlns:a="http://schemas.openxmlformats.org/drawingml/2006/main" noGrp="1"/>
          </p:cNvSpPr>
          <p:nvPr/>
        </p:nvSpPr>
        <p:spPr>
          <a:xfrm xmlns:a="http://schemas.openxmlformats.org/drawingml/2006/main">
            <a:off x="609600" y="86677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3B31"/>
                </a:solidFill>
                <a:latin typeface="Arial"/>
                <a:ea typeface="Arial"/>
                <a:cs typeface="Arial"/>
              </a:defRPr>
            </a:pPr>
            <a:r>
              <a:rPr sz="3600" b="1">
                <a:solidFill>
                  <a:srgbClr val="173B31"/>
                </a:solidFill>
                <a:latin typeface="Arial"/>
                <a:ea typeface="Arial"/>
                <a:cs typeface="Arial"/>
              </a:rPr>
              <a:t>Tests cover connected user workflows</a:t>
            </a:r>
          </a:p>
        </p:txBody>
      </p:sp>
      <p:sp>
        <p:nvSpPr>
          <p:cNvPr id="3" name="">
            <a:extLst xmlns:a="http://schemas.openxmlformats.org/drawingml/2006/main">
              <a:ext uri="{FF2B5EF4-FFF2-40B4-BE49-F238E27FC236}">
                <a16:creationId xmlns:a16="http://schemas.microsoft.com/office/drawing/2014/main" id="{17CE52A9-9F66-4583-B81E-0F9B44531160}"/>
              </a:ext>
            </a:extLst>
          </p:cNvPr>
          <p:cNvSpPr>
            <a:spLocks xmlns:a="http://schemas.openxmlformats.org/drawingml/2006/main" noGrp="1"/>
          </p:cNvSpPr>
          <p:nvPr/>
        </p:nvSpPr>
        <p:spPr>
          <a:xfrm xmlns:a="http://schemas.openxmlformats.org/drawingml/2006/main">
            <a:off x="609600" y="623887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4" name="LEAF ANALYZER  /  SPRINT 5">
            <a:extLst xmlns:a="http://schemas.openxmlformats.org/drawingml/2006/main">
              <a:ext uri="{FF2B5EF4-FFF2-40B4-BE49-F238E27FC236}">
                <a16:creationId xmlns:a16="http://schemas.microsoft.com/office/drawing/2014/main" id="{73096B14-D72E-4ADA-9114-228879350600}"/>
              </a:ext>
            </a:extLst>
          </p:cNvPr>
          <p:cNvSpPr>
            <a:spLocks xmlns:a="http://schemas.openxmlformats.org/drawingml/2006/main" noGrp="1"/>
          </p:cNvSpPr>
          <p:nvPr/>
        </p:nvSpPr>
        <p:spPr>
          <a:xfrm xmlns:a="http://schemas.openxmlformats.org/drawingml/2006/main">
            <a:off x="609600" y="6410325"/>
            <a:ext cx="323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LEAF ANALYZER  /  SPRINT 5</a:t>
            </a:r>
          </a:p>
        </p:txBody>
      </p:sp>
      <p:sp>
        <p:nvSpPr>
          <p:cNvPr id="5" name="LEAF-147 · PR #25 • current ui_tests suite">
            <a:extLst xmlns:a="http://schemas.openxmlformats.org/drawingml/2006/main">
              <a:ext uri="{FF2B5EF4-FFF2-40B4-BE49-F238E27FC236}">
                <a16:creationId xmlns:a16="http://schemas.microsoft.com/office/drawing/2014/main" id="{20AD1C6D-5FC1-4E33-87F3-821BFA0BC789}"/>
              </a:ext>
            </a:extLst>
          </p:cNvPr>
          <p:cNvSpPr>
            <a:spLocks xmlns:a="http://schemas.openxmlformats.org/drawingml/2006/main" noGrp="1"/>
          </p:cNvSpPr>
          <p:nvPr/>
        </p:nvSpPr>
        <p:spPr>
          <a:xfrm xmlns:a="http://schemas.openxmlformats.org/drawingml/2006/main">
            <a:off x="3952875" y="6410325"/>
            <a:ext cx="708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LEAF-147 · PR #25 • current ui_tests suite</a:t>
            </a:r>
          </a:p>
        </p:txBody>
      </p:sp>
      <p:sp>
        <p:nvSpPr>
          <p:cNvPr id="6" name="09">
            <a:extLst xmlns:a="http://schemas.openxmlformats.org/drawingml/2006/main">
              <a:ext uri="{FF2B5EF4-FFF2-40B4-BE49-F238E27FC236}">
                <a16:creationId xmlns:a16="http://schemas.microsoft.com/office/drawing/2014/main" id="{0DAEF50B-9267-4FE5-ABC8-1BE747FD83D4}"/>
              </a:ext>
            </a:extLst>
          </p:cNvPr>
          <p:cNvSpPr>
            <a:spLocks xmlns:a="http://schemas.openxmlformats.org/drawingml/2006/main" noGrp="1"/>
          </p:cNvSpPr>
          <p:nvPr/>
        </p:nvSpPr>
        <p:spPr>
          <a:xfrm xmlns:a="http://schemas.openxmlformats.org/drawingml/2006/main">
            <a:off x="11239500" y="6381750"/>
            <a:ext cx="361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09</a:t>
            </a:r>
          </a:p>
        </p:txBody>
      </p:sp>
      <p:sp>
        <p:nvSpPr>
          <p:cNvPr id="7" name="Sprint 4 feedback: introduce systematic unit ">
            <a:extLst xmlns:a="http://schemas.openxmlformats.org/drawingml/2006/main">
              <a:ext uri="{FF2B5EF4-FFF2-40B4-BE49-F238E27FC236}">
                <a16:creationId xmlns:a16="http://schemas.microsoft.com/office/drawing/2014/main" id="{740FABD0-91FE-4938-9EA4-81BEB11B2A73}"/>
              </a:ext>
            </a:extLst>
          </p:cNvPr>
          <p:cNvSpPr>
            <a:spLocks xmlns:a="http://schemas.openxmlformats.org/drawingml/2006/main" noGrp="1"/>
          </p:cNvSpPr>
          <p:nvPr/>
        </p:nvSpPr>
        <p:spPr>
          <a:xfrm xmlns:a="http://schemas.openxmlformats.org/drawingml/2006/main">
            <a:off x="609600" y="16668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86C63"/>
                </a:solidFill>
                <a:latin typeface="Arial"/>
                <a:ea typeface="Arial"/>
                <a:cs typeface="Arial"/>
              </a:defRPr>
            </a:pPr>
            <a:r>
              <a:rPr sz="1875" b="0">
                <a:solidFill>
                  <a:srgbClr val="586C63"/>
                </a:solidFill>
                <a:latin typeface="Arial"/>
                <a:ea typeface="Arial"/>
                <a:cs typeface="Arial"/>
              </a:rPr>
              <a:t>Sprint 4 feedback: introduce systematic unit and integration testing.</a:t>
            </a:r>
          </a:p>
        </p:txBody>
      </p:sp>
      <p:sp>
        <p:nvSpPr>
          <p:cNvPr id="8" name="">
            <a:extLst xmlns:a="http://schemas.openxmlformats.org/drawingml/2006/main">
              <a:ext uri="{FF2B5EF4-FFF2-40B4-BE49-F238E27FC236}">
                <a16:creationId xmlns:a16="http://schemas.microsoft.com/office/drawing/2014/main" id="{1C988C55-DF5B-4590-A5F9-BF8722400D42}"/>
              </a:ext>
            </a:extLst>
          </p:cNvPr>
          <p:cNvSpPr>
            <a:spLocks xmlns:a="http://schemas.openxmlformats.org/drawingml/2006/main" noGrp="1"/>
          </p:cNvSpPr>
          <p:nvPr/>
        </p:nvSpPr>
        <p:spPr>
          <a:xfrm xmlns:a="http://schemas.openxmlformats.org/drawingml/2006/main">
            <a:off x="609600" y="2257425"/>
            <a:ext cx="10972800" cy="485775"/>
          </a:xfrm>
          <a:prstGeom xmlns:a="http://schemas.openxmlformats.org/drawingml/2006/main" prst="rect">
            <a:avLst/>
          </a:prstGeom>
          <a:solidFill xmlns:a="http://schemas.openxmlformats.org/drawingml/2006/main">
            <a:srgbClr val="E4ECE3"/>
          </a:solidFill>
          <a:ln xmlns:a="http://schemas.openxmlformats.org/drawingml/2006/main" w="0">
            <a:noFill/>
          </a:ln>
        </p:spPr>
      </p:sp>
      <p:sp>
        <p:nvSpPr>
          <p:cNvPr id="9" name="TEST LAYER">
            <a:extLst xmlns:a="http://schemas.openxmlformats.org/drawingml/2006/main">
              <a:ext uri="{FF2B5EF4-FFF2-40B4-BE49-F238E27FC236}">
                <a16:creationId xmlns:a16="http://schemas.microsoft.com/office/drawing/2014/main" id="{080E56B6-AEE6-4A51-BF23-6A616E1621D5}"/>
              </a:ext>
            </a:extLst>
          </p:cNvPr>
          <p:cNvSpPr>
            <a:spLocks xmlns:a="http://schemas.openxmlformats.org/drawingml/2006/main" noGrp="1"/>
          </p:cNvSpPr>
          <p:nvPr/>
        </p:nvSpPr>
        <p:spPr>
          <a:xfrm xmlns:a="http://schemas.openxmlformats.org/drawingml/2006/main">
            <a:off x="723900" y="2371725"/>
            <a:ext cx="24860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173B31"/>
                </a:solidFill>
                <a:latin typeface="Arial"/>
                <a:ea typeface="Arial"/>
                <a:cs typeface="Arial"/>
              </a:defRPr>
            </a:pPr>
            <a:r>
              <a:rPr sz="1575" b="1">
                <a:solidFill>
                  <a:srgbClr val="173B31"/>
                </a:solidFill>
                <a:latin typeface="Arial"/>
                <a:ea typeface="Arial"/>
                <a:cs typeface="Arial"/>
              </a:rPr>
              <a:t>TEST LAYER</a:t>
            </a:r>
          </a:p>
        </p:txBody>
      </p:sp>
      <p:sp>
        <p:nvSpPr>
          <p:cNvPr id="10" name="TRACKED EXAMPLES">
            <a:extLst xmlns:a="http://schemas.openxmlformats.org/drawingml/2006/main">
              <a:ext uri="{FF2B5EF4-FFF2-40B4-BE49-F238E27FC236}">
                <a16:creationId xmlns:a16="http://schemas.microsoft.com/office/drawing/2014/main" id="{E353A4A7-754A-4B8B-BFDC-FAC899820648}"/>
              </a:ext>
            </a:extLst>
          </p:cNvPr>
          <p:cNvSpPr>
            <a:spLocks xmlns:a="http://schemas.openxmlformats.org/drawingml/2006/main" noGrp="1"/>
          </p:cNvSpPr>
          <p:nvPr/>
        </p:nvSpPr>
        <p:spPr>
          <a:xfrm xmlns:a="http://schemas.openxmlformats.org/drawingml/2006/main">
            <a:off x="3438525" y="2371725"/>
            <a:ext cx="4857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TRACKED EXAMPLES</a:t>
            </a:r>
          </a:p>
        </p:txBody>
      </p:sp>
      <p:sp>
        <p:nvSpPr>
          <p:cNvPr id="11" name="WHAT IT CHECKS">
            <a:extLst xmlns:a="http://schemas.openxmlformats.org/drawingml/2006/main">
              <a:ext uri="{FF2B5EF4-FFF2-40B4-BE49-F238E27FC236}">
                <a16:creationId xmlns:a16="http://schemas.microsoft.com/office/drawing/2014/main" id="{AC70BB79-B555-45FC-AC29-5BDB56C2AE51}"/>
              </a:ext>
            </a:extLst>
          </p:cNvPr>
          <p:cNvSpPr>
            <a:spLocks xmlns:a="http://schemas.openxmlformats.org/drawingml/2006/main" noGrp="1"/>
          </p:cNvSpPr>
          <p:nvPr/>
        </p:nvSpPr>
        <p:spPr>
          <a:xfrm xmlns:a="http://schemas.openxmlformats.org/drawingml/2006/main">
            <a:off x="8524875" y="2371725"/>
            <a:ext cx="29432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WHAT IT CHECKS</a:t>
            </a:r>
          </a:p>
        </p:txBody>
      </p:sp>
      <p:sp>
        <p:nvSpPr>
          <p:cNvPr id="12" name="">
            <a:extLst xmlns:a="http://schemas.openxmlformats.org/drawingml/2006/main">
              <a:ext uri="{FF2B5EF4-FFF2-40B4-BE49-F238E27FC236}">
                <a16:creationId xmlns:a16="http://schemas.microsoft.com/office/drawing/2014/main" id="{D4478501-6FF5-4EC0-BAAC-DAF22A6616EA}"/>
              </a:ext>
            </a:extLst>
          </p:cNvPr>
          <p:cNvSpPr>
            <a:spLocks xmlns:a="http://schemas.openxmlformats.org/drawingml/2006/main" noGrp="1"/>
          </p:cNvSpPr>
          <p:nvPr/>
        </p:nvSpPr>
        <p:spPr>
          <a:xfrm xmlns:a="http://schemas.openxmlformats.org/drawingml/2006/main">
            <a:off x="609600" y="274320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13" name="Units / components">
            <a:extLst xmlns:a="http://schemas.openxmlformats.org/drawingml/2006/main">
              <a:ext uri="{FF2B5EF4-FFF2-40B4-BE49-F238E27FC236}">
                <a16:creationId xmlns:a16="http://schemas.microsoft.com/office/drawing/2014/main" id="{9FAE85EF-8165-47B4-822A-1A9CFD8A681D}"/>
              </a:ext>
            </a:extLst>
          </p:cNvPr>
          <p:cNvSpPr>
            <a:spLocks xmlns:a="http://schemas.openxmlformats.org/drawingml/2006/main" noGrp="1"/>
          </p:cNvSpPr>
          <p:nvPr/>
        </p:nvSpPr>
        <p:spPr>
          <a:xfrm xmlns:a="http://schemas.openxmlformats.org/drawingml/2006/main">
            <a:off x="723900" y="2857500"/>
            <a:ext cx="24860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73B31"/>
                </a:solidFill>
                <a:latin typeface="Arial"/>
                <a:ea typeface="Arial"/>
                <a:cs typeface="Arial"/>
              </a:defRPr>
            </a:pPr>
            <a:r>
              <a:rPr sz="1800" b="1">
                <a:solidFill>
                  <a:srgbClr val="173B31"/>
                </a:solidFill>
                <a:latin typeface="Arial"/>
                <a:ea typeface="Arial"/>
                <a:cs typeface="Arial"/>
              </a:rPr>
              <a:t>Units / components</a:t>
            </a:r>
          </a:p>
        </p:txBody>
      </p:sp>
      <p:sp>
        <p:nvSpPr>
          <p:cNvPr id="14" name="Hypercube geometry; SR output&#10;shape, bands an">
            <a:extLst xmlns:a="http://schemas.openxmlformats.org/drawingml/2006/main">
              <a:ext uri="{FF2B5EF4-FFF2-40B4-BE49-F238E27FC236}">
                <a16:creationId xmlns:a16="http://schemas.microsoft.com/office/drawing/2014/main" id="{EDBE6CA4-2DCA-4E36-BFD5-BB9ED08BAA84}"/>
              </a:ext>
            </a:extLst>
          </p:cNvPr>
          <p:cNvSpPr>
            <a:spLocks xmlns:a="http://schemas.openxmlformats.org/drawingml/2006/main" noGrp="1"/>
          </p:cNvSpPr>
          <p:nvPr/>
        </p:nvSpPr>
        <p:spPr>
          <a:xfrm xmlns:a="http://schemas.openxmlformats.org/drawingml/2006/main">
            <a:off x="3438525" y="2857500"/>
            <a:ext cx="4857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Hypercube geometry; SR output</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shape, bands and cancellation.</a:t>
            </a:r>
          </a:p>
        </p:txBody>
      </p:sp>
      <p:sp>
        <p:nvSpPr>
          <p:cNvPr id="15" name="Data contracts and&#10;error handling.">
            <a:extLst xmlns:a="http://schemas.openxmlformats.org/drawingml/2006/main">
              <a:ext uri="{FF2B5EF4-FFF2-40B4-BE49-F238E27FC236}">
                <a16:creationId xmlns:a16="http://schemas.microsoft.com/office/drawing/2014/main" id="{6AC2C738-CA80-440C-BF9B-E999C9205055}"/>
              </a:ext>
            </a:extLst>
          </p:cNvPr>
          <p:cNvSpPr>
            <a:spLocks xmlns:a="http://schemas.openxmlformats.org/drawingml/2006/main" noGrp="1"/>
          </p:cNvSpPr>
          <p:nvPr/>
        </p:nvSpPr>
        <p:spPr>
          <a:xfrm xmlns:a="http://schemas.openxmlformats.org/drawingml/2006/main">
            <a:off x="8524875" y="2857500"/>
            <a:ext cx="29432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Data contracts and</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error handling.</a:t>
            </a:r>
          </a:p>
        </p:txBody>
      </p:sp>
      <p:sp>
        <p:nvSpPr>
          <p:cNvPr id="16" name="">
            <a:extLst xmlns:a="http://schemas.openxmlformats.org/drawingml/2006/main">
              <a:ext uri="{FF2B5EF4-FFF2-40B4-BE49-F238E27FC236}">
                <a16:creationId xmlns:a16="http://schemas.microsoft.com/office/drawing/2014/main" id="{62415993-05E5-42AF-95A7-EB0AC2CFE5FB}"/>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17" name="UI integration">
            <a:extLst xmlns:a="http://schemas.openxmlformats.org/drawingml/2006/main">
              <a:ext uri="{FF2B5EF4-FFF2-40B4-BE49-F238E27FC236}">
                <a16:creationId xmlns:a16="http://schemas.microsoft.com/office/drawing/2014/main" id="{8FDFA718-2E83-4D6F-83B4-E178219B326D}"/>
              </a:ext>
            </a:extLst>
          </p:cNvPr>
          <p:cNvSpPr>
            <a:spLocks xmlns:a="http://schemas.openxmlformats.org/drawingml/2006/main" noGrp="1"/>
          </p:cNvSpPr>
          <p:nvPr/>
        </p:nvSpPr>
        <p:spPr>
          <a:xfrm xmlns:a="http://schemas.openxmlformats.org/drawingml/2006/main">
            <a:off x="723900" y="3695700"/>
            <a:ext cx="24860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73B31"/>
                </a:solidFill>
                <a:latin typeface="Arial"/>
                <a:ea typeface="Arial"/>
                <a:cs typeface="Arial"/>
              </a:defRPr>
            </a:pPr>
            <a:r>
              <a:rPr sz="1800" b="1">
                <a:solidFill>
                  <a:srgbClr val="173B31"/>
                </a:solidFill>
                <a:latin typeface="Arial"/>
                <a:ea typeface="Arial"/>
                <a:cs typeface="Arial"/>
              </a:rPr>
              <a:t>UI integration</a:t>
            </a:r>
          </a:p>
        </p:txBody>
      </p:sp>
      <p:sp>
        <p:nvSpPr>
          <p:cNvPr id="18" name="Load → crop → undo → switch → save;&#10;SR compar">
            <a:extLst xmlns:a="http://schemas.openxmlformats.org/drawingml/2006/main">
              <a:ext uri="{FF2B5EF4-FFF2-40B4-BE49-F238E27FC236}">
                <a16:creationId xmlns:a16="http://schemas.microsoft.com/office/drawing/2014/main" id="{A894303C-FEDF-4567-9A70-599EB636AA27}"/>
              </a:ext>
            </a:extLst>
          </p:cNvPr>
          <p:cNvSpPr>
            <a:spLocks xmlns:a="http://schemas.openxmlformats.org/drawingml/2006/main" noGrp="1"/>
          </p:cNvSpPr>
          <p:nvPr/>
        </p:nvSpPr>
        <p:spPr>
          <a:xfrm xmlns:a="http://schemas.openxmlformats.org/drawingml/2006/main">
            <a:off x="3438525" y="3695700"/>
            <a:ext cx="4857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Load → crop → undo → switch → save;</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SR comparison and worker lifecycle.</a:t>
            </a:r>
          </a:p>
        </p:txBody>
      </p:sp>
      <p:sp>
        <p:nvSpPr>
          <p:cNvPr id="19" name="Shared state, coordinates&#10;and exported pixels">
            <a:extLst xmlns:a="http://schemas.openxmlformats.org/drawingml/2006/main">
              <a:ext uri="{FF2B5EF4-FFF2-40B4-BE49-F238E27FC236}">
                <a16:creationId xmlns:a16="http://schemas.microsoft.com/office/drawing/2014/main" id="{9914F759-967A-496E-A5D9-1C6199536F62}"/>
              </a:ext>
            </a:extLst>
          </p:cNvPr>
          <p:cNvSpPr>
            <a:spLocks xmlns:a="http://schemas.openxmlformats.org/drawingml/2006/main" noGrp="1"/>
          </p:cNvSpPr>
          <p:nvPr/>
        </p:nvSpPr>
        <p:spPr>
          <a:xfrm xmlns:a="http://schemas.openxmlformats.org/drawingml/2006/main">
            <a:off x="8524875" y="3695700"/>
            <a:ext cx="29432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Shared state, coordinates</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and exported pixels.</a:t>
            </a:r>
          </a:p>
        </p:txBody>
      </p:sp>
      <p:sp>
        <p:nvSpPr>
          <p:cNvPr id="20" name="">
            <a:extLst xmlns:a="http://schemas.openxmlformats.org/drawingml/2006/main">
              <a:ext uri="{FF2B5EF4-FFF2-40B4-BE49-F238E27FC236}">
                <a16:creationId xmlns:a16="http://schemas.microsoft.com/office/drawing/2014/main" id="{CAAF15A8-7B0C-4C26-9A34-AFF93C7FDE04}"/>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21" name="Actual-model test">
            <a:extLst xmlns:a="http://schemas.openxmlformats.org/drawingml/2006/main">
              <a:ext uri="{FF2B5EF4-FFF2-40B4-BE49-F238E27FC236}">
                <a16:creationId xmlns:a16="http://schemas.microsoft.com/office/drawing/2014/main" id="{27F0E001-AD55-41F3-9B69-185315AA72CE}"/>
              </a:ext>
            </a:extLst>
          </p:cNvPr>
          <p:cNvSpPr>
            <a:spLocks xmlns:a="http://schemas.openxmlformats.org/drawingml/2006/main" noGrp="1"/>
          </p:cNvSpPr>
          <p:nvPr/>
        </p:nvSpPr>
        <p:spPr>
          <a:xfrm xmlns:a="http://schemas.openxmlformats.org/drawingml/2006/main">
            <a:off x="723900" y="4533900"/>
            <a:ext cx="24860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73B31"/>
                </a:solidFill>
                <a:latin typeface="Arial"/>
                <a:ea typeface="Arial"/>
                <a:cs typeface="Arial"/>
              </a:defRPr>
            </a:pPr>
            <a:r>
              <a:rPr sz="1800" b="1">
                <a:solidFill>
                  <a:srgbClr val="173B31"/>
                </a:solidFill>
                <a:latin typeface="Arial"/>
                <a:ea typeface="Arial"/>
                <a:cs typeface="Arial"/>
              </a:rPr>
              <a:t>Actual-model test</a:t>
            </a:r>
          </a:p>
        </p:txBody>
      </p:sp>
      <p:sp>
        <p:nvSpPr>
          <p:cNvPr id="22" name="SR service compared with a direct&#10;checkpoint ">
            <a:extLst xmlns:a="http://schemas.openxmlformats.org/drawingml/2006/main">
              <a:ext uri="{FF2B5EF4-FFF2-40B4-BE49-F238E27FC236}">
                <a16:creationId xmlns:a16="http://schemas.microsoft.com/office/drawing/2014/main" id="{19197FD8-401E-4A5B-B5AA-D286C08EDC7D}"/>
              </a:ext>
            </a:extLst>
          </p:cNvPr>
          <p:cNvSpPr>
            <a:spLocks xmlns:a="http://schemas.openxmlformats.org/drawingml/2006/main" noGrp="1"/>
          </p:cNvSpPr>
          <p:nvPr/>
        </p:nvSpPr>
        <p:spPr>
          <a:xfrm xmlns:a="http://schemas.openxmlformats.org/drawingml/2006/main">
            <a:off x="3438525" y="4533900"/>
            <a:ext cx="4857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SR service compared with a direct</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checkpoint network call.</a:t>
            </a:r>
          </a:p>
        </p:txBody>
      </p:sp>
      <p:sp>
        <p:nvSpPr>
          <p:cNvPr id="23" name="Inference agreement;&#10;requires optional runtim">
            <a:extLst xmlns:a="http://schemas.openxmlformats.org/drawingml/2006/main">
              <a:ext uri="{FF2B5EF4-FFF2-40B4-BE49-F238E27FC236}">
                <a16:creationId xmlns:a16="http://schemas.microsoft.com/office/drawing/2014/main" id="{BB10D6FB-F02A-4813-AD3A-B0927ACF8000}"/>
              </a:ext>
            </a:extLst>
          </p:cNvPr>
          <p:cNvSpPr>
            <a:spLocks xmlns:a="http://schemas.openxmlformats.org/drawingml/2006/main" noGrp="1"/>
          </p:cNvSpPr>
          <p:nvPr/>
        </p:nvSpPr>
        <p:spPr>
          <a:xfrm xmlns:a="http://schemas.openxmlformats.org/drawingml/2006/main">
            <a:off x="8524875" y="4533900"/>
            <a:ext cx="29432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Inference agreement;</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requires optional runtime.</a:t>
            </a:r>
          </a:p>
        </p:txBody>
      </p:sp>
      <p:sp>
        <p:nvSpPr>
          <p:cNvPr id="24" name="">
            <a:extLst xmlns:a="http://schemas.openxmlformats.org/drawingml/2006/main">
              <a:ext uri="{FF2B5EF4-FFF2-40B4-BE49-F238E27FC236}">
                <a16:creationId xmlns:a16="http://schemas.microsoft.com/office/drawing/2014/main" id="{5C579654-F4DB-410E-AACE-5D0376D0D4F2}"/>
              </a:ext>
            </a:extLst>
          </p:cNvPr>
          <p:cNvSpPr>
            <a:spLocks xmlns:a="http://schemas.openxmlformats.org/drawingml/2006/main" noGrp="1"/>
          </p:cNvSpPr>
          <p:nvPr/>
        </p:nvSpPr>
        <p:spPr>
          <a:xfrm xmlns:a="http://schemas.openxmlformats.org/drawingml/2006/main">
            <a:off x="609600" y="525780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25" name="Local check: 114 passed / 11 skipped — all sk">
            <a:extLst xmlns:a="http://schemas.openxmlformats.org/drawingml/2006/main">
              <a:ext uri="{FF2B5EF4-FFF2-40B4-BE49-F238E27FC236}">
                <a16:creationId xmlns:a16="http://schemas.microsoft.com/office/drawing/2014/main" id="{808CD3E8-74E9-4587-8138-06DD3C94FF17}"/>
              </a:ext>
            </a:extLst>
          </p:cNvPr>
          <p:cNvSpPr>
            <a:spLocks xmlns:a="http://schemas.openxmlformats.org/drawingml/2006/main" noGrp="1"/>
          </p:cNvSpPr>
          <p:nvPr/>
        </p:nvSpPr>
        <p:spPr>
          <a:xfrm xmlns:a="http://schemas.openxmlformats.org/drawingml/2006/main">
            <a:off x="609600" y="55435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287553"/>
                </a:solidFill>
                <a:latin typeface="Arial"/>
                <a:ea typeface="Arial"/>
                <a:cs typeface="Arial"/>
              </a:defRPr>
            </a:pPr>
            <a:r>
              <a:rPr sz="2100" b="1">
                <a:solidFill>
                  <a:srgbClr val="287553"/>
                </a:solidFill>
                <a:latin typeface="Arial"/>
                <a:ea typeface="Arial"/>
                <a:cs typeface="Arial"/>
              </a:rPr>
              <a:t>Local check: 114 passed / 11 skipped — all skips require PyTorch.</a:t>
            </a:r>
          </a:p>
        </p:txBody>
      </p:sp>
      <p:sp>
        <p:nvSpPr>
          <p:cNvPr id="26" name="Scientific index accuracy and dedicated class">
            <a:extLst xmlns:a="http://schemas.openxmlformats.org/drawingml/2006/main">
              <a:ext uri="{FF2B5EF4-FFF2-40B4-BE49-F238E27FC236}">
                <a16:creationId xmlns:a16="http://schemas.microsoft.com/office/drawing/2014/main" id="{3E92763C-DEB1-4938-A408-0F16A94841F4}"/>
              </a:ext>
            </a:extLst>
          </p:cNvPr>
          <p:cNvSpPr>
            <a:spLocks xmlns:a="http://schemas.openxmlformats.org/drawingml/2006/main" noGrp="1"/>
          </p:cNvSpPr>
          <p:nvPr/>
        </p:nvSpPr>
        <p:spPr>
          <a:xfrm xmlns:a="http://schemas.openxmlformats.org/drawingml/2006/main">
            <a:off x="609600" y="58864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93651E"/>
                </a:solidFill>
                <a:latin typeface="Arial"/>
                <a:ea typeface="Arial"/>
                <a:cs typeface="Arial"/>
              </a:defRPr>
            </a:pPr>
            <a:r>
              <a:rPr sz="1650" b="0">
                <a:solidFill>
                  <a:srgbClr val="93651E"/>
                </a:solidFill>
                <a:latin typeface="Arial"/>
                <a:ea typeface="Arial"/>
                <a:cs typeface="Arial"/>
              </a:rPr>
              <a:t>Scientific index accuracy and dedicated classification regression tests remain gaps.</a:t>
            </a:r>
          </a:p>
        </p:txBody>
      </p:sp>
    </p:spTree>
    <p:extLst>
      <p:ext uri="{BB962C8B-B14F-4D97-AF65-F5344CB8AC3E}">
        <p14:creationId xmlns:p14="http://schemas.microsoft.com/office/powerpoint/2010/main" val="1504527570"/>
      </p:ext>
    </p:extLst>
  </p:cSld>
</p:sld>
</file>

<file path=ppt/slides/slide10.xml><?xml version="1.0" encoding="utf-8"?>
<p:sld xmlns:p="http://schemas.openxmlformats.org/presentationml/2006/main">
  <p:cSld>
    <p:bg>
      <p:bgPr>
        <a:solidFill xmlns:a="http://schemas.openxmlformats.org/drawingml/2006/main">
          <a:srgbClr val="F4F5F0"/>
        </a:solidFill>
      </p:bgPr>
    </p:bg>
    <p:spTree>
      <p:nvGrpSpPr>
        <p:cNvPr id="1" name=""/>
        <p:cNvGrpSpPr/>
        <p:nvPr/>
      </p:nvGrpSpPr>
      <p:grpSpPr>
        <a:xfrm xmlns:a="http://schemas.openxmlformats.org/drawingml/2006/main"/>
      </p:grpSpPr>
      <p:sp>
        <p:nvSpPr>
          <p:cNvPr id="30" name="EXECUTION AND QUALITY">
            <a:extLst xmlns:a="http://schemas.openxmlformats.org/drawingml/2006/main">
              <a:ext uri="{FF2B5EF4-FFF2-40B4-BE49-F238E27FC236}">
                <a16:creationId xmlns:a16="http://schemas.microsoft.com/office/drawing/2014/main" id="{E79EB6AC-D7F0-4672-8BF0-3ADCA5145100}"/>
              </a:ext>
            </a:extLst>
          </p:cNvPr>
          <p:cNvSpPr>
            <a:spLocks xmlns:a="http://schemas.openxmlformats.org/drawingml/2006/main" noGrp="1"/>
          </p:cNvSpPr>
          <p:nvPr/>
        </p:nvSpPr>
        <p:spPr>
          <a:xfrm xmlns:a="http://schemas.openxmlformats.org/drawingml/2006/main">
            <a:off x="609600" y="4000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287553"/>
                </a:solidFill>
                <a:latin typeface="Arial"/>
                <a:ea typeface="Arial"/>
                <a:cs typeface="Arial"/>
              </a:defRPr>
            </a:pPr>
            <a:r>
              <a:rPr sz="1500" b="1">
                <a:solidFill>
                  <a:srgbClr val="287553"/>
                </a:solidFill>
                <a:latin typeface="Arial"/>
                <a:ea typeface="Arial"/>
                <a:cs typeface="Arial"/>
              </a:rPr>
              <a:t>EXECUTION AND QUALITY</a:t>
            </a:r>
          </a:p>
        </p:txBody>
      </p:sp>
      <p:sp>
        <p:nvSpPr>
          <p:cNvPr id="2" name="CI checks pull requests and main">
            <a:extLst xmlns:a="http://schemas.openxmlformats.org/drawingml/2006/main">
              <a:ext uri="{FF2B5EF4-FFF2-40B4-BE49-F238E27FC236}">
                <a16:creationId xmlns:a16="http://schemas.microsoft.com/office/drawing/2014/main" id="{E9F3C630-AD2B-4682-9313-AC73113715CD}"/>
              </a:ext>
            </a:extLst>
          </p:cNvPr>
          <p:cNvSpPr>
            <a:spLocks xmlns:a="http://schemas.openxmlformats.org/drawingml/2006/main" noGrp="1"/>
          </p:cNvSpPr>
          <p:nvPr/>
        </p:nvSpPr>
        <p:spPr>
          <a:xfrm xmlns:a="http://schemas.openxmlformats.org/drawingml/2006/main">
            <a:off x="609600" y="86677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3B31"/>
                </a:solidFill>
                <a:latin typeface="Arial"/>
                <a:ea typeface="Arial"/>
                <a:cs typeface="Arial"/>
              </a:defRPr>
            </a:pPr>
            <a:r>
              <a:rPr sz="3600" b="1">
                <a:solidFill>
                  <a:srgbClr val="173B31"/>
                </a:solidFill>
                <a:latin typeface="Arial"/>
                <a:ea typeface="Arial"/>
                <a:cs typeface="Arial"/>
              </a:rPr>
              <a:t>CI checks pull requests and main</a:t>
            </a:r>
          </a:p>
        </p:txBody>
      </p:sp>
      <p:sp>
        <p:nvSpPr>
          <p:cNvPr id="3" name="">
            <a:extLst xmlns:a="http://schemas.openxmlformats.org/drawingml/2006/main">
              <a:ext uri="{FF2B5EF4-FFF2-40B4-BE49-F238E27FC236}">
                <a16:creationId xmlns:a16="http://schemas.microsoft.com/office/drawing/2014/main" id="{B549625E-2882-4E4F-8BF2-D793351E9892}"/>
              </a:ext>
            </a:extLst>
          </p:cNvPr>
          <p:cNvSpPr>
            <a:spLocks xmlns:a="http://schemas.openxmlformats.org/drawingml/2006/main" noGrp="1"/>
          </p:cNvSpPr>
          <p:nvPr/>
        </p:nvSpPr>
        <p:spPr>
          <a:xfrm xmlns:a="http://schemas.openxmlformats.org/drawingml/2006/main">
            <a:off x="609600" y="623887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4" name="LEAF ANALYZER  /  SPRINT 5">
            <a:extLst xmlns:a="http://schemas.openxmlformats.org/drawingml/2006/main">
              <a:ext uri="{FF2B5EF4-FFF2-40B4-BE49-F238E27FC236}">
                <a16:creationId xmlns:a16="http://schemas.microsoft.com/office/drawing/2014/main" id="{AD9E35B3-A447-47F2-A58A-9CFC691CF97B}"/>
              </a:ext>
            </a:extLst>
          </p:cNvPr>
          <p:cNvSpPr>
            <a:spLocks xmlns:a="http://schemas.openxmlformats.org/drawingml/2006/main" noGrp="1"/>
          </p:cNvSpPr>
          <p:nvPr/>
        </p:nvSpPr>
        <p:spPr>
          <a:xfrm xmlns:a="http://schemas.openxmlformats.org/drawingml/2006/main">
            <a:off x="609600" y="6410325"/>
            <a:ext cx="323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LEAF ANALYZER  /  SPRINT 5</a:t>
            </a:r>
          </a:p>
        </p:txBody>
      </p:sp>
      <p:sp>
        <p:nvSpPr>
          <p:cNvPr id="5" name="GitHub Actions • UI Tests • run 33145582110">
            <a:extLst xmlns:a="http://schemas.openxmlformats.org/drawingml/2006/main">
              <a:ext uri="{FF2B5EF4-FFF2-40B4-BE49-F238E27FC236}">
                <a16:creationId xmlns:a16="http://schemas.microsoft.com/office/drawing/2014/main" id="{A606CCB3-BAD4-457D-B62C-4D69B3BDB801}"/>
              </a:ext>
            </a:extLst>
          </p:cNvPr>
          <p:cNvSpPr>
            <a:spLocks xmlns:a="http://schemas.openxmlformats.org/drawingml/2006/main" noGrp="1"/>
          </p:cNvSpPr>
          <p:nvPr/>
        </p:nvSpPr>
        <p:spPr>
          <a:xfrm xmlns:a="http://schemas.openxmlformats.org/drawingml/2006/main">
            <a:off x="3952875" y="6410325"/>
            <a:ext cx="708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GitHub Actions • UI Tests • run 33145582110</a:t>
            </a:r>
          </a:p>
        </p:txBody>
      </p:sp>
      <p:sp>
        <p:nvSpPr>
          <p:cNvPr id="6" name="10">
            <a:extLst xmlns:a="http://schemas.openxmlformats.org/drawingml/2006/main">
              <a:ext uri="{FF2B5EF4-FFF2-40B4-BE49-F238E27FC236}">
                <a16:creationId xmlns:a16="http://schemas.microsoft.com/office/drawing/2014/main" id="{85B31256-663A-4FE4-8621-48219AF250D0}"/>
              </a:ext>
            </a:extLst>
          </p:cNvPr>
          <p:cNvSpPr>
            <a:spLocks xmlns:a="http://schemas.openxmlformats.org/drawingml/2006/main" noGrp="1"/>
          </p:cNvSpPr>
          <p:nvPr/>
        </p:nvSpPr>
        <p:spPr>
          <a:xfrm xmlns:a="http://schemas.openxmlformats.org/drawingml/2006/main">
            <a:off x="11239500" y="6381750"/>
            <a:ext cx="361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10</a:t>
            </a:r>
          </a:p>
        </p:txBody>
      </p:sp>
      <p:sp>
        <p:nvSpPr>
          <p:cNvPr id="7" name="→">
            <a:extLst xmlns:a="http://schemas.openxmlformats.org/drawingml/2006/main">
              <a:ext uri="{FF2B5EF4-FFF2-40B4-BE49-F238E27FC236}">
                <a16:creationId xmlns:a16="http://schemas.microsoft.com/office/drawing/2014/main" id="{18287C82-5563-4F4F-9E83-BA1C332C6CFB}"/>
              </a:ext>
            </a:extLst>
          </p:cNvPr>
          <p:cNvSpPr>
            <a:spLocks xmlns:a="http://schemas.openxmlformats.org/drawingml/2006/main" noGrp="1"/>
          </p:cNvSpPr>
          <p:nvPr/>
        </p:nvSpPr>
        <p:spPr>
          <a:xfrm xmlns:a="http://schemas.openxmlformats.org/drawingml/2006/main">
            <a:off x="3143250" y="2095500"/>
            <a:ext cx="247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287553"/>
                </a:solidFill>
                <a:latin typeface="Arial"/>
                <a:ea typeface="Arial"/>
                <a:cs typeface="Arial"/>
              </a:defRPr>
            </a:pPr>
            <a:r>
              <a:rPr sz="1950" b="1">
                <a:solidFill>
                  <a:srgbClr val="287553"/>
                </a:solidFill>
                <a:latin typeface="Arial"/>
                <a:ea typeface="Arial"/>
                <a:cs typeface="Arial"/>
              </a:rPr>
              <a:t>→</a:t>
            </a:r>
          </a:p>
        </p:txBody>
      </p:sp>
      <p:sp>
        <p:nvSpPr>
          <p:cNvPr id="8" name="→">
            <a:extLst xmlns:a="http://schemas.openxmlformats.org/drawingml/2006/main">
              <a:ext uri="{FF2B5EF4-FFF2-40B4-BE49-F238E27FC236}">
                <a16:creationId xmlns:a16="http://schemas.microsoft.com/office/drawing/2014/main" id="{7B56EA95-C749-496B-A24E-8D1F10A0B5A1}"/>
              </a:ext>
            </a:extLst>
          </p:cNvPr>
          <p:cNvSpPr>
            <a:spLocks xmlns:a="http://schemas.openxmlformats.org/drawingml/2006/main" noGrp="1"/>
          </p:cNvSpPr>
          <p:nvPr/>
        </p:nvSpPr>
        <p:spPr>
          <a:xfrm xmlns:a="http://schemas.openxmlformats.org/drawingml/2006/main">
            <a:off x="5972175" y="2095500"/>
            <a:ext cx="247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287553"/>
                </a:solidFill>
                <a:latin typeface="Arial"/>
                <a:ea typeface="Arial"/>
                <a:cs typeface="Arial"/>
              </a:defRPr>
            </a:pPr>
            <a:r>
              <a:rPr sz="1950" b="1">
                <a:solidFill>
                  <a:srgbClr val="287553"/>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1E231712-5CB3-4019-ABE5-4EA8522338F0}"/>
              </a:ext>
            </a:extLst>
          </p:cNvPr>
          <p:cNvSpPr>
            <a:spLocks xmlns:a="http://schemas.openxmlformats.org/drawingml/2006/main" noGrp="1"/>
          </p:cNvSpPr>
          <p:nvPr/>
        </p:nvSpPr>
        <p:spPr>
          <a:xfrm xmlns:a="http://schemas.openxmlformats.org/drawingml/2006/main">
            <a:off x="8801100" y="2095500"/>
            <a:ext cx="247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287553"/>
                </a:solidFill>
                <a:latin typeface="Arial"/>
                <a:ea typeface="Arial"/>
                <a:cs typeface="Arial"/>
              </a:defRPr>
            </a:pPr>
            <a:r>
              <a:rPr sz="1950" b="1">
                <a:solidFill>
                  <a:srgbClr val="287553"/>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2A65F21B-EDAD-4198-AF9A-982FB8934769}"/>
              </a:ext>
            </a:extLst>
          </p:cNvPr>
          <p:cNvSpPr>
            <a:spLocks xmlns:a="http://schemas.openxmlformats.org/drawingml/2006/main" noGrp="1"/>
          </p:cNvSpPr>
          <p:nvPr/>
        </p:nvSpPr>
        <p:spPr>
          <a:xfrm xmlns:a="http://schemas.openxmlformats.org/drawingml/2006/main">
            <a:off x="609600" y="1809750"/>
            <a:ext cx="2486025" cy="1104900"/>
          </a:xfrm>
          <a:prstGeom xmlns:a="http://schemas.openxmlformats.org/drawingml/2006/main" prst="rect">
            <a:avLst/>
          </a:prstGeom>
          <a:solidFill xmlns:a="http://schemas.openxmlformats.org/drawingml/2006/main">
            <a:srgbClr val="E4ECE3"/>
          </a:solidFill>
          <a:ln xmlns:a="http://schemas.openxmlformats.org/drawingml/2006/main" w="0">
            <a:noFill/>
          </a:ln>
        </p:spPr>
      </p:sp>
      <p:sp>
        <p:nvSpPr>
          <p:cNvPr id="11" name="Code + tests">
            <a:extLst xmlns:a="http://schemas.openxmlformats.org/drawingml/2006/main">
              <a:ext uri="{FF2B5EF4-FFF2-40B4-BE49-F238E27FC236}">
                <a16:creationId xmlns:a16="http://schemas.microsoft.com/office/drawing/2014/main" id="{F4868951-5756-47C0-B827-91EE523995D4}"/>
              </a:ext>
            </a:extLst>
          </p:cNvPr>
          <p:cNvSpPr>
            <a:spLocks xmlns:a="http://schemas.openxmlformats.org/drawingml/2006/main" noGrp="1"/>
          </p:cNvSpPr>
          <p:nvPr/>
        </p:nvSpPr>
        <p:spPr>
          <a:xfrm xmlns:a="http://schemas.openxmlformats.org/drawingml/2006/main">
            <a:off x="781050" y="1981200"/>
            <a:ext cx="2143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3B31"/>
                </a:solidFill>
                <a:latin typeface="Arial"/>
                <a:ea typeface="Arial"/>
                <a:cs typeface="Arial"/>
              </a:defRPr>
            </a:pPr>
            <a:r>
              <a:rPr sz="2400" b="1">
                <a:solidFill>
                  <a:srgbClr val="173B31"/>
                </a:solidFill>
                <a:latin typeface="Arial"/>
                <a:ea typeface="Arial"/>
                <a:cs typeface="Arial"/>
              </a:rPr>
              <a:t>Code + tests</a:t>
            </a:r>
          </a:p>
        </p:txBody>
      </p:sp>
      <p:sp>
        <p:nvSpPr>
          <p:cNvPr id="12" name="Working branch">
            <a:extLst xmlns:a="http://schemas.openxmlformats.org/drawingml/2006/main">
              <a:ext uri="{FF2B5EF4-FFF2-40B4-BE49-F238E27FC236}">
                <a16:creationId xmlns:a16="http://schemas.microsoft.com/office/drawing/2014/main" id="{7B27A524-2F11-4E0C-8013-BA09C67FBE57}"/>
              </a:ext>
            </a:extLst>
          </p:cNvPr>
          <p:cNvSpPr>
            <a:spLocks xmlns:a="http://schemas.openxmlformats.org/drawingml/2006/main" noGrp="1"/>
          </p:cNvSpPr>
          <p:nvPr/>
        </p:nvSpPr>
        <p:spPr>
          <a:xfrm xmlns:a="http://schemas.openxmlformats.org/drawingml/2006/main">
            <a:off x="781050" y="2419350"/>
            <a:ext cx="2143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86C63"/>
                </a:solidFill>
                <a:latin typeface="Arial"/>
                <a:ea typeface="Arial"/>
                <a:cs typeface="Arial"/>
              </a:defRPr>
            </a:pPr>
            <a:r>
              <a:rPr sz="1650" b="0">
                <a:solidFill>
                  <a:srgbClr val="586C63"/>
                </a:solidFill>
                <a:latin typeface="Arial"/>
                <a:ea typeface="Arial"/>
                <a:cs typeface="Arial"/>
              </a:rPr>
              <a:t>Working branch</a:t>
            </a:r>
          </a:p>
        </p:txBody>
      </p:sp>
      <p:sp>
        <p:nvSpPr>
          <p:cNvPr id="13" name="">
            <a:extLst xmlns:a="http://schemas.openxmlformats.org/drawingml/2006/main">
              <a:ext uri="{FF2B5EF4-FFF2-40B4-BE49-F238E27FC236}">
                <a16:creationId xmlns:a16="http://schemas.microsoft.com/office/drawing/2014/main" id="{C0D5208D-24AB-44B8-92C2-DE21526CA1A5}"/>
              </a:ext>
            </a:extLst>
          </p:cNvPr>
          <p:cNvSpPr>
            <a:spLocks xmlns:a="http://schemas.openxmlformats.org/drawingml/2006/main" noGrp="1"/>
          </p:cNvSpPr>
          <p:nvPr/>
        </p:nvSpPr>
        <p:spPr>
          <a:xfrm xmlns:a="http://schemas.openxmlformats.org/drawingml/2006/main">
            <a:off x="3438525" y="1809750"/>
            <a:ext cx="2486025" cy="1104900"/>
          </a:xfrm>
          <a:prstGeom xmlns:a="http://schemas.openxmlformats.org/drawingml/2006/main" prst="rect">
            <a:avLst/>
          </a:prstGeom>
          <a:solidFill xmlns:a="http://schemas.openxmlformats.org/drawingml/2006/main">
            <a:srgbClr val="E4ECE3"/>
          </a:solidFill>
          <a:ln xmlns:a="http://schemas.openxmlformats.org/drawingml/2006/main" w="0">
            <a:noFill/>
          </a:ln>
        </p:spPr>
      </p:sp>
      <p:sp>
        <p:nvSpPr>
          <p:cNvPr id="14" name="Pull request">
            <a:extLst xmlns:a="http://schemas.openxmlformats.org/drawingml/2006/main">
              <a:ext uri="{FF2B5EF4-FFF2-40B4-BE49-F238E27FC236}">
                <a16:creationId xmlns:a16="http://schemas.microsoft.com/office/drawing/2014/main" id="{43C5B737-20BF-46A0-AF6B-987596D281CA}"/>
              </a:ext>
            </a:extLst>
          </p:cNvPr>
          <p:cNvSpPr>
            <a:spLocks xmlns:a="http://schemas.openxmlformats.org/drawingml/2006/main" noGrp="1"/>
          </p:cNvSpPr>
          <p:nvPr/>
        </p:nvSpPr>
        <p:spPr>
          <a:xfrm xmlns:a="http://schemas.openxmlformats.org/drawingml/2006/main">
            <a:off x="3609975" y="1981200"/>
            <a:ext cx="2143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3B31"/>
                </a:solidFill>
                <a:latin typeface="Arial"/>
                <a:ea typeface="Arial"/>
                <a:cs typeface="Arial"/>
              </a:defRPr>
            </a:pPr>
            <a:r>
              <a:rPr sz="2400" b="1">
                <a:solidFill>
                  <a:srgbClr val="173B31"/>
                </a:solidFill>
                <a:latin typeface="Arial"/>
                <a:ea typeface="Arial"/>
                <a:cs typeface="Arial"/>
              </a:rPr>
              <a:t>Pull request</a:t>
            </a:r>
          </a:p>
        </p:txBody>
      </p:sp>
      <p:sp>
        <p:nvSpPr>
          <p:cNvPr id="15" name="Human review">
            <a:extLst xmlns:a="http://schemas.openxmlformats.org/drawingml/2006/main">
              <a:ext uri="{FF2B5EF4-FFF2-40B4-BE49-F238E27FC236}">
                <a16:creationId xmlns:a16="http://schemas.microsoft.com/office/drawing/2014/main" id="{8343673F-07CE-4F5D-BD0A-248E459713FA}"/>
              </a:ext>
            </a:extLst>
          </p:cNvPr>
          <p:cNvSpPr>
            <a:spLocks xmlns:a="http://schemas.openxmlformats.org/drawingml/2006/main" noGrp="1"/>
          </p:cNvSpPr>
          <p:nvPr/>
        </p:nvSpPr>
        <p:spPr>
          <a:xfrm xmlns:a="http://schemas.openxmlformats.org/drawingml/2006/main">
            <a:off x="3609975" y="2419350"/>
            <a:ext cx="2143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86C63"/>
                </a:solidFill>
                <a:latin typeface="Arial"/>
                <a:ea typeface="Arial"/>
                <a:cs typeface="Arial"/>
              </a:defRPr>
            </a:pPr>
            <a:r>
              <a:rPr sz="1650" b="0">
                <a:solidFill>
                  <a:srgbClr val="586C63"/>
                </a:solidFill>
                <a:latin typeface="Arial"/>
                <a:ea typeface="Arial"/>
                <a:cs typeface="Arial"/>
              </a:rPr>
              <a:t>Human review</a:t>
            </a:r>
          </a:p>
        </p:txBody>
      </p:sp>
      <p:sp>
        <p:nvSpPr>
          <p:cNvPr id="16" name="">
            <a:extLst xmlns:a="http://schemas.openxmlformats.org/drawingml/2006/main">
              <a:ext uri="{FF2B5EF4-FFF2-40B4-BE49-F238E27FC236}">
                <a16:creationId xmlns:a16="http://schemas.microsoft.com/office/drawing/2014/main" id="{438D0D02-34FB-4F78-B12F-B7C58BBC7920}"/>
              </a:ext>
            </a:extLst>
          </p:cNvPr>
          <p:cNvSpPr>
            <a:spLocks xmlns:a="http://schemas.openxmlformats.org/drawingml/2006/main" noGrp="1"/>
          </p:cNvSpPr>
          <p:nvPr/>
        </p:nvSpPr>
        <p:spPr>
          <a:xfrm xmlns:a="http://schemas.openxmlformats.org/drawingml/2006/main">
            <a:off x="6267450" y="1809750"/>
            <a:ext cx="2486025" cy="1104900"/>
          </a:xfrm>
          <a:prstGeom xmlns:a="http://schemas.openxmlformats.org/drawingml/2006/main" prst="rect">
            <a:avLst/>
          </a:prstGeom>
          <a:solidFill xmlns:a="http://schemas.openxmlformats.org/drawingml/2006/main">
            <a:srgbClr val="E4ECE3"/>
          </a:solidFill>
          <a:ln xmlns:a="http://schemas.openxmlformats.org/drawingml/2006/main" w="0">
            <a:noFill/>
          </a:ln>
        </p:spPr>
      </p:sp>
      <p:sp>
        <p:nvSpPr>
          <p:cNvPr id="17" name="CI check">
            <a:extLst xmlns:a="http://schemas.openxmlformats.org/drawingml/2006/main">
              <a:ext uri="{FF2B5EF4-FFF2-40B4-BE49-F238E27FC236}">
                <a16:creationId xmlns:a16="http://schemas.microsoft.com/office/drawing/2014/main" id="{C9626989-B31A-4621-96CC-2751949C277D}"/>
              </a:ext>
            </a:extLst>
          </p:cNvPr>
          <p:cNvSpPr>
            <a:spLocks xmlns:a="http://schemas.openxmlformats.org/drawingml/2006/main" noGrp="1"/>
          </p:cNvSpPr>
          <p:nvPr/>
        </p:nvSpPr>
        <p:spPr>
          <a:xfrm xmlns:a="http://schemas.openxmlformats.org/drawingml/2006/main">
            <a:off x="6438900" y="1981200"/>
            <a:ext cx="2143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3B31"/>
                </a:solidFill>
                <a:latin typeface="Arial"/>
                <a:ea typeface="Arial"/>
                <a:cs typeface="Arial"/>
              </a:defRPr>
            </a:pPr>
            <a:r>
              <a:rPr sz="2400" b="1">
                <a:solidFill>
                  <a:srgbClr val="173B31"/>
                </a:solidFill>
                <a:latin typeface="Arial"/>
                <a:ea typeface="Arial"/>
                <a:cs typeface="Arial"/>
              </a:rPr>
              <a:t>CI check</a:t>
            </a:r>
          </a:p>
        </p:txBody>
      </p:sp>
      <p:sp>
        <p:nvSpPr>
          <p:cNvPr id="18" name="Ubuntu · Python 3.14">
            <a:extLst xmlns:a="http://schemas.openxmlformats.org/drawingml/2006/main">
              <a:ext uri="{FF2B5EF4-FFF2-40B4-BE49-F238E27FC236}">
                <a16:creationId xmlns:a16="http://schemas.microsoft.com/office/drawing/2014/main" id="{83B6F1D8-DB11-4571-9219-4EE226101F54}"/>
              </a:ext>
            </a:extLst>
          </p:cNvPr>
          <p:cNvSpPr>
            <a:spLocks xmlns:a="http://schemas.openxmlformats.org/drawingml/2006/main" noGrp="1"/>
          </p:cNvSpPr>
          <p:nvPr/>
        </p:nvSpPr>
        <p:spPr>
          <a:xfrm xmlns:a="http://schemas.openxmlformats.org/drawingml/2006/main">
            <a:off x="6438900" y="2419350"/>
            <a:ext cx="2143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86C63"/>
                </a:solidFill>
                <a:latin typeface="Arial"/>
                <a:ea typeface="Arial"/>
                <a:cs typeface="Arial"/>
              </a:defRPr>
            </a:pPr>
            <a:r>
              <a:rPr sz="1650" b="0">
                <a:solidFill>
                  <a:srgbClr val="586C63"/>
                </a:solidFill>
                <a:latin typeface="Arial"/>
                <a:ea typeface="Arial"/>
                <a:cs typeface="Arial"/>
              </a:rPr>
              <a:t>Ubuntu · Python 3.14</a:t>
            </a:r>
          </a:p>
        </p:txBody>
      </p:sp>
      <p:sp>
        <p:nvSpPr>
          <p:cNvPr id="19" name="">
            <a:extLst xmlns:a="http://schemas.openxmlformats.org/drawingml/2006/main">
              <a:ext uri="{FF2B5EF4-FFF2-40B4-BE49-F238E27FC236}">
                <a16:creationId xmlns:a16="http://schemas.microsoft.com/office/drawing/2014/main" id="{803AE236-A6E5-4FFB-8A50-DC17E02160F6}"/>
              </a:ext>
            </a:extLst>
          </p:cNvPr>
          <p:cNvSpPr>
            <a:spLocks xmlns:a="http://schemas.openxmlformats.org/drawingml/2006/main" noGrp="1"/>
          </p:cNvSpPr>
          <p:nvPr/>
        </p:nvSpPr>
        <p:spPr>
          <a:xfrm xmlns:a="http://schemas.openxmlformats.org/drawingml/2006/main">
            <a:off x="9096375" y="1809750"/>
            <a:ext cx="2486025" cy="1104900"/>
          </a:xfrm>
          <a:prstGeom xmlns:a="http://schemas.openxmlformats.org/drawingml/2006/main" prst="rect">
            <a:avLst/>
          </a:prstGeom>
          <a:solidFill xmlns:a="http://schemas.openxmlformats.org/drawingml/2006/main">
            <a:srgbClr val="E4ECE3"/>
          </a:solidFill>
          <a:ln xmlns:a="http://schemas.openxmlformats.org/drawingml/2006/main" w="0">
            <a:noFill/>
          </a:ln>
        </p:spPr>
      </p:sp>
      <p:sp>
        <p:nvSpPr>
          <p:cNvPr id="20" name="Merge">
            <a:extLst xmlns:a="http://schemas.openxmlformats.org/drawingml/2006/main">
              <a:ext uri="{FF2B5EF4-FFF2-40B4-BE49-F238E27FC236}">
                <a16:creationId xmlns:a16="http://schemas.microsoft.com/office/drawing/2014/main" id="{450686BA-4754-4F3E-9093-EB3523749878}"/>
              </a:ext>
            </a:extLst>
          </p:cNvPr>
          <p:cNvSpPr>
            <a:spLocks xmlns:a="http://schemas.openxmlformats.org/drawingml/2006/main" noGrp="1"/>
          </p:cNvSpPr>
          <p:nvPr/>
        </p:nvSpPr>
        <p:spPr>
          <a:xfrm xmlns:a="http://schemas.openxmlformats.org/drawingml/2006/main">
            <a:off x="9267825" y="1981200"/>
            <a:ext cx="2143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3B31"/>
                </a:solidFill>
                <a:latin typeface="Arial"/>
                <a:ea typeface="Arial"/>
                <a:cs typeface="Arial"/>
              </a:defRPr>
            </a:pPr>
            <a:r>
              <a:rPr sz="2400" b="1">
                <a:solidFill>
                  <a:srgbClr val="173B31"/>
                </a:solidFill>
                <a:latin typeface="Arial"/>
                <a:ea typeface="Arial"/>
                <a:cs typeface="Arial"/>
              </a:rPr>
              <a:t>Merge</a:t>
            </a:r>
          </a:p>
        </p:txBody>
      </p:sp>
      <p:sp>
        <p:nvSpPr>
          <p:cNvPr id="21" name="Main checked again">
            <a:extLst xmlns:a="http://schemas.openxmlformats.org/drawingml/2006/main">
              <a:ext uri="{FF2B5EF4-FFF2-40B4-BE49-F238E27FC236}">
                <a16:creationId xmlns:a16="http://schemas.microsoft.com/office/drawing/2014/main" id="{A509C143-93DB-4607-BD5B-D13DE84600AB}"/>
              </a:ext>
            </a:extLst>
          </p:cNvPr>
          <p:cNvSpPr>
            <a:spLocks xmlns:a="http://schemas.openxmlformats.org/drawingml/2006/main" noGrp="1"/>
          </p:cNvSpPr>
          <p:nvPr/>
        </p:nvSpPr>
        <p:spPr>
          <a:xfrm xmlns:a="http://schemas.openxmlformats.org/drawingml/2006/main">
            <a:off x="9267825" y="2419350"/>
            <a:ext cx="2143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86C63"/>
                </a:solidFill>
                <a:latin typeface="Arial"/>
                <a:ea typeface="Arial"/>
                <a:cs typeface="Arial"/>
              </a:defRPr>
            </a:pPr>
            <a:r>
              <a:rPr sz="1650" b="0">
                <a:solidFill>
                  <a:srgbClr val="586C63"/>
                </a:solidFill>
                <a:latin typeface="Arial"/>
                <a:ea typeface="Arial"/>
                <a:cs typeface="Arial"/>
              </a:rPr>
              <a:t>Main checked again</a:t>
            </a:r>
          </a:p>
        </p:txBody>
      </p:sp>
      <p:sp>
        <p:nvSpPr>
          <p:cNvPr id="22" name="105">
            <a:extLst xmlns:a="http://schemas.openxmlformats.org/drawingml/2006/main">
              <a:ext uri="{FF2B5EF4-FFF2-40B4-BE49-F238E27FC236}">
                <a16:creationId xmlns:a16="http://schemas.microsoft.com/office/drawing/2014/main" id="{26B131A1-7AAF-4880-A024-AD944B476193}"/>
              </a:ext>
            </a:extLst>
          </p:cNvPr>
          <p:cNvSpPr>
            <a:spLocks xmlns:a="http://schemas.openxmlformats.org/drawingml/2006/main" noGrp="1"/>
          </p:cNvSpPr>
          <p:nvPr/>
        </p:nvSpPr>
        <p:spPr>
          <a:xfrm xmlns:a="http://schemas.openxmlformats.org/drawingml/2006/main">
            <a:off x="609600" y="3448050"/>
            <a:ext cx="285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375" b="1">
                <a:solidFill>
                  <a:srgbClr val="287553"/>
                </a:solidFill>
                <a:latin typeface="Arial"/>
                <a:ea typeface="Arial"/>
                <a:cs typeface="Arial"/>
              </a:defRPr>
            </a:pPr>
            <a:r>
              <a:rPr sz="6375" b="1">
                <a:solidFill>
                  <a:srgbClr val="287553"/>
                </a:solidFill>
                <a:latin typeface="Arial"/>
                <a:ea typeface="Arial"/>
                <a:cs typeface="Arial"/>
              </a:rPr>
              <a:t>105</a:t>
            </a:r>
          </a:p>
        </p:txBody>
      </p:sp>
      <p:sp>
        <p:nvSpPr>
          <p:cNvPr id="23" name="passed">
            <a:extLst xmlns:a="http://schemas.openxmlformats.org/drawingml/2006/main">
              <a:ext uri="{FF2B5EF4-FFF2-40B4-BE49-F238E27FC236}">
                <a16:creationId xmlns:a16="http://schemas.microsoft.com/office/drawing/2014/main" id="{7DBE68AF-F743-4C07-ADD9-1FBBD1B038AD}"/>
              </a:ext>
            </a:extLst>
          </p:cNvPr>
          <p:cNvSpPr>
            <a:spLocks xmlns:a="http://schemas.openxmlformats.org/drawingml/2006/main" noGrp="1"/>
          </p:cNvSpPr>
          <p:nvPr/>
        </p:nvSpPr>
        <p:spPr>
          <a:xfrm xmlns:a="http://schemas.openxmlformats.org/drawingml/2006/main">
            <a:off x="609600" y="4495800"/>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3B31"/>
                </a:solidFill>
                <a:latin typeface="Arial"/>
                <a:ea typeface="Arial"/>
                <a:cs typeface="Arial"/>
              </a:defRPr>
            </a:pPr>
            <a:r>
              <a:rPr sz="2250" b="1">
                <a:solidFill>
                  <a:srgbClr val="173B31"/>
                </a:solidFill>
                <a:latin typeface="Arial"/>
                <a:ea typeface="Arial"/>
                <a:cs typeface="Arial"/>
              </a:rPr>
              <a:t>passed</a:t>
            </a:r>
          </a:p>
        </p:txBody>
      </p:sp>
      <p:sp>
        <p:nvSpPr>
          <p:cNvPr id="24" name="20">
            <a:extLst xmlns:a="http://schemas.openxmlformats.org/drawingml/2006/main">
              <a:ext uri="{FF2B5EF4-FFF2-40B4-BE49-F238E27FC236}">
                <a16:creationId xmlns:a16="http://schemas.microsoft.com/office/drawing/2014/main" id="{43C40693-1CDC-4246-B55B-1015E91058B1}"/>
              </a:ext>
            </a:extLst>
          </p:cNvPr>
          <p:cNvSpPr>
            <a:spLocks xmlns:a="http://schemas.openxmlformats.org/drawingml/2006/main" noGrp="1"/>
          </p:cNvSpPr>
          <p:nvPr/>
        </p:nvSpPr>
        <p:spPr>
          <a:xfrm xmlns:a="http://schemas.openxmlformats.org/drawingml/2006/main">
            <a:off x="3590925" y="3448050"/>
            <a:ext cx="2333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375" b="1">
                <a:solidFill>
                  <a:srgbClr val="93651E"/>
                </a:solidFill>
                <a:latin typeface="Arial"/>
                <a:ea typeface="Arial"/>
                <a:cs typeface="Arial"/>
              </a:defRPr>
            </a:pPr>
            <a:r>
              <a:rPr sz="6375" b="1">
                <a:solidFill>
                  <a:srgbClr val="93651E"/>
                </a:solidFill>
                <a:latin typeface="Arial"/>
                <a:ea typeface="Arial"/>
                <a:cs typeface="Arial"/>
              </a:rPr>
              <a:t>20</a:t>
            </a:r>
          </a:p>
        </p:txBody>
      </p:sp>
      <p:sp>
        <p:nvSpPr>
          <p:cNvPr id="25" name="skipped">
            <a:extLst xmlns:a="http://schemas.openxmlformats.org/drawingml/2006/main">
              <a:ext uri="{FF2B5EF4-FFF2-40B4-BE49-F238E27FC236}">
                <a16:creationId xmlns:a16="http://schemas.microsoft.com/office/drawing/2014/main" id="{0F764AA7-9838-45AF-B1BD-17A9977BC57D}"/>
              </a:ext>
            </a:extLst>
          </p:cNvPr>
          <p:cNvSpPr>
            <a:spLocks xmlns:a="http://schemas.openxmlformats.org/drawingml/2006/main" noGrp="1"/>
          </p:cNvSpPr>
          <p:nvPr/>
        </p:nvSpPr>
        <p:spPr>
          <a:xfrm xmlns:a="http://schemas.openxmlformats.org/drawingml/2006/main">
            <a:off x="3590925" y="4495800"/>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3B31"/>
                </a:solidFill>
                <a:latin typeface="Arial"/>
                <a:ea typeface="Arial"/>
                <a:cs typeface="Arial"/>
              </a:defRPr>
            </a:pPr>
            <a:r>
              <a:rPr sz="2250" b="1">
                <a:solidFill>
                  <a:srgbClr val="173B31"/>
                </a:solidFill>
                <a:latin typeface="Arial"/>
                <a:ea typeface="Arial"/>
                <a:cs typeface="Arial"/>
              </a:rPr>
              <a:t>skipped</a:t>
            </a:r>
          </a:p>
        </p:txBody>
      </p:sp>
      <p:sp>
        <p:nvSpPr>
          <p:cNvPr id="26" name="Latest main run succeeded">
            <a:extLst xmlns:a="http://schemas.openxmlformats.org/drawingml/2006/main">
              <a:ext uri="{FF2B5EF4-FFF2-40B4-BE49-F238E27FC236}">
                <a16:creationId xmlns:a16="http://schemas.microsoft.com/office/drawing/2014/main" id="{7FA60226-3A59-47E4-A440-B9EB06E7B552}"/>
              </a:ext>
            </a:extLst>
          </p:cNvPr>
          <p:cNvSpPr>
            <a:spLocks xmlns:a="http://schemas.openxmlformats.org/drawingml/2006/main" noGrp="1"/>
          </p:cNvSpPr>
          <p:nvPr/>
        </p:nvSpPr>
        <p:spPr>
          <a:xfrm xmlns:a="http://schemas.openxmlformats.org/drawingml/2006/main">
            <a:off x="6743700" y="3590925"/>
            <a:ext cx="4810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3B31"/>
                </a:solidFill>
                <a:latin typeface="Arial"/>
                <a:ea typeface="Arial"/>
                <a:cs typeface="Arial"/>
              </a:defRPr>
            </a:pPr>
            <a:r>
              <a:rPr sz="2400" b="1">
                <a:solidFill>
                  <a:srgbClr val="173B31"/>
                </a:solidFill>
                <a:latin typeface="Arial"/>
                <a:ea typeface="Arial"/>
                <a:cs typeface="Arial"/>
              </a:rPr>
              <a:t>Latest main run succeeded</a:t>
            </a:r>
          </a:p>
        </p:txBody>
      </p:sp>
      <p:sp>
        <p:nvSpPr>
          <p:cNvPr id="27" name="ac71613 · 28 August&#10;11 SR + 9 real-capture te">
            <a:extLst xmlns:a="http://schemas.openxmlformats.org/drawingml/2006/main">
              <a:ext uri="{FF2B5EF4-FFF2-40B4-BE49-F238E27FC236}">
                <a16:creationId xmlns:a16="http://schemas.microsoft.com/office/drawing/2014/main" id="{2718D4B4-4647-416C-9E3B-442CDBA07312}"/>
              </a:ext>
            </a:extLst>
          </p:cNvPr>
          <p:cNvSpPr>
            <a:spLocks xmlns:a="http://schemas.openxmlformats.org/drawingml/2006/main" noGrp="1"/>
          </p:cNvSpPr>
          <p:nvPr/>
        </p:nvSpPr>
        <p:spPr>
          <a:xfrm xmlns:a="http://schemas.openxmlformats.org/drawingml/2006/main">
            <a:off x="6743700" y="4171950"/>
            <a:ext cx="48101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ac71613 · 28 August</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11 SR + 9 real-capture tests skipped.</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No deployment job is configured.</a:t>
            </a:r>
          </a:p>
        </p:txBody>
      </p:sp>
      <p:sp>
        <p:nvSpPr>
          <p:cNvPr id="28" name="">
            <a:extLst xmlns:a="http://schemas.openxmlformats.org/drawingml/2006/main">
              <a:ext uri="{FF2B5EF4-FFF2-40B4-BE49-F238E27FC236}">
                <a16:creationId xmlns:a16="http://schemas.microsoft.com/office/drawing/2014/main" id="{01DB216C-74D0-4E32-94FA-B14A3144E71E}"/>
              </a:ext>
            </a:extLst>
          </p:cNvPr>
          <p:cNvSpPr>
            <a:spLocks xmlns:a="http://schemas.openxmlformats.org/drawingml/2006/main" noGrp="1"/>
          </p:cNvSpPr>
          <p:nvPr/>
        </p:nvSpPr>
        <p:spPr>
          <a:xfrm xmlns:a="http://schemas.openxmlformats.org/drawingml/2006/main">
            <a:off x="609600" y="5457825"/>
            <a:ext cx="10972800" cy="0"/>
          </a:xfrm>
          <a:prstGeom xmlns:a="http://schemas.openxmlformats.org/drawingml/2006/main" prst="line">
            <a:avLst/>
          </a:prstGeom>
          <a:noFill xmlns:a="http://schemas.openxmlformats.org/drawingml/2006/main"/>
          <a:ln xmlns:a="http://schemas.openxmlformats.org/drawingml/2006/main" w="14288">
            <a:solidFill>
              <a:srgbClr val="287553"/>
            </a:solidFill>
          </a:ln>
        </p:spPr>
      </p:sp>
      <p:sp>
        <p:nvSpPr>
          <p:cNvPr id="29" name="Impact: repeatable regression checks before a">
            <a:extLst xmlns:a="http://schemas.openxmlformats.org/drawingml/2006/main">
              <a:ext uri="{FF2B5EF4-FFF2-40B4-BE49-F238E27FC236}">
                <a16:creationId xmlns:a16="http://schemas.microsoft.com/office/drawing/2014/main" id="{26CBEEB7-FF6A-4377-B478-ED55820FBD5E}"/>
              </a:ext>
            </a:extLst>
          </p:cNvPr>
          <p:cNvSpPr>
            <a:spLocks xmlns:a="http://schemas.openxmlformats.org/drawingml/2006/main" noGrp="1"/>
          </p:cNvSpPr>
          <p:nvPr/>
        </p:nvSpPr>
        <p:spPr>
          <a:xfrm xmlns:a="http://schemas.openxmlformats.org/drawingml/2006/main">
            <a:off x="609600" y="55911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287553"/>
                </a:solidFill>
                <a:latin typeface="Arial"/>
                <a:ea typeface="Arial"/>
                <a:cs typeface="Arial"/>
              </a:defRPr>
            </a:pPr>
            <a:r>
              <a:rPr sz="1800" b="1">
                <a:solidFill>
                  <a:srgbClr val="287553"/>
                </a:solidFill>
                <a:latin typeface="Arial"/>
                <a:ea typeface="Arial"/>
                <a:cs typeface="Arial"/>
              </a:rPr>
              <a:t>Impact: repeatable regression checks before and after merge; release validation stays separate.</a:t>
            </a:r>
          </a:p>
        </p:txBody>
      </p:sp>
    </p:spTree>
    <p:extLst>
      <p:ext uri="{BB962C8B-B14F-4D97-AF65-F5344CB8AC3E}">
        <p14:creationId xmlns:p14="http://schemas.microsoft.com/office/powerpoint/2010/main" val="2052982339"/>
      </p:ext>
    </p:extLst>
  </p:cSld>
</p:sld>
</file>

<file path=ppt/slides/slide11.xml><?xml version="1.0" encoding="utf-8"?>
<p:sld xmlns:p="http://schemas.openxmlformats.org/presentationml/2006/main">
  <p:cSld>
    <p:bg>
      <p:bgPr>
        <a:solidFill xmlns:a="http://schemas.openxmlformats.org/drawingml/2006/main">
          <a:srgbClr val="F4F5F0"/>
        </a:solidFill>
      </p:bgPr>
    </p:bg>
    <p:spTree>
      <p:nvGrpSpPr>
        <p:cNvPr id="1" name=""/>
        <p:cNvGrpSpPr/>
        <p:nvPr/>
      </p:nvGrpSpPr>
      <p:grpSpPr>
        <a:xfrm xmlns:a="http://schemas.openxmlformats.org/drawingml/2006/main"/>
      </p:grpSpPr>
      <p:sp>
        <p:nvSpPr>
          <p:cNvPr id="12" name="EXECUTION AND QUALITY">
            <a:extLst xmlns:a="http://schemas.openxmlformats.org/drawingml/2006/main">
              <a:ext uri="{FF2B5EF4-FFF2-40B4-BE49-F238E27FC236}">
                <a16:creationId xmlns:a16="http://schemas.microsoft.com/office/drawing/2014/main" id="{6C3674CE-7415-4A07-819B-4B00B1F4F372}"/>
              </a:ext>
            </a:extLst>
          </p:cNvPr>
          <p:cNvSpPr>
            <a:spLocks xmlns:a="http://schemas.openxmlformats.org/drawingml/2006/main" noGrp="1"/>
          </p:cNvSpPr>
          <p:nvPr/>
        </p:nvSpPr>
        <p:spPr>
          <a:xfrm xmlns:a="http://schemas.openxmlformats.org/drawingml/2006/main">
            <a:off x="609600" y="4000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287553"/>
                </a:solidFill>
                <a:latin typeface="Arial"/>
                <a:ea typeface="Arial"/>
                <a:cs typeface="Arial"/>
              </a:defRPr>
            </a:pPr>
            <a:r>
              <a:rPr sz="1500" b="1">
                <a:solidFill>
                  <a:srgbClr val="287553"/>
                </a:solidFill>
                <a:latin typeface="Arial"/>
                <a:ea typeface="Arial"/>
                <a:cs typeface="Arial"/>
              </a:rPr>
              <a:t>EXECUTION AND QUALITY</a:t>
            </a:r>
          </a:p>
        </p:txBody>
      </p:sp>
      <p:sp>
        <p:nvSpPr>
          <p:cNvPr id="2" name="Review led to a concrete refactor">
            <a:extLst xmlns:a="http://schemas.openxmlformats.org/drawingml/2006/main">
              <a:ext uri="{FF2B5EF4-FFF2-40B4-BE49-F238E27FC236}">
                <a16:creationId xmlns:a16="http://schemas.microsoft.com/office/drawing/2014/main" id="{B9D5AA8E-3964-4F05-AD7D-22AEA3D1ED38}"/>
              </a:ext>
            </a:extLst>
          </p:cNvPr>
          <p:cNvSpPr>
            <a:spLocks xmlns:a="http://schemas.openxmlformats.org/drawingml/2006/main" noGrp="1"/>
          </p:cNvSpPr>
          <p:nvPr/>
        </p:nvSpPr>
        <p:spPr>
          <a:xfrm xmlns:a="http://schemas.openxmlformats.org/drawingml/2006/main">
            <a:off x="609600" y="86677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3B31"/>
                </a:solidFill>
                <a:latin typeface="Arial"/>
                <a:ea typeface="Arial"/>
                <a:cs typeface="Arial"/>
              </a:defRPr>
            </a:pPr>
            <a:r>
              <a:rPr sz="3600" b="1">
                <a:solidFill>
                  <a:srgbClr val="173B31"/>
                </a:solidFill>
                <a:latin typeface="Arial"/>
                <a:ea typeface="Arial"/>
                <a:cs typeface="Arial"/>
              </a:rPr>
              <a:t>Review led to a concrete refactor</a:t>
            </a:r>
          </a:p>
        </p:txBody>
      </p:sp>
      <p:sp>
        <p:nvSpPr>
          <p:cNvPr id="3" name="">
            <a:extLst xmlns:a="http://schemas.openxmlformats.org/drawingml/2006/main">
              <a:ext uri="{FF2B5EF4-FFF2-40B4-BE49-F238E27FC236}">
                <a16:creationId xmlns:a16="http://schemas.microsoft.com/office/drawing/2014/main" id="{89C4D2AE-245F-47EF-830C-BAF2331AF110}"/>
              </a:ext>
            </a:extLst>
          </p:cNvPr>
          <p:cNvSpPr>
            <a:spLocks xmlns:a="http://schemas.openxmlformats.org/drawingml/2006/main" noGrp="1"/>
          </p:cNvSpPr>
          <p:nvPr/>
        </p:nvSpPr>
        <p:spPr>
          <a:xfrm xmlns:a="http://schemas.openxmlformats.org/drawingml/2006/main">
            <a:off x="609600" y="623887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4" name="LEAF ANALYZER  /  SPRINT 5">
            <a:extLst xmlns:a="http://schemas.openxmlformats.org/drawingml/2006/main">
              <a:ext uri="{FF2B5EF4-FFF2-40B4-BE49-F238E27FC236}">
                <a16:creationId xmlns:a16="http://schemas.microsoft.com/office/drawing/2014/main" id="{D96EB067-8428-4F34-A264-24B419E925D6}"/>
              </a:ext>
            </a:extLst>
          </p:cNvPr>
          <p:cNvSpPr>
            <a:spLocks xmlns:a="http://schemas.openxmlformats.org/drawingml/2006/main" noGrp="1"/>
          </p:cNvSpPr>
          <p:nvPr/>
        </p:nvSpPr>
        <p:spPr>
          <a:xfrm xmlns:a="http://schemas.openxmlformats.org/drawingml/2006/main">
            <a:off x="609600" y="6410325"/>
            <a:ext cx="323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LEAF ANALYZER  /  SPRINT 5</a:t>
            </a:r>
          </a:p>
        </p:txBody>
      </p:sp>
      <p:sp>
        <p:nvSpPr>
          <p:cNvPr id="5" name="PR #36 • classification model, GUI and API">
            <a:extLst xmlns:a="http://schemas.openxmlformats.org/drawingml/2006/main">
              <a:ext uri="{FF2B5EF4-FFF2-40B4-BE49-F238E27FC236}">
                <a16:creationId xmlns:a16="http://schemas.microsoft.com/office/drawing/2014/main" id="{E9CB7623-3853-444E-B5F8-1A2428B6B187}"/>
              </a:ext>
            </a:extLst>
          </p:cNvPr>
          <p:cNvSpPr>
            <a:spLocks xmlns:a="http://schemas.openxmlformats.org/drawingml/2006/main" noGrp="1"/>
          </p:cNvSpPr>
          <p:nvPr/>
        </p:nvSpPr>
        <p:spPr>
          <a:xfrm xmlns:a="http://schemas.openxmlformats.org/drawingml/2006/main">
            <a:off x="3952875" y="6410325"/>
            <a:ext cx="708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PR #36 • classification model, GUI and API</a:t>
            </a:r>
          </a:p>
        </p:txBody>
      </p:sp>
      <p:sp>
        <p:nvSpPr>
          <p:cNvPr id="6" name="11">
            <a:extLst xmlns:a="http://schemas.openxmlformats.org/drawingml/2006/main">
              <a:ext uri="{FF2B5EF4-FFF2-40B4-BE49-F238E27FC236}">
                <a16:creationId xmlns:a16="http://schemas.microsoft.com/office/drawing/2014/main" id="{9AB82573-ECD1-47F2-B5A0-172FB32174E1}"/>
              </a:ext>
            </a:extLst>
          </p:cNvPr>
          <p:cNvSpPr>
            <a:spLocks xmlns:a="http://schemas.openxmlformats.org/drawingml/2006/main" noGrp="1"/>
          </p:cNvSpPr>
          <p:nvPr/>
        </p:nvSpPr>
        <p:spPr>
          <a:xfrm xmlns:a="http://schemas.openxmlformats.org/drawingml/2006/main">
            <a:off x="11239500" y="6381750"/>
            <a:ext cx="361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11</a:t>
            </a:r>
          </a:p>
        </p:txBody>
      </p:sp>
      <p:sp>
        <p:nvSpPr>
          <p:cNvPr id="7" name="28 August · Changes requested → refactor → ap">
            <a:extLst xmlns:a="http://schemas.openxmlformats.org/drawingml/2006/main">
              <a:ext uri="{FF2B5EF4-FFF2-40B4-BE49-F238E27FC236}">
                <a16:creationId xmlns:a16="http://schemas.microsoft.com/office/drawing/2014/main" id="{B14A6504-BD72-46BD-8943-68EB4E8E2181}"/>
              </a:ext>
            </a:extLst>
          </p:cNvPr>
          <p:cNvSpPr>
            <a:spLocks xmlns:a="http://schemas.openxmlformats.org/drawingml/2006/main" noGrp="1"/>
          </p:cNvSpPr>
          <p:nvPr/>
        </p:nvSpPr>
        <p:spPr>
          <a:xfrm xmlns:a="http://schemas.openxmlformats.org/drawingml/2006/main">
            <a:off x="609600" y="16859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86C63"/>
                </a:solidFill>
                <a:latin typeface="Arial"/>
                <a:ea typeface="Arial"/>
                <a:cs typeface="Arial"/>
              </a:defRPr>
            </a:pPr>
            <a:r>
              <a:rPr sz="1950" b="0">
                <a:solidFill>
                  <a:srgbClr val="586C63"/>
                </a:solidFill>
                <a:latin typeface="Arial"/>
                <a:ea typeface="Arial"/>
                <a:cs typeface="Arial"/>
              </a:rPr>
              <a:t>28 August · Changes requested → refactor → approval → merge</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4c9bcd24eeb3470a"/>
          <a:stretch xmlns:a="http://schemas.openxmlformats.org/drawingml/2006/main"/>
        </p:blipFill>
        <p:spPr>
          <a:xfrm xmlns:a="http://schemas.openxmlformats.org/drawingml/2006/main">
            <a:off x="609600" y="2347168"/>
            <a:ext cx="10972800" cy="2354164"/>
          </a:xfrm>
          <a:prstGeom xmlns:a="http://schemas.openxmlformats.org/drawingml/2006/main" prst="rect">
            <a:avLst/>
          </a:prstGeom>
        </p:spPr>
      </p:pic>
      <p:sp>
        <p:nvSpPr>
          <p:cNvPr id="9" name="Change made">
            <a:extLst xmlns:a="http://schemas.openxmlformats.org/drawingml/2006/main">
              <a:ext uri="{FF2B5EF4-FFF2-40B4-BE49-F238E27FC236}">
                <a16:creationId xmlns:a16="http://schemas.microsoft.com/office/drawing/2014/main" id="{4C7647F8-00CD-4C76-AAE9-460859CFEC8B}"/>
              </a:ext>
            </a:extLst>
          </p:cNvPr>
          <p:cNvSpPr>
            <a:spLocks xmlns:a="http://schemas.openxmlformats.org/drawingml/2006/main" noGrp="1"/>
          </p:cNvSpPr>
          <p:nvPr/>
        </p:nvSpPr>
        <p:spPr>
          <a:xfrm xmlns:a="http://schemas.openxmlformats.org/drawingml/2006/main">
            <a:off x="609600" y="4914900"/>
            <a:ext cx="314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3B31"/>
                </a:solidFill>
                <a:latin typeface="Arial"/>
                <a:ea typeface="Arial"/>
                <a:cs typeface="Arial"/>
              </a:defRPr>
            </a:pPr>
            <a:r>
              <a:rPr sz="2325" b="1">
                <a:solidFill>
                  <a:srgbClr val="173B31"/>
                </a:solidFill>
                <a:latin typeface="Arial"/>
                <a:ea typeface="Arial"/>
                <a:cs typeface="Arial"/>
              </a:rPr>
              <a:t>Change made</a:t>
            </a:r>
          </a:p>
        </p:txBody>
      </p:sp>
      <p:sp>
        <p:nvSpPr>
          <p:cNvPr id="10" name="Classification logic moved into its own contr">
            <a:extLst xmlns:a="http://schemas.openxmlformats.org/drawingml/2006/main">
              <a:ext uri="{FF2B5EF4-FFF2-40B4-BE49-F238E27FC236}">
                <a16:creationId xmlns:a16="http://schemas.microsoft.com/office/drawing/2014/main" id="{58D96DDA-714C-4F64-96EB-E09C2D6A77E0}"/>
              </a:ext>
            </a:extLst>
          </p:cNvPr>
          <p:cNvSpPr>
            <a:spLocks xmlns:a="http://schemas.openxmlformats.org/drawingml/2006/main" noGrp="1"/>
          </p:cNvSpPr>
          <p:nvPr/>
        </p:nvSpPr>
        <p:spPr>
          <a:xfrm xmlns:a="http://schemas.openxmlformats.org/drawingml/2006/main">
            <a:off x="4010025" y="4914900"/>
            <a:ext cx="74771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86C63"/>
                </a:solidFill>
                <a:latin typeface="Arial"/>
                <a:ea typeface="Arial"/>
                <a:cs typeface="Arial"/>
              </a:defRPr>
            </a:pPr>
            <a:r>
              <a:rPr sz="1950" b="0">
                <a:solidFill>
                  <a:srgbClr val="586C63"/>
                </a:solidFill>
                <a:latin typeface="Arial"/>
                <a:ea typeface="Arial"/>
                <a:cs typeface="Arial"/>
              </a:rPr>
              <a:t>Classification logic moved into its own controller;</a:t>
            </a:r>
          </a:p>
          <a:p xmlns:a="http://schemas.openxmlformats.org/drawingml/2006/main">
            <a:pPr algn="l">
              <a:defRPr sz="1950" b="0">
                <a:solidFill>
                  <a:srgbClr val="586C63"/>
                </a:solidFill>
                <a:latin typeface="Arial"/>
                <a:ea typeface="Arial"/>
                <a:cs typeface="Arial"/>
              </a:defRPr>
            </a:pPr>
            <a:r>
              <a:rPr sz="1950" b="0">
                <a:solidFill>
                  <a:srgbClr val="586C63"/>
                </a:solidFill>
                <a:latin typeface="Arial"/>
                <a:ea typeface="Arial"/>
                <a:cs typeface="Arial"/>
              </a:rPr>
              <a:t>review approved the smaller main-window change.</a:t>
            </a:r>
          </a:p>
        </p:txBody>
      </p:sp>
      <p:sp>
        <p:nvSpPr>
          <p:cNvPr id="11" name="PR #36 merged at 15:42 AEST. Main CI passed; ">
            <a:extLst xmlns:a="http://schemas.openxmlformats.org/drawingml/2006/main">
              <a:ext uri="{FF2B5EF4-FFF2-40B4-BE49-F238E27FC236}">
                <a16:creationId xmlns:a16="http://schemas.microsoft.com/office/drawing/2014/main" id="{2D3F8C48-B245-4D2B-9E18-C5E540D6AB5C}"/>
              </a:ext>
            </a:extLst>
          </p:cNvPr>
          <p:cNvSpPr>
            <a:spLocks xmlns:a="http://schemas.openxmlformats.org/drawingml/2006/main" noGrp="1"/>
          </p:cNvSpPr>
          <p:nvPr/>
        </p:nvSpPr>
        <p:spPr>
          <a:xfrm xmlns:a="http://schemas.openxmlformats.org/drawingml/2006/main">
            <a:off x="609600" y="5819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287553"/>
                </a:solidFill>
                <a:latin typeface="Arial"/>
                <a:ea typeface="Arial"/>
                <a:cs typeface="Arial"/>
              </a:defRPr>
            </a:pPr>
            <a:r>
              <a:rPr sz="1650" b="1">
                <a:solidFill>
                  <a:srgbClr val="287553"/>
                </a:solidFill>
                <a:latin typeface="Arial"/>
                <a:ea typeface="Arial"/>
                <a:cs typeface="Arial"/>
              </a:rPr>
              <a:t>PR #36 merged at 15:42 AEST. Main CI passed; targeted classification tests still need tracking.</a:t>
            </a:r>
          </a:p>
        </p:txBody>
      </p:sp>
    </p:spTree>
    <p:extLst>
      <p:ext uri="{BB962C8B-B14F-4D97-AF65-F5344CB8AC3E}">
        <p14:creationId xmlns:p14="http://schemas.microsoft.com/office/powerpoint/2010/main" val="542598407"/>
      </p:ext>
    </p:extLst>
  </p:cSld>
</p:sld>
</file>

<file path=ppt/slides/slide12.xml><?xml version="1.0" encoding="utf-8"?>
<p:sld xmlns:p="http://schemas.openxmlformats.org/presentationml/2006/main">
  <p:cSld>
    <p:bg>
      <p:bgPr>
        <a:solidFill xmlns:a="http://schemas.openxmlformats.org/drawingml/2006/main">
          <a:srgbClr val="F4F5F0"/>
        </a:solidFill>
      </p:bgPr>
    </p:bg>
    <p:spTree>
      <p:nvGrpSpPr>
        <p:cNvPr id="1" name=""/>
        <p:cNvGrpSpPr/>
        <p:nvPr/>
      </p:nvGrpSpPr>
      <p:grpSpPr>
        <a:xfrm xmlns:a="http://schemas.openxmlformats.org/drawingml/2006/main"/>
      </p:grpSpPr>
      <p:sp>
        <p:nvSpPr>
          <p:cNvPr id="26" name="REFLECTION AND IMPROVEMENT">
            <a:extLst xmlns:a="http://schemas.openxmlformats.org/drawingml/2006/main">
              <a:ext uri="{FF2B5EF4-FFF2-40B4-BE49-F238E27FC236}">
                <a16:creationId xmlns:a16="http://schemas.microsoft.com/office/drawing/2014/main" id="{A8E5029D-5353-4D7F-8549-E5EA2D785AF1}"/>
              </a:ext>
            </a:extLst>
          </p:cNvPr>
          <p:cNvSpPr>
            <a:spLocks xmlns:a="http://schemas.openxmlformats.org/drawingml/2006/main" noGrp="1"/>
          </p:cNvSpPr>
          <p:nvPr/>
        </p:nvSpPr>
        <p:spPr>
          <a:xfrm xmlns:a="http://schemas.openxmlformats.org/drawingml/2006/main">
            <a:off x="609600" y="4000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287553"/>
                </a:solidFill>
                <a:latin typeface="Arial"/>
                <a:ea typeface="Arial"/>
                <a:cs typeface="Arial"/>
              </a:defRPr>
            </a:pPr>
            <a:r>
              <a:rPr sz="1500" b="1">
                <a:solidFill>
                  <a:srgbClr val="287553"/>
                </a:solidFill>
                <a:latin typeface="Arial"/>
                <a:ea typeface="Arial"/>
                <a:cs typeface="Arial"/>
              </a:rPr>
              <a:t>REFLECTION AND IMPROVEMENT</a:t>
            </a:r>
          </a:p>
        </p:txBody>
      </p:sp>
      <p:sp>
        <p:nvSpPr>
          <p:cNvPr id="2" name="Weekly reflection led to follow-up work">
            <a:extLst xmlns:a="http://schemas.openxmlformats.org/drawingml/2006/main">
              <a:ext uri="{FF2B5EF4-FFF2-40B4-BE49-F238E27FC236}">
                <a16:creationId xmlns:a16="http://schemas.microsoft.com/office/drawing/2014/main" id="{0B8945BF-772C-4E61-A18F-9D3E027A15C0}"/>
              </a:ext>
            </a:extLst>
          </p:cNvPr>
          <p:cNvSpPr>
            <a:spLocks xmlns:a="http://schemas.openxmlformats.org/drawingml/2006/main" noGrp="1"/>
          </p:cNvSpPr>
          <p:nvPr/>
        </p:nvSpPr>
        <p:spPr>
          <a:xfrm xmlns:a="http://schemas.openxmlformats.org/drawingml/2006/main">
            <a:off x="609600" y="86677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3B31"/>
                </a:solidFill>
                <a:latin typeface="Arial"/>
                <a:ea typeface="Arial"/>
                <a:cs typeface="Arial"/>
              </a:defRPr>
            </a:pPr>
            <a:r>
              <a:rPr sz="3600" b="1">
                <a:solidFill>
                  <a:srgbClr val="173B31"/>
                </a:solidFill>
                <a:latin typeface="Arial"/>
                <a:ea typeface="Arial"/>
                <a:cs typeface="Arial"/>
              </a:rPr>
              <a:t>Weekly reflection led to follow-up work</a:t>
            </a:r>
          </a:p>
        </p:txBody>
      </p:sp>
      <p:sp>
        <p:nvSpPr>
          <p:cNvPr id="3" name="">
            <a:extLst xmlns:a="http://schemas.openxmlformats.org/drawingml/2006/main">
              <a:ext uri="{FF2B5EF4-FFF2-40B4-BE49-F238E27FC236}">
                <a16:creationId xmlns:a16="http://schemas.microsoft.com/office/drawing/2014/main" id="{1329B812-6CDD-4042-989B-A5850B21FCA8}"/>
              </a:ext>
            </a:extLst>
          </p:cNvPr>
          <p:cNvSpPr>
            <a:spLocks xmlns:a="http://schemas.openxmlformats.org/drawingml/2006/main" noGrp="1"/>
          </p:cNvSpPr>
          <p:nvPr/>
        </p:nvSpPr>
        <p:spPr>
          <a:xfrm xmlns:a="http://schemas.openxmlformats.org/drawingml/2006/main">
            <a:off x="609600" y="623887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4" name="LEAF ANALYZER  /  SPRINT 5">
            <a:extLst xmlns:a="http://schemas.openxmlformats.org/drawingml/2006/main">
              <a:ext uri="{FF2B5EF4-FFF2-40B4-BE49-F238E27FC236}">
                <a16:creationId xmlns:a16="http://schemas.microsoft.com/office/drawing/2014/main" id="{7D4BBE9B-851F-425F-92B5-DCFA067B3FCB}"/>
              </a:ext>
            </a:extLst>
          </p:cNvPr>
          <p:cNvSpPr>
            <a:spLocks xmlns:a="http://schemas.openxmlformats.org/drawingml/2006/main" noGrp="1"/>
          </p:cNvSpPr>
          <p:nvPr/>
        </p:nvSpPr>
        <p:spPr>
          <a:xfrm xmlns:a="http://schemas.openxmlformats.org/drawingml/2006/main">
            <a:off x="609600" y="6410325"/>
            <a:ext cx="323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LEAF ANALYZER  /  SPRINT 5</a:t>
            </a:r>
          </a:p>
        </p:txBody>
      </p:sp>
      <p:sp>
        <p:nvSpPr>
          <p:cNvPr id="5" name="Team + individual reflections • 21 and 28 Aug">
            <a:extLst xmlns:a="http://schemas.openxmlformats.org/drawingml/2006/main">
              <a:ext uri="{FF2B5EF4-FFF2-40B4-BE49-F238E27FC236}">
                <a16:creationId xmlns:a16="http://schemas.microsoft.com/office/drawing/2014/main" id="{B00C3F0E-3311-4CE5-BA20-2D6E8867E703}"/>
              </a:ext>
            </a:extLst>
          </p:cNvPr>
          <p:cNvSpPr>
            <a:spLocks xmlns:a="http://schemas.openxmlformats.org/drawingml/2006/main" noGrp="1"/>
          </p:cNvSpPr>
          <p:nvPr/>
        </p:nvSpPr>
        <p:spPr>
          <a:xfrm xmlns:a="http://schemas.openxmlformats.org/drawingml/2006/main">
            <a:off x="3952875" y="6410325"/>
            <a:ext cx="708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Team + individual reflections • 21 and 28 August</a:t>
            </a:r>
          </a:p>
        </p:txBody>
      </p:sp>
      <p:sp>
        <p:nvSpPr>
          <p:cNvPr id="6" name="12">
            <a:extLst xmlns:a="http://schemas.openxmlformats.org/drawingml/2006/main">
              <a:ext uri="{FF2B5EF4-FFF2-40B4-BE49-F238E27FC236}">
                <a16:creationId xmlns:a16="http://schemas.microsoft.com/office/drawing/2014/main" id="{1D7C6BFE-20A7-4DFB-954F-93BAF0E5D008}"/>
              </a:ext>
            </a:extLst>
          </p:cNvPr>
          <p:cNvSpPr>
            <a:spLocks xmlns:a="http://schemas.openxmlformats.org/drawingml/2006/main" noGrp="1"/>
          </p:cNvSpPr>
          <p:nvPr/>
        </p:nvSpPr>
        <p:spPr>
          <a:xfrm xmlns:a="http://schemas.openxmlformats.org/drawingml/2006/main">
            <a:off x="11239500" y="6381750"/>
            <a:ext cx="361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12</a:t>
            </a:r>
          </a:p>
        </p:txBody>
      </p:sp>
      <p:sp>
        <p:nvSpPr>
          <p:cNvPr id="7" name="">
            <a:extLst xmlns:a="http://schemas.openxmlformats.org/drawingml/2006/main">
              <a:ext uri="{FF2B5EF4-FFF2-40B4-BE49-F238E27FC236}">
                <a16:creationId xmlns:a16="http://schemas.microsoft.com/office/drawing/2014/main" id="{8ED4EA72-95E5-47F7-A7BA-6133DBFC99F4}"/>
              </a:ext>
            </a:extLst>
          </p:cNvPr>
          <p:cNvSpPr>
            <a:spLocks xmlns:a="http://schemas.openxmlformats.org/drawingml/2006/main" noGrp="1"/>
          </p:cNvSpPr>
          <p:nvPr/>
        </p:nvSpPr>
        <p:spPr>
          <a:xfrm xmlns:a="http://schemas.openxmlformats.org/drawingml/2006/main">
            <a:off x="609600" y="1809750"/>
            <a:ext cx="10972800" cy="485775"/>
          </a:xfrm>
          <a:prstGeom xmlns:a="http://schemas.openxmlformats.org/drawingml/2006/main" prst="rect">
            <a:avLst/>
          </a:prstGeom>
          <a:solidFill xmlns:a="http://schemas.openxmlformats.org/drawingml/2006/main">
            <a:srgbClr val="E4ECE3"/>
          </a:solidFill>
          <a:ln xmlns:a="http://schemas.openxmlformats.org/drawingml/2006/main" w="0">
            <a:noFill/>
          </a:ln>
        </p:spPr>
      </p:sp>
      <p:sp>
        <p:nvSpPr>
          <p:cNvPr id="8" name="PROBLEM / FEEDBACK">
            <a:extLst xmlns:a="http://schemas.openxmlformats.org/drawingml/2006/main">
              <a:ext uri="{FF2B5EF4-FFF2-40B4-BE49-F238E27FC236}">
                <a16:creationId xmlns:a16="http://schemas.microsoft.com/office/drawing/2014/main" id="{1B2DE263-204F-44E5-87CC-4AB8E79435D0}"/>
              </a:ext>
            </a:extLst>
          </p:cNvPr>
          <p:cNvSpPr>
            <a:spLocks xmlns:a="http://schemas.openxmlformats.org/drawingml/2006/main" noGrp="1"/>
          </p:cNvSpPr>
          <p:nvPr/>
        </p:nvSpPr>
        <p:spPr>
          <a:xfrm xmlns:a="http://schemas.openxmlformats.org/drawingml/2006/main">
            <a:off x="723900" y="1924050"/>
            <a:ext cx="30575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173B31"/>
                </a:solidFill>
                <a:latin typeface="Arial"/>
                <a:ea typeface="Arial"/>
                <a:cs typeface="Arial"/>
              </a:defRPr>
            </a:pPr>
            <a:r>
              <a:rPr sz="1575" b="1">
                <a:solidFill>
                  <a:srgbClr val="173B31"/>
                </a:solidFill>
                <a:latin typeface="Arial"/>
                <a:ea typeface="Arial"/>
                <a:cs typeface="Arial"/>
              </a:rPr>
              <a:t>PROBLEM / FEEDBACK</a:t>
            </a:r>
          </a:p>
        </p:txBody>
      </p:sp>
      <p:sp>
        <p:nvSpPr>
          <p:cNvPr id="9" name="LESSON / ACTION">
            <a:extLst xmlns:a="http://schemas.openxmlformats.org/drawingml/2006/main">
              <a:ext uri="{FF2B5EF4-FFF2-40B4-BE49-F238E27FC236}">
                <a16:creationId xmlns:a16="http://schemas.microsoft.com/office/drawing/2014/main" id="{25F18750-88B6-489A-88BB-A1D24533EA94}"/>
              </a:ext>
            </a:extLst>
          </p:cNvPr>
          <p:cNvSpPr>
            <a:spLocks xmlns:a="http://schemas.openxmlformats.org/drawingml/2006/main" noGrp="1"/>
          </p:cNvSpPr>
          <p:nvPr/>
        </p:nvSpPr>
        <p:spPr>
          <a:xfrm xmlns:a="http://schemas.openxmlformats.org/drawingml/2006/main">
            <a:off x="4010025" y="1924050"/>
            <a:ext cx="3467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LESSON / ACTION</a:t>
            </a:r>
          </a:p>
        </p:txBody>
      </p:sp>
      <p:sp>
        <p:nvSpPr>
          <p:cNvPr id="10" name="IMPLEMENTATION EVIDENCE">
            <a:extLst xmlns:a="http://schemas.openxmlformats.org/drawingml/2006/main">
              <a:ext uri="{FF2B5EF4-FFF2-40B4-BE49-F238E27FC236}">
                <a16:creationId xmlns:a16="http://schemas.microsoft.com/office/drawing/2014/main" id="{AB542731-3701-45D3-B048-5087DFD99079}"/>
              </a:ext>
            </a:extLst>
          </p:cNvPr>
          <p:cNvSpPr>
            <a:spLocks xmlns:a="http://schemas.openxmlformats.org/drawingml/2006/main" noGrp="1"/>
          </p:cNvSpPr>
          <p:nvPr/>
        </p:nvSpPr>
        <p:spPr>
          <a:xfrm xmlns:a="http://schemas.openxmlformats.org/drawingml/2006/main">
            <a:off x="7705725" y="1924050"/>
            <a:ext cx="3762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IMPLEMENTATION EVIDENCE</a:t>
            </a:r>
          </a:p>
        </p:txBody>
      </p:sp>
      <p:sp>
        <p:nvSpPr>
          <p:cNvPr id="11" name="">
            <a:extLst xmlns:a="http://schemas.openxmlformats.org/drawingml/2006/main">
              <a:ext uri="{FF2B5EF4-FFF2-40B4-BE49-F238E27FC236}">
                <a16:creationId xmlns:a16="http://schemas.microsoft.com/office/drawing/2014/main" id="{D9DA8F4E-627F-48F7-8AC5-4000FF427C1E}"/>
              </a:ext>
            </a:extLst>
          </p:cNvPr>
          <p:cNvSpPr>
            <a:spLocks xmlns:a="http://schemas.openxmlformats.org/drawingml/2006/main" noGrp="1"/>
          </p:cNvSpPr>
          <p:nvPr/>
        </p:nvSpPr>
        <p:spPr>
          <a:xfrm xmlns:a="http://schemas.openxmlformats.org/drawingml/2006/main">
            <a:off x="609600" y="229552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12" name="Hypercube still unfinished&#10;on 21 August.">
            <a:extLst xmlns:a="http://schemas.openxmlformats.org/drawingml/2006/main">
              <a:ext uri="{FF2B5EF4-FFF2-40B4-BE49-F238E27FC236}">
                <a16:creationId xmlns:a16="http://schemas.microsoft.com/office/drawing/2014/main" id="{EDA60899-4172-41D6-A917-3A455817FAD1}"/>
              </a:ext>
            </a:extLst>
          </p:cNvPr>
          <p:cNvSpPr>
            <a:spLocks xmlns:a="http://schemas.openxmlformats.org/drawingml/2006/main" noGrp="1"/>
          </p:cNvSpPr>
          <p:nvPr/>
        </p:nvSpPr>
        <p:spPr>
          <a:xfrm xmlns:a="http://schemas.openxmlformats.org/drawingml/2006/main">
            <a:off x="723900" y="2409825"/>
            <a:ext cx="30575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73B31"/>
                </a:solidFill>
                <a:latin typeface="Arial"/>
                <a:ea typeface="Arial"/>
                <a:cs typeface="Arial"/>
              </a:defRPr>
            </a:pPr>
            <a:r>
              <a:rPr sz="1800" b="1">
                <a:solidFill>
                  <a:srgbClr val="173B31"/>
                </a:solidFill>
                <a:latin typeface="Arial"/>
                <a:ea typeface="Arial"/>
                <a:cs typeface="Arial"/>
              </a:rPr>
              <a:t>Hypercube still unfinished</a:t>
            </a:r>
          </a:p>
          <a:p xmlns:a="http://schemas.openxmlformats.org/drawingml/2006/main">
            <a:pPr algn="l">
              <a:defRPr sz="1800" b="1">
                <a:solidFill>
                  <a:srgbClr val="173B31"/>
                </a:solidFill>
                <a:latin typeface="Arial"/>
                <a:ea typeface="Arial"/>
                <a:cs typeface="Arial"/>
              </a:defRPr>
            </a:pPr>
            <a:r>
              <a:rPr sz="1800" b="1">
                <a:solidFill>
                  <a:srgbClr val="173B31"/>
                </a:solidFill>
                <a:latin typeface="Arial"/>
                <a:ea typeface="Arial"/>
                <a:cs typeface="Arial"/>
              </a:rPr>
              <a:t>on 21 August.</a:t>
            </a:r>
          </a:p>
        </p:txBody>
      </p:sp>
      <p:sp>
        <p:nvSpPr>
          <p:cNvPr id="13" name="Components need a complete&#10;UI hand-off and ve">
            <a:extLst xmlns:a="http://schemas.openxmlformats.org/drawingml/2006/main">
              <a:ext uri="{FF2B5EF4-FFF2-40B4-BE49-F238E27FC236}">
                <a16:creationId xmlns:a16="http://schemas.microsoft.com/office/drawing/2014/main" id="{4160FA97-7DC8-4ECA-9073-FD3558B4E72A}"/>
              </a:ext>
            </a:extLst>
          </p:cNvPr>
          <p:cNvSpPr>
            <a:spLocks xmlns:a="http://schemas.openxmlformats.org/drawingml/2006/main" noGrp="1"/>
          </p:cNvSpPr>
          <p:nvPr/>
        </p:nvSpPr>
        <p:spPr>
          <a:xfrm xmlns:a="http://schemas.openxmlformats.org/drawingml/2006/main">
            <a:off x="4010025" y="2409825"/>
            <a:ext cx="3467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Components need a complete</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UI hand-off and verification.</a:t>
            </a:r>
          </a:p>
        </p:txBody>
      </p:sp>
      <p:sp>
        <p:nvSpPr>
          <p:cNvPr id="14" name="Repaired integration merged&#10;in PR #29 on 28 A">
            <a:extLst xmlns:a="http://schemas.openxmlformats.org/drawingml/2006/main">
              <a:ext uri="{FF2B5EF4-FFF2-40B4-BE49-F238E27FC236}">
                <a16:creationId xmlns:a16="http://schemas.microsoft.com/office/drawing/2014/main" id="{22791492-A844-4E6F-A54C-530E5DEDAE9F}"/>
              </a:ext>
            </a:extLst>
          </p:cNvPr>
          <p:cNvSpPr>
            <a:spLocks xmlns:a="http://schemas.openxmlformats.org/drawingml/2006/main" noGrp="1"/>
          </p:cNvSpPr>
          <p:nvPr/>
        </p:nvSpPr>
        <p:spPr>
          <a:xfrm xmlns:a="http://schemas.openxmlformats.org/drawingml/2006/main">
            <a:off x="7705725" y="2409825"/>
            <a:ext cx="37623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Repaired integration merged</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in PR #29 on 28 August.</a:t>
            </a:r>
          </a:p>
        </p:txBody>
      </p:sp>
      <p:sp>
        <p:nvSpPr>
          <p:cNvPr id="15" name="">
            <a:extLst xmlns:a="http://schemas.openxmlformats.org/drawingml/2006/main">
              <a:ext uri="{FF2B5EF4-FFF2-40B4-BE49-F238E27FC236}">
                <a16:creationId xmlns:a16="http://schemas.microsoft.com/office/drawing/2014/main" id="{E56005F7-2E94-4422-A947-2A6ED7F5DD9A}"/>
              </a:ext>
            </a:extLst>
          </p:cNvPr>
          <p:cNvSpPr>
            <a:spLocks xmlns:a="http://schemas.openxmlformats.org/drawingml/2006/main" noGrp="1"/>
          </p:cNvSpPr>
          <p:nvPr/>
        </p:nvSpPr>
        <p:spPr>
          <a:xfrm xmlns:a="http://schemas.openxmlformats.org/drawingml/2006/main">
            <a:off x="609600" y="324802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16" name="View state and timing&#10;caused regressions.">
            <a:extLst xmlns:a="http://schemas.openxmlformats.org/drawingml/2006/main">
              <a:ext uri="{FF2B5EF4-FFF2-40B4-BE49-F238E27FC236}">
                <a16:creationId xmlns:a16="http://schemas.microsoft.com/office/drawing/2014/main" id="{6403C151-B970-4695-AE78-75106D962FAE}"/>
              </a:ext>
            </a:extLst>
          </p:cNvPr>
          <p:cNvSpPr>
            <a:spLocks xmlns:a="http://schemas.openxmlformats.org/drawingml/2006/main" noGrp="1"/>
          </p:cNvSpPr>
          <p:nvPr/>
        </p:nvSpPr>
        <p:spPr>
          <a:xfrm xmlns:a="http://schemas.openxmlformats.org/drawingml/2006/main">
            <a:off x="723900" y="3362325"/>
            <a:ext cx="30575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73B31"/>
                </a:solidFill>
                <a:latin typeface="Arial"/>
                <a:ea typeface="Arial"/>
                <a:cs typeface="Arial"/>
              </a:defRPr>
            </a:pPr>
            <a:r>
              <a:rPr sz="1800" b="1">
                <a:solidFill>
                  <a:srgbClr val="173B31"/>
                </a:solidFill>
                <a:latin typeface="Arial"/>
                <a:ea typeface="Arial"/>
                <a:cs typeface="Arial"/>
              </a:rPr>
              <a:t>View state and timing</a:t>
            </a:r>
          </a:p>
          <a:p xmlns:a="http://schemas.openxmlformats.org/drawingml/2006/main">
            <a:pPr algn="l">
              <a:defRPr sz="1800" b="1">
                <a:solidFill>
                  <a:srgbClr val="173B31"/>
                </a:solidFill>
                <a:latin typeface="Arial"/>
                <a:ea typeface="Arial"/>
                <a:cs typeface="Arial"/>
              </a:defRPr>
            </a:pPr>
            <a:r>
              <a:rPr sz="1800" b="1">
                <a:solidFill>
                  <a:srgbClr val="173B31"/>
                </a:solidFill>
                <a:latin typeface="Arial"/>
                <a:ea typeface="Arial"/>
                <a:cs typeface="Arial"/>
              </a:rPr>
              <a:t>caused regressions.</a:t>
            </a:r>
          </a:p>
        </p:txBody>
      </p:sp>
      <p:sp>
        <p:nvSpPr>
          <p:cNvPr id="17" name="Preserve framing when valid;&#10;refit crops and ">
            <a:extLst xmlns:a="http://schemas.openxmlformats.org/drawingml/2006/main">
              <a:ext uri="{FF2B5EF4-FFF2-40B4-BE49-F238E27FC236}">
                <a16:creationId xmlns:a16="http://schemas.microsoft.com/office/drawing/2014/main" id="{B59E007C-F6A1-48E6-892A-80DEC731EE09}"/>
              </a:ext>
            </a:extLst>
          </p:cNvPr>
          <p:cNvSpPr>
            <a:spLocks xmlns:a="http://schemas.openxmlformats.org/drawingml/2006/main" noGrp="1"/>
          </p:cNvSpPr>
          <p:nvPr/>
        </p:nvSpPr>
        <p:spPr>
          <a:xfrm xmlns:a="http://schemas.openxmlformats.org/drawingml/2006/main">
            <a:off x="4010025" y="3362325"/>
            <a:ext cx="3467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Preserve framing when valid;</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refit crops and test transitions.</a:t>
            </a:r>
          </a:p>
        </p:txBody>
      </p:sp>
      <p:sp>
        <p:nvSpPr>
          <p:cNvPr id="18" name="PR #30 fixes crop fit;&#10;PR #34 fixes flaky tes">
            <a:extLst xmlns:a="http://schemas.openxmlformats.org/drawingml/2006/main">
              <a:ext uri="{FF2B5EF4-FFF2-40B4-BE49-F238E27FC236}">
                <a16:creationId xmlns:a16="http://schemas.microsoft.com/office/drawing/2014/main" id="{5409F88B-E5EB-4F01-BC6E-38772B49620B}"/>
              </a:ext>
            </a:extLst>
          </p:cNvPr>
          <p:cNvSpPr>
            <a:spLocks xmlns:a="http://schemas.openxmlformats.org/drawingml/2006/main" noGrp="1"/>
          </p:cNvSpPr>
          <p:nvPr/>
        </p:nvSpPr>
        <p:spPr>
          <a:xfrm xmlns:a="http://schemas.openxmlformats.org/drawingml/2006/main">
            <a:off x="7705725" y="3362325"/>
            <a:ext cx="37623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PR #30 fixes crop fit;</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PR #34 fixes flaky tests.</a:t>
            </a:r>
          </a:p>
        </p:txBody>
      </p:sp>
      <p:sp>
        <p:nvSpPr>
          <p:cNvPr id="19" name="">
            <a:extLst xmlns:a="http://schemas.openxmlformats.org/drawingml/2006/main">
              <a:ext uri="{FF2B5EF4-FFF2-40B4-BE49-F238E27FC236}">
                <a16:creationId xmlns:a16="http://schemas.microsoft.com/office/drawing/2014/main" id="{8CC95DCC-EF5D-4E51-A929-360CA9CAFA85}"/>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20" name="Tutor requested regular&#10;reflection and risk u">
            <a:extLst xmlns:a="http://schemas.openxmlformats.org/drawingml/2006/main">
              <a:ext uri="{FF2B5EF4-FFF2-40B4-BE49-F238E27FC236}">
                <a16:creationId xmlns:a16="http://schemas.microsoft.com/office/drawing/2014/main" id="{FA36A583-07E5-40B3-B21E-77A5627F1F11}"/>
              </a:ext>
            </a:extLst>
          </p:cNvPr>
          <p:cNvSpPr>
            <a:spLocks xmlns:a="http://schemas.openxmlformats.org/drawingml/2006/main" noGrp="1"/>
          </p:cNvSpPr>
          <p:nvPr/>
        </p:nvSpPr>
        <p:spPr>
          <a:xfrm xmlns:a="http://schemas.openxmlformats.org/drawingml/2006/main">
            <a:off x="723900" y="4314825"/>
            <a:ext cx="30575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73B31"/>
                </a:solidFill>
                <a:latin typeface="Arial"/>
                <a:ea typeface="Arial"/>
                <a:cs typeface="Arial"/>
              </a:defRPr>
            </a:pPr>
            <a:r>
              <a:rPr sz="1800" b="1">
                <a:solidFill>
                  <a:srgbClr val="173B31"/>
                </a:solidFill>
                <a:latin typeface="Arial"/>
                <a:ea typeface="Arial"/>
                <a:cs typeface="Arial"/>
              </a:rPr>
              <a:t>Tutor requested regular</a:t>
            </a:r>
          </a:p>
          <a:p xmlns:a="http://schemas.openxmlformats.org/drawingml/2006/main">
            <a:pPr algn="l">
              <a:defRPr sz="1800" b="1">
                <a:solidFill>
                  <a:srgbClr val="173B31"/>
                </a:solidFill>
                <a:latin typeface="Arial"/>
                <a:ea typeface="Arial"/>
                <a:cs typeface="Arial"/>
              </a:defRPr>
            </a:pPr>
            <a:r>
              <a:rPr sz="1800" b="1">
                <a:solidFill>
                  <a:srgbClr val="173B31"/>
                </a:solidFill>
                <a:latin typeface="Arial"/>
                <a:ea typeface="Arial"/>
                <a:cs typeface="Arial"/>
              </a:rPr>
              <a:t>reflection and risk updates.</a:t>
            </a:r>
          </a:p>
        </p:txBody>
      </p:sp>
      <p:sp>
        <p:nvSpPr>
          <p:cNvPr id="21" name="Record lessons, next actions&#10;and named contri">
            <a:extLst xmlns:a="http://schemas.openxmlformats.org/drawingml/2006/main">
              <a:ext uri="{FF2B5EF4-FFF2-40B4-BE49-F238E27FC236}">
                <a16:creationId xmlns:a16="http://schemas.microsoft.com/office/drawing/2014/main" id="{1BDBFBED-A603-4B9D-BC8F-114621925CAE}"/>
              </a:ext>
            </a:extLst>
          </p:cNvPr>
          <p:cNvSpPr>
            <a:spLocks xmlns:a="http://schemas.openxmlformats.org/drawingml/2006/main" noGrp="1"/>
          </p:cNvSpPr>
          <p:nvPr/>
        </p:nvSpPr>
        <p:spPr>
          <a:xfrm xmlns:a="http://schemas.openxmlformats.org/drawingml/2006/main">
            <a:off x="4010025" y="4314825"/>
            <a:ext cx="3467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Record lessons, next actions</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and named contributions.</a:t>
            </a:r>
          </a:p>
        </p:txBody>
      </p:sp>
      <p:sp>
        <p:nvSpPr>
          <p:cNvPr id="22" name="Two weekly reflection pages;&#10;LEAF-157 links t">
            <a:extLst xmlns:a="http://schemas.openxmlformats.org/drawingml/2006/main">
              <a:ext uri="{FF2B5EF4-FFF2-40B4-BE49-F238E27FC236}">
                <a16:creationId xmlns:a16="http://schemas.microsoft.com/office/drawing/2014/main" id="{8620013D-CCDA-4ADB-B523-394898A60327}"/>
              </a:ext>
            </a:extLst>
          </p:cNvPr>
          <p:cNvSpPr>
            <a:spLocks xmlns:a="http://schemas.openxmlformats.org/drawingml/2006/main" noGrp="1"/>
          </p:cNvSpPr>
          <p:nvPr/>
        </p:nvSpPr>
        <p:spPr>
          <a:xfrm xmlns:a="http://schemas.openxmlformats.org/drawingml/2006/main">
            <a:off x="7705725" y="4314825"/>
            <a:ext cx="37623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Two weekly reflection pages;</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LEAF-157 links the follow-up.</a:t>
            </a:r>
          </a:p>
        </p:txBody>
      </p:sp>
      <p:sp>
        <p:nvSpPr>
          <p:cNvPr id="23" name="">
            <a:extLst xmlns:a="http://schemas.openxmlformats.org/drawingml/2006/main">
              <a:ext uri="{FF2B5EF4-FFF2-40B4-BE49-F238E27FC236}">
                <a16:creationId xmlns:a16="http://schemas.microsoft.com/office/drawing/2014/main" id="{0A9A89E9-FB45-472B-B532-7F88276F2847}"/>
              </a:ext>
            </a:extLst>
          </p:cNvPr>
          <p:cNvSpPr>
            <a:spLocks xmlns:a="http://schemas.openxmlformats.org/drawingml/2006/main" noGrp="1"/>
          </p:cNvSpPr>
          <p:nvPr/>
        </p:nvSpPr>
        <p:spPr>
          <a:xfrm xmlns:a="http://schemas.openxmlformats.org/drawingml/2006/main">
            <a:off x="609600" y="515302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24" name="">
            <a:extLst xmlns:a="http://schemas.openxmlformats.org/drawingml/2006/main">
              <a:ext uri="{FF2B5EF4-FFF2-40B4-BE49-F238E27FC236}">
                <a16:creationId xmlns:a16="http://schemas.microsoft.com/office/drawing/2014/main" id="{DAB081E4-0A15-43AF-9F81-7506AC098DFA}"/>
              </a:ext>
            </a:extLst>
          </p:cNvPr>
          <p:cNvSpPr>
            <a:spLocks xmlns:a="http://schemas.openxmlformats.org/drawingml/2006/main" noGrp="1"/>
          </p:cNvSpPr>
          <p:nvPr/>
        </p:nvSpPr>
        <p:spPr>
          <a:xfrm xmlns:a="http://schemas.openxmlformats.org/drawingml/2006/main">
            <a:off x="609600" y="5457825"/>
            <a:ext cx="10972800" cy="0"/>
          </a:xfrm>
          <a:prstGeom xmlns:a="http://schemas.openxmlformats.org/drawingml/2006/main" prst="line">
            <a:avLst/>
          </a:prstGeom>
          <a:noFill xmlns:a="http://schemas.openxmlformats.org/drawingml/2006/main"/>
          <a:ln xmlns:a="http://schemas.openxmlformats.org/drawingml/2006/main" w="14288">
            <a:solidFill>
              <a:srgbClr val="287553"/>
            </a:solidFill>
          </a:ln>
        </p:spPr>
      </p:sp>
      <p:sp>
        <p:nvSpPr>
          <p:cNvPr id="25" name="Next improvement: close each action with a re">
            <a:extLst xmlns:a="http://schemas.openxmlformats.org/drawingml/2006/main">
              <a:ext uri="{FF2B5EF4-FFF2-40B4-BE49-F238E27FC236}">
                <a16:creationId xmlns:a16="http://schemas.microsoft.com/office/drawing/2014/main" id="{BF63437B-C67F-4A13-ABC7-34E32BE8609B}"/>
              </a:ext>
            </a:extLst>
          </p:cNvPr>
          <p:cNvSpPr>
            <a:spLocks xmlns:a="http://schemas.openxmlformats.org/drawingml/2006/main" noGrp="1"/>
          </p:cNvSpPr>
          <p:nvPr/>
        </p:nvSpPr>
        <p:spPr>
          <a:xfrm xmlns:a="http://schemas.openxmlformats.org/drawingml/2006/main">
            <a:off x="609600" y="55911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287553"/>
                </a:solidFill>
                <a:latin typeface="Arial"/>
                <a:ea typeface="Arial"/>
                <a:cs typeface="Arial"/>
              </a:defRPr>
            </a:pPr>
            <a:r>
              <a:rPr sz="1800" b="1">
                <a:solidFill>
                  <a:srgbClr val="287553"/>
                </a:solidFill>
                <a:latin typeface="Arial"/>
                <a:ea typeface="Arial"/>
                <a:cs typeface="Arial"/>
              </a:rPr>
              <a:t>Next improvement: close each action with a result, not only a completed status.</a:t>
            </a:r>
          </a:p>
        </p:txBody>
      </p:sp>
    </p:spTree>
    <p:extLst>
      <p:ext uri="{BB962C8B-B14F-4D97-AF65-F5344CB8AC3E}">
        <p14:creationId xmlns:p14="http://schemas.microsoft.com/office/powerpoint/2010/main" val="23072182"/>
      </p:ext>
    </p:extLst>
  </p:cSld>
</p:sld>
</file>

<file path=ppt/slides/slide13.xml><?xml version="1.0" encoding="utf-8"?>
<p:sld xmlns:p="http://schemas.openxmlformats.org/presentationml/2006/main">
  <p:cSld>
    <p:bg>
      <p:bgPr>
        <a:solidFill xmlns:a="http://schemas.openxmlformats.org/drawingml/2006/main">
          <a:srgbClr val="F4F5F0"/>
        </a:solidFill>
      </p:bgPr>
    </p:bg>
    <p:spTree>
      <p:nvGrpSpPr>
        <p:cNvPr id="1" name=""/>
        <p:cNvGrpSpPr/>
        <p:nvPr/>
      </p:nvGrpSpPr>
      <p:grpSpPr>
        <a:xfrm xmlns:a="http://schemas.openxmlformats.org/drawingml/2006/main"/>
      </p:grpSpPr>
      <p:sp>
        <p:nvSpPr>
          <p:cNvPr id="29" name="SPRINT 4 FEEDBACK → SPRINT 5 EVIDENCE">
            <a:extLst xmlns:a="http://schemas.openxmlformats.org/drawingml/2006/main">
              <a:ext uri="{FF2B5EF4-FFF2-40B4-BE49-F238E27FC236}">
                <a16:creationId xmlns:a16="http://schemas.microsoft.com/office/drawing/2014/main" id="{DD2633FC-0F1F-459F-BAAF-A85F57194434}"/>
              </a:ext>
            </a:extLst>
          </p:cNvPr>
          <p:cNvSpPr>
            <a:spLocks xmlns:a="http://schemas.openxmlformats.org/drawingml/2006/main" noGrp="1"/>
          </p:cNvSpPr>
          <p:nvPr/>
        </p:nvSpPr>
        <p:spPr>
          <a:xfrm xmlns:a="http://schemas.openxmlformats.org/drawingml/2006/main">
            <a:off x="609600" y="4000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287553"/>
                </a:solidFill>
                <a:latin typeface="Arial"/>
                <a:ea typeface="Arial"/>
                <a:cs typeface="Arial"/>
              </a:defRPr>
            </a:pPr>
            <a:r>
              <a:rPr sz="1500" b="1">
                <a:solidFill>
                  <a:srgbClr val="287553"/>
                </a:solidFill>
                <a:latin typeface="Arial"/>
                <a:ea typeface="Arial"/>
                <a:cs typeface="Arial"/>
              </a:rPr>
              <a:t>SPRINT 4 FEEDBACK → SPRINT 5 EVIDENCE</a:t>
            </a:r>
          </a:p>
        </p:txBody>
      </p:sp>
      <p:sp>
        <p:nvSpPr>
          <p:cNvPr id="2" name="What changed after Sprint 4 feedback">
            <a:extLst xmlns:a="http://schemas.openxmlformats.org/drawingml/2006/main">
              <a:ext uri="{FF2B5EF4-FFF2-40B4-BE49-F238E27FC236}">
                <a16:creationId xmlns:a16="http://schemas.microsoft.com/office/drawing/2014/main" id="{87DE9D67-2FF6-4217-85A9-0F380FF9D091}"/>
              </a:ext>
            </a:extLst>
          </p:cNvPr>
          <p:cNvSpPr>
            <a:spLocks xmlns:a="http://schemas.openxmlformats.org/drawingml/2006/main" noGrp="1"/>
          </p:cNvSpPr>
          <p:nvPr/>
        </p:nvSpPr>
        <p:spPr>
          <a:xfrm xmlns:a="http://schemas.openxmlformats.org/drawingml/2006/main">
            <a:off x="609600" y="86677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3B31"/>
                </a:solidFill>
                <a:latin typeface="Arial"/>
                <a:ea typeface="Arial"/>
                <a:cs typeface="Arial"/>
              </a:defRPr>
            </a:pPr>
            <a:r>
              <a:rPr sz="3600" b="1">
                <a:solidFill>
                  <a:srgbClr val="173B31"/>
                </a:solidFill>
                <a:latin typeface="Arial"/>
                <a:ea typeface="Arial"/>
                <a:cs typeface="Arial"/>
              </a:rPr>
              <a:t>What changed after Sprint 4 feedback</a:t>
            </a:r>
          </a:p>
        </p:txBody>
      </p:sp>
      <p:sp>
        <p:nvSpPr>
          <p:cNvPr id="3" name="">
            <a:extLst xmlns:a="http://schemas.openxmlformats.org/drawingml/2006/main">
              <a:ext uri="{FF2B5EF4-FFF2-40B4-BE49-F238E27FC236}">
                <a16:creationId xmlns:a16="http://schemas.microsoft.com/office/drawing/2014/main" id="{EDEB7FC5-2867-4146-A798-E0E7AA225271}"/>
              </a:ext>
            </a:extLst>
          </p:cNvPr>
          <p:cNvSpPr>
            <a:spLocks xmlns:a="http://schemas.openxmlformats.org/drawingml/2006/main" noGrp="1"/>
          </p:cNvSpPr>
          <p:nvPr/>
        </p:nvSpPr>
        <p:spPr>
          <a:xfrm xmlns:a="http://schemas.openxmlformats.org/drawingml/2006/main">
            <a:off x="609600" y="623887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4" name="LEAF ANALYZER  /  SPRINT 5">
            <a:extLst xmlns:a="http://schemas.openxmlformats.org/drawingml/2006/main">
              <a:ext uri="{FF2B5EF4-FFF2-40B4-BE49-F238E27FC236}">
                <a16:creationId xmlns:a16="http://schemas.microsoft.com/office/drawing/2014/main" id="{3DD4BBEB-BFFB-4D68-B7E8-59DFA48AA1D4}"/>
              </a:ext>
            </a:extLst>
          </p:cNvPr>
          <p:cNvSpPr>
            <a:spLocks xmlns:a="http://schemas.openxmlformats.org/drawingml/2006/main" noGrp="1"/>
          </p:cNvSpPr>
          <p:nvPr/>
        </p:nvSpPr>
        <p:spPr>
          <a:xfrm xmlns:a="http://schemas.openxmlformats.org/drawingml/2006/main">
            <a:off x="609600" y="6410325"/>
            <a:ext cx="323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LEAF ANALYZER  /  SPRINT 5</a:t>
            </a:r>
          </a:p>
        </p:txBody>
      </p:sp>
      <p:sp>
        <p:nvSpPr>
          <p:cNvPr id="5" name="Evidence summary • no acceptance or accuracy ">
            <a:extLst xmlns:a="http://schemas.openxmlformats.org/drawingml/2006/main">
              <a:ext uri="{FF2B5EF4-FFF2-40B4-BE49-F238E27FC236}">
                <a16:creationId xmlns:a16="http://schemas.microsoft.com/office/drawing/2014/main" id="{EBB42CBD-B77F-4207-BC51-645B8CEE992C}"/>
              </a:ext>
            </a:extLst>
          </p:cNvPr>
          <p:cNvSpPr>
            <a:spLocks xmlns:a="http://schemas.openxmlformats.org/drawingml/2006/main" noGrp="1"/>
          </p:cNvSpPr>
          <p:nvPr/>
        </p:nvSpPr>
        <p:spPr>
          <a:xfrm xmlns:a="http://schemas.openxmlformats.org/drawingml/2006/main">
            <a:off x="3952875" y="6410325"/>
            <a:ext cx="708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Evidence summary • no acceptance or accuracy claims implied</a:t>
            </a:r>
          </a:p>
        </p:txBody>
      </p:sp>
      <p:sp>
        <p:nvSpPr>
          <p:cNvPr id="6" name="13">
            <a:extLst xmlns:a="http://schemas.openxmlformats.org/drawingml/2006/main">
              <a:ext uri="{FF2B5EF4-FFF2-40B4-BE49-F238E27FC236}">
                <a16:creationId xmlns:a16="http://schemas.microsoft.com/office/drawing/2014/main" id="{2793A503-49B0-4183-8616-1E33BE0ADE8B}"/>
              </a:ext>
            </a:extLst>
          </p:cNvPr>
          <p:cNvSpPr>
            <a:spLocks xmlns:a="http://schemas.openxmlformats.org/drawingml/2006/main" noGrp="1"/>
          </p:cNvSpPr>
          <p:nvPr/>
        </p:nvSpPr>
        <p:spPr>
          <a:xfrm xmlns:a="http://schemas.openxmlformats.org/drawingml/2006/main">
            <a:off x="11239500" y="6381750"/>
            <a:ext cx="361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13</a:t>
            </a:r>
          </a:p>
        </p:txBody>
      </p:sp>
      <p:sp>
        <p:nvSpPr>
          <p:cNvPr id="7" name="">
            <a:extLst xmlns:a="http://schemas.openxmlformats.org/drawingml/2006/main">
              <a:ext uri="{FF2B5EF4-FFF2-40B4-BE49-F238E27FC236}">
                <a16:creationId xmlns:a16="http://schemas.microsoft.com/office/drawing/2014/main" id="{12F8B305-AD62-4141-B8D4-BBD600F006F1}"/>
              </a:ext>
            </a:extLst>
          </p:cNvPr>
          <p:cNvSpPr>
            <a:spLocks xmlns:a="http://schemas.openxmlformats.org/drawingml/2006/main" noGrp="1"/>
          </p:cNvSpPr>
          <p:nvPr/>
        </p:nvSpPr>
        <p:spPr>
          <a:xfrm xmlns:a="http://schemas.openxmlformats.org/drawingml/2006/main">
            <a:off x="609600" y="1800225"/>
            <a:ext cx="10972800" cy="485775"/>
          </a:xfrm>
          <a:prstGeom xmlns:a="http://schemas.openxmlformats.org/drawingml/2006/main" prst="rect">
            <a:avLst/>
          </a:prstGeom>
          <a:solidFill xmlns:a="http://schemas.openxmlformats.org/drawingml/2006/main">
            <a:srgbClr val="E4ECE3"/>
          </a:solidFill>
          <a:ln xmlns:a="http://schemas.openxmlformats.org/drawingml/2006/main" w="0">
            <a:noFill/>
          </a:ln>
        </p:spPr>
      </p:sp>
      <p:sp>
        <p:nvSpPr>
          <p:cNvPr id="8" name="AREA">
            <a:extLst xmlns:a="http://schemas.openxmlformats.org/drawingml/2006/main">
              <a:ext uri="{FF2B5EF4-FFF2-40B4-BE49-F238E27FC236}">
                <a16:creationId xmlns:a16="http://schemas.microsoft.com/office/drawing/2014/main" id="{B2362500-2BAC-4E3E-A5DD-56D2E0D461CD}"/>
              </a:ext>
            </a:extLst>
          </p:cNvPr>
          <p:cNvSpPr>
            <a:spLocks xmlns:a="http://schemas.openxmlformats.org/drawingml/2006/main" noGrp="1"/>
          </p:cNvSpPr>
          <p:nvPr/>
        </p:nvSpPr>
        <p:spPr>
          <a:xfrm xmlns:a="http://schemas.openxmlformats.org/drawingml/2006/main">
            <a:off x="723900" y="1914525"/>
            <a:ext cx="2457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173B31"/>
                </a:solidFill>
                <a:latin typeface="Arial"/>
                <a:ea typeface="Arial"/>
                <a:cs typeface="Arial"/>
              </a:defRPr>
            </a:pPr>
            <a:r>
              <a:rPr sz="1575" b="1">
                <a:solidFill>
                  <a:srgbClr val="173B31"/>
                </a:solidFill>
                <a:latin typeface="Arial"/>
                <a:ea typeface="Arial"/>
                <a:cs typeface="Arial"/>
              </a:rPr>
              <a:t>AREA</a:t>
            </a:r>
          </a:p>
        </p:txBody>
      </p:sp>
      <p:sp>
        <p:nvSpPr>
          <p:cNvPr id="9" name="CHANGE + EVIDENCE">
            <a:extLst xmlns:a="http://schemas.openxmlformats.org/drawingml/2006/main">
              <a:ext uri="{FF2B5EF4-FFF2-40B4-BE49-F238E27FC236}">
                <a16:creationId xmlns:a16="http://schemas.microsoft.com/office/drawing/2014/main" id="{ACB7849E-BA41-469C-B45A-9D119B475401}"/>
              </a:ext>
            </a:extLst>
          </p:cNvPr>
          <p:cNvSpPr>
            <a:spLocks xmlns:a="http://schemas.openxmlformats.org/drawingml/2006/main" noGrp="1"/>
          </p:cNvSpPr>
          <p:nvPr/>
        </p:nvSpPr>
        <p:spPr>
          <a:xfrm xmlns:a="http://schemas.openxmlformats.org/drawingml/2006/main">
            <a:off x="3409950" y="1914525"/>
            <a:ext cx="46767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CHANGE + EVIDENCE</a:t>
            </a:r>
          </a:p>
        </p:txBody>
      </p:sp>
      <p:sp>
        <p:nvSpPr>
          <p:cNvPr id="10" name="IMPACT / REMAINING STEP">
            <a:extLst xmlns:a="http://schemas.openxmlformats.org/drawingml/2006/main">
              <a:ext uri="{FF2B5EF4-FFF2-40B4-BE49-F238E27FC236}">
                <a16:creationId xmlns:a16="http://schemas.microsoft.com/office/drawing/2014/main" id="{6A6652F3-E48C-4F29-B62A-5B91BDE4A344}"/>
              </a:ext>
            </a:extLst>
          </p:cNvPr>
          <p:cNvSpPr>
            <a:spLocks xmlns:a="http://schemas.openxmlformats.org/drawingml/2006/main" noGrp="1"/>
          </p:cNvSpPr>
          <p:nvPr/>
        </p:nvSpPr>
        <p:spPr>
          <a:xfrm xmlns:a="http://schemas.openxmlformats.org/drawingml/2006/main">
            <a:off x="8315325" y="1914525"/>
            <a:ext cx="31527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IMPACT / REMAINING STEP</a:t>
            </a:r>
          </a:p>
        </p:txBody>
      </p:sp>
      <p:sp>
        <p:nvSpPr>
          <p:cNvPr id="11" name="">
            <a:extLst xmlns:a="http://schemas.openxmlformats.org/drawingml/2006/main">
              <a:ext uri="{FF2B5EF4-FFF2-40B4-BE49-F238E27FC236}">
                <a16:creationId xmlns:a16="http://schemas.microsoft.com/office/drawing/2014/main" id="{C58AA48C-7E54-4717-95EB-338C5C33A479}"/>
              </a:ext>
            </a:extLst>
          </p:cNvPr>
          <p:cNvSpPr>
            <a:spLocks xmlns:a="http://schemas.openxmlformats.org/drawingml/2006/main" noGrp="1"/>
          </p:cNvSpPr>
          <p:nvPr/>
        </p:nvSpPr>
        <p:spPr>
          <a:xfrm xmlns:a="http://schemas.openxmlformats.org/drawingml/2006/main">
            <a:off x="609600" y="228600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12" name="Stakeholder actions">
            <a:extLst xmlns:a="http://schemas.openxmlformats.org/drawingml/2006/main">
              <a:ext uri="{FF2B5EF4-FFF2-40B4-BE49-F238E27FC236}">
                <a16:creationId xmlns:a16="http://schemas.microsoft.com/office/drawing/2014/main" id="{FCC79BE5-FBF7-47D4-BFA2-A113BE637025}"/>
              </a:ext>
            </a:extLst>
          </p:cNvPr>
          <p:cNvSpPr>
            <a:spLocks xmlns:a="http://schemas.openxmlformats.org/drawingml/2006/main" noGrp="1"/>
          </p:cNvSpPr>
          <p:nvPr/>
        </p:nvSpPr>
        <p:spPr>
          <a:xfrm xmlns:a="http://schemas.openxmlformats.org/drawingml/2006/main">
            <a:off x="723900" y="2400300"/>
            <a:ext cx="2457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73B31"/>
                </a:solidFill>
                <a:latin typeface="Arial"/>
                <a:ea typeface="Arial"/>
                <a:cs typeface="Arial"/>
              </a:defRPr>
            </a:pPr>
            <a:r>
              <a:rPr sz="1800" b="1">
                <a:solidFill>
                  <a:srgbClr val="173B31"/>
                </a:solidFill>
                <a:latin typeface="Arial"/>
                <a:ea typeface="Arial"/>
                <a:cs typeface="Arial"/>
              </a:rPr>
              <a:t>Stakeholder actions</a:t>
            </a:r>
          </a:p>
        </p:txBody>
      </p:sp>
      <p:sp>
        <p:nvSpPr>
          <p:cNvPr id="13" name="Linked requirements, Jira and reports;&#10;LEAF-1">
            <a:extLst xmlns:a="http://schemas.openxmlformats.org/drawingml/2006/main">
              <a:ext uri="{FF2B5EF4-FFF2-40B4-BE49-F238E27FC236}">
                <a16:creationId xmlns:a16="http://schemas.microsoft.com/office/drawing/2014/main" id="{96311690-6750-4C61-B950-EC9E6401CF50}"/>
              </a:ext>
            </a:extLst>
          </p:cNvPr>
          <p:cNvSpPr>
            <a:spLocks xmlns:a="http://schemas.openxmlformats.org/drawingml/2006/main" noGrp="1"/>
          </p:cNvSpPr>
          <p:nvPr/>
        </p:nvSpPr>
        <p:spPr>
          <a:xfrm xmlns:a="http://schemas.openxmlformats.org/drawingml/2006/main">
            <a:off x="3409950" y="2400300"/>
            <a:ext cx="46767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Linked requirements, Jira and reports;</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LEAF-157 records tutor follow-up.</a:t>
            </a:r>
          </a:p>
        </p:txBody>
      </p:sp>
      <p:sp>
        <p:nvSpPr>
          <p:cNvPr id="14" name="More traceable outcomes;&#10;client sign-off stil">
            <a:extLst xmlns:a="http://schemas.openxmlformats.org/drawingml/2006/main">
              <a:ext uri="{FF2B5EF4-FFF2-40B4-BE49-F238E27FC236}">
                <a16:creationId xmlns:a16="http://schemas.microsoft.com/office/drawing/2014/main" id="{64E3A7BA-2552-45DB-932B-2A2001570852}"/>
              </a:ext>
            </a:extLst>
          </p:cNvPr>
          <p:cNvSpPr>
            <a:spLocks xmlns:a="http://schemas.openxmlformats.org/drawingml/2006/main" noGrp="1"/>
          </p:cNvSpPr>
          <p:nvPr/>
        </p:nvSpPr>
        <p:spPr>
          <a:xfrm xmlns:a="http://schemas.openxmlformats.org/drawingml/2006/main">
            <a:off x="8315325" y="2400300"/>
            <a:ext cx="31527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More traceable outcomes;</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client sign-off still needed.</a:t>
            </a:r>
          </a:p>
        </p:txBody>
      </p:sp>
      <p:sp>
        <p:nvSpPr>
          <p:cNvPr id="15" name="">
            <a:extLst xmlns:a="http://schemas.openxmlformats.org/drawingml/2006/main">
              <a:ext uri="{FF2B5EF4-FFF2-40B4-BE49-F238E27FC236}">
                <a16:creationId xmlns:a16="http://schemas.microsoft.com/office/drawing/2014/main" id="{972D4907-AFC0-4F8B-AEB3-2C391C620C50}"/>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16" name="Effort estimation">
            <a:extLst xmlns:a="http://schemas.openxmlformats.org/drawingml/2006/main">
              <a:ext uri="{FF2B5EF4-FFF2-40B4-BE49-F238E27FC236}">
                <a16:creationId xmlns:a16="http://schemas.microsoft.com/office/drawing/2014/main" id="{4DCF293E-0BFF-4462-AF65-8DB7155ABA3A}"/>
              </a:ext>
            </a:extLst>
          </p:cNvPr>
          <p:cNvSpPr>
            <a:spLocks xmlns:a="http://schemas.openxmlformats.org/drawingml/2006/main" noGrp="1"/>
          </p:cNvSpPr>
          <p:nvPr/>
        </p:nvSpPr>
        <p:spPr>
          <a:xfrm xmlns:a="http://schemas.openxmlformats.org/drawingml/2006/main">
            <a:off x="723900" y="3238500"/>
            <a:ext cx="2457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73B31"/>
                </a:solidFill>
                <a:latin typeface="Arial"/>
                <a:ea typeface="Arial"/>
                <a:cs typeface="Arial"/>
              </a:defRPr>
            </a:pPr>
            <a:r>
              <a:rPr sz="1800" b="1">
                <a:solidFill>
                  <a:srgbClr val="173B31"/>
                </a:solidFill>
                <a:latin typeface="Arial"/>
                <a:ea typeface="Arial"/>
                <a:cs typeface="Arial"/>
              </a:rPr>
              <a:t>Effort estimation</a:t>
            </a:r>
          </a:p>
        </p:txBody>
      </p:sp>
      <p:sp>
        <p:nvSpPr>
          <p:cNvPr id="17" name="Estimates and worklogs now support&#10;selected t">
            <a:extLst xmlns:a="http://schemas.openxmlformats.org/drawingml/2006/main">
              <a:ext uri="{FF2B5EF4-FFF2-40B4-BE49-F238E27FC236}">
                <a16:creationId xmlns:a16="http://schemas.microsoft.com/office/drawing/2014/main" id="{B775F707-C045-45A4-9DAA-33B576680AF9}"/>
              </a:ext>
            </a:extLst>
          </p:cNvPr>
          <p:cNvSpPr>
            <a:spLocks xmlns:a="http://schemas.openxmlformats.org/drawingml/2006/main" noGrp="1"/>
          </p:cNvSpPr>
          <p:nvPr/>
        </p:nvSpPr>
        <p:spPr>
          <a:xfrm xmlns:a="http://schemas.openxmlformats.org/drawingml/2006/main">
            <a:off x="3409950" y="3238500"/>
            <a:ext cx="46767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Estimates and worklogs now support</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selected task comparisons.</a:t>
            </a:r>
          </a:p>
        </p:txBody>
      </p:sp>
      <p:sp>
        <p:nvSpPr>
          <p:cNvPr id="18" name="Work is more visible;&#10;preserve starting basel">
            <a:extLst xmlns:a="http://schemas.openxmlformats.org/drawingml/2006/main">
              <a:ext uri="{FF2B5EF4-FFF2-40B4-BE49-F238E27FC236}">
                <a16:creationId xmlns:a16="http://schemas.microsoft.com/office/drawing/2014/main" id="{7D78C9F9-A789-4C9C-8130-276EA4EDCB88}"/>
              </a:ext>
            </a:extLst>
          </p:cNvPr>
          <p:cNvSpPr>
            <a:spLocks xmlns:a="http://schemas.openxmlformats.org/drawingml/2006/main" noGrp="1"/>
          </p:cNvSpPr>
          <p:nvPr/>
        </p:nvSpPr>
        <p:spPr>
          <a:xfrm xmlns:a="http://schemas.openxmlformats.org/drawingml/2006/main">
            <a:off x="8315325" y="3238500"/>
            <a:ext cx="31527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Work is more visible;</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preserve starting baselines.</a:t>
            </a:r>
          </a:p>
        </p:txBody>
      </p:sp>
      <p:sp>
        <p:nvSpPr>
          <p:cNvPr id="19" name="">
            <a:extLst xmlns:a="http://schemas.openxmlformats.org/drawingml/2006/main">
              <a:ext uri="{FF2B5EF4-FFF2-40B4-BE49-F238E27FC236}">
                <a16:creationId xmlns:a16="http://schemas.microsoft.com/office/drawing/2014/main" id="{074E0712-6F10-4C05-A69D-7F9B74788135}"/>
              </a:ext>
            </a:extLst>
          </p:cNvPr>
          <p:cNvSpPr>
            <a:spLocks xmlns:a="http://schemas.openxmlformats.org/drawingml/2006/main" noGrp="1"/>
          </p:cNvSpPr>
          <p:nvPr/>
        </p:nvSpPr>
        <p:spPr>
          <a:xfrm xmlns:a="http://schemas.openxmlformats.org/drawingml/2006/main">
            <a:off x="609600" y="396240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20" name="Testing and CI">
            <a:extLst xmlns:a="http://schemas.openxmlformats.org/drawingml/2006/main">
              <a:ext uri="{FF2B5EF4-FFF2-40B4-BE49-F238E27FC236}">
                <a16:creationId xmlns:a16="http://schemas.microsoft.com/office/drawing/2014/main" id="{A64BD286-30B2-4F3C-B1BD-92B47A819EDA}"/>
              </a:ext>
            </a:extLst>
          </p:cNvPr>
          <p:cNvSpPr>
            <a:spLocks xmlns:a="http://schemas.openxmlformats.org/drawingml/2006/main" noGrp="1"/>
          </p:cNvSpPr>
          <p:nvPr/>
        </p:nvSpPr>
        <p:spPr>
          <a:xfrm xmlns:a="http://schemas.openxmlformats.org/drawingml/2006/main">
            <a:off x="723900" y="4076700"/>
            <a:ext cx="2457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73B31"/>
                </a:solidFill>
                <a:latin typeface="Arial"/>
                <a:ea typeface="Arial"/>
                <a:cs typeface="Arial"/>
              </a:defRPr>
            </a:pPr>
            <a:r>
              <a:rPr sz="1800" b="1">
                <a:solidFill>
                  <a:srgbClr val="173B31"/>
                </a:solidFill>
                <a:latin typeface="Arial"/>
                <a:ea typeface="Arial"/>
                <a:cs typeface="Arial"/>
              </a:rPr>
              <a:t>Testing and CI</a:t>
            </a:r>
          </a:p>
        </p:txBody>
      </p:sp>
      <p:sp>
        <p:nvSpPr>
          <p:cNvPr id="21" name="Tracked pytest / Qt tests and Actions;&#10;PR #25">
            <a:extLst xmlns:a="http://schemas.openxmlformats.org/drawingml/2006/main">
              <a:ext uri="{FF2B5EF4-FFF2-40B4-BE49-F238E27FC236}">
                <a16:creationId xmlns:a16="http://schemas.microsoft.com/office/drawing/2014/main" id="{9C32AF0B-3C3F-4231-A68E-18E98BF8CBC9}"/>
              </a:ext>
            </a:extLst>
          </p:cNvPr>
          <p:cNvSpPr>
            <a:spLocks xmlns:a="http://schemas.openxmlformats.org/drawingml/2006/main" noGrp="1"/>
          </p:cNvSpPr>
          <p:nvPr/>
        </p:nvSpPr>
        <p:spPr>
          <a:xfrm xmlns:a="http://schemas.openxmlformats.org/drawingml/2006/main">
            <a:off x="3409950" y="4076700"/>
            <a:ext cx="46767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Tracked pytest / Qt tests and Actions;</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PR #25 plus later regression fixes.</a:t>
            </a:r>
          </a:p>
        </p:txBody>
      </p:sp>
      <p:sp>
        <p:nvSpPr>
          <p:cNvPr id="22" name="Repeatable checks; extend&#10;SR, Windows and mod">
            <a:extLst xmlns:a="http://schemas.openxmlformats.org/drawingml/2006/main">
              <a:ext uri="{FF2B5EF4-FFF2-40B4-BE49-F238E27FC236}">
                <a16:creationId xmlns:a16="http://schemas.microsoft.com/office/drawing/2014/main" id="{1BCF6428-4F69-4E01-9E42-C5CC0A058992}"/>
              </a:ext>
            </a:extLst>
          </p:cNvPr>
          <p:cNvSpPr>
            <a:spLocks xmlns:a="http://schemas.openxmlformats.org/drawingml/2006/main" noGrp="1"/>
          </p:cNvSpPr>
          <p:nvPr/>
        </p:nvSpPr>
        <p:spPr>
          <a:xfrm xmlns:a="http://schemas.openxmlformats.org/drawingml/2006/main">
            <a:off x="8315325" y="4076700"/>
            <a:ext cx="31527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Repeatable checks; extend</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SR, Windows and model QA.</a:t>
            </a:r>
          </a:p>
        </p:txBody>
      </p:sp>
      <p:sp>
        <p:nvSpPr>
          <p:cNvPr id="23" name="">
            <a:extLst xmlns:a="http://schemas.openxmlformats.org/drawingml/2006/main">
              <a:ext uri="{FF2B5EF4-FFF2-40B4-BE49-F238E27FC236}">
                <a16:creationId xmlns:a16="http://schemas.microsoft.com/office/drawing/2014/main" id="{759D0509-283D-4D0F-A8D3-AB983A8C2821}"/>
              </a:ext>
            </a:extLst>
          </p:cNvPr>
          <p:cNvSpPr>
            <a:spLocks xmlns:a="http://schemas.openxmlformats.org/drawingml/2006/main" noGrp="1"/>
          </p:cNvSpPr>
          <p:nvPr/>
        </p:nvSpPr>
        <p:spPr>
          <a:xfrm xmlns:a="http://schemas.openxmlformats.org/drawingml/2006/main">
            <a:off x="609600" y="480060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24" name="Reflection log">
            <a:extLst xmlns:a="http://schemas.openxmlformats.org/drawingml/2006/main">
              <a:ext uri="{FF2B5EF4-FFF2-40B4-BE49-F238E27FC236}">
                <a16:creationId xmlns:a16="http://schemas.microsoft.com/office/drawing/2014/main" id="{DB1FE8EE-88EC-4AD4-9779-BF7E59A3845D}"/>
              </a:ext>
            </a:extLst>
          </p:cNvPr>
          <p:cNvSpPr>
            <a:spLocks xmlns:a="http://schemas.openxmlformats.org/drawingml/2006/main" noGrp="1"/>
          </p:cNvSpPr>
          <p:nvPr/>
        </p:nvSpPr>
        <p:spPr>
          <a:xfrm xmlns:a="http://schemas.openxmlformats.org/drawingml/2006/main">
            <a:off x="723900" y="4914900"/>
            <a:ext cx="2457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73B31"/>
                </a:solidFill>
                <a:latin typeface="Arial"/>
                <a:ea typeface="Arial"/>
                <a:cs typeface="Arial"/>
              </a:defRPr>
            </a:pPr>
            <a:r>
              <a:rPr sz="1800" b="1">
                <a:solidFill>
                  <a:srgbClr val="173B31"/>
                </a:solidFill>
                <a:latin typeface="Arial"/>
                <a:ea typeface="Arial"/>
                <a:cs typeface="Arial"/>
              </a:rPr>
              <a:t>Reflection log</a:t>
            </a:r>
          </a:p>
        </p:txBody>
      </p:sp>
      <p:sp>
        <p:nvSpPr>
          <p:cNvPr id="25" name="21 + 28 August team/individual logs;&#10;lessons ">
            <a:extLst xmlns:a="http://schemas.openxmlformats.org/drawingml/2006/main">
              <a:ext uri="{FF2B5EF4-FFF2-40B4-BE49-F238E27FC236}">
                <a16:creationId xmlns:a16="http://schemas.microsoft.com/office/drawing/2014/main" id="{5BCFA975-DC72-4BE8-B0F5-50D66B6B48E4}"/>
              </a:ext>
            </a:extLst>
          </p:cNvPr>
          <p:cNvSpPr>
            <a:spLocks xmlns:a="http://schemas.openxmlformats.org/drawingml/2006/main" noGrp="1"/>
          </p:cNvSpPr>
          <p:nvPr/>
        </p:nvSpPr>
        <p:spPr>
          <a:xfrm xmlns:a="http://schemas.openxmlformats.org/drawingml/2006/main">
            <a:off x="3409950" y="4914900"/>
            <a:ext cx="46767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21 + 28 August team/individual logs;</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lessons linked to subsequent work.</a:t>
            </a:r>
          </a:p>
        </p:txBody>
      </p:sp>
      <p:sp>
        <p:nvSpPr>
          <p:cNvPr id="26" name="Follow-up is documented;&#10;keep verifying actio">
            <a:extLst xmlns:a="http://schemas.openxmlformats.org/drawingml/2006/main">
              <a:ext uri="{FF2B5EF4-FFF2-40B4-BE49-F238E27FC236}">
                <a16:creationId xmlns:a16="http://schemas.microsoft.com/office/drawing/2014/main" id="{8A16FBF1-F1C0-42FD-A24C-B2C7C5A5FB72}"/>
              </a:ext>
            </a:extLst>
          </p:cNvPr>
          <p:cNvSpPr>
            <a:spLocks xmlns:a="http://schemas.openxmlformats.org/drawingml/2006/main" noGrp="1"/>
          </p:cNvSpPr>
          <p:nvPr/>
        </p:nvSpPr>
        <p:spPr>
          <a:xfrm xmlns:a="http://schemas.openxmlformats.org/drawingml/2006/main">
            <a:off x="8315325" y="4914900"/>
            <a:ext cx="31527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Follow-up is documented;</a:t>
            </a:r>
          </a:p>
          <a:p xmlns:a="http://schemas.openxmlformats.org/drawingml/2006/main">
            <a:pPr algn="l">
              <a:defRPr sz="1800" b="0">
                <a:solidFill>
                  <a:srgbClr val="586C63"/>
                </a:solidFill>
                <a:latin typeface="Arial"/>
                <a:ea typeface="Arial"/>
                <a:cs typeface="Arial"/>
              </a:defRPr>
            </a:pPr>
            <a:r>
              <a:rPr sz="1800" b="0">
                <a:solidFill>
                  <a:srgbClr val="586C63"/>
                </a:solidFill>
                <a:latin typeface="Arial"/>
                <a:ea typeface="Arial"/>
                <a:cs typeface="Arial"/>
              </a:rPr>
              <a:t>keep verifying action closure.</a:t>
            </a:r>
          </a:p>
        </p:txBody>
      </p:sp>
      <p:sp>
        <p:nvSpPr>
          <p:cNvPr id="27" name="">
            <a:extLst xmlns:a="http://schemas.openxmlformats.org/drawingml/2006/main">
              <a:ext uri="{FF2B5EF4-FFF2-40B4-BE49-F238E27FC236}">
                <a16:creationId xmlns:a16="http://schemas.microsoft.com/office/drawing/2014/main" id="{B843BB56-685A-4E4B-B611-F87DA29949AF}"/>
              </a:ext>
            </a:extLst>
          </p:cNvPr>
          <p:cNvSpPr>
            <a:spLocks xmlns:a="http://schemas.openxmlformats.org/drawingml/2006/main" noGrp="1"/>
          </p:cNvSpPr>
          <p:nvPr/>
        </p:nvSpPr>
        <p:spPr>
          <a:xfrm xmlns:a="http://schemas.openxmlformats.org/drawingml/2006/main">
            <a:off x="609600" y="563880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28" name="The clearest gains are working integrations a">
            <a:extLst xmlns:a="http://schemas.openxmlformats.org/drawingml/2006/main">
              <a:ext uri="{FF2B5EF4-FFF2-40B4-BE49-F238E27FC236}">
                <a16:creationId xmlns:a16="http://schemas.microsoft.com/office/drawing/2014/main" id="{93B8EBF9-FD3C-411B-923E-883AD2934ABE}"/>
              </a:ext>
            </a:extLst>
          </p:cNvPr>
          <p:cNvSpPr>
            <a:spLocks xmlns:a="http://schemas.openxmlformats.org/drawingml/2006/main" noGrp="1"/>
          </p:cNvSpPr>
          <p:nvPr/>
        </p:nvSpPr>
        <p:spPr>
          <a:xfrm xmlns:a="http://schemas.openxmlformats.org/drawingml/2006/main">
            <a:off x="609600" y="58388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87553"/>
                </a:solidFill>
                <a:latin typeface="Arial"/>
                <a:ea typeface="Arial"/>
                <a:cs typeface="Arial"/>
              </a:defRPr>
            </a:pPr>
            <a:r>
              <a:rPr sz="1875" b="1">
                <a:solidFill>
                  <a:srgbClr val="287553"/>
                </a:solidFill>
                <a:latin typeface="Arial"/>
                <a:ea typeface="Arial"/>
                <a:cs typeface="Arial"/>
              </a:rPr>
              <a:t>The clearest gains are working integrations and repeatable quality checks.</a:t>
            </a:r>
          </a:p>
        </p:txBody>
      </p:sp>
    </p:spTree>
    <p:extLst>
      <p:ext uri="{BB962C8B-B14F-4D97-AF65-F5344CB8AC3E}">
        <p14:creationId xmlns:p14="http://schemas.microsoft.com/office/powerpoint/2010/main" val="1735558795"/>
      </p:ext>
    </p:extLst>
  </p:cSld>
</p:sld>
</file>

<file path=ppt/slides/slide14.xml><?xml version="1.0" encoding="utf-8"?>
<p:sld xmlns:p="http://schemas.openxmlformats.org/presentationml/2006/main">
  <p:cSld>
    <p:bg>
      <p:bgPr>
        <a:solidFill xmlns:a="http://schemas.openxmlformats.org/drawingml/2006/main">
          <a:srgbClr val="F4F5F0"/>
        </a:solidFill>
      </p:bgPr>
    </p:bg>
    <p:spTree>
      <p:nvGrpSpPr>
        <p:cNvPr id="1" name=""/>
        <p:cNvGrpSpPr/>
        <p:nvPr/>
      </p:nvGrpSpPr>
      <p:grpSpPr>
        <a:xfrm xmlns:a="http://schemas.openxmlformats.org/drawingml/2006/main"/>
      </p:grpSpPr>
      <p:sp>
        <p:nvSpPr>
          <p:cNvPr id="33" name="SPRINT 6 GOALS AND PLAN">
            <a:extLst xmlns:a="http://schemas.openxmlformats.org/drawingml/2006/main">
              <a:ext uri="{FF2B5EF4-FFF2-40B4-BE49-F238E27FC236}">
                <a16:creationId xmlns:a16="http://schemas.microsoft.com/office/drawing/2014/main" id="{1A2C8A2B-610F-4A29-8DA8-6FCC50E46953}"/>
              </a:ext>
            </a:extLst>
          </p:cNvPr>
          <p:cNvSpPr>
            <a:spLocks xmlns:a="http://schemas.openxmlformats.org/drawingml/2006/main" noGrp="1"/>
          </p:cNvSpPr>
          <p:nvPr/>
        </p:nvSpPr>
        <p:spPr>
          <a:xfrm xmlns:a="http://schemas.openxmlformats.org/drawingml/2006/main">
            <a:off x="609600" y="4000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287553"/>
                </a:solidFill>
                <a:latin typeface="Arial"/>
                <a:ea typeface="Arial"/>
                <a:cs typeface="Arial"/>
              </a:defRPr>
            </a:pPr>
            <a:r>
              <a:rPr sz="1500" b="1">
                <a:solidFill>
                  <a:srgbClr val="287553"/>
                </a:solidFill>
                <a:latin typeface="Arial"/>
                <a:ea typeface="Arial"/>
                <a:cs typeface="Arial"/>
              </a:rPr>
              <a:t>SPRINT 6 GOALS AND PLAN</a:t>
            </a:r>
          </a:p>
        </p:txBody>
      </p:sp>
      <p:sp>
        <p:nvSpPr>
          <p:cNvPr id="2" name="Validate and finish the core workflow">
            <a:extLst xmlns:a="http://schemas.openxmlformats.org/drawingml/2006/main">
              <a:ext uri="{FF2B5EF4-FFF2-40B4-BE49-F238E27FC236}">
                <a16:creationId xmlns:a16="http://schemas.microsoft.com/office/drawing/2014/main" id="{E5AD6C75-F161-42D3-8698-8F0C7C319DEB}"/>
              </a:ext>
            </a:extLst>
          </p:cNvPr>
          <p:cNvSpPr>
            <a:spLocks xmlns:a="http://schemas.openxmlformats.org/drawingml/2006/main" noGrp="1"/>
          </p:cNvSpPr>
          <p:nvPr/>
        </p:nvSpPr>
        <p:spPr>
          <a:xfrm xmlns:a="http://schemas.openxmlformats.org/drawingml/2006/main">
            <a:off x="609600" y="86677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3B31"/>
                </a:solidFill>
                <a:latin typeface="Arial"/>
                <a:ea typeface="Arial"/>
                <a:cs typeface="Arial"/>
              </a:defRPr>
            </a:pPr>
            <a:r>
              <a:rPr sz="3600" b="1">
                <a:solidFill>
                  <a:srgbClr val="173B31"/>
                </a:solidFill>
                <a:latin typeface="Arial"/>
                <a:ea typeface="Arial"/>
                <a:cs typeface="Arial"/>
              </a:rPr>
              <a:t>Validate and finish the core workflow</a:t>
            </a:r>
          </a:p>
        </p:txBody>
      </p:sp>
      <p:sp>
        <p:nvSpPr>
          <p:cNvPr id="3" name="">
            <a:extLst xmlns:a="http://schemas.openxmlformats.org/drawingml/2006/main">
              <a:ext uri="{FF2B5EF4-FFF2-40B4-BE49-F238E27FC236}">
                <a16:creationId xmlns:a16="http://schemas.microsoft.com/office/drawing/2014/main" id="{C20774A2-50A1-40D6-858F-515F85567F5E}"/>
              </a:ext>
            </a:extLst>
          </p:cNvPr>
          <p:cNvSpPr>
            <a:spLocks xmlns:a="http://schemas.openxmlformats.org/drawingml/2006/main" noGrp="1"/>
          </p:cNvSpPr>
          <p:nvPr/>
        </p:nvSpPr>
        <p:spPr>
          <a:xfrm xmlns:a="http://schemas.openxmlformats.org/drawingml/2006/main">
            <a:off x="609600" y="6238875"/>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4" name="LEAF ANALYZER  /  SPRINT 5">
            <a:extLst xmlns:a="http://schemas.openxmlformats.org/drawingml/2006/main">
              <a:ext uri="{FF2B5EF4-FFF2-40B4-BE49-F238E27FC236}">
                <a16:creationId xmlns:a16="http://schemas.microsoft.com/office/drawing/2014/main" id="{315FC933-F877-47FB-BD17-804F58DA5744}"/>
              </a:ext>
            </a:extLst>
          </p:cNvPr>
          <p:cNvSpPr>
            <a:spLocks xmlns:a="http://schemas.openxmlformats.org/drawingml/2006/main" noGrp="1"/>
          </p:cNvSpPr>
          <p:nvPr/>
        </p:nvSpPr>
        <p:spPr>
          <a:xfrm xmlns:a="http://schemas.openxmlformats.org/drawingml/2006/main">
            <a:off x="609600" y="6410325"/>
            <a:ext cx="323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LEAF ANALYZER  /  SPRINT 5</a:t>
            </a:r>
          </a:p>
        </p:txBody>
      </p:sp>
      <p:sp>
        <p:nvSpPr>
          <p:cNvPr id="5" name="Proposed priorities • remaining Jira work + W">
            <a:extLst xmlns:a="http://schemas.openxmlformats.org/drawingml/2006/main">
              <a:ext uri="{FF2B5EF4-FFF2-40B4-BE49-F238E27FC236}">
                <a16:creationId xmlns:a16="http://schemas.microsoft.com/office/drawing/2014/main" id="{51ECC4FB-B373-47C3-81E0-971E76178C02}"/>
              </a:ext>
            </a:extLst>
          </p:cNvPr>
          <p:cNvSpPr>
            <a:spLocks xmlns:a="http://schemas.openxmlformats.org/drawingml/2006/main" noGrp="1"/>
          </p:cNvSpPr>
          <p:nvPr/>
        </p:nvSpPr>
        <p:spPr>
          <a:xfrm xmlns:a="http://schemas.openxmlformats.org/drawingml/2006/main">
            <a:off x="3952875" y="6410325"/>
            <a:ext cx="708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86C63"/>
                </a:solidFill>
                <a:latin typeface="Arial"/>
                <a:ea typeface="Arial"/>
                <a:cs typeface="Arial"/>
              </a:defRPr>
            </a:pPr>
            <a:r>
              <a:rPr sz="1350" b="0">
                <a:solidFill>
                  <a:srgbClr val="586C63"/>
                </a:solidFill>
                <a:latin typeface="Arial"/>
                <a:ea typeface="Arial"/>
                <a:cs typeface="Arial"/>
              </a:rPr>
              <a:t>Proposed priorities • remaining Jira work + Week 5 report</a:t>
            </a:r>
          </a:p>
        </p:txBody>
      </p:sp>
      <p:sp>
        <p:nvSpPr>
          <p:cNvPr id="6" name="14">
            <a:extLst xmlns:a="http://schemas.openxmlformats.org/drawingml/2006/main">
              <a:ext uri="{FF2B5EF4-FFF2-40B4-BE49-F238E27FC236}">
                <a16:creationId xmlns:a16="http://schemas.microsoft.com/office/drawing/2014/main" id="{48D24450-9B01-457E-B2D9-61BB695C77C1}"/>
              </a:ext>
            </a:extLst>
          </p:cNvPr>
          <p:cNvSpPr>
            <a:spLocks xmlns:a="http://schemas.openxmlformats.org/drawingml/2006/main" noGrp="1"/>
          </p:cNvSpPr>
          <p:nvPr/>
        </p:nvSpPr>
        <p:spPr>
          <a:xfrm xmlns:a="http://schemas.openxmlformats.org/drawingml/2006/main">
            <a:off x="11239500" y="6381750"/>
            <a:ext cx="361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14</a:t>
            </a:r>
          </a:p>
        </p:txBody>
      </p:sp>
      <p:sp>
        <p:nvSpPr>
          <p:cNvPr id="7" name="">
            <a:extLst xmlns:a="http://schemas.openxmlformats.org/drawingml/2006/main">
              <a:ext uri="{FF2B5EF4-FFF2-40B4-BE49-F238E27FC236}">
                <a16:creationId xmlns:a16="http://schemas.microsoft.com/office/drawing/2014/main" id="{143E4341-E980-4811-8EE1-9BC5D66EBB03}"/>
              </a:ext>
            </a:extLst>
          </p:cNvPr>
          <p:cNvSpPr>
            <a:spLocks xmlns:a="http://schemas.openxmlformats.org/drawingml/2006/main" noGrp="1"/>
          </p:cNvSpPr>
          <p:nvPr/>
        </p:nvSpPr>
        <p:spPr>
          <a:xfrm xmlns:a="http://schemas.openxmlformats.org/drawingml/2006/main">
            <a:off x="609600" y="1781175"/>
            <a:ext cx="10972800" cy="466725"/>
          </a:xfrm>
          <a:prstGeom xmlns:a="http://schemas.openxmlformats.org/drawingml/2006/main" prst="rect">
            <a:avLst/>
          </a:prstGeom>
          <a:solidFill xmlns:a="http://schemas.openxmlformats.org/drawingml/2006/main">
            <a:srgbClr val="E4ECE3"/>
          </a:solidFill>
          <a:ln xmlns:a="http://schemas.openxmlformats.org/drawingml/2006/main" w="0">
            <a:noFill/>
          </a:ln>
        </p:spPr>
      </p:sp>
      <p:sp>
        <p:nvSpPr>
          <p:cNvPr id="8" name="GOAL">
            <a:extLst xmlns:a="http://schemas.openxmlformats.org/drawingml/2006/main">
              <a:ext uri="{FF2B5EF4-FFF2-40B4-BE49-F238E27FC236}">
                <a16:creationId xmlns:a16="http://schemas.microsoft.com/office/drawing/2014/main" id="{EF21C327-CE4C-466A-ACD0-F932980EC9E9}"/>
              </a:ext>
            </a:extLst>
          </p:cNvPr>
          <p:cNvSpPr>
            <a:spLocks xmlns:a="http://schemas.openxmlformats.org/drawingml/2006/main" noGrp="1"/>
          </p:cNvSpPr>
          <p:nvPr/>
        </p:nvSpPr>
        <p:spPr>
          <a:xfrm xmlns:a="http://schemas.openxmlformats.org/drawingml/2006/main">
            <a:off x="723900" y="1895475"/>
            <a:ext cx="30575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173B31"/>
                </a:solidFill>
                <a:latin typeface="Arial"/>
                <a:ea typeface="Arial"/>
                <a:cs typeface="Arial"/>
              </a:defRPr>
            </a:pPr>
            <a:r>
              <a:rPr sz="1575" b="1">
                <a:solidFill>
                  <a:srgbClr val="173B31"/>
                </a:solidFill>
                <a:latin typeface="Arial"/>
                <a:ea typeface="Arial"/>
                <a:cs typeface="Arial"/>
              </a:rPr>
              <a:t>GOAL</a:t>
            </a:r>
          </a:p>
        </p:txBody>
      </p:sp>
      <p:sp>
        <p:nvSpPr>
          <p:cNvPr id="9" name="WHY IT MATTERS">
            <a:extLst xmlns:a="http://schemas.openxmlformats.org/drawingml/2006/main">
              <a:ext uri="{FF2B5EF4-FFF2-40B4-BE49-F238E27FC236}">
                <a16:creationId xmlns:a16="http://schemas.microsoft.com/office/drawing/2014/main" id="{ED5C387E-4A13-42F7-A0CA-F29F6F60AF24}"/>
              </a:ext>
            </a:extLst>
          </p:cNvPr>
          <p:cNvSpPr>
            <a:spLocks xmlns:a="http://schemas.openxmlformats.org/drawingml/2006/main" noGrp="1"/>
          </p:cNvSpPr>
          <p:nvPr/>
        </p:nvSpPr>
        <p:spPr>
          <a:xfrm xmlns:a="http://schemas.openxmlformats.org/drawingml/2006/main">
            <a:off x="4010025" y="1895475"/>
            <a:ext cx="29051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WHY IT MATTERS</a:t>
            </a:r>
          </a:p>
        </p:txBody>
      </p:sp>
      <p:sp>
        <p:nvSpPr>
          <p:cNvPr id="10" name="PLANNED ACTION">
            <a:extLst xmlns:a="http://schemas.openxmlformats.org/drawingml/2006/main">
              <a:ext uri="{FF2B5EF4-FFF2-40B4-BE49-F238E27FC236}">
                <a16:creationId xmlns:a16="http://schemas.microsoft.com/office/drawing/2014/main" id="{D5A45024-9C88-4587-8B80-1F1E392B5D9F}"/>
              </a:ext>
            </a:extLst>
          </p:cNvPr>
          <p:cNvSpPr>
            <a:spLocks xmlns:a="http://schemas.openxmlformats.org/drawingml/2006/main" noGrp="1"/>
          </p:cNvSpPr>
          <p:nvPr/>
        </p:nvSpPr>
        <p:spPr>
          <a:xfrm xmlns:a="http://schemas.openxmlformats.org/drawingml/2006/main">
            <a:off x="7143750" y="1895475"/>
            <a:ext cx="43243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86C63"/>
                </a:solidFill>
                <a:latin typeface="Arial"/>
                <a:ea typeface="Arial"/>
                <a:cs typeface="Arial"/>
              </a:defRPr>
            </a:pPr>
            <a:r>
              <a:rPr sz="1575" b="0">
                <a:solidFill>
                  <a:srgbClr val="586C63"/>
                </a:solidFill>
                <a:latin typeface="Arial"/>
                <a:ea typeface="Arial"/>
                <a:cs typeface="Arial"/>
              </a:rPr>
              <a:t>PLANNED ACTION</a:t>
            </a:r>
          </a:p>
        </p:txBody>
      </p:sp>
      <p:sp>
        <p:nvSpPr>
          <p:cNvPr id="11" name="">
            <a:extLst xmlns:a="http://schemas.openxmlformats.org/drawingml/2006/main">
              <a:ext uri="{FF2B5EF4-FFF2-40B4-BE49-F238E27FC236}">
                <a16:creationId xmlns:a16="http://schemas.microsoft.com/office/drawing/2014/main" id="{1C1F4509-2F71-482D-8B70-595E931AEAC8}"/>
              </a:ext>
            </a:extLst>
          </p:cNvPr>
          <p:cNvSpPr>
            <a:spLocks xmlns:a="http://schemas.openxmlformats.org/drawingml/2006/main" noGrp="1"/>
          </p:cNvSpPr>
          <p:nvPr/>
        </p:nvSpPr>
        <p:spPr>
          <a:xfrm xmlns:a="http://schemas.openxmlformats.org/drawingml/2006/main">
            <a:off x="609600" y="224790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12" name="1  Finish calibration">
            <a:extLst xmlns:a="http://schemas.openxmlformats.org/drawingml/2006/main">
              <a:ext uri="{FF2B5EF4-FFF2-40B4-BE49-F238E27FC236}">
                <a16:creationId xmlns:a16="http://schemas.microsoft.com/office/drawing/2014/main" id="{0EF0FE91-E995-4121-9234-1EC78343C91F}"/>
              </a:ext>
            </a:extLst>
          </p:cNvPr>
          <p:cNvSpPr>
            <a:spLocks xmlns:a="http://schemas.openxmlformats.org/drawingml/2006/main" noGrp="1"/>
          </p:cNvSpPr>
          <p:nvPr/>
        </p:nvSpPr>
        <p:spPr>
          <a:xfrm xmlns:a="http://schemas.openxmlformats.org/drawingml/2006/main">
            <a:off x="723900" y="2362200"/>
            <a:ext cx="30575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173B31"/>
                </a:solidFill>
                <a:latin typeface="Arial"/>
                <a:ea typeface="Arial"/>
                <a:cs typeface="Arial"/>
              </a:defRPr>
            </a:pPr>
            <a:r>
              <a:rPr sz="1725" b="1">
                <a:solidFill>
                  <a:srgbClr val="173B31"/>
                </a:solidFill>
                <a:latin typeface="Arial"/>
                <a:ea typeface="Arial"/>
                <a:cs typeface="Arial"/>
              </a:rPr>
              <a:t>1  Finish calibration</a:t>
            </a:r>
          </a:p>
        </p:txBody>
      </p:sp>
      <p:sp>
        <p:nvSpPr>
          <p:cNvPr id="13" name="Turn raw data into a&#10;calibrated workflow.">
            <a:extLst xmlns:a="http://schemas.openxmlformats.org/drawingml/2006/main">
              <a:ext uri="{FF2B5EF4-FFF2-40B4-BE49-F238E27FC236}">
                <a16:creationId xmlns:a16="http://schemas.microsoft.com/office/drawing/2014/main" id="{D455705C-D956-44D2-ADC5-27742873C2E4}"/>
              </a:ext>
            </a:extLst>
          </p:cNvPr>
          <p:cNvSpPr>
            <a:spLocks xmlns:a="http://schemas.openxmlformats.org/drawingml/2006/main" noGrp="1"/>
          </p:cNvSpPr>
          <p:nvPr/>
        </p:nvSpPr>
        <p:spPr>
          <a:xfrm xmlns:a="http://schemas.openxmlformats.org/drawingml/2006/main">
            <a:off x="4010025" y="2362200"/>
            <a:ext cx="2905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Turn raw data into a</a:t>
            </a:r>
          </a:p>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calibrated workflow.</a:t>
            </a:r>
          </a:p>
        </p:txBody>
      </p:sp>
      <p:sp>
        <p:nvSpPr>
          <p:cNvPr id="14" name="Jingyi: LEAF-115 algorithm;&#10;Guochen: LEAF-116">
            <a:extLst xmlns:a="http://schemas.openxmlformats.org/drawingml/2006/main">
              <a:ext uri="{FF2B5EF4-FFF2-40B4-BE49-F238E27FC236}">
                <a16:creationId xmlns:a16="http://schemas.microsoft.com/office/drawing/2014/main" id="{0050B5C8-5A8F-4433-A077-93AB8E7453CB}"/>
              </a:ext>
            </a:extLst>
          </p:cNvPr>
          <p:cNvSpPr>
            <a:spLocks xmlns:a="http://schemas.openxmlformats.org/drawingml/2006/main" noGrp="1"/>
          </p:cNvSpPr>
          <p:nvPr/>
        </p:nvSpPr>
        <p:spPr>
          <a:xfrm xmlns:a="http://schemas.openxmlformats.org/drawingml/2006/main">
            <a:off x="7143750" y="2362200"/>
            <a:ext cx="4324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Jingyi: LEAF-115 algorithm;</a:t>
            </a:r>
          </a:p>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Guochen: LEAF-116 UI + checks.</a:t>
            </a:r>
          </a:p>
        </p:txBody>
      </p:sp>
      <p:sp>
        <p:nvSpPr>
          <p:cNvPr id="15" name="">
            <a:extLst xmlns:a="http://schemas.openxmlformats.org/drawingml/2006/main">
              <a:ext uri="{FF2B5EF4-FFF2-40B4-BE49-F238E27FC236}">
                <a16:creationId xmlns:a16="http://schemas.microsoft.com/office/drawing/2014/main" id="{53ACA583-DB29-47E0-8E50-F5FF8EE3D2F0}"/>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16" name="2  Validate classification">
            <a:extLst xmlns:a="http://schemas.openxmlformats.org/drawingml/2006/main">
              <a:ext uri="{FF2B5EF4-FFF2-40B4-BE49-F238E27FC236}">
                <a16:creationId xmlns:a16="http://schemas.microsoft.com/office/drawing/2014/main" id="{A40600C7-A2B0-4FA8-8E3B-2A03C8E10B40}"/>
              </a:ext>
            </a:extLst>
          </p:cNvPr>
          <p:cNvSpPr>
            <a:spLocks xmlns:a="http://schemas.openxmlformats.org/drawingml/2006/main" noGrp="1"/>
          </p:cNvSpPr>
          <p:nvPr/>
        </p:nvSpPr>
        <p:spPr>
          <a:xfrm xmlns:a="http://schemas.openxmlformats.org/drawingml/2006/main">
            <a:off x="723900" y="3067050"/>
            <a:ext cx="30575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173B31"/>
                </a:solidFill>
                <a:latin typeface="Arial"/>
                <a:ea typeface="Arial"/>
                <a:cs typeface="Arial"/>
              </a:defRPr>
            </a:pPr>
            <a:r>
              <a:rPr sz="1725" b="1">
                <a:solidFill>
                  <a:srgbClr val="173B31"/>
                </a:solidFill>
                <a:latin typeface="Arial"/>
                <a:ea typeface="Arial"/>
                <a:cs typeface="Arial"/>
              </a:rPr>
              <a:t>2  Validate classification</a:t>
            </a:r>
          </a:p>
        </p:txBody>
      </p:sp>
      <p:sp>
        <p:nvSpPr>
          <p:cNvPr id="17" name="Merged code needs explicit&#10;regression evidenc">
            <a:extLst xmlns:a="http://schemas.openxmlformats.org/drawingml/2006/main">
              <a:ext uri="{FF2B5EF4-FFF2-40B4-BE49-F238E27FC236}">
                <a16:creationId xmlns:a16="http://schemas.microsoft.com/office/drawing/2014/main" id="{D204807D-29DC-4C19-A5BF-9A680FE8B37C}"/>
              </a:ext>
            </a:extLst>
          </p:cNvPr>
          <p:cNvSpPr>
            <a:spLocks xmlns:a="http://schemas.openxmlformats.org/drawingml/2006/main" noGrp="1"/>
          </p:cNvSpPr>
          <p:nvPr/>
        </p:nvSpPr>
        <p:spPr>
          <a:xfrm xmlns:a="http://schemas.openxmlformats.org/drawingml/2006/main">
            <a:off x="4010025" y="3067050"/>
            <a:ext cx="2905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Merged code needs explicit</a:t>
            </a:r>
          </a:p>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regression evidence.</a:t>
            </a:r>
          </a:p>
        </p:txBody>
      </p:sp>
      <p:sp>
        <p:nvSpPr>
          <p:cNvPr id="18" name="Track model/UI tests; check mask&#10;alignment af">
            <a:extLst xmlns:a="http://schemas.openxmlformats.org/drawingml/2006/main">
              <a:ext uri="{FF2B5EF4-FFF2-40B4-BE49-F238E27FC236}">
                <a16:creationId xmlns:a16="http://schemas.microsoft.com/office/drawing/2014/main" id="{295FE395-8BD8-4644-BEDD-0FF06E3E9A2C}"/>
              </a:ext>
            </a:extLst>
          </p:cNvPr>
          <p:cNvSpPr>
            <a:spLocks xmlns:a="http://schemas.openxmlformats.org/drawingml/2006/main" noGrp="1"/>
          </p:cNvSpPr>
          <p:nvPr/>
        </p:nvSpPr>
        <p:spPr>
          <a:xfrm xmlns:a="http://schemas.openxmlformats.org/drawingml/2006/main">
            <a:off x="7143750" y="3067050"/>
            <a:ext cx="4324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Track model/UI tests; check mask</a:t>
            </a:r>
          </a:p>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alignment after SR, crop and reload.</a:t>
            </a:r>
          </a:p>
        </p:txBody>
      </p:sp>
      <p:sp>
        <p:nvSpPr>
          <p:cNvPr id="19" name="">
            <a:extLst xmlns:a="http://schemas.openxmlformats.org/drawingml/2006/main">
              <a:ext uri="{FF2B5EF4-FFF2-40B4-BE49-F238E27FC236}">
                <a16:creationId xmlns:a16="http://schemas.microsoft.com/office/drawing/2014/main" id="{C16A6BCF-DDAE-4C26-92F9-237C4B1A2BAB}"/>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20" name="3  Verify scientific results">
            <a:extLst xmlns:a="http://schemas.openxmlformats.org/drawingml/2006/main">
              <a:ext uri="{FF2B5EF4-FFF2-40B4-BE49-F238E27FC236}">
                <a16:creationId xmlns:a16="http://schemas.microsoft.com/office/drawing/2014/main" id="{6DF87A4D-32B9-40CE-A6C5-7E5CCAE0549A}"/>
              </a:ext>
            </a:extLst>
          </p:cNvPr>
          <p:cNvSpPr>
            <a:spLocks xmlns:a="http://schemas.openxmlformats.org/drawingml/2006/main" noGrp="1"/>
          </p:cNvSpPr>
          <p:nvPr/>
        </p:nvSpPr>
        <p:spPr>
          <a:xfrm xmlns:a="http://schemas.openxmlformats.org/drawingml/2006/main">
            <a:off x="723900" y="3771900"/>
            <a:ext cx="30575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173B31"/>
                </a:solidFill>
                <a:latin typeface="Arial"/>
                <a:ea typeface="Arial"/>
                <a:cs typeface="Arial"/>
              </a:defRPr>
            </a:pPr>
            <a:r>
              <a:rPr sz="1725" b="1">
                <a:solidFill>
                  <a:srgbClr val="173B31"/>
                </a:solidFill>
                <a:latin typeface="Arial"/>
                <a:ea typeface="Arial"/>
                <a:cs typeface="Arial"/>
              </a:rPr>
              <a:t>3  Verify scientific results</a:t>
            </a:r>
          </a:p>
        </p:txBody>
      </p:sp>
      <p:sp>
        <p:nvSpPr>
          <p:cNvPr id="21" name="A rendered image is not&#10;proof of accuracy.">
            <a:extLst xmlns:a="http://schemas.openxmlformats.org/drawingml/2006/main">
              <a:ext uri="{FF2B5EF4-FFF2-40B4-BE49-F238E27FC236}">
                <a16:creationId xmlns:a16="http://schemas.microsoft.com/office/drawing/2014/main" id="{8C5F67FC-41A1-4FE7-9E73-92EAF0905D39}"/>
              </a:ext>
            </a:extLst>
          </p:cNvPr>
          <p:cNvSpPr>
            <a:spLocks xmlns:a="http://schemas.openxmlformats.org/drawingml/2006/main" noGrp="1"/>
          </p:cNvSpPr>
          <p:nvPr/>
        </p:nvSpPr>
        <p:spPr>
          <a:xfrm xmlns:a="http://schemas.openxmlformats.org/drawingml/2006/main">
            <a:off x="4010025" y="3771900"/>
            <a:ext cx="2905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A rendered image is not</a:t>
            </a:r>
          </a:p>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proof of accuracy.</a:t>
            </a:r>
          </a:p>
        </p:txBody>
      </p:sp>
      <p:sp>
        <p:nvSpPr>
          <p:cNvPr id="22" name="LEAF-113 reference tests (1% target);&#10;confirm">
            <a:extLst xmlns:a="http://schemas.openxmlformats.org/drawingml/2006/main">
              <a:ext uri="{FF2B5EF4-FFF2-40B4-BE49-F238E27FC236}">
                <a16:creationId xmlns:a16="http://schemas.microsoft.com/office/drawing/2014/main" id="{4212DBE8-18C4-4DF5-AD58-5B2929654936}"/>
              </a:ext>
            </a:extLst>
          </p:cNvPr>
          <p:cNvSpPr>
            <a:spLocks xmlns:a="http://schemas.openxmlformats.org/drawingml/2006/main" noGrp="1"/>
          </p:cNvSpPr>
          <p:nvPr/>
        </p:nvSpPr>
        <p:spPr>
          <a:xfrm xmlns:a="http://schemas.openxmlformats.org/drawingml/2006/main">
            <a:off x="7143750" y="3771900"/>
            <a:ext cx="4324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LEAF-113 reference tests (1% target);</a:t>
            </a:r>
          </a:p>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confirm SR sensor/data assumptions.</a:t>
            </a:r>
          </a:p>
        </p:txBody>
      </p:sp>
      <p:sp>
        <p:nvSpPr>
          <p:cNvPr id="23" name="">
            <a:extLst xmlns:a="http://schemas.openxmlformats.org/drawingml/2006/main">
              <a:ext uri="{FF2B5EF4-FFF2-40B4-BE49-F238E27FC236}">
                <a16:creationId xmlns:a16="http://schemas.microsoft.com/office/drawing/2014/main" id="{D1FEAC1D-EF38-49C3-9E94-35E6AA8C6109}"/>
              </a:ext>
            </a:extLst>
          </p:cNvPr>
          <p:cNvSpPr>
            <a:spLocks xmlns:a="http://schemas.openxmlformats.org/drawingml/2006/main" noGrp="1"/>
          </p:cNvSpPr>
          <p:nvPr/>
        </p:nvSpPr>
        <p:spPr>
          <a:xfrm xmlns:a="http://schemas.openxmlformats.org/drawingml/2006/main">
            <a:off x="609600" y="436245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24" name="4  Test target hardware">
            <a:extLst xmlns:a="http://schemas.openxmlformats.org/drawingml/2006/main">
              <a:ext uri="{FF2B5EF4-FFF2-40B4-BE49-F238E27FC236}">
                <a16:creationId xmlns:a16="http://schemas.microsoft.com/office/drawing/2014/main" id="{B9B9A178-3CBD-446C-A927-711C2A578EFC}"/>
              </a:ext>
            </a:extLst>
          </p:cNvPr>
          <p:cNvSpPr>
            <a:spLocks xmlns:a="http://schemas.openxmlformats.org/drawingml/2006/main" noGrp="1"/>
          </p:cNvSpPr>
          <p:nvPr/>
        </p:nvSpPr>
        <p:spPr>
          <a:xfrm xmlns:a="http://schemas.openxmlformats.org/drawingml/2006/main">
            <a:off x="723900" y="4476750"/>
            <a:ext cx="30575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173B31"/>
                </a:solidFill>
                <a:latin typeface="Arial"/>
                <a:ea typeface="Arial"/>
                <a:cs typeface="Arial"/>
              </a:defRPr>
            </a:pPr>
            <a:r>
              <a:rPr sz="1725" b="1">
                <a:solidFill>
                  <a:srgbClr val="173B31"/>
                </a:solidFill>
                <a:latin typeface="Arial"/>
                <a:ea typeface="Arial"/>
                <a:cs typeface="Arial"/>
              </a:rPr>
              <a:t>4  Test target hardware</a:t>
            </a:r>
          </a:p>
        </p:txBody>
      </p:sp>
      <p:sp>
        <p:nvSpPr>
          <p:cNvPr id="25" name="Avoid memory, disk and&#10;Windows graphics failu">
            <a:extLst xmlns:a="http://schemas.openxmlformats.org/drawingml/2006/main">
              <a:ext uri="{FF2B5EF4-FFF2-40B4-BE49-F238E27FC236}">
                <a16:creationId xmlns:a16="http://schemas.microsoft.com/office/drawing/2014/main" id="{40112CDD-4C7A-4C0A-B222-EBE246EDFFB7}"/>
              </a:ext>
            </a:extLst>
          </p:cNvPr>
          <p:cNvSpPr>
            <a:spLocks xmlns:a="http://schemas.openxmlformats.org/drawingml/2006/main" noGrp="1"/>
          </p:cNvSpPr>
          <p:nvPr/>
        </p:nvSpPr>
        <p:spPr>
          <a:xfrm xmlns:a="http://schemas.openxmlformats.org/drawingml/2006/main">
            <a:off x="4010025" y="4476750"/>
            <a:ext cx="2905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Avoid memory, disk and</a:t>
            </a:r>
          </a:p>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Windows graphics failures.</a:t>
            </a:r>
          </a:p>
        </p:txBody>
      </p:sp>
      <p:sp>
        <p:nvSpPr>
          <p:cNvPr id="26" name="SR-enabled CPU suite; Windows/GL&#10;smoke test; ">
            <a:extLst xmlns:a="http://schemas.openxmlformats.org/drawingml/2006/main">
              <a:ext uri="{FF2B5EF4-FFF2-40B4-BE49-F238E27FC236}">
                <a16:creationId xmlns:a16="http://schemas.microsoft.com/office/drawing/2014/main" id="{9A701490-5890-4296-9459-0E3088B9EA62}"/>
              </a:ext>
            </a:extLst>
          </p:cNvPr>
          <p:cNvSpPr>
            <a:spLocks xmlns:a="http://schemas.openxmlformats.org/drawingml/2006/main" noGrp="1"/>
          </p:cNvSpPr>
          <p:nvPr/>
        </p:nvSpPr>
        <p:spPr>
          <a:xfrm xmlns:a="http://schemas.openxmlformats.org/drawingml/2006/main">
            <a:off x="7143750" y="4476750"/>
            <a:ext cx="4324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SR-enabled CPU suite; Windows/GL</a:t>
            </a:r>
          </a:p>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smoke test; capture benchmarks.</a:t>
            </a:r>
          </a:p>
        </p:txBody>
      </p:sp>
      <p:sp>
        <p:nvSpPr>
          <p:cNvPr id="27" name="">
            <a:extLst xmlns:a="http://schemas.openxmlformats.org/drawingml/2006/main">
              <a:ext uri="{FF2B5EF4-FFF2-40B4-BE49-F238E27FC236}">
                <a16:creationId xmlns:a16="http://schemas.microsoft.com/office/drawing/2014/main" id="{FD21C9AF-9D52-40BA-AE8C-AE1EB066969A}"/>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28" name="5  Close the feedback loop">
            <a:extLst xmlns:a="http://schemas.openxmlformats.org/drawingml/2006/main">
              <a:ext uri="{FF2B5EF4-FFF2-40B4-BE49-F238E27FC236}">
                <a16:creationId xmlns:a16="http://schemas.microsoft.com/office/drawing/2014/main" id="{C255DEC3-7563-4D1A-9B17-B189F5E99AA0}"/>
              </a:ext>
            </a:extLst>
          </p:cNvPr>
          <p:cNvSpPr>
            <a:spLocks xmlns:a="http://schemas.openxmlformats.org/drawingml/2006/main" noGrp="1"/>
          </p:cNvSpPr>
          <p:nvPr/>
        </p:nvSpPr>
        <p:spPr>
          <a:xfrm xmlns:a="http://schemas.openxmlformats.org/drawingml/2006/main">
            <a:off x="723900" y="5181600"/>
            <a:ext cx="30575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173B31"/>
                </a:solidFill>
                <a:latin typeface="Arial"/>
                <a:ea typeface="Arial"/>
                <a:cs typeface="Arial"/>
              </a:defRPr>
            </a:pPr>
            <a:r>
              <a:rPr sz="1725" b="1">
                <a:solidFill>
                  <a:srgbClr val="173B31"/>
                </a:solidFill>
                <a:latin typeface="Arial"/>
                <a:ea typeface="Arial"/>
                <a:cs typeface="Arial"/>
              </a:rPr>
              <a:t>5  Close the feedback loop</a:t>
            </a:r>
          </a:p>
        </p:txBody>
      </p:sp>
      <p:sp>
        <p:nvSpPr>
          <p:cNvPr id="29" name="Make progress and&#10;acceptance auditable.">
            <a:extLst xmlns:a="http://schemas.openxmlformats.org/drawingml/2006/main">
              <a:ext uri="{FF2B5EF4-FFF2-40B4-BE49-F238E27FC236}">
                <a16:creationId xmlns:a16="http://schemas.microsoft.com/office/drawing/2014/main" id="{2A7353AB-8824-439E-970D-F450DA0A3FAC}"/>
              </a:ext>
            </a:extLst>
          </p:cNvPr>
          <p:cNvSpPr>
            <a:spLocks xmlns:a="http://schemas.openxmlformats.org/drawingml/2006/main" noGrp="1"/>
          </p:cNvSpPr>
          <p:nvPr/>
        </p:nvSpPr>
        <p:spPr>
          <a:xfrm xmlns:a="http://schemas.openxmlformats.org/drawingml/2006/main">
            <a:off x="4010025" y="5181600"/>
            <a:ext cx="2905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Make progress and</a:t>
            </a:r>
          </a:p>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acceptance auditable.</a:t>
            </a:r>
          </a:p>
        </p:txBody>
      </p:sp>
      <p:sp>
        <p:nvSpPr>
          <p:cNvPr id="30" name="Client demo + action outcomes; freeze&#10;estimat">
            <a:extLst xmlns:a="http://schemas.openxmlformats.org/drawingml/2006/main">
              <a:ext uri="{FF2B5EF4-FFF2-40B4-BE49-F238E27FC236}">
                <a16:creationId xmlns:a16="http://schemas.microsoft.com/office/drawing/2014/main" id="{40AFA6E8-C1C9-4A68-883F-8C02E159B4BB}"/>
              </a:ext>
            </a:extLst>
          </p:cNvPr>
          <p:cNvSpPr>
            <a:spLocks xmlns:a="http://schemas.openxmlformats.org/drawingml/2006/main" noGrp="1"/>
          </p:cNvSpPr>
          <p:nvPr/>
        </p:nvSpPr>
        <p:spPr>
          <a:xfrm xmlns:a="http://schemas.openxmlformats.org/drawingml/2006/main">
            <a:off x="7143750" y="5181600"/>
            <a:ext cx="4324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Client demo + action outcomes; freeze</a:t>
            </a:r>
          </a:p>
          <a:p xmlns:a="http://schemas.openxmlformats.org/drawingml/2006/main">
            <a:pPr algn="l">
              <a:defRPr sz="1725" b="0">
                <a:solidFill>
                  <a:srgbClr val="586C63"/>
                </a:solidFill>
                <a:latin typeface="Arial"/>
                <a:ea typeface="Arial"/>
                <a:cs typeface="Arial"/>
              </a:defRPr>
            </a:pPr>
            <a:r>
              <a:rPr sz="1725" b="0">
                <a:solidFill>
                  <a:srgbClr val="586C63"/>
                </a:solidFill>
                <a:latin typeface="Arial"/>
                <a:ea typeface="Arial"/>
                <a:cs typeface="Arial"/>
              </a:rPr>
              <a:t>estimates; reconcile Jira and PRs.</a:t>
            </a:r>
          </a:p>
        </p:txBody>
      </p:sp>
      <p:sp>
        <p:nvSpPr>
          <p:cNvPr id="31" name="">
            <a:extLst xmlns:a="http://schemas.openxmlformats.org/drawingml/2006/main">
              <a:ext uri="{FF2B5EF4-FFF2-40B4-BE49-F238E27FC236}">
                <a16:creationId xmlns:a16="http://schemas.microsoft.com/office/drawing/2014/main" id="{B8C9155E-E4C0-424C-BE4B-3B8531589A2F}"/>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14288">
            <a:solidFill>
              <a:srgbClr val="C8D4CB"/>
            </a:solidFill>
          </a:ln>
        </p:spPr>
      </p:sp>
      <p:sp>
        <p:nvSpPr>
          <p:cNvPr id="32" name="Next discussion: confirm priority order, vali">
            <a:extLst xmlns:a="http://schemas.openxmlformats.org/drawingml/2006/main">
              <a:ext uri="{FF2B5EF4-FFF2-40B4-BE49-F238E27FC236}">
                <a16:creationId xmlns:a16="http://schemas.microsoft.com/office/drawing/2014/main" id="{30046C73-8ACE-4932-A1DC-3C2F97A60392}"/>
              </a:ext>
            </a:extLst>
          </p:cNvPr>
          <p:cNvSpPr>
            <a:spLocks xmlns:a="http://schemas.openxmlformats.org/drawingml/2006/main" noGrp="1"/>
          </p:cNvSpPr>
          <p:nvPr/>
        </p:nvSpPr>
        <p:spPr>
          <a:xfrm xmlns:a="http://schemas.openxmlformats.org/drawingml/2006/main">
            <a:off x="609600" y="59245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287553"/>
                </a:solidFill>
                <a:latin typeface="Arial"/>
                <a:ea typeface="Arial"/>
                <a:cs typeface="Arial"/>
              </a:defRPr>
            </a:pPr>
            <a:r>
              <a:rPr sz="1650" b="1">
                <a:solidFill>
                  <a:srgbClr val="287553"/>
                </a:solidFill>
                <a:latin typeface="Arial"/>
                <a:ea typeface="Arial"/>
                <a:cs typeface="Arial"/>
              </a:rPr>
              <a:t>Next discussion: confirm priority order, validation data, hardware access and action owners.</a:t>
            </a:r>
          </a:p>
        </p:txBody>
      </p:sp>
    </p:spTree>
    <p:extLst>
      <p:ext uri="{BB962C8B-B14F-4D97-AF65-F5344CB8AC3E}">
        <p14:creationId xmlns:p14="http://schemas.microsoft.com/office/powerpoint/2010/main" val="186617012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2026-08-28T05:59:32.5400000Z</dcterms:created>
  <dcterms:modified xsi:type="dcterms:W3CDTF">2026-08-28T05:59:32.5400000Z</dcterms:modified>
</coreProperties>
</file>