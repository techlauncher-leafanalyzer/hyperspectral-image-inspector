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40aef82d8724b06" /><Relationship Type="http://schemas.openxmlformats.org/officeDocument/2006/relationships/extended-properties" Target="/docProps/app.xml" Id="R0cf01cf0a08a489b" /><Relationship Type="http://schemas.openxmlformats.org/officeDocument/2006/relationships/officeDocument" Target="/ppt/presentation.xml" Id="Ra1cd5423ece64732" /></Relationships>
</file>

<file path=ppt/presentation.xml><?xml version="1.0" encoding="utf-8"?>
<p:presentation xmlns:p="http://schemas.openxmlformats.org/presentationml/2006/main">
  <p:sldMasterIdLst>
    <p:sldMasterId xmlns:r="http://schemas.openxmlformats.org/officeDocument/2006/relationships" id="2147483648" r:id="R606f6f67597a4b1b"/>
  </p:sldMasterIdLst>
  <p:notesMasterIdLst>
    <p:notesMasterId xmlns:r="http://schemas.openxmlformats.org/officeDocument/2006/relationships" r:id="Reca6bac5d69d43f1"/>
  </p:notesMasterIdLst>
  <p:sldIdLst>
    <p:sldId xmlns:r="http://schemas.openxmlformats.org/officeDocument/2006/relationships" id="256" r:id="R93ac0eca88ab4014"/>
    <p:sldId xmlns:r="http://schemas.openxmlformats.org/officeDocument/2006/relationships" id="257" r:id="R24fa801cf0d847ac"/>
    <p:sldId xmlns:r="http://schemas.openxmlformats.org/officeDocument/2006/relationships" id="258" r:id="R86b15b4875b84bfa"/>
    <p:sldId xmlns:r="http://schemas.openxmlformats.org/officeDocument/2006/relationships" id="259" r:id="R40f3b2f42f844238"/>
    <p:sldId xmlns:r="http://schemas.openxmlformats.org/officeDocument/2006/relationships" id="260" r:id="R6eb5ade08b3b408b"/>
    <p:sldId xmlns:r="http://schemas.openxmlformats.org/officeDocument/2006/relationships" id="261" r:id="R1eed830d92d643f8"/>
    <p:sldId xmlns:r="http://schemas.openxmlformats.org/officeDocument/2006/relationships" id="262" r:id="R6b3d5261d9a448b6"/>
    <p:sldId xmlns:r="http://schemas.openxmlformats.org/officeDocument/2006/relationships" id="263" r:id="Raa78b04bfd2142da"/>
    <p:sldId xmlns:r="http://schemas.openxmlformats.org/officeDocument/2006/relationships" id="264" r:id="Re1eb6ad9f491447b"/>
    <p:sldId xmlns:r="http://schemas.openxmlformats.org/officeDocument/2006/relationships" id="265" r:id="R47595c1d9c4943ea"/>
    <p:sldId xmlns:r="http://schemas.openxmlformats.org/officeDocument/2006/relationships" id="266" r:id="Rf13cea59d7da470b"/>
    <p:sldId xmlns:r="http://schemas.openxmlformats.org/officeDocument/2006/relationships" id="267" r:id="R48227dedb34e4d23"/>
    <p:sldId xmlns:r="http://schemas.openxmlformats.org/officeDocument/2006/relationships" id="268" r:id="Rc067c885e9b347ae"/>
    <p:sldId xmlns:r="http://schemas.openxmlformats.org/officeDocument/2006/relationships" id="269" r:id="R5e0d1a622a52458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8919d304492d4df1" /><Relationship Type="http://schemas.openxmlformats.org/officeDocument/2006/relationships/slideMaster" Target="/ppt/slideMasters/slideMaster1.xml" Id="R606f6f67597a4b1b" /><Relationship Type="http://schemas.openxmlformats.org/officeDocument/2006/relationships/notesMaster" Target="/ppt/notesMasters/notesMaster1.xml" Id="Reca6bac5d69d43f1" /><Relationship Type="http://schemas.openxmlformats.org/officeDocument/2006/relationships/presProps" Target="/ppt/presProps.xml" Id="Rbd2e681d54904315" /><Relationship Type="http://schemas.openxmlformats.org/officeDocument/2006/relationships/viewProps" Target="/ppt/viewProps.xml" Id="R302a9d9f20304857" /><Relationship Type="http://schemas.openxmlformats.org/officeDocument/2006/relationships/tableStyles" Target="/ppt/tableStyles.xml" Id="R483cfde1cd114b2f" /><Relationship Type="http://schemas.openxmlformats.org/officeDocument/2006/relationships/slide" Target="/ppt/slides/slide1.xml" Id="R93ac0eca88ab4014" /><Relationship Type="http://schemas.openxmlformats.org/officeDocument/2006/relationships/slide" Target="/ppt/slides/slide2.xml" Id="R24fa801cf0d847ac" /><Relationship Type="http://schemas.openxmlformats.org/officeDocument/2006/relationships/slide" Target="/ppt/slides/slide3.xml" Id="R86b15b4875b84bfa" /><Relationship Type="http://schemas.openxmlformats.org/officeDocument/2006/relationships/slide" Target="/ppt/slides/slide4.xml" Id="R40f3b2f42f844238" /><Relationship Type="http://schemas.openxmlformats.org/officeDocument/2006/relationships/slide" Target="/ppt/slides/slide5.xml" Id="R6eb5ade08b3b408b" /><Relationship Type="http://schemas.openxmlformats.org/officeDocument/2006/relationships/slide" Target="/ppt/slides/slide6.xml" Id="R1eed830d92d643f8" /><Relationship Type="http://schemas.openxmlformats.org/officeDocument/2006/relationships/slide" Target="/ppt/slides/slide7.xml" Id="R6b3d5261d9a448b6" /><Relationship Type="http://schemas.openxmlformats.org/officeDocument/2006/relationships/slide" Target="/ppt/slides/slide8.xml" Id="Raa78b04bfd2142da" /><Relationship Type="http://schemas.openxmlformats.org/officeDocument/2006/relationships/slide" Target="/ppt/slides/slide9.xml" Id="Re1eb6ad9f491447b" /><Relationship Type="http://schemas.openxmlformats.org/officeDocument/2006/relationships/slide" Target="/ppt/slides/slide10.xml" Id="R47595c1d9c4943ea" /><Relationship Type="http://schemas.openxmlformats.org/officeDocument/2006/relationships/slide" Target="/ppt/slides/slide11.xml" Id="Rf13cea59d7da470b" /><Relationship Type="http://schemas.openxmlformats.org/officeDocument/2006/relationships/slide" Target="/ppt/slides/slide12.xml" Id="R48227dedb34e4d23" /><Relationship Type="http://schemas.openxmlformats.org/officeDocument/2006/relationships/slide" Target="/ppt/slides/slide13.xml" Id="Rc067c885e9b347ae" /><Relationship Type="http://schemas.openxmlformats.org/officeDocument/2006/relationships/slide" Target="/ppt/slides/slide14.xml" Id="R5e0d1a622a52458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5746b3eb65544a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notesSlides/_rels/notesSlide1.xml.rels>&#65279;<?xml version="1.0" encoding="utf-8"?><Relationships xmlns="http://schemas.openxmlformats.org/package/2006/relationships"><Relationship Type="http://schemas.openxmlformats.org/officeDocument/2006/relationships/slide" Target="/ppt/slides/slide1.xml" Id="R8a0637ceb73a44c3" /><Relationship Type="http://schemas.openxmlformats.org/officeDocument/2006/relationships/notesMaster" Target="/ppt/notesMasters/notesMaster1.xml" Id="Rbb3771414b96490a" /></Relationships>
</file>

<file path=ppt/notesSlides/_rels/notesSlide2.xml.rels>&#65279;<?xml version="1.0" encoding="utf-8"?><Relationships xmlns="http://schemas.openxmlformats.org/package/2006/relationships"><Relationship Type="http://schemas.openxmlformats.org/officeDocument/2006/relationships/slide" Target="/ppt/slides/slide2.xml" Id="Rb3a29a8d45fd4130" /><Relationship Type="http://schemas.openxmlformats.org/officeDocument/2006/relationships/notesMaster" Target="/ppt/notesMasters/notesMaster1.xml" Id="R864b7e724bce48c5" /></Relationships>
</file>

<file path=ppt/notesSlides/_rels/notesSlide3.xml.rels>&#65279;<?xml version="1.0" encoding="utf-8"?><Relationships xmlns="http://schemas.openxmlformats.org/package/2006/relationships"><Relationship Type="http://schemas.openxmlformats.org/officeDocument/2006/relationships/slide" Target="/ppt/slides/slide3.xml" Id="Rd7bbcd66c6f745f8" /><Relationship Type="http://schemas.openxmlformats.org/officeDocument/2006/relationships/notesMaster" Target="/ppt/notesMasters/notesMaster1.xml" Id="R107c83c36f5f4d2f" /></Relationships>
</file>

<file path=ppt/notesSlides/_rels/notesSlide4.xml.rels>&#65279;<?xml version="1.0" encoding="utf-8"?><Relationships xmlns="http://schemas.openxmlformats.org/package/2006/relationships"><Relationship Type="http://schemas.openxmlformats.org/officeDocument/2006/relationships/slide" Target="/ppt/slides/slide4.xml" Id="R7142352cba98447e" /><Relationship Type="http://schemas.openxmlformats.org/officeDocument/2006/relationships/notesMaster" Target="/ppt/notesMasters/notesMaster1.xml" Id="Raeb1789a1c414193" /></Relationships>
</file>

<file path=ppt/notesSlides/_rels/notesSlide5.xml.rels>&#65279;<?xml version="1.0" encoding="utf-8"?><Relationships xmlns="http://schemas.openxmlformats.org/package/2006/relationships"><Relationship Type="http://schemas.openxmlformats.org/officeDocument/2006/relationships/slide" Target="/ppt/slides/slide5.xml" Id="Re56bc25202394e8c" /><Relationship Type="http://schemas.openxmlformats.org/officeDocument/2006/relationships/notesMaster" Target="/ppt/notesMasters/notesMaster1.xml" Id="Rabff907b56ef4d11" /></Relationships>
</file>

<file path=ppt/notesSlides/_rels/notesSlide6.xml.rels>&#65279;<?xml version="1.0" encoding="utf-8"?><Relationships xmlns="http://schemas.openxmlformats.org/package/2006/relationships"><Relationship Type="http://schemas.openxmlformats.org/officeDocument/2006/relationships/slide" Target="/ppt/slides/slide6.xml" Id="R027eec648ac64e11" /><Relationship Type="http://schemas.openxmlformats.org/officeDocument/2006/relationships/notesMaster" Target="/ppt/notesMasters/notesMaster1.xml" Id="Re1c0253c9baa4981" /></Relationships>
</file>

<file path=ppt/notesSlides/_rels/notesSlide7.xml.rels>&#65279;<?xml version="1.0" encoding="utf-8"?><Relationships xmlns="http://schemas.openxmlformats.org/package/2006/relationships"><Relationship Type="http://schemas.openxmlformats.org/officeDocument/2006/relationships/slide" Target="/ppt/slides/slide7.xml" Id="Rb35ca6b223b84258" /><Relationship Type="http://schemas.openxmlformats.org/officeDocument/2006/relationships/notesMaster" Target="/ppt/notesMasters/notesMaster1.xml" Id="Ree059110ec0e4203" /></Relationships>
</file>

<file path=ppt/notesSlides/_rels/notesSlide8.xml.rels>&#65279;<?xml version="1.0" encoding="utf-8"?><Relationships xmlns="http://schemas.openxmlformats.org/package/2006/relationships"><Relationship Type="http://schemas.openxmlformats.org/officeDocument/2006/relationships/slide" Target="/ppt/slides/slide8.xml" Id="R6b2079a5c46f4e51" /><Relationship Type="http://schemas.openxmlformats.org/officeDocument/2006/relationships/notesMaster" Target="/ppt/notesMasters/notesMaster1.xml" Id="R02938cfa30dc45c7" /></Relationships>
</file>

<file path=ppt/notesSlides/_rels/notesSlide9.xml.rels>&#65279;<?xml version="1.0" encoding="utf-8"?><Relationships xmlns="http://schemas.openxmlformats.org/package/2006/relationships"><Relationship Type="http://schemas.openxmlformats.org/officeDocument/2006/relationships/slide" Target="/ppt/slides/slide9.xml" Id="Ra4f57633b0de4433" /><Relationship Type="http://schemas.openxmlformats.org/officeDocument/2006/relationships/notesMaster" Target="/ppt/notesMasters/notesMaster1.xml" Id="Rdc2a66eeaca14a3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13eb716a9bc4539" /><Relationship Type="http://schemas.openxmlformats.org/officeDocument/2006/relationships/notesMaster" Target="/ppt/notesMasters/notesMaster1.xml" Id="R7cc21a12bb06488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2a3b1dd214a4293" /><Relationship Type="http://schemas.openxmlformats.org/officeDocument/2006/relationships/notesMaster" Target="/ppt/notesMasters/notesMaster1.xml" Id="R1618d3ed918e4ab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5fde2e62e5b458b" /><Relationship Type="http://schemas.openxmlformats.org/officeDocument/2006/relationships/notesMaster" Target="/ppt/notesMasters/notesMaster1.xml" Id="R0f281f0efc4a4bf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4aaac002c654ea4" /><Relationship Type="http://schemas.openxmlformats.org/officeDocument/2006/relationships/notesMaster" Target="/ppt/notesMasters/notesMaster1.xml" Id="R8a8ab5e789c3429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bf31980959b4ba8" /><Relationship Type="http://schemas.openxmlformats.org/officeDocument/2006/relationships/notesMaster" Target="/ppt/notesMasters/notesMaster1.xml" Id="R3a500ba5b43f42c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350">
                <a:solidFill>
                  <a:srgbClr val="293730"/>
                </a:solidFill>
                <a:latin typeface="Times New Roman"/>
                <a:ea typeface="Times New Roman"/>
                <a:cs typeface="Times New Roman"/>
              </a:rPr>
              <a:t>This is our Sprint 5 review. We will show the main features we finished, how we used last sprint’s feedback, and what we want to do next. The evidence is from Jira, GitHub and our weekly reports and reflections. This is our progress as of 28 August. Sprint 5 is still active, so we are not saying that every task is finished.</a:t>
            </a:r>
          </a:p>
          <a:p xmlns:a="http://schemas.openxmlformats.org/drawingml/2006/main">
            <a:r>
              <a:rPr sz="1350">
                <a:solidFill>
                  <a:srgbClr val="293730"/>
                </a:solidFill>
                <a:latin typeface="Times New Roman"/>
                <a:ea typeface="Times New Roman"/>
                <a:cs typeface="Times New Roman"/>
              </a:rPr>
              <a:t/>
            </a:r>
          </a:p>
          <a:p xmlns:a="http://schemas.openxmlformats.org/drawingml/2006/main">
            <a:r>
              <a:rPr sz="1350">
                <a:solidFill>
                  <a:srgbClr val="293730"/>
                </a:solidFill>
                <a:latin typeface="Times New Roman"/>
                <a:ea typeface="Times New Roman"/>
                <a:cs typeface="Times New Roman"/>
              </a:rPr>
              <a:t>[Sources]</a:t>
            </a:r>
          </a:p>
          <a:p xmlns:a="http://schemas.openxmlformats.org/drawingml/2006/main">
            <a:r>
              <a:rPr sz="1350">
                <a:solidFill>
                  <a:srgbClr val="293730"/>
                </a:solidFill>
                <a:latin typeface="Times New Roman"/>
                <a:ea typeface="Times New Roman"/>
                <a:cs typeface="Times New Roman"/>
              </a:rPr>
              <a:t>- https://leaf2qr.atlassian.net/browse/LEAF-150 (Sprint field: Sprint 5, started 21 August; scheduled end 4 September AEST)</a:t>
            </a:r>
          </a:p>
          <a:p xmlns:a="http://schemas.openxmlformats.org/drawingml/2006/main">
            <a:r>
              <a:rPr sz="1350">
                <a:solidFill>
                  <a:srgbClr val="293730"/>
                </a:solidFill>
                <a:latin typeface="Times New Roman"/>
                <a:ea typeface="Times New Roman"/>
                <a:cs typeface="Times New Roman"/>
              </a:rPr>
              <a:t>- https://leaf2qr.atlassian.net/wiki/spaces/L/pages/18284545</a:t>
            </a:r>
          </a:p>
          <a:p xmlns:a="http://schemas.openxmlformats.org/drawingml/2006/main">
            <a:r>
              <a:rPr sz="1350">
                <a:solidFill>
                  <a:srgbClr val="293730"/>
                </a:solidFill>
                <a:latin typeface="Times New Roman"/>
                <a:ea typeface="Times New Roman"/>
                <a:cs typeface="Times New Roman"/>
              </a:rPr>
              <a:t>- https://github.com/Techlauncher-LeafAnalyzer/Hyperspectral-Image-Inspector/commit/ac7161342dbb661c9f5efbfd9de5a554ee4c6141</a:t>
            </a:r>
          </a:p>
          <a:p xmlns:a="http://schemas.openxmlformats.org/drawingml/2006/main">
            <a:r>
              <a:rPr sz="1350">
                <a:solidFill>
                  <a:srgbClr val="293730"/>
                </a:solidFill>
                <a:latin typeface="Times New Roman"/>
                <a:ea typeface="Times New Roman"/>
                <a:cs typeface="Times New Roman"/>
              </a:rPr>
              <a:t>- Sprint 4 feedback: supplied by the team in the presentation brief.</a:t>
            </a:r>
          </a:p>
          <a:p xmlns:a="http://schemas.openxmlformats.org/drawingml/2006/main">
            <a:r>
              <a:rPr sz="1350">
                <a:solidFill>
                  <a:srgbClr val="293730"/>
                </a:solidFill>
                <a:latin typeface="Times New Roman"/>
                <a:ea typeface="Times New Roman"/>
                <a:cs typeface="Times New Roman"/>
              </a:rP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350">
                <a:solidFill>
                  <a:srgbClr val="293730"/>
                </a:solidFill>
                <a:latin typeface="Times New Roman"/>
                <a:ea typeface="Times New Roman"/>
                <a:cs typeface="Times New Roman"/>
              </a:rPr>
              <a:t>We connected RGB and six vegetation index views to the interface. We can inspect pixel values, plot a spectrum and save the view. Hypercube and real super resolution are also connected. Classification was merged on 28 August. Some of the model code and basic cropping existed before this sprint. This sprint added integration work and fixes. We still need to check scientific accuracy and get the client’s review.</a:t>
            </a:r>
          </a:p>
          <a:p xmlns:a="http://schemas.openxmlformats.org/drawingml/2006/main">
            <a:r>
              <a:rPr sz="1350">
                <a:solidFill>
                  <a:srgbClr val="293730"/>
                </a:solidFill>
                <a:latin typeface="Times New Roman"/>
                <a:ea typeface="Times New Roman"/>
                <a:cs typeface="Times New Roman"/>
              </a:rPr>
              <a:t/>
            </a:r>
          </a:p>
          <a:p xmlns:a="http://schemas.openxmlformats.org/drawingml/2006/main">
            <a:r>
              <a:rPr sz="1350">
                <a:solidFill>
                  <a:srgbClr val="293730"/>
                </a:solidFill>
                <a:latin typeface="Times New Roman"/>
                <a:ea typeface="Times New Roman"/>
                <a:cs typeface="Times New Roman"/>
              </a:rPr>
              <a:t>[Sources]</a:t>
            </a:r>
          </a:p>
          <a:p xmlns:a="http://schemas.openxmlformats.org/drawingml/2006/main">
            <a:r>
              <a:rPr sz="1350">
                <a:solidFill>
                  <a:srgbClr val="293730"/>
                </a:solidFill>
                <a:latin typeface="Times New Roman"/>
                <a:ea typeface="Times New Roman"/>
                <a:cs typeface="Times New Roman"/>
              </a:rPr>
              <a:t>- https://github.com/Techlauncher-LeafAnalyzer/Hyperspectral-Image-Inspector/pull/24</a:t>
            </a:r>
          </a:p>
          <a:p xmlns:a="http://schemas.openxmlformats.org/drawingml/2006/main">
            <a:r>
              <a:rPr sz="1350">
                <a:solidFill>
                  <a:srgbClr val="293730"/>
                </a:solidFill>
                <a:latin typeface="Times New Roman"/>
                <a:ea typeface="Times New Roman"/>
                <a:cs typeface="Times New Roman"/>
              </a:rPr>
              <a:t>- https://github.com/Techlauncher-LeafAnalyzer/Hyperspectral-Image-Inspector/pull/29</a:t>
            </a:r>
          </a:p>
          <a:p xmlns:a="http://schemas.openxmlformats.org/drawingml/2006/main">
            <a:r>
              <a:rPr sz="1350">
                <a:solidFill>
                  <a:srgbClr val="293730"/>
                </a:solidFill>
                <a:latin typeface="Times New Roman"/>
                <a:ea typeface="Times New Roman"/>
                <a:cs typeface="Times New Roman"/>
              </a:rPr>
              <a:t>- https://github.com/Techlauncher-LeafAnalyzer/Hyperspectral-Image-Inspector/pull/33</a:t>
            </a:r>
          </a:p>
          <a:p xmlns:a="http://schemas.openxmlformats.org/drawingml/2006/main">
            <a:r>
              <a:rPr sz="1350">
                <a:solidFill>
                  <a:srgbClr val="293730"/>
                </a:solidFill>
                <a:latin typeface="Times New Roman"/>
                <a:ea typeface="Times New Roman"/>
                <a:cs typeface="Times New Roman"/>
              </a:rPr>
              <a:t>- https://github.com/Techlauncher-LeafAnalyzer/Hyperspectral-Image-Inspector/pull/34</a:t>
            </a:r>
          </a:p>
          <a:p xmlns:a="http://schemas.openxmlformats.org/drawingml/2006/main">
            <a:r>
              <a:rPr sz="1350">
                <a:solidFill>
                  <a:srgbClr val="293730"/>
                </a:solidFill>
                <a:latin typeface="Times New Roman"/>
                <a:ea typeface="Times New Roman"/>
                <a:cs typeface="Times New Roman"/>
              </a:rPr>
              <a:t>- https://github.com/Techlauncher-LeafAnalyzer/Hyperspectral-Image-Inspector/pull/36</a:t>
            </a:r>
          </a:p>
          <a:p xmlns:a="http://schemas.openxmlformats.org/drawingml/2006/main">
            <a:r>
              <a:rPr sz="1350">
                <a:solidFill>
                  <a:srgbClr val="293730"/>
                </a:solidFill>
                <a:latin typeface="Times New Roman"/>
                <a:ea typeface="Times New Roman"/>
                <a:cs typeface="Times New Roman"/>
              </a:rPr>
              <a:t>- https://leaf2qr.atlassian.net/wiki/spaces/L/pages/18284545</a:t>
            </a:r>
          </a:p>
          <a:p xmlns:a="http://schemas.openxmlformats.org/drawingml/2006/main">
            <a:r>
              <a:rPr sz="1350">
                <a:solidFill>
                  <a:srgbClr val="293730"/>
                </a:solidFill>
                <a:latin typeface="Times New Roman"/>
                <a:ea typeface="Times New Roman"/>
                <a:cs typeface="Times New Roman"/>
              </a:rPr>
              <a:t>- https://leaf2qr.atlassian.net/wiki/spaces/L/pages/19726337</a:t>
            </a:r>
          </a:p>
          <a:p xmlns:a="http://schemas.openxmlformats.org/drawingml/2006/main">
            <a:r>
              <a:rPr sz="1350">
                <a:solidFill>
                  <a:srgbClr val="293730"/>
                </a:solidFill>
                <a:latin typeface="Times New Roman"/>
                <a:ea typeface="Times New Roman"/>
                <a:cs typeface="Times New Roman"/>
              </a:rPr>
              <a:t>- Screenshots: real project UI or browser captures taken 28 August 2026; cropped only for placement. Actual application with the real tray capture loaded in RGB view.</a:t>
            </a:r>
          </a:p>
          <a:p xmlns:a="http://schemas.openxmlformats.org/drawingml/2006/main">
            <a:r>
              <a:rPr sz="1350">
                <a:solidFill>
                  <a:srgbClr val="293730"/>
                </a:solidFill>
                <a:latin typeface="Times New Roman"/>
                <a:ea typeface="Times New Roman"/>
                <a:cs typeface="Times New Roman"/>
              </a:rP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350">
                <a:solidFill>
                  <a:srgbClr val="293730"/>
                </a:solidFill>
                <a:latin typeface="Times New Roman"/>
                <a:ea typeface="Times New Roman"/>
                <a:cs typeface="Times New Roman"/>
              </a:rPr>
              <a:t>These are real screenshots of the app, using a local hyperspectral capture. Hypercube lets us rotate and zoom the cube and save the view. Super resolution uses the existing 480-band model and doubles the image width and height. We can compare the original and processed image. The SR screenshot uses a small crop to keep the demo manageable. These pictures show that the features run; they do not prove that the output is scientifically accurate.</a:t>
            </a:r>
          </a:p>
          <a:p xmlns:a="http://schemas.openxmlformats.org/drawingml/2006/main">
            <a:r>
              <a:rPr sz="1350">
                <a:solidFill>
                  <a:srgbClr val="293730"/>
                </a:solidFill>
                <a:latin typeface="Times New Roman"/>
                <a:ea typeface="Times New Roman"/>
                <a:cs typeface="Times New Roman"/>
              </a:rPr>
              <a:t/>
            </a:r>
          </a:p>
          <a:p xmlns:a="http://schemas.openxmlformats.org/drawingml/2006/main">
            <a:r>
              <a:rPr sz="1350">
                <a:solidFill>
                  <a:srgbClr val="293730"/>
                </a:solidFill>
                <a:latin typeface="Times New Roman"/>
                <a:ea typeface="Times New Roman"/>
                <a:cs typeface="Times New Roman"/>
              </a:rPr>
              <a:t>[Sources]</a:t>
            </a:r>
          </a:p>
          <a:p xmlns:a="http://schemas.openxmlformats.org/drawingml/2006/main">
            <a:r>
              <a:rPr sz="1350">
                <a:solidFill>
                  <a:srgbClr val="293730"/>
                </a:solidFill>
                <a:latin typeface="Times New Roman"/>
                <a:ea typeface="Times New Roman"/>
                <a:cs typeface="Times New Roman"/>
              </a:rPr>
              <a:t>- https://github.com/Techlauncher-LeafAnalyzer/Hyperspectral-Image-Inspector/pull/18</a:t>
            </a:r>
          </a:p>
          <a:p xmlns:a="http://schemas.openxmlformats.org/drawingml/2006/main">
            <a:r>
              <a:rPr sz="1350">
                <a:solidFill>
                  <a:srgbClr val="293730"/>
                </a:solidFill>
                <a:latin typeface="Times New Roman"/>
                <a:ea typeface="Times New Roman"/>
                <a:cs typeface="Times New Roman"/>
              </a:rPr>
              <a:t>- https://github.com/Techlauncher-LeafAnalyzer/Hyperspectral-Image-Inspector/pull/24</a:t>
            </a:r>
          </a:p>
          <a:p xmlns:a="http://schemas.openxmlformats.org/drawingml/2006/main">
            <a:r>
              <a:rPr sz="1350">
                <a:solidFill>
                  <a:srgbClr val="293730"/>
                </a:solidFill>
                <a:latin typeface="Times New Roman"/>
                <a:ea typeface="Times New Roman"/>
                <a:cs typeface="Times New Roman"/>
              </a:rPr>
              <a:t>- https://github.com/Techlauncher-LeafAnalyzer/Hyperspectral-Image-Inspector/pull/29</a:t>
            </a:r>
          </a:p>
          <a:p xmlns:a="http://schemas.openxmlformats.org/drawingml/2006/main">
            <a:r>
              <a:rPr sz="1350">
                <a:solidFill>
                  <a:srgbClr val="293730"/>
                </a:solidFill>
                <a:latin typeface="Times New Roman"/>
                <a:ea typeface="Times New Roman"/>
                <a:cs typeface="Times New Roman"/>
              </a:rPr>
              <a:t>- https://github.com/Techlauncher-LeafAnalyzer/Hyperspectral-Image-Inspector/pull/30</a:t>
            </a:r>
          </a:p>
          <a:p xmlns:a="http://schemas.openxmlformats.org/drawingml/2006/main">
            <a:r>
              <a:rPr sz="1350">
                <a:solidFill>
                  <a:srgbClr val="293730"/>
                </a:solidFill>
                <a:latin typeface="Times New Roman"/>
                <a:ea typeface="Times New Roman"/>
                <a:cs typeface="Times New Roman"/>
              </a:rPr>
              <a:t>- https://github.com/Techlauncher-LeafAnalyzer/Hyperspectral-Image-Inspector/pull/31</a:t>
            </a:r>
          </a:p>
          <a:p xmlns:a="http://schemas.openxmlformats.org/drawingml/2006/main">
            <a:r>
              <a:rPr sz="1350">
                <a:solidFill>
                  <a:srgbClr val="293730"/>
                </a:solidFill>
                <a:latin typeface="Times New Roman"/>
                <a:ea typeface="Times New Roman"/>
                <a:cs typeface="Times New Roman"/>
              </a:rPr>
              <a:t>- https://github.com/Techlauncher-LeafAnalyzer/Hyperspectral-Image-Inspector/pull/32</a:t>
            </a:r>
          </a:p>
          <a:p xmlns:a="http://schemas.openxmlformats.org/drawingml/2006/main">
            <a:r>
              <a:rPr sz="1350">
                <a:solidFill>
                  <a:srgbClr val="293730"/>
                </a:solidFill>
                <a:latin typeface="Times New Roman"/>
                <a:ea typeface="Times New Roman"/>
                <a:cs typeface="Times New Roman"/>
              </a:rPr>
              <a:t>- https://github.com/Techlauncher-LeafAnalyzer/Hyperspectral-Image-Inspector/pull/33</a:t>
            </a:r>
          </a:p>
          <a:p xmlns:a="http://schemas.openxmlformats.org/drawingml/2006/main">
            <a:r>
              <a:rPr sz="1350">
                <a:solidFill>
                  <a:srgbClr val="293730"/>
                </a:solidFill>
                <a:latin typeface="Times New Roman"/>
                <a:ea typeface="Times New Roman"/>
                <a:cs typeface="Times New Roman"/>
              </a:rPr>
              <a:t>- https://github.com/Techlauncher-LeafAnalyzer/Hyperspectral-Image-Inspector/pull/34</a:t>
            </a:r>
          </a:p>
          <a:p xmlns:a="http://schemas.openxmlformats.org/drawingml/2006/main">
            <a:r>
              <a:rPr sz="1350">
                <a:solidFill>
                  <a:srgbClr val="293730"/>
                </a:solidFill>
                <a:latin typeface="Times New Roman"/>
                <a:ea typeface="Times New Roman"/>
                <a:cs typeface="Times New Roman"/>
              </a:rPr>
              <a:t>- https://github.com/Techlauncher-LeafAnalyzer/Hyperspectral-Image-Inspector/pull/36</a:t>
            </a:r>
          </a:p>
          <a:p xmlns:a="http://schemas.openxmlformats.org/drawingml/2006/main">
            <a:r>
              <a:rPr sz="1350">
                <a:solidFill>
                  <a:srgbClr val="293730"/>
                </a:solidFill>
                <a:latin typeface="Times New Roman"/>
                <a:ea typeface="Times New Roman"/>
                <a:cs typeface="Times New Roman"/>
              </a:rPr>
              <a:t>- https://github.com/Techlauncher-LeafAnalyzer/Hyperspectral-Image-Inspector/blob/ac7161342dbb661c9f5efbfd9de5a554ee4c6141/docs/model_classification_api.md</a:t>
            </a:r>
          </a:p>
          <a:p xmlns:a="http://schemas.openxmlformats.org/drawingml/2006/main">
            <a:r>
              <a:rPr sz="1350">
                <a:solidFill>
                  <a:srgbClr val="293730"/>
                </a:solidFill>
                <a:latin typeface="Times New Roman"/>
                <a:ea typeface="Times New Roman"/>
                <a:cs typeface="Times New Roman"/>
              </a:rPr>
              <a:t>- https://github.com/Techlauncher-LeafAnalyzer/Hyperspectral-Image-Inspector/blob/ac7161342dbb661c9f5efbfd9de5a554ee4c6141/docs/super-resolution.md</a:t>
            </a:r>
          </a:p>
          <a:p xmlns:a="http://schemas.openxmlformats.org/drawingml/2006/main">
            <a:r>
              <a:rPr sz="1350">
                <a:solidFill>
                  <a:srgbClr val="293730"/>
                </a:solidFill>
                <a:latin typeface="Times New Roman"/>
                <a:ea typeface="Times New Roman"/>
                <a:cs typeface="Times New Roman"/>
              </a:rPr>
              <a:t>- Screenshots: real project UI or browser captures taken 28 August 2026; cropped only for placement. Actual interactive Hypercube view of the real tray capture. Actual super-resolution result from a crop of the real 480-band capture.</a:t>
            </a:r>
          </a:p>
          <a:p xmlns:a="http://schemas.openxmlformats.org/drawingml/2006/main">
            <a:r>
              <a:rPr sz="1350">
                <a:solidFill>
                  <a:srgbClr val="293730"/>
                </a:solidFill>
                <a:latin typeface="Times New Roman"/>
                <a:ea typeface="Times New Roman"/>
                <a:cs typeface="Times New Roman"/>
              </a:rP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350">
                <a:solidFill>
                  <a:srgbClr val="293730"/>
                </a:solidFill>
                <a:latin typeface="Times New Roman"/>
                <a:ea typeface="Times New Roman"/>
                <a:cs typeface="Times New Roman"/>
              </a:rPr>
              <a:t>Last sprint, we were asked to track meeting actions more clearly. The client had asked for a better interface and more reliable super resolution using all the bands. We linked that work to Jira tasks and reported progress in the backlog and Week 5 report. The menu, statistics window and colour values also make the app easier to use. These needs came from earlier client records. We have not found a new client sign-off for the finished changes.</a:t>
            </a:r>
          </a:p>
          <a:p xmlns:a="http://schemas.openxmlformats.org/drawingml/2006/main">
            <a:r>
              <a:rPr sz="1350">
                <a:solidFill>
                  <a:srgbClr val="293730"/>
                </a:solidFill>
                <a:latin typeface="Times New Roman"/>
                <a:ea typeface="Times New Roman"/>
                <a:cs typeface="Times New Roman"/>
              </a:rPr>
              <a:t/>
            </a:r>
          </a:p>
          <a:p xmlns:a="http://schemas.openxmlformats.org/drawingml/2006/main">
            <a:r>
              <a:rPr sz="1350">
                <a:solidFill>
                  <a:srgbClr val="293730"/>
                </a:solidFill>
                <a:latin typeface="Times New Roman"/>
                <a:ea typeface="Times New Roman"/>
                <a:cs typeface="Times New Roman"/>
              </a:rPr>
              <a:t>[Sources]</a:t>
            </a:r>
          </a:p>
          <a:p xmlns:a="http://schemas.openxmlformats.org/drawingml/2006/main">
            <a:r>
              <a:rPr sz="1350">
                <a:solidFill>
                  <a:srgbClr val="293730"/>
                </a:solidFill>
                <a:latin typeface="Times New Roman"/>
                <a:ea typeface="Times New Roman"/>
                <a:cs typeface="Times New Roman"/>
              </a:rPr>
              <a:t>- https://leaf2qr.atlassian.net/wiki/spaces/L/pages/16580683</a:t>
            </a:r>
          </a:p>
          <a:p xmlns:a="http://schemas.openxmlformats.org/drawingml/2006/main">
            <a:r>
              <a:rPr sz="1350">
                <a:solidFill>
                  <a:srgbClr val="293730"/>
                </a:solidFill>
                <a:latin typeface="Times New Roman"/>
                <a:ea typeface="Times New Roman"/>
                <a:cs typeface="Times New Roman"/>
              </a:rPr>
              <a:t>- https://leaf2qr.atlassian.net/wiki/spaces/L/pages/16416770</a:t>
            </a:r>
          </a:p>
          <a:p xmlns:a="http://schemas.openxmlformats.org/drawingml/2006/main">
            <a:r>
              <a:rPr sz="1350">
                <a:solidFill>
                  <a:srgbClr val="293730"/>
                </a:solidFill>
                <a:latin typeface="Times New Roman"/>
                <a:ea typeface="Times New Roman"/>
                <a:cs typeface="Times New Roman"/>
              </a:rPr>
              <a:t>- https://leaf2qr.atlassian.net/wiki/spaces/L/pages/15630342</a:t>
            </a:r>
          </a:p>
          <a:p xmlns:a="http://schemas.openxmlformats.org/drawingml/2006/main">
            <a:r>
              <a:rPr sz="1350">
                <a:solidFill>
                  <a:srgbClr val="293730"/>
                </a:solidFill>
                <a:latin typeface="Times New Roman"/>
                <a:ea typeface="Times New Roman"/>
                <a:cs typeface="Times New Roman"/>
              </a:rPr>
              <a:t>- https://leaf2qr.atlassian.net/browse/LEAF-152</a:t>
            </a:r>
          </a:p>
          <a:p xmlns:a="http://schemas.openxmlformats.org/drawingml/2006/main">
            <a:r>
              <a:rPr sz="1350">
                <a:solidFill>
                  <a:srgbClr val="293730"/>
                </a:solidFill>
                <a:latin typeface="Times New Roman"/>
                <a:ea typeface="Times New Roman"/>
                <a:cs typeface="Times New Roman"/>
              </a:rPr>
              <a:t>- https://leaf2qr.atlassian.net/browse/LEAF-158</a:t>
            </a:r>
          </a:p>
          <a:p xmlns:a="http://schemas.openxmlformats.org/drawingml/2006/main">
            <a:r>
              <a:rPr sz="1350">
                <a:solidFill>
                  <a:srgbClr val="293730"/>
                </a:solidFill>
                <a:latin typeface="Times New Roman"/>
                <a:ea typeface="Times New Roman"/>
                <a:cs typeface="Times New Roman"/>
              </a:rPr>
              <a:t>- https://leaf2qr.atlassian.net/browse/LEAF-149</a:t>
            </a:r>
          </a:p>
          <a:p xmlns:a="http://schemas.openxmlformats.org/drawingml/2006/main">
            <a:r>
              <a:rPr sz="1350">
                <a:solidFill>
                  <a:srgbClr val="293730"/>
                </a:solidFill>
                <a:latin typeface="Times New Roman"/>
                <a:ea typeface="Times New Roman"/>
                <a:cs typeface="Times New Roman"/>
              </a:rPr>
              <a:t>- https://leaf2qr.atlassian.net/browse/LEAF-154</a:t>
            </a:r>
          </a:p>
          <a:p xmlns:a="http://schemas.openxmlformats.org/drawingml/2006/main">
            <a:r>
              <a:rPr sz="1350">
                <a:solidFill>
                  <a:srgbClr val="293730"/>
                </a:solidFill>
                <a:latin typeface="Times New Roman"/>
                <a:ea typeface="Times New Roman"/>
                <a:cs typeface="Times New Roman"/>
              </a:rPr>
              <a:t>- https://leaf2qr.atlassian.net/browse/LEAF-155</a:t>
            </a:r>
          </a:p>
          <a:p xmlns:a="http://schemas.openxmlformats.org/drawingml/2006/main">
            <a:r>
              <a:rPr sz="1350">
                <a:solidFill>
                  <a:srgbClr val="293730"/>
                </a:solidFill>
                <a:latin typeface="Times New Roman"/>
                <a:ea typeface="Times New Roman"/>
                <a:cs typeface="Times New Roman"/>
              </a:rPr>
              <a:t>- https://leaf2qr.atlassian.net/wiki/spaces/L/pages/18284545</a:t>
            </a:r>
          </a:p>
          <a:p xmlns:a="http://schemas.openxmlformats.org/drawingml/2006/main">
            <a:r>
              <a:rPr sz="1350">
                <a:solidFill>
                  <a:srgbClr val="293730"/>
                </a:solidFill>
                <a:latin typeface="Times New Roman"/>
                <a:ea typeface="Times New Roman"/>
                <a:cs typeface="Times New Roman"/>
              </a:rPr>
              <a:t>- https://leaf2qr.atlassian.net/wiki/spaces/L/pages/19726337</a:t>
            </a:r>
          </a:p>
          <a:p xmlns:a="http://schemas.openxmlformats.org/drawingml/2006/main">
            <a:r>
              <a:rPr sz="1350">
                <a:solidFill>
                  <a:srgbClr val="293730"/>
                </a:solidFill>
                <a:latin typeface="Times New Roman"/>
                <a:ea typeface="Times New Roman"/>
                <a:cs typeface="Times New Roman"/>
              </a:rP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350">
                <a:solidFill>
                  <a:srgbClr val="293730"/>
                </a:solidFill>
                <a:latin typeface="Times New Roman"/>
                <a:ea typeface="Times New Roman"/>
                <a:cs typeface="Times New Roman"/>
              </a:rPr>
              <a:t>The tutor asked us to log our time, reflect each week and update the risk plan. Guochen’s Jira task, LEAF-157, has a checklist and links to the project documents. The Week 5 report records the progress. This makes it easier for the tutor to open the task and find the related work. The written follow-up is there, but we should still record the final outcome of each action.</a:t>
            </a:r>
          </a:p>
          <a:p xmlns:a="http://schemas.openxmlformats.org/drawingml/2006/main">
            <a:r>
              <a:rPr sz="1350">
                <a:solidFill>
                  <a:srgbClr val="293730"/>
                </a:solidFill>
                <a:latin typeface="Times New Roman"/>
                <a:ea typeface="Times New Roman"/>
                <a:cs typeface="Times New Roman"/>
              </a:rPr>
              <a:t/>
            </a:r>
          </a:p>
          <a:p xmlns:a="http://schemas.openxmlformats.org/drawingml/2006/main">
            <a:r>
              <a:rPr sz="1350">
                <a:solidFill>
                  <a:srgbClr val="293730"/>
                </a:solidFill>
                <a:latin typeface="Times New Roman"/>
                <a:ea typeface="Times New Roman"/>
                <a:cs typeface="Times New Roman"/>
              </a:rPr>
              <a:t>[Sources]</a:t>
            </a:r>
          </a:p>
          <a:p xmlns:a="http://schemas.openxmlformats.org/drawingml/2006/main">
            <a:r>
              <a:rPr sz="1350">
                <a:solidFill>
                  <a:srgbClr val="293730"/>
                </a:solidFill>
                <a:latin typeface="Times New Roman"/>
                <a:ea typeface="Times New Roman"/>
                <a:cs typeface="Times New Roman"/>
              </a:rPr>
              <a:t>- https://leaf2qr.atlassian.net/wiki/spaces/L/pages/18645003</a:t>
            </a:r>
          </a:p>
          <a:p xmlns:a="http://schemas.openxmlformats.org/drawingml/2006/main">
            <a:r>
              <a:rPr sz="1350">
                <a:solidFill>
                  <a:srgbClr val="293730"/>
                </a:solidFill>
                <a:latin typeface="Times New Roman"/>
                <a:ea typeface="Times New Roman"/>
                <a:cs typeface="Times New Roman"/>
              </a:rPr>
              <a:t>- https://leaf2qr.atlassian.net/browse/LEAF-157</a:t>
            </a:r>
          </a:p>
          <a:p xmlns:a="http://schemas.openxmlformats.org/drawingml/2006/main">
            <a:r>
              <a:rPr sz="1350">
                <a:solidFill>
                  <a:srgbClr val="293730"/>
                </a:solidFill>
                <a:latin typeface="Times New Roman"/>
                <a:ea typeface="Times New Roman"/>
                <a:cs typeface="Times New Roman"/>
              </a:rPr>
              <a:t>- https://leaf2qr.atlassian.net/wiki/spaces/L/pages/19726337</a:t>
            </a:r>
          </a:p>
          <a:p xmlns:a="http://schemas.openxmlformats.org/drawingml/2006/main">
            <a:r>
              <a:rPr sz="1350">
                <a:solidFill>
                  <a:srgbClr val="293730"/>
                </a:solidFill>
                <a:latin typeface="Times New Roman"/>
                <a:ea typeface="Times New Roman"/>
                <a:cs typeface="Times New Roman"/>
              </a:rPr>
              <a:t>- https://leaf2qr.atlassian.net/wiki/spaces/L/pages/19726345</a:t>
            </a:r>
          </a:p>
          <a:p xmlns:a="http://schemas.openxmlformats.org/drawingml/2006/main">
            <a:r>
              <a:rPr sz="1350">
                <a:solidFill>
                  <a:srgbClr val="293730"/>
                </a:solidFill>
                <a:latin typeface="Times New Roman"/>
                <a:ea typeface="Times New Roman"/>
                <a:cs typeface="Times New Roman"/>
              </a:rPr>
              <a:t>- https://leaf2qr.atlassian.net/wiki/spaces/L/pages/6193171</a:t>
            </a:r>
          </a:p>
          <a:p xmlns:a="http://schemas.openxmlformats.org/drawingml/2006/main">
            <a:r>
              <a:rPr sz="1350">
                <a:solidFill>
                  <a:srgbClr val="293730"/>
                </a:solidFill>
                <a:latin typeface="Times New Roman"/>
                <a:ea typeface="Times New Roman"/>
                <a:cs typeface="Times New Roman"/>
              </a:rPr>
              <a:t>- https://leaf2qr.atlassian.net/wiki/spaces/L/pages/18284545</a:t>
            </a:r>
          </a:p>
          <a:p xmlns:a="http://schemas.openxmlformats.org/drawingml/2006/main">
            <a:r>
              <a:rPr sz="1350">
                <a:solidFill>
                  <a:srgbClr val="293730"/>
                </a:solidFill>
                <a:latin typeface="Times New Roman"/>
                <a:ea typeface="Times New Roman"/>
                <a:cs typeface="Times New Roman"/>
              </a:rPr>
              <a:t>- Sprint 4 stakeholder feedback supplied in the brief.</a:t>
            </a:r>
          </a:p>
          <a:p xmlns:a="http://schemas.openxmlformats.org/drawingml/2006/main">
            <a:r>
              <a:rPr sz="1350">
                <a:solidFill>
                  <a:srgbClr val="293730"/>
                </a:solidFill>
                <a:latin typeface="Times New Roman"/>
                <a:ea typeface="Times New Roman"/>
                <a:cs typeface="Times New Roman"/>
              </a:rPr>
              <a:t>- Screenshots: real project UI or browser captures taken 28 August 2026; cropped only for placement. Actual LEAF-157 Jira task with its documentation checklist and owner.</a:t>
            </a:r>
          </a:p>
          <a:p xmlns:a="http://schemas.openxmlformats.org/drawingml/2006/main">
            <a:r>
              <a:rPr sz="1350">
                <a:solidFill>
                  <a:srgbClr val="293730"/>
                </a:solidFill>
                <a:latin typeface="Times New Roman"/>
                <a:ea typeface="Times New Roman"/>
                <a:cs typeface="Times New Roman"/>
              </a:rP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350">
                <a:solidFill>
                  <a:srgbClr val="293730"/>
                </a:solidFill>
                <a:latin typeface="Times New Roman"/>
                <a:ea typeface="Times New Roman"/>
                <a:cs typeface="Times New Roman"/>
              </a:rPr>
              <a:t>Each person had assigned tasks in Jira. Ryan worked mainly on the UI and integration fixes. Guochen worked on SR, UI changes and reporting. Jingyi worked on models and supervised classification. Pengyun worked on Hypercube components and classification. Hypercube needed another pass before the model and interface worked together. It moved back to In Progress on 21 August, then the working version was merged on 28 August. We need to plan time for this kind of integration.</a:t>
            </a:r>
          </a:p>
          <a:p xmlns:a="http://schemas.openxmlformats.org/drawingml/2006/main">
            <a:r>
              <a:rPr sz="1350">
                <a:solidFill>
                  <a:srgbClr val="293730"/>
                </a:solidFill>
                <a:latin typeface="Times New Roman"/>
                <a:ea typeface="Times New Roman"/>
                <a:cs typeface="Times New Roman"/>
              </a:rPr>
              <a:t/>
            </a:r>
          </a:p>
          <a:p xmlns:a="http://schemas.openxmlformats.org/drawingml/2006/main">
            <a:r>
              <a:rPr sz="1350">
                <a:solidFill>
                  <a:srgbClr val="293730"/>
                </a:solidFill>
                <a:latin typeface="Times New Roman"/>
                <a:ea typeface="Times New Roman"/>
                <a:cs typeface="Times New Roman"/>
              </a:rPr>
              <a:t>[Sources]</a:t>
            </a:r>
          </a:p>
          <a:p xmlns:a="http://schemas.openxmlformats.org/drawingml/2006/main">
            <a:r>
              <a:rPr sz="1350">
                <a:solidFill>
                  <a:srgbClr val="293730"/>
                </a:solidFill>
                <a:latin typeface="Times New Roman"/>
                <a:ea typeface="Times New Roman"/>
                <a:cs typeface="Times New Roman"/>
              </a:rPr>
              <a:t>- https://leaf2qr.atlassian.net/wiki/spaces/L/pages/18284545</a:t>
            </a:r>
          </a:p>
          <a:p xmlns:a="http://schemas.openxmlformats.org/drawingml/2006/main">
            <a:r>
              <a:rPr sz="1350">
                <a:solidFill>
                  <a:srgbClr val="293730"/>
                </a:solidFill>
                <a:latin typeface="Times New Roman"/>
                <a:ea typeface="Times New Roman"/>
                <a:cs typeface="Times New Roman"/>
              </a:rPr>
              <a:t>- https://leaf2qr.atlassian.net/wiki/spaces/L/pages/18448410</a:t>
            </a:r>
          </a:p>
          <a:p xmlns:a="http://schemas.openxmlformats.org/drawingml/2006/main">
            <a:r>
              <a:rPr sz="1350">
                <a:solidFill>
                  <a:srgbClr val="293730"/>
                </a:solidFill>
                <a:latin typeface="Times New Roman"/>
                <a:ea typeface="Times New Roman"/>
                <a:cs typeface="Times New Roman"/>
              </a:rPr>
              <a:t>- https://leaf2qr.atlassian.net/wiki/spaces/L/pages/19726345</a:t>
            </a:r>
          </a:p>
          <a:p xmlns:a="http://schemas.openxmlformats.org/drawingml/2006/main">
            <a:r>
              <a:rPr sz="1350">
                <a:solidFill>
                  <a:srgbClr val="293730"/>
                </a:solidFill>
                <a:latin typeface="Times New Roman"/>
                <a:ea typeface="Times New Roman"/>
                <a:cs typeface="Times New Roman"/>
              </a:rPr>
              <a:t>- https://leaf2qr.atlassian.net/browse/LEAF-150 (status history)</a:t>
            </a:r>
          </a:p>
          <a:p xmlns:a="http://schemas.openxmlformats.org/drawingml/2006/main">
            <a:r>
              <a:rPr sz="1350">
                <a:solidFill>
                  <a:srgbClr val="293730"/>
                </a:solidFill>
                <a:latin typeface="Times New Roman"/>
                <a:ea typeface="Times New Roman"/>
                <a:cs typeface="Times New Roman"/>
              </a:rPr>
              <a:t>- https://github.com/Techlauncher-LeafAnalyzer/Hyperspectral-Image-Inspector/pull/28</a:t>
            </a:r>
          </a:p>
          <a:p xmlns:a="http://schemas.openxmlformats.org/drawingml/2006/main">
            <a:r>
              <a:rPr sz="1350">
                <a:solidFill>
                  <a:srgbClr val="293730"/>
                </a:solidFill>
                <a:latin typeface="Times New Roman"/>
                <a:ea typeface="Times New Roman"/>
                <a:cs typeface="Times New Roman"/>
              </a:rPr>
              <a:t>- https://github.com/Techlauncher-LeafAnalyzer/Hyperspectral-Image-Inspector/pull/29</a:t>
            </a:r>
          </a:p>
          <a:p xmlns:a="http://schemas.openxmlformats.org/drawingml/2006/main">
            <a:r>
              <a:rPr sz="1350">
                <a:solidFill>
                  <a:srgbClr val="293730"/>
                </a:solidFill>
                <a:latin typeface="Times New Roman"/>
                <a:ea typeface="Times New Roman"/>
                <a:cs typeface="Times New Roman"/>
              </a:rPr>
              <a:t>- https://github.com/Techlauncher-LeafAnalyzer/Hyperspectral-Image-Inspector/pull/36</a:t>
            </a:r>
          </a:p>
          <a:p xmlns:a="http://schemas.openxmlformats.org/drawingml/2006/main">
            <a:r>
              <a:rPr sz="1350">
                <a:solidFill>
                  <a:srgbClr val="293730"/>
                </a:solidFill>
                <a:latin typeface="Times New Roman"/>
                <a:ea typeface="Times New Roman"/>
                <a:cs typeface="Times New Roman"/>
              </a:rP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350">
                <a:solidFill>
                  <a:srgbClr val="293730"/>
                </a:solidFill>
                <a:latin typeface="Times New Roman"/>
                <a:ea typeface="Times New Roman"/>
                <a:cs typeface="Times New Roman"/>
              </a:rPr>
              <a:t>We can now compare estimates with logged time for some tasks. Hypercube shows five hours estimated and six logged. SR shows five and seven. The menu task matched its estimate, and two smaller UI fixes took less time than estimated. There is a limit to this comparison: SR’s estimate changed from three to five hours, and Hypercube was estimated during review. Next sprint, we should keep the first estimate, record changes and include integration and testing time.</a:t>
            </a:r>
          </a:p>
          <a:p xmlns:a="http://schemas.openxmlformats.org/drawingml/2006/main">
            <a:r>
              <a:rPr sz="1350">
                <a:solidFill>
                  <a:srgbClr val="293730"/>
                </a:solidFill>
                <a:latin typeface="Times New Roman"/>
                <a:ea typeface="Times New Roman"/>
                <a:cs typeface="Times New Roman"/>
              </a:rPr>
              <a:t/>
            </a:r>
          </a:p>
          <a:p xmlns:a="http://schemas.openxmlformats.org/drawingml/2006/main">
            <a:r>
              <a:rPr sz="1350">
                <a:solidFill>
                  <a:srgbClr val="293730"/>
                </a:solidFill>
                <a:latin typeface="Times New Roman"/>
                <a:ea typeface="Times New Roman"/>
                <a:cs typeface="Times New Roman"/>
              </a:rPr>
              <a:t>[Sources]</a:t>
            </a:r>
          </a:p>
          <a:p xmlns:a="http://schemas.openxmlformats.org/drawingml/2006/main">
            <a:r>
              <a:rPr sz="1350">
                <a:solidFill>
                  <a:srgbClr val="293730"/>
                </a:solidFill>
                <a:latin typeface="Times New Roman"/>
                <a:ea typeface="Times New Roman"/>
                <a:cs typeface="Times New Roman"/>
              </a:rPr>
              <a:t>- https://leaf2qr.atlassian.net/browse/LEAF-150 (estimate, worklog and history)</a:t>
            </a:r>
          </a:p>
          <a:p xmlns:a="http://schemas.openxmlformats.org/drawingml/2006/main">
            <a:r>
              <a:rPr sz="1350">
                <a:solidFill>
                  <a:srgbClr val="293730"/>
                </a:solidFill>
                <a:latin typeface="Times New Roman"/>
                <a:ea typeface="Times New Roman"/>
                <a:cs typeface="Times New Roman"/>
              </a:rPr>
              <a:t>- https://leaf2qr.atlassian.net/browse/LEAF-152 (estimate, worklogs and history)</a:t>
            </a:r>
          </a:p>
          <a:p xmlns:a="http://schemas.openxmlformats.org/drawingml/2006/main">
            <a:r>
              <a:rPr sz="1350">
                <a:solidFill>
                  <a:srgbClr val="293730"/>
                </a:solidFill>
                <a:latin typeface="Times New Roman"/>
                <a:ea typeface="Times New Roman"/>
                <a:cs typeface="Times New Roman"/>
              </a:rPr>
              <a:t>- https://leaf2qr.atlassian.net/browse/LEAF-149</a:t>
            </a:r>
          </a:p>
          <a:p xmlns:a="http://schemas.openxmlformats.org/drawingml/2006/main">
            <a:r>
              <a:rPr sz="1350">
                <a:solidFill>
                  <a:srgbClr val="293730"/>
                </a:solidFill>
                <a:latin typeface="Times New Roman"/>
                <a:ea typeface="Times New Roman"/>
                <a:cs typeface="Times New Roman"/>
              </a:rPr>
              <a:t>- https://leaf2qr.atlassian.net/browse/LEAF-153</a:t>
            </a:r>
          </a:p>
          <a:p xmlns:a="http://schemas.openxmlformats.org/drawingml/2006/main">
            <a:r>
              <a:rPr sz="1350">
                <a:solidFill>
                  <a:srgbClr val="293730"/>
                </a:solidFill>
                <a:latin typeface="Times New Roman"/>
                <a:ea typeface="Times New Roman"/>
                <a:cs typeface="Times New Roman"/>
              </a:rPr>
              <a:t>- https://leaf2qr.atlassian.net/browse/LEAF-155</a:t>
            </a:r>
          </a:p>
          <a:p xmlns:a="http://schemas.openxmlformats.org/drawingml/2006/main">
            <a:r>
              <a:rPr sz="1350">
                <a:solidFill>
                  <a:srgbClr val="293730"/>
                </a:solidFill>
                <a:latin typeface="Times New Roman"/>
                <a:ea typeface="Times New Roman"/>
                <a:cs typeface="Times New Roman"/>
              </a:rPr>
              <a:t>- Jira query: project = LEAF AND sprint = "Sprint 5"; 45 returned issues; snapshot 28 August 2026.</a:t>
            </a:r>
          </a:p>
          <a:p xmlns:a="http://schemas.openxmlformats.org/drawingml/2006/main">
            <a:r>
              <a:rPr sz="1350">
                <a:solidFill>
                  <a:srgbClr val="293730"/>
                </a:solidFill>
                <a:latin typeface="Times New Roman"/>
                <a:ea typeface="Times New Roman"/>
                <a:cs typeface="Times New Roman"/>
              </a:rPr>
              <a:t>- Differences computed as logged actual minus the current original-estimate field; not an independently recorded retrospective metric.</a:t>
            </a:r>
          </a:p>
          <a:p xmlns:a="http://schemas.openxmlformats.org/drawingml/2006/main">
            <a:r>
              <a:rPr sz="1350">
                <a:solidFill>
                  <a:srgbClr val="293730"/>
                </a:solidFill>
                <a:latin typeface="Times New Roman"/>
                <a:ea typeface="Times New Roman"/>
                <a:cs typeface="Times New Roman"/>
              </a:rPr>
              <a:t>- Screenshots: real project UI or browser captures taken 28 August 2026; cropped only for placement. Actual LEAF-152 Jira time tracking showing 5h estimate and 7h logged.</a:t>
            </a:r>
          </a:p>
          <a:p xmlns:a="http://schemas.openxmlformats.org/drawingml/2006/main">
            <a:r>
              <a:rPr sz="1350">
                <a:solidFill>
                  <a:srgbClr val="293730"/>
                </a:solidFill>
                <a:latin typeface="Times New Roman"/>
                <a:ea typeface="Times New Roman"/>
                <a:cs typeface="Times New Roman"/>
              </a:rP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350">
                <a:solidFill>
                  <a:srgbClr val="293730"/>
                </a:solidFill>
                <a:latin typeface="Times New Roman"/>
                <a:ea typeface="Times New Roman"/>
                <a:cs typeface="Times New Roman"/>
              </a:rPr>
              <a:t>We updated the risk plan on 21 and 28 August. Large files may use too much memory or disk space. The app runs long tasks in the background, and SR processes smaller tiles. We also need to check whether the scientific results are correct and whether the app works on the client’s Windows PC. Ubuntu CI does not answer those questions. Next, we need real measurements, reference tests and a named person for each risk.</a:t>
            </a:r>
          </a:p>
          <a:p xmlns:a="http://schemas.openxmlformats.org/drawingml/2006/main">
            <a:r>
              <a:rPr sz="1350">
                <a:solidFill>
                  <a:srgbClr val="293730"/>
                </a:solidFill>
                <a:latin typeface="Times New Roman"/>
                <a:ea typeface="Times New Roman"/>
                <a:cs typeface="Times New Roman"/>
              </a:rPr>
              <a:t/>
            </a:r>
          </a:p>
          <a:p xmlns:a="http://schemas.openxmlformats.org/drawingml/2006/main">
            <a:r>
              <a:rPr sz="1350">
                <a:solidFill>
                  <a:srgbClr val="293730"/>
                </a:solidFill>
                <a:latin typeface="Times New Roman"/>
                <a:ea typeface="Times New Roman"/>
                <a:cs typeface="Times New Roman"/>
              </a:rPr>
              <a:t>[Sources]</a:t>
            </a:r>
          </a:p>
          <a:p xmlns:a="http://schemas.openxmlformats.org/drawingml/2006/main">
            <a:r>
              <a:rPr sz="1350">
                <a:solidFill>
                  <a:srgbClr val="293730"/>
                </a:solidFill>
                <a:latin typeface="Times New Roman"/>
                <a:ea typeface="Times New Roman"/>
                <a:cs typeface="Times New Roman"/>
              </a:rPr>
              <a:t>- https://leaf2qr.atlassian.net/wiki/spaces/L/pages/6193171 (R2, R3, R4, R11; next-review actions)</a:t>
            </a:r>
          </a:p>
          <a:p xmlns:a="http://schemas.openxmlformats.org/drawingml/2006/main">
            <a:r>
              <a:rPr sz="1350">
                <a:solidFill>
                  <a:srgbClr val="293730"/>
                </a:solidFill>
                <a:latin typeface="Times New Roman"/>
                <a:ea typeface="Times New Roman"/>
                <a:cs typeface="Times New Roman"/>
              </a:rPr>
              <a:t>- https://github.com/Techlauncher-LeafAnalyzer/Hyperspectral-Image-Inspector/blob/ac7161342dbb661c9f5efbfd9de5a554ee4c6141/docs/super-resolution.md</a:t>
            </a:r>
          </a:p>
          <a:p xmlns:a="http://schemas.openxmlformats.org/drawingml/2006/main">
            <a:r>
              <a:rPr sz="1350">
                <a:solidFill>
                  <a:srgbClr val="293730"/>
                </a:solidFill>
                <a:latin typeface="Times New Roman"/>
                <a:ea typeface="Times New Roman"/>
                <a:cs typeface="Times New Roman"/>
              </a:rPr>
              <a:t>- https://leaf2qr.atlassian.net/wiki/spaces/L/pages/19726345</a:t>
            </a:r>
          </a:p>
          <a:p xmlns:a="http://schemas.openxmlformats.org/drawingml/2006/main">
            <a:r>
              <a:rPr sz="1350">
                <a:solidFill>
                  <a:srgbClr val="293730"/>
                </a:solidFill>
                <a:latin typeface="Times New Roman"/>
                <a:ea typeface="Times New Roman"/>
                <a:cs typeface="Times New Roman"/>
              </a:rP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350">
                <a:solidFill>
                  <a:srgbClr val="293730"/>
                </a:solidFill>
                <a:latin typeface="Times New Roman"/>
                <a:ea typeface="Times New Roman"/>
                <a:cs typeface="Times New Roman"/>
              </a:rPr>
              <a:t>Last sprint’s feedback asked for unit and integration tests. LEAF-147 and PR 25 added the test setup, and later work added more checks. The suite covers loading, cropping, undoing, switching views and saving. It also checks SR and Hypercube behaviour. These tests help us catch old bugs when the code changes. We still need more dedicated classification tests and checks against known scientific results. We also reran the full local suite in pytorch_env for this review: all 125 tests passed.</a:t>
            </a:r>
          </a:p>
          <a:p xmlns:a="http://schemas.openxmlformats.org/drawingml/2006/main">
            <a:r>
              <a:rPr sz="1350">
                <a:solidFill>
                  <a:srgbClr val="293730"/>
                </a:solidFill>
                <a:latin typeface="Times New Roman"/>
                <a:ea typeface="Times New Roman"/>
                <a:cs typeface="Times New Roman"/>
              </a:rPr>
              <a:t/>
            </a:r>
          </a:p>
          <a:p xmlns:a="http://schemas.openxmlformats.org/drawingml/2006/main">
            <a:r>
              <a:rPr sz="1350">
                <a:solidFill>
                  <a:srgbClr val="293730"/>
                </a:solidFill>
                <a:latin typeface="Times New Roman"/>
                <a:ea typeface="Times New Roman"/>
                <a:cs typeface="Times New Roman"/>
              </a:rPr>
              <a:t>[Sources]</a:t>
            </a:r>
          </a:p>
          <a:p xmlns:a="http://schemas.openxmlformats.org/drawingml/2006/main">
            <a:r>
              <a:rPr sz="1350">
                <a:solidFill>
                  <a:srgbClr val="293730"/>
                </a:solidFill>
                <a:latin typeface="Times New Roman"/>
                <a:ea typeface="Times New Roman"/>
                <a:cs typeface="Times New Roman"/>
              </a:rPr>
              <a:t>- https://github.com/Techlauncher-LeafAnalyzer/Hyperspectral-Image-Inspector/pull/25</a:t>
            </a:r>
          </a:p>
          <a:p xmlns:a="http://schemas.openxmlformats.org/drawingml/2006/main">
            <a:r>
              <a:rPr sz="1350">
                <a:solidFill>
                  <a:srgbClr val="293730"/>
                </a:solidFill>
                <a:latin typeface="Times New Roman"/>
                <a:ea typeface="Times New Roman"/>
                <a:cs typeface="Times New Roman"/>
              </a:rPr>
              <a:t>- https://github.com/Techlauncher-LeafAnalyzer/Hyperspectral-Image-Inspector/blob/ac7161342dbb661c9f5efbfd9de5a554ee4c6141/ui_tests/conftest.py</a:t>
            </a:r>
          </a:p>
          <a:p xmlns:a="http://schemas.openxmlformats.org/drawingml/2006/main">
            <a:r>
              <a:rPr sz="1350">
                <a:solidFill>
                  <a:srgbClr val="293730"/>
                </a:solidFill>
                <a:latin typeface="Times New Roman"/>
                <a:ea typeface="Times New Roman"/>
                <a:cs typeface="Times New Roman"/>
              </a:rPr>
              <a:t>- https://github.com/Techlauncher-LeafAnalyzer/Hyperspectral-Image-Inspector/blob/ac7161342dbb661c9f5efbfd9de5a554ee4c6141/ui_tests/ui/test_crop.py</a:t>
            </a:r>
          </a:p>
          <a:p xmlns:a="http://schemas.openxmlformats.org/drawingml/2006/main">
            <a:r>
              <a:rPr sz="1350">
                <a:solidFill>
                  <a:srgbClr val="293730"/>
                </a:solidFill>
                <a:latin typeface="Times New Roman"/>
                <a:ea typeface="Times New Roman"/>
                <a:cs typeface="Times New Roman"/>
              </a:rPr>
              <a:t>- https://github.com/Techlauncher-LeafAnalyzer/Hyperspectral-Image-Inspector/blob/ac7161342dbb661c9f5efbfd9de5a554ee4c6141/ui_tests/ui/test_super_resolution.py</a:t>
            </a:r>
          </a:p>
          <a:p xmlns:a="http://schemas.openxmlformats.org/drawingml/2006/main">
            <a:r>
              <a:rPr sz="1350">
                <a:solidFill>
                  <a:srgbClr val="293730"/>
                </a:solidFill>
                <a:latin typeface="Times New Roman"/>
                <a:ea typeface="Times New Roman"/>
                <a:cs typeface="Times New Roman"/>
              </a:rPr>
              <a:t>- https://github.com/Techlauncher-LeafAnalyzer/Hyperspectral-Image-Inspector/blob/ac7161342dbb661c9f5efbfd9de5a554ee4c6141/ui_tests/core/test_super_resolution_model.py</a:t>
            </a:r>
          </a:p>
          <a:p xmlns:a="http://schemas.openxmlformats.org/drawingml/2006/main">
            <a:r>
              <a:rPr sz="1350">
                <a:solidFill>
                  <a:srgbClr val="293730"/>
                </a:solidFill>
                <a:latin typeface="Times New Roman"/>
                <a:ea typeface="Times New Roman"/>
                <a:cs typeface="Times New Roman"/>
              </a:rPr>
              <a:t>- https://github.com/Techlauncher-LeafAnalyzer/Hyperspectral-Image-Inspector/pull/36</a:t>
            </a:r>
          </a:p>
          <a:p xmlns:a="http://schemas.openxmlformats.org/drawingml/2006/main">
            <a:r>
              <a:rPr sz="1350">
                <a:solidFill>
                  <a:srgbClr val="293730"/>
                </a:solidFill>
                <a:latin typeface="Times New Roman"/>
                <a:ea typeface="Times New Roman"/>
                <a:cs typeface="Times New Roman"/>
              </a:rPr>
              <a:t>- https://leaf2qr.atlassian.net/browse/LEAF-113</a:t>
            </a:r>
          </a:p>
          <a:p xmlns:a="http://schemas.openxmlformats.org/drawingml/2006/main">
            <a:r>
              <a:rPr sz="1350">
                <a:solidFill>
                  <a:srgbClr val="293730"/>
                </a:solidFill>
                <a:latin typeface="Times New Roman"/>
                <a:ea typeface="Times New Roman"/>
                <a:cs typeface="Times New Roman"/>
              </a:rPr>
              <a:t>- Local verification 28 August: .venv/bin/python -m pytest -q -rs at ecdac34; 114 passed, 11 skipped (PyTorch unavailable).</a:t>
            </a:r>
          </a:p>
          <a:p xmlns:a="http://schemas.openxmlformats.org/drawingml/2006/main">
            <a:r>
              <a:rPr sz="1350">
                <a:solidFill>
                  <a:srgbClr val="293730"/>
                </a:solidFill>
                <a:latin typeface="Times New Roman"/>
                <a:ea typeface="Times New Roman"/>
                <a:cs typeface="Times New Roman"/>
              </a:rPr>
              <a:t>- Local verification on 28 August 2026: conda pytorch_env; QT_QPA_PLATFORM=offscreen python -m pytest -q; 125 passed in 10.14s.</a:t>
            </a:r>
          </a:p>
          <a:p xmlns:a="http://schemas.openxmlformats.org/drawingml/2006/main">
            <a:r>
              <a:rPr sz="1350">
                <a:solidFill>
                  <a:srgbClr val="293730"/>
                </a:solidFill>
                <a:latin typeface="Times New Roman"/>
                <a:ea typeface="Times New Roman"/>
                <a:cs typeface="Times New Roman"/>
              </a:rPr>
              <a:t>- https://github.com/Techlauncher-LeafAnalyzer/Hyperspectral-Image-Inspector/tree/ac7161342dbb661c9f5efbfd9de5a554ee4c6141/ui_tests/ui</a:t>
            </a:r>
          </a:p>
          <a:p xmlns:a="http://schemas.openxmlformats.org/drawingml/2006/main">
            <a:r>
              <a:rPr sz="1350">
                <a:solidFill>
                  <a:srgbClr val="293730"/>
                </a:solidFill>
                <a:latin typeface="Times New Roman"/>
                <a:ea typeface="Times New Roman"/>
                <a:cs typeface="Times New Roman"/>
              </a:rPr>
              <a:t>- Screenshots: real project UI or browser captures taken 28 August 2026; cropped only for placement. Actual GitHub test directory with crop, load, save, SR, Hypercube and mode tests.</a:t>
            </a:r>
          </a:p>
          <a:p xmlns:a="http://schemas.openxmlformats.org/drawingml/2006/main">
            <a:r>
              <a:rPr sz="1350">
                <a:solidFill>
                  <a:srgbClr val="293730"/>
                </a:solidFill>
                <a:latin typeface="Times New Roman"/>
                <a:ea typeface="Times New Roman"/>
                <a:cs typeface="Times New Roman"/>
              </a:rP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350">
                <a:solidFill>
                  <a:srgbClr val="293730"/>
                </a:solidFill>
                <a:latin typeface="Times New Roman"/>
                <a:ea typeface="Times New Roman"/>
                <a:cs typeface="Times New Roman"/>
              </a:rPr>
              <a:t>GitHub Actions runs our tests for pull requests and pushes to main. The main run after the classification merge passed: 105 tests passed and 20 were skipped. Eleven skipped tests need PyTorch, and nine need real sample files that are not in the repository. So a green check is useful, but it does not mean every feature was tested. We have CI now; automatic deployment is not set up.</a:t>
            </a:r>
          </a:p>
          <a:p xmlns:a="http://schemas.openxmlformats.org/drawingml/2006/main">
            <a:r>
              <a:rPr sz="1350">
                <a:solidFill>
                  <a:srgbClr val="293730"/>
                </a:solidFill>
                <a:latin typeface="Times New Roman"/>
                <a:ea typeface="Times New Roman"/>
                <a:cs typeface="Times New Roman"/>
              </a:rPr>
              <a:t/>
            </a:r>
          </a:p>
          <a:p xmlns:a="http://schemas.openxmlformats.org/drawingml/2006/main">
            <a:r>
              <a:rPr sz="1350">
                <a:solidFill>
                  <a:srgbClr val="293730"/>
                </a:solidFill>
                <a:latin typeface="Times New Roman"/>
                <a:ea typeface="Times New Roman"/>
                <a:cs typeface="Times New Roman"/>
              </a:rPr>
              <a:t>[Sources]</a:t>
            </a:r>
          </a:p>
          <a:p xmlns:a="http://schemas.openxmlformats.org/drawingml/2006/main">
            <a:r>
              <a:rPr sz="1350">
                <a:solidFill>
                  <a:srgbClr val="293730"/>
                </a:solidFill>
                <a:latin typeface="Times New Roman"/>
                <a:ea typeface="Times New Roman"/>
                <a:cs typeface="Times New Roman"/>
              </a:rPr>
              <a:t>- https://github.com/Techlauncher-LeafAnalyzer/Hyperspectral-Image-Inspector/pull/25</a:t>
            </a:r>
          </a:p>
          <a:p xmlns:a="http://schemas.openxmlformats.org/drawingml/2006/main">
            <a:r>
              <a:rPr sz="1350">
                <a:solidFill>
                  <a:srgbClr val="293730"/>
                </a:solidFill>
                <a:latin typeface="Times New Roman"/>
                <a:ea typeface="Times New Roman"/>
                <a:cs typeface="Times New Roman"/>
              </a:rPr>
              <a:t>- https://github.com/Techlauncher-LeafAnalyzer/Hyperspectral-Image-Inspector/blob/ac7161342dbb661c9f5efbfd9de5a554ee4c6141/.github/workflows/ui-tests.yml</a:t>
            </a:r>
          </a:p>
          <a:p xmlns:a="http://schemas.openxmlformats.org/drawingml/2006/main">
            <a:r>
              <a:rPr sz="1350">
                <a:solidFill>
                  <a:srgbClr val="293730"/>
                </a:solidFill>
                <a:latin typeface="Times New Roman"/>
                <a:ea typeface="Times New Roman"/>
                <a:cs typeface="Times New Roman"/>
              </a:rPr>
              <a:t>- https://github.com/Techlauncher-LeafAnalyzer/Hyperspectral-Image-Inspector/actions/runs/33145582110</a:t>
            </a:r>
          </a:p>
          <a:p xmlns:a="http://schemas.openxmlformats.org/drawingml/2006/main">
            <a:r>
              <a:rPr sz="1350">
                <a:solidFill>
                  <a:srgbClr val="293730"/>
                </a:solidFill>
                <a:latin typeface="Times New Roman"/>
                <a:ea typeface="Times New Roman"/>
                <a:cs typeface="Times New Roman"/>
              </a:rPr>
              <a:t>- https://github.com/Techlauncher-LeafAnalyzer/Hyperspectral-Image-Inspector/blob/ac7161342dbb661c9f5efbfd9de5a554ee4c6141/requirements-dev.txt</a:t>
            </a:r>
          </a:p>
          <a:p xmlns:a="http://schemas.openxmlformats.org/drawingml/2006/main">
            <a:r>
              <a:rPr sz="1350">
                <a:solidFill>
                  <a:srgbClr val="293730"/>
                </a:solidFill>
                <a:latin typeface="Times New Roman"/>
                <a:ea typeface="Times New Roman"/>
                <a:cs typeface="Times New Roman"/>
              </a:rPr>
              <a:t>- Latest CI log: collected 125 items; 105 passed, 20 skipped in 8.08s.</a:t>
            </a:r>
          </a:p>
          <a:p xmlns:a="http://schemas.openxmlformats.org/drawingml/2006/main">
            <a:r>
              <a:rPr sz="1350">
                <a:solidFill>
                  <a:srgbClr val="293730"/>
                </a:solidFill>
                <a:latin typeface="Times New Roman"/>
                <a:ea typeface="Times New Roman"/>
                <a:cs typeface="Times New Roman"/>
              </a:rPr>
              <a:t>- Temporary checkout verification at ac71613 on 28 August: 105 passed, 20 skipped; no PyTorch and no real samples.</a:t>
            </a:r>
          </a:p>
          <a:p xmlns:a="http://schemas.openxmlformats.org/drawingml/2006/main">
            <a:r>
              <a:rPr sz="1350">
                <a:solidFill>
                  <a:srgbClr val="293730"/>
                </a:solidFill>
                <a:latin typeface="Times New Roman"/>
                <a:ea typeface="Times New Roman"/>
                <a:cs typeface="Times New Roman"/>
              </a:rPr>
              <a:t>- Screenshots: real project UI or browser captures taken 28 August 2026; cropped only for placement. Actual successful GitHub Actions UI Tests run at ac71613 on 28 August.</a:t>
            </a:r>
          </a:p>
          <a:p xmlns:a="http://schemas.openxmlformats.org/drawingml/2006/main">
            <a:r>
              <a:rPr sz="1350">
                <a:solidFill>
                  <a:srgbClr val="293730"/>
                </a:solidFill>
                <a:latin typeface="Times New Roman"/>
                <a:ea typeface="Times New Roman"/>
                <a:cs typeface="Times New Roman"/>
              </a:rP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350">
                <a:solidFill>
                  <a:srgbClr val="293730"/>
                </a:solidFill>
                <a:latin typeface="Times New Roman"/>
                <a:ea typeface="Times New Roman"/>
                <a:cs typeface="Times New Roman"/>
              </a:rPr>
              <a:t>This is one example of code review changing our work. Ryan asked us to move the classification worker out of the main window. The code was moved into a separate controller, then the review was approved and PR 36 was merged. The main CI run also passed. Earlier reports said this PR was still open because they were written before the merge. The PR did not add dedicated classification test files, so that still needs attention.</a:t>
            </a:r>
          </a:p>
          <a:p xmlns:a="http://schemas.openxmlformats.org/drawingml/2006/main">
            <a:r>
              <a:rPr sz="1350">
                <a:solidFill>
                  <a:srgbClr val="293730"/>
                </a:solidFill>
                <a:latin typeface="Times New Roman"/>
                <a:ea typeface="Times New Roman"/>
                <a:cs typeface="Times New Roman"/>
              </a:rPr>
              <a:t/>
            </a:r>
          </a:p>
          <a:p xmlns:a="http://schemas.openxmlformats.org/drawingml/2006/main">
            <a:r>
              <a:rPr sz="1350">
                <a:solidFill>
                  <a:srgbClr val="293730"/>
                </a:solidFill>
                <a:latin typeface="Times New Roman"/>
                <a:ea typeface="Times New Roman"/>
                <a:cs typeface="Times New Roman"/>
              </a:rPr>
              <a:t>[Sources]</a:t>
            </a:r>
          </a:p>
          <a:p xmlns:a="http://schemas.openxmlformats.org/drawingml/2006/main">
            <a:r>
              <a:rPr sz="1350">
                <a:solidFill>
                  <a:srgbClr val="293730"/>
                </a:solidFill>
                <a:latin typeface="Times New Roman"/>
                <a:ea typeface="Times New Roman"/>
                <a:cs typeface="Times New Roman"/>
              </a:rPr>
              <a:t>- https://github.com/Techlauncher-LeafAnalyzer/Hyperspectral-Image-Inspector/pull/36</a:t>
            </a:r>
          </a:p>
          <a:p xmlns:a="http://schemas.openxmlformats.org/drawingml/2006/main">
            <a:r>
              <a:rPr sz="1350">
                <a:solidFill>
                  <a:srgbClr val="293730"/>
                </a:solidFill>
                <a:latin typeface="Times New Roman"/>
                <a:ea typeface="Times New Roman"/>
                <a:cs typeface="Times New Roman"/>
              </a:rPr>
              <a:t>- https://github.com/Techlauncher-LeafAnalyzer/Hyperspectral-Image-Inspector/pull/36#pullrequestreview-5048104584</a:t>
            </a:r>
          </a:p>
          <a:p xmlns:a="http://schemas.openxmlformats.org/drawingml/2006/main">
            <a:r>
              <a:rPr sz="1350">
                <a:solidFill>
                  <a:srgbClr val="293730"/>
                </a:solidFill>
                <a:latin typeface="Times New Roman"/>
                <a:ea typeface="Times New Roman"/>
                <a:cs typeface="Times New Roman"/>
              </a:rPr>
              <a:t>- https://github.com/Techlauncher-LeafAnalyzer/Hyperspectral-Image-Inspector/pull/36#pullrequestreview-5048223876</a:t>
            </a:r>
          </a:p>
          <a:p xmlns:a="http://schemas.openxmlformats.org/drawingml/2006/main">
            <a:r>
              <a:rPr sz="1350">
                <a:solidFill>
                  <a:srgbClr val="293730"/>
                </a:solidFill>
                <a:latin typeface="Times New Roman"/>
                <a:ea typeface="Times New Roman"/>
                <a:cs typeface="Times New Roman"/>
              </a:rPr>
              <a:t>- https://github.com/Techlauncher-LeafAnalyzer/Hyperspectral-Image-Inspector/commit/c285154ac5a1699da66058b6511dbbbc006d60b0</a:t>
            </a:r>
          </a:p>
          <a:p xmlns:a="http://schemas.openxmlformats.org/drawingml/2006/main">
            <a:r>
              <a:rPr sz="1350">
                <a:solidFill>
                  <a:srgbClr val="293730"/>
                </a:solidFill>
                <a:latin typeface="Times New Roman"/>
                <a:ea typeface="Times New Roman"/>
                <a:cs typeface="Times New Roman"/>
              </a:rPr>
              <a:t>- https://github.com/Techlauncher-LeafAnalyzer/Hyperspectral-Image-Inspector/actions/runs/33145582110</a:t>
            </a:r>
          </a:p>
          <a:p xmlns:a="http://schemas.openxmlformats.org/drawingml/2006/main">
            <a:r>
              <a:rPr sz="1350">
                <a:solidFill>
                  <a:srgbClr val="293730"/>
                </a:solidFill>
                <a:latin typeface="Times New Roman"/>
                <a:ea typeface="Times New Roman"/>
                <a:cs typeface="Times New Roman"/>
              </a:rPr>
              <a:t>- https://leaf2qr.atlassian.net/wiki/spaces/L/pages/19726337</a:t>
            </a:r>
          </a:p>
          <a:p xmlns:a="http://schemas.openxmlformats.org/drawingml/2006/main">
            <a:r>
              <a:rPr sz="1350">
                <a:solidFill>
                  <a:srgbClr val="293730"/>
                </a:solidFill>
                <a:latin typeface="Times New Roman"/>
                <a:ea typeface="Times New Roman"/>
                <a:cs typeface="Times New Roman"/>
              </a:rPr>
              <a:t>- https://leaf2qr.atlassian.net/wiki/spaces/L/pages/19726345</a:t>
            </a:r>
          </a:p>
          <a:p xmlns:a="http://schemas.openxmlformats.org/drawingml/2006/main">
            <a:r>
              <a:rPr sz="1350">
                <a:solidFill>
                  <a:srgbClr val="293730"/>
                </a:solidFill>
                <a:latin typeface="Times New Roman"/>
                <a:ea typeface="Times New Roman"/>
                <a:cs typeface="Times New Roman"/>
              </a:rPr>
              <a:t>- Asset: actual GitHub browser screenshot captured 28 August 2026; cropped only for layout.</a:t>
            </a:r>
          </a:p>
          <a:p xmlns:a="http://schemas.openxmlformats.org/drawingml/2006/main">
            <a:r>
              <a:rPr sz="1350">
                <a:solidFill>
                  <a:srgbClr val="293730"/>
                </a:solidFill>
                <a:latin typeface="Times New Roman"/>
                <a:ea typeface="Times New Roman"/>
                <a:cs typeface="Times New Roman"/>
              </a:rP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350">
                <a:solidFill>
                  <a:srgbClr val="293730"/>
                </a:solidFill>
                <a:latin typeface="Times New Roman"/>
                <a:ea typeface="Times New Roman"/>
                <a:cs typeface="Times New Roman"/>
              </a:rPr>
              <a:t>We have weekly reflection pages for 21 and 28 August, with team notes and each person’s reflection. They record problems such as unfinished Hypercube integration, crop scaling and flaky tests. Later pull requests show the fixes. The tutor’s feedback also led to regular reflection and risk updates. This is a useful start. We should keep adding an owner and a result link to each action, rather than only marking it done.</a:t>
            </a:r>
          </a:p>
          <a:p xmlns:a="http://schemas.openxmlformats.org/drawingml/2006/main">
            <a:r>
              <a:rPr sz="1350">
                <a:solidFill>
                  <a:srgbClr val="293730"/>
                </a:solidFill>
                <a:latin typeface="Times New Roman"/>
                <a:ea typeface="Times New Roman"/>
                <a:cs typeface="Times New Roman"/>
              </a:rPr>
              <a:t/>
            </a:r>
          </a:p>
          <a:p xmlns:a="http://schemas.openxmlformats.org/drawingml/2006/main">
            <a:r>
              <a:rPr sz="1350">
                <a:solidFill>
                  <a:srgbClr val="293730"/>
                </a:solidFill>
                <a:latin typeface="Times New Roman"/>
                <a:ea typeface="Times New Roman"/>
                <a:cs typeface="Times New Roman"/>
              </a:rPr>
              <a:t>[Sources]</a:t>
            </a:r>
          </a:p>
          <a:p xmlns:a="http://schemas.openxmlformats.org/drawingml/2006/main">
            <a:r>
              <a:rPr sz="1350">
                <a:solidFill>
                  <a:srgbClr val="293730"/>
                </a:solidFill>
                <a:latin typeface="Times New Roman"/>
                <a:ea typeface="Times New Roman"/>
                <a:cs typeface="Times New Roman"/>
              </a:rPr>
              <a:t>- https://leaf2qr.atlassian.net/wiki/spaces/L/pages/18448410</a:t>
            </a:r>
          </a:p>
          <a:p xmlns:a="http://schemas.openxmlformats.org/drawingml/2006/main">
            <a:r>
              <a:rPr sz="1350">
                <a:solidFill>
                  <a:srgbClr val="293730"/>
                </a:solidFill>
                <a:latin typeface="Times New Roman"/>
                <a:ea typeface="Times New Roman"/>
                <a:cs typeface="Times New Roman"/>
              </a:rPr>
              <a:t>- https://leaf2qr.atlassian.net/wiki/spaces/L/pages/19726345</a:t>
            </a:r>
          </a:p>
          <a:p xmlns:a="http://schemas.openxmlformats.org/drawingml/2006/main">
            <a:r>
              <a:rPr sz="1350">
                <a:solidFill>
                  <a:srgbClr val="293730"/>
                </a:solidFill>
                <a:latin typeface="Times New Roman"/>
                <a:ea typeface="Times New Roman"/>
                <a:cs typeface="Times New Roman"/>
              </a:rPr>
              <a:t>- https://leaf2qr.atlassian.net/wiki/spaces/L/pages/18645003</a:t>
            </a:r>
          </a:p>
          <a:p xmlns:a="http://schemas.openxmlformats.org/drawingml/2006/main">
            <a:r>
              <a:rPr sz="1350">
                <a:solidFill>
                  <a:srgbClr val="293730"/>
                </a:solidFill>
                <a:latin typeface="Times New Roman"/>
                <a:ea typeface="Times New Roman"/>
                <a:cs typeface="Times New Roman"/>
              </a:rPr>
              <a:t>- https://leaf2qr.atlassian.net/browse/LEAF-157</a:t>
            </a:r>
          </a:p>
          <a:p xmlns:a="http://schemas.openxmlformats.org/drawingml/2006/main">
            <a:r>
              <a:rPr sz="1350">
                <a:solidFill>
                  <a:srgbClr val="293730"/>
                </a:solidFill>
                <a:latin typeface="Times New Roman"/>
                <a:ea typeface="Times New Roman"/>
                <a:cs typeface="Times New Roman"/>
              </a:rPr>
              <a:t>- https://github.com/Techlauncher-LeafAnalyzer/Hyperspectral-Image-Inspector/pull/29</a:t>
            </a:r>
          </a:p>
          <a:p xmlns:a="http://schemas.openxmlformats.org/drawingml/2006/main">
            <a:r>
              <a:rPr sz="1350">
                <a:solidFill>
                  <a:srgbClr val="293730"/>
                </a:solidFill>
                <a:latin typeface="Times New Roman"/>
                <a:ea typeface="Times New Roman"/>
                <a:cs typeface="Times New Roman"/>
              </a:rPr>
              <a:t>- https://github.com/Techlauncher-LeafAnalyzer/Hyperspectral-Image-Inspector/pull/30</a:t>
            </a:r>
          </a:p>
          <a:p xmlns:a="http://schemas.openxmlformats.org/drawingml/2006/main">
            <a:r>
              <a:rPr sz="1350">
                <a:solidFill>
                  <a:srgbClr val="293730"/>
                </a:solidFill>
                <a:latin typeface="Times New Roman"/>
                <a:ea typeface="Times New Roman"/>
                <a:cs typeface="Times New Roman"/>
              </a:rPr>
              <a:t>- https://github.com/Techlauncher-LeafAnalyzer/Hyperspectral-Image-Inspector/pull/34</a:t>
            </a:r>
          </a:p>
          <a:p xmlns:a="http://schemas.openxmlformats.org/drawingml/2006/main">
            <a:r>
              <a:rPr sz="1350">
                <a:solidFill>
                  <a:srgbClr val="293730"/>
                </a:solidFill>
                <a:latin typeface="Times New Roman"/>
                <a:ea typeface="Times New Roman"/>
                <a:cs typeface="Times New Roman"/>
              </a:rPr>
              <a:t>- https://leaf2qr.atlassian.net/wiki/spaces/L/pages/6193171</a:t>
            </a:r>
          </a:p>
          <a:p xmlns:a="http://schemas.openxmlformats.org/drawingml/2006/main">
            <a:r>
              <a:rPr sz="1350">
                <a:solidFill>
                  <a:srgbClr val="293730"/>
                </a:solidFill>
                <a:latin typeface="Times New Roman"/>
                <a:ea typeface="Times New Roman"/>
                <a:cs typeface="Times New Roman"/>
              </a:rP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350">
                <a:solidFill>
                  <a:srgbClr val="293730"/>
                </a:solidFill>
                <a:latin typeface="Times New Roman"/>
                <a:ea typeface="Times New Roman"/>
                <a:cs typeface="Times New Roman"/>
              </a:rPr>
              <a:t>This slide brings the four areas together. We linked meeting actions to tasks and reports, added time records, introduced automated tests and CI, and kept weekly reflection logs. Testing and CI have the clearest evidence because the code and run history are available. The other areas improved too, but we still need client review, better first estimates and clearer action outcomes. We should keep working on these next sprint.</a:t>
            </a:r>
          </a:p>
          <a:p xmlns:a="http://schemas.openxmlformats.org/drawingml/2006/main">
            <a:r>
              <a:rPr sz="1350">
                <a:solidFill>
                  <a:srgbClr val="293730"/>
                </a:solidFill>
                <a:latin typeface="Times New Roman"/>
                <a:ea typeface="Times New Roman"/>
                <a:cs typeface="Times New Roman"/>
              </a:rPr>
              <a:t/>
            </a:r>
          </a:p>
          <a:p xmlns:a="http://schemas.openxmlformats.org/drawingml/2006/main">
            <a:r>
              <a:rPr sz="1350">
                <a:solidFill>
                  <a:srgbClr val="293730"/>
                </a:solidFill>
                <a:latin typeface="Times New Roman"/>
                <a:ea typeface="Times New Roman"/>
                <a:cs typeface="Times New Roman"/>
              </a:rPr>
              <a:t>[Sources]</a:t>
            </a:r>
          </a:p>
          <a:p xmlns:a="http://schemas.openxmlformats.org/drawingml/2006/main">
            <a:r>
              <a:rPr sz="1350">
                <a:solidFill>
                  <a:srgbClr val="293730"/>
                </a:solidFill>
                <a:latin typeface="Times New Roman"/>
                <a:ea typeface="Times New Roman"/>
                <a:cs typeface="Times New Roman"/>
              </a:rPr>
              <a:t>- Sprint 4 feedback and HD criteria: supplied by the team in the presentation brief.</a:t>
            </a:r>
          </a:p>
          <a:p xmlns:a="http://schemas.openxmlformats.org/drawingml/2006/main">
            <a:r>
              <a:rPr sz="1350">
                <a:solidFill>
                  <a:srgbClr val="293730"/>
                </a:solidFill>
                <a:latin typeface="Times New Roman"/>
                <a:ea typeface="Times New Roman"/>
                <a:cs typeface="Times New Roman"/>
              </a:rPr>
              <a:t>- https://leaf2qr.atlassian.net/wiki/spaces/L/pages/18645003</a:t>
            </a:r>
          </a:p>
          <a:p xmlns:a="http://schemas.openxmlformats.org/drawingml/2006/main">
            <a:r>
              <a:rPr sz="1350">
                <a:solidFill>
                  <a:srgbClr val="293730"/>
                </a:solidFill>
                <a:latin typeface="Times New Roman"/>
                <a:ea typeface="Times New Roman"/>
                <a:cs typeface="Times New Roman"/>
              </a:rPr>
              <a:t>- https://leaf2qr.atlassian.net/wiki/spaces/L/pages/18448410</a:t>
            </a:r>
          </a:p>
          <a:p xmlns:a="http://schemas.openxmlformats.org/drawingml/2006/main">
            <a:r>
              <a:rPr sz="1350">
                <a:solidFill>
                  <a:srgbClr val="293730"/>
                </a:solidFill>
                <a:latin typeface="Times New Roman"/>
                <a:ea typeface="Times New Roman"/>
                <a:cs typeface="Times New Roman"/>
              </a:rPr>
              <a:t>- https://leaf2qr.atlassian.net/wiki/spaces/L/pages/19726345</a:t>
            </a:r>
          </a:p>
          <a:p xmlns:a="http://schemas.openxmlformats.org/drawingml/2006/main">
            <a:r>
              <a:rPr sz="1350">
                <a:solidFill>
                  <a:srgbClr val="293730"/>
                </a:solidFill>
                <a:latin typeface="Times New Roman"/>
                <a:ea typeface="Times New Roman"/>
                <a:cs typeface="Times New Roman"/>
              </a:rPr>
              <a:t>- https://leaf2qr.atlassian.net/wiki/spaces/L/pages/18284545</a:t>
            </a:r>
          </a:p>
          <a:p xmlns:a="http://schemas.openxmlformats.org/drawingml/2006/main">
            <a:r>
              <a:rPr sz="1350">
                <a:solidFill>
                  <a:srgbClr val="293730"/>
                </a:solidFill>
                <a:latin typeface="Times New Roman"/>
                <a:ea typeface="Times New Roman"/>
                <a:cs typeface="Times New Roman"/>
              </a:rPr>
              <a:t>- https://leaf2qr.atlassian.net/wiki/spaces/L/pages/6193171</a:t>
            </a:r>
          </a:p>
          <a:p xmlns:a="http://schemas.openxmlformats.org/drawingml/2006/main">
            <a:r>
              <a:rPr sz="1350">
                <a:solidFill>
                  <a:srgbClr val="293730"/>
                </a:solidFill>
                <a:latin typeface="Times New Roman"/>
                <a:ea typeface="Times New Roman"/>
                <a:cs typeface="Times New Roman"/>
              </a:rPr>
              <a:t>- https://leaf2qr.atlassian.net/browse/LEAF-157</a:t>
            </a:r>
          </a:p>
          <a:p xmlns:a="http://schemas.openxmlformats.org/drawingml/2006/main">
            <a:r>
              <a:rPr sz="1350">
                <a:solidFill>
                  <a:srgbClr val="293730"/>
                </a:solidFill>
                <a:latin typeface="Times New Roman"/>
                <a:ea typeface="Times New Roman"/>
                <a:cs typeface="Times New Roman"/>
              </a:rPr>
              <a:t>- https://leaf2qr.atlassian.net/browse/LEAF-150</a:t>
            </a:r>
          </a:p>
          <a:p xmlns:a="http://schemas.openxmlformats.org/drawingml/2006/main">
            <a:r>
              <a:rPr sz="1350">
                <a:solidFill>
                  <a:srgbClr val="293730"/>
                </a:solidFill>
                <a:latin typeface="Times New Roman"/>
                <a:ea typeface="Times New Roman"/>
                <a:cs typeface="Times New Roman"/>
              </a:rPr>
              <a:t>- https://leaf2qr.atlassian.net/browse/LEAF-152</a:t>
            </a:r>
          </a:p>
          <a:p xmlns:a="http://schemas.openxmlformats.org/drawingml/2006/main">
            <a:r>
              <a:rPr sz="1350">
                <a:solidFill>
                  <a:srgbClr val="293730"/>
                </a:solidFill>
                <a:latin typeface="Times New Roman"/>
                <a:ea typeface="Times New Roman"/>
                <a:cs typeface="Times New Roman"/>
              </a:rPr>
              <a:t>- https://github.com/Techlauncher-LeafAnalyzer/Hyperspectral-Image-Inspector/pull/25</a:t>
            </a:r>
          </a:p>
          <a:p xmlns:a="http://schemas.openxmlformats.org/drawingml/2006/main">
            <a:r>
              <a:rPr sz="1350">
                <a:solidFill>
                  <a:srgbClr val="293730"/>
                </a:solidFill>
                <a:latin typeface="Times New Roman"/>
                <a:ea typeface="Times New Roman"/>
                <a:cs typeface="Times New Roman"/>
              </a:rPr>
              <a:t>- https://github.com/Techlauncher-LeafAnalyzer/Hyperspectral-Image-Inspector/actions/runs/33145582110</a:t>
            </a:r>
          </a:p>
          <a:p xmlns:a="http://schemas.openxmlformats.org/drawingml/2006/main">
            <a:r>
              <a:rPr sz="1350">
                <a:solidFill>
                  <a:srgbClr val="293730"/>
                </a:solidFill>
                <a:latin typeface="Times New Roman"/>
                <a:ea typeface="Times New Roman"/>
                <a:cs typeface="Times New Roman"/>
              </a:rP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350">
                <a:solidFill>
                  <a:srgbClr val="293730"/>
                </a:solidFill>
                <a:latin typeface="Times New Roman"/>
                <a:ea typeface="Times New Roman"/>
                <a:cs typeface="Times New Roman"/>
              </a:rPr>
              <a:t>For Sprint 6, we propose five goals. Finish calibration, add classification tests, check results against reference data, test on the target hardware, and show the app to the client. The existing calibration tasks name Jingyi for the algorithm and Guochen for the UI. The other priorities come from remaining work and the Week 5 report. Before we start, we should confirm the order, owners and estimates with the team and client.</a:t>
            </a:r>
          </a:p>
          <a:p xmlns:a="http://schemas.openxmlformats.org/drawingml/2006/main">
            <a:r>
              <a:rPr sz="1350">
                <a:solidFill>
                  <a:srgbClr val="293730"/>
                </a:solidFill>
                <a:latin typeface="Times New Roman"/>
                <a:ea typeface="Times New Roman"/>
                <a:cs typeface="Times New Roman"/>
              </a:rPr>
              <a:t/>
            </a:r>
          </a:p>
          <a:p xmlns:a="http://schemas.openxmlformats.org/drawingml/2006/main">
            <a:r>
              <a:rPr sz="1350">
                <a:solidFill>
                  <a:srgbClr val="293730"/>
                </a:solidFill>
                <a:latin typeface="Times New Roman"/>
                <a:ea typeface="Times New Roman"/>
                <a:cs typeface="Times New Roman"/>
              </a:rPr>
              <a:t>[Sources]</a:t>
            </a:r>
          </a:p>
          <a:p xmlns:a="http://schemas.openxmlformats.org/drawingml/2006/main">
            <a:r>
              <a:rPr sz="1350">
                <a:solidFill>
                  <a:srgbClr val="293730"/>
                </a:solidFill>
                <a:latin typeface="Times New Roman"/>
                <a:ea typeface="Times New Roman"/>
                <a:cs typeface="Times New Roman"/>
              </a:rPr>
              <a:t>- https://leaf2qr.atlassian.net/browse/LEAF-105</a:t>
            </a:r>
          </a:p>
          <a:p xmlns:a="http://schemas.openxmlformats.org/drawingml/2006/main">
            <a:r>
              <a:rPr sz="1350">
                <a:solidFill>
                  <a:srgbClr val="293730"/>
                </a:solidFill>
                <a:latin typeface="Times New Roman"/>
                <a:ea typeface="Times New Roman"/>
                <a:cs typeface="Times New Roman"/>
              </a:rPr>
              <a:t>- https://leaf2qr.atlassian.net/browse/LEAF-115</a:t>
            </a:r>
          </a:p>
          <a:p xmlns:a="http://schemas.openxmlformats.org/drawingml/2006/main">
            <a:r>
              <a:rPr sz="1350">
                <a:solidFill>
                  <a:srgbClr val="293730"/>
                </a:solidFill>
                <a:latin typeface="Times New Roman"/>
                <a:ea typeface="Times New Roman"/>
                <a:cs typeface="Times New Roman"/>
              </a:rPr>
              <a:t>- https://leaf2qr.atlassian.net/browse/LEAF-116</a:t>
            </a:r>
          </a:p>
          <a:p xmlns:a="http://schemas.openxmlformats.org/drawingml/2006/main">
            <a:r>
              <a:rPr sz="1350">
                <a:solidFill>
                  <a:srgbClr val="293730"/>
                </a:solidFill>
                <a:latin typeface="Times New Roman"/>
                <a:ea typeface="Times New Roman"/>
                <a:cs typeface="Times New Roman"/>
              </a:rPr>
              <a:t>- https://leaf2qr.atlassian.net/browse/LEAF-113</a:t>
            </a:r>
          </a:p>
          <a:p xmlns:a="http://schemas.openxmlformats.org/drawingml/2006/main">
            <a:r>
              <a:rPr sz="1350">
                <a:solidFill>
                  <a:srgbClr val="293730"/>
                </a:solidFill>
                <a:latin typeface="Times New Roman"/>
                <a:ea typeface="Times New Roman"/>
                <a:cs typeface="Times New Roman"/>
              </a:rPr>
              <a:t>- https://leaf2qr.atlassian.net/browse/LEAF-163</a:t>
            </a:r>
          </a:p>
          <a:p xmlns:a="http://schemas.openxmlformats.org/drawingml/2006/main">
            <a:r>
              <a:rPr sz="1350">
                <a:solidFill>
                  <a:srgbClr val="293730"/>
                </a:solidFill>
                <a:latin typeface="Times New Roman"/>
                <a:ea typeface="Times New Roman"/>
                <a:cs typeface="Times New Roman"/>
              </a:rPr>
              <a:t>- https://leaf2qr.atlassian.net/browse/LEAF-164</a:t>
            </a:r>
          </a:p>
          <a:p xmlns:a="http://schemas.openxmlformats.org/drawingml/2006/main">
            <a:r>
              <a:rPr sz="1350">
                <a:solidFill>
                  <a:srgbClr val="293730"/>
                </a:solidFill>
                <a:latin typeface="Times New Roman"/>
                <a:ea typeface="Times New Roman"/>
                <a:cs typeface="Times New Roman"/>
              </a:rPr>
              <a:t>- https://github.com/Techlauncher-LeafAnalyzer/Hyperspectral-Image-Inspector/pull/36</a:t>
            </a:r>
          </a:p>
          <a:p xmlns:a="http://schemas.openxmlformats.org/drawingml/2006/main">
            <a:r>
              <a:rPr sz="1350">
                <a:solidFill>
                  <a:srgbClr val="293730"/>
                </a:solidFill>
                <a:latin typeface="Times New Roman"/>
                <a:ea typeface="Times New Roman"/>
                <a:cs typeface="Times New Roman"/>
              </a:rPr>
              <a:t>- https://leaf2qr.atlassian.net/wiki/spaces/L/pages/19726337</a:t>
            </a:r>
          </a:p>
          <a:p xmlns:a="http://schemas.openxmlformats.org/drawingml/2006/main">
            <a:r>
              <a:rPr sz="1350">
                <a:solidFill>
                  <a:srgbClr val="293730"/>
                </a:solidFill>
                <a:latin typeface="Times New Roman"/>
                <a:ea typeface="Times New Roman"/>
                <a:cs typeface="Times New Roman"/>
              </a:rPr>
              <a:t>- https://leaf2qr.atlassian.net/wiki/spaces/L/pages/19726345</a:t>
            </a:r>
          </a:p>
          <a:p xmlns:a="http://schemas.openxmlformats.org/drawingml/2006/main">
            <a:r>
              <a:rPr sz="1350">
                <a:solidFill>
                  <a:srgbClr val="293730"/>
                </a:solidFill>
                <a:latin typeface="Times New Roman"/>
                <a:ea typeface="Times New Roman"/>
                <a:cs typeface="Times New Roman"/>
              </a:rPr>
              <a:t>- https://leaf2qr.atlassian.net/wiki/spaces/L/pages/6193171</a:t>
            </a:r>
          </a:p>
          <a:p xmlns:a="http://schemas.openxmlformats.org/drawingml/2006/main">
            <a:r>
              <a:rPr sz="1350">
                <a:solidFill>
                  <a:srgbClr val="293730"/>
                </a:solidFill>
                <a:latin typeface="Times New Roman"/>
                <a:ea typeface="Times New Roman"/>
                <a:cs typeface="Times New Roman"/>
              </a:rPr>
              <a:t>- Proposed process changes derived from the estimate-history audit; not claimed as prior team commitments.</a:t>
            </a:r>
          </a:p>
          <a:p xmlns:a="http://schemas.openxmlformats.org/drawingml/2006/main">
            <a:r>
              <a:rPr sz="1350">
                <a:solidFill>
                  <a:srgbClr val="293730"/>
                </a:solidFill>
                <a:latin typeface="Times New Roman"/>
                <a:ea typeface="Times New Roman"/>
                <a:cs typeface="Times New Roman"/>
              </a:rP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2763f1fdce542b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500db9b9cc64bd7" /><Relationship Type="http://schemas.openxmlformats.org/officeDocument/2006/relationships/slideLayout" Target="/ppt/slideLayouts/slideLayout1.xml" Id="Rbef773f548214d5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ef773f548214d5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595bb75d3bd425e" /><Relationship Type="http://schemas.openxmlformats.org/officeDocument/2006/relationships/hyperlink" Target="https://leaf2qr.atlassian.net/browse/LEAF-150" TargetMode="External" Id="R4f6b03a9c142473b" /><Relationship Type="http://schemas.openxmlformats.org/officeDocument/2006/relationships/hyperlink" Target="https://leaf2qr.atlassian.net/wiki/spaces/L/pages/18284545" TargetMode="External" Id="R848e18e035e24290" /><Relationship Type="http://schemas.openxmlformats.org/officeDocument/2006/relationships/hyperlink" Target="https://github.com/Techlauncher-LeafAnalyzer/Hyperspectral-Image-Inspector/commit/ac7161342dbb661c9f5efbfd9de5a554ee4c6141" TargetMode="External" Id="R3b790332a1e241e1" /><Relationship Type="http://schemas.openxmlformats.org/officeDocument/2006/relationships/notesSlide" Target="/ppt/notesSlides/notesSlide1.xml" Id="R950367953bdf49c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f4db6c6014e4ef7" /><Relationship Type="http://schemas.openxmlformats.org/officeDocument/2006/relationships/hyperlink" Target="https://github.com/Techlauncher-LeafAnalyzer/Hyperspectral-Image-Inspector/pull/24" TargetMode="External" Id="R1dab8647840c412e" /><Relationship Type="http://schemas.openxmlformats.org/officeDocument/2006/relationships/hyperlink" Target="https://github.com/Techlauncher-LeafAnalyzer/Hyperspectral-Image-Inspector/pull/29" TargetMode="External" Id="R4bf285fa82b64f63" /><Relationship Type="http://schemas.openxmlformats.org/officeDocument/2006/relationships/hyperlink" Target="https://github.com/Techlauncher-LeafAnalyzer/Hyperspectral-Image-Inspector/pull/33" TargetMode="External" Id="R57a128b77a2b4249" /><Relationship Type="http://schemas.openxmlformats.org/officeDocument/2006/relationships/hyperlink" Target="https://github.com/Techlauncher-LeafAnalyzer/Hyperspectral-Image-Inspector/pull/34" TargetMode="External" Id="Rfb6f381f460640f0" /><Relationship Type="http://schemas.openxmlformats.org/officeDocument/2006/relationships/hyperlink" Target="https://github.com/Techlauncher-LeafAnalyzer/Hyperspectral-Image-Inspector/pull/36" TargetMode="External" Id="R9f14e0f9e74944b7" /><Relationship Type="http://schemas.openxmlformats.org/officeDocument/2006/relationships/hyperlink" Target="https://leaf2qr.atlassian.net/wiki/spaces/L/pages/18284545" TargetMode="External" Id="R3ccd7360febd4e67" /><Relationship Type="http://schemas.openxmlformats.org/officeDocument/2006/relationships/hyperlink" Target="https://leaf2qr.atlassian.net/wiki/spaces/L/pages/19726337" TargetMode="External" Id="R6f201497800945cc" /><Relationship Type="http://schemas.openxmlformats.org/officeDocument/2006/relationships/image" Target="/ppt/media/image.png" Id="R65af95a637b948d9" /><Relationship Type="http://schemas.openxmlformats.org/officeDocument/2006/relationships/notesSlide" Target="/ppt/notesSlides/notesSlide2.xml" Id="R8b40537e96e24a1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37b9ed931704ea6" /><Relationship Type="http://schemas.openxmlformats.org/officeDocument/2006/relationships/hyperlink" Target="https://github.com/Techlauncher-LeafAnalyzer/Hyperspectral-Image-Inspector/pull/18" TargetMode="External" Id="R15151abbd50049a4" /><Relationship Type="http://schemas.openxmlformats.org/officeDocument/2006/relationships/hyperlink" Target="https://github.com/Techlauncher-LeafAnalyzer/Hyperspectral-Image-Inspector/pull/24" TargetMode="External" Id="R4b425deb664d441b" /><Relationship Type="http://schemas.openxmlformats.org/officeDocument/2006/relationships/hyperlink" Target="https://github.com/Techlauncher-LeafAnalyzer/Hyperspectral-Image-Inspector/pull/29" TargetMode="External" Id="R30974f41ca9f473d" /><Relationship Type="http://schemas.openxmlformats.org/officeDocument/2006/relationships/hyperlink" Target="https://github.com/Techlauncher-LeafAnalyzer/Hyperspectral-Image-Inspector/pull/30" TargetMode="External" Id="Re4ae3656b06a4a42" /><Relationship Type="http://schemas.openxmlformats.org/officeDocument/2006/relationships/hyperlink" Target="https://github.com/Techlauncher-LeafAnalyzer/Hyperspectral-Image-Inspector/pull/31" TargetMode="External" Id="R6ceecdd62ff24a6e" /><Relationship Type="http://schemas.openxmlformats.org/officeDocument/2006/relationships/hyperlink" Target="https://github.com/Techlauncher-LeafAnalyzer/Hyperspectral-Image-Inspector/pull/32" TargetMode="External" Id="R3b6b3494b1f44416" /><Relationship Type="http://schemas.openxmlformats.org/officeDocument/2006/relationships/hyperlink" Target="https://github.com/Techlauncher-LeafAnalyzer/Hyperspectral-Image-Inspector/pull/33" TargetMode="External" Id="Rfd2dd5ce9d50481d" /><Relationship Type="http://schemas.openxmlformats.org/officeDocument/2006/relationships/hyperlink" Target="https://github.com/Techlauncher-LeafAnalyzer/Hyperspectral-Image-Inspector/pull/34" TargetMode="External" Id="R3ce741dd60284102" /><Relationship Type="http://schemas.openxmlformats.org/officeDocument/2006/relationships/hyperlink" Target="https://github.com/Techlauncher-LeafAnalyzer/Hyperspectral-Image-Inspector/pull/36" TargetMode="External" Id="R14b7a5c1c69a485e" /><Relationship Type="http://schemas.openxmlformats.org/officeDocument/2006/relationships/hyperlink" Target="https://github.com/Techlauncher-LeafAnalyzer/Hyperspectral-Image-Inspector/blob/ac7161342dbb661c9f5efbfd9de5a554ee4c6141/docs/model_classification_api.md" TargetMode="External" Id="R22967031dbd04d78" /><Relationship Type="http://schemas.openxmlformats.org/officeDocument/2006/relationships/hyperlink" Target="https://github.com/Techlauncher-LeafAnalyzer/Hyperspectral-Image-Inspector/blob/ac7161342dbb661c9f5efbfd9de5a554ee4c6141/docs/super-resolution.md" TargetMode="External" Id="R0b30cb690f584449" /><Relationship Type="http://schemas.openxmlformats.org/officeDocument/2006/relationships/image" Target="/ppt/media/image2.png" Id="Ree3d110a63db4483" /><Relationship Type="http://schemas.openxmlformats.org/officeDocument/2006/relationships/image" Target="/ppt/media/image3.png" Id="R8bf0bdf5b1be417f" /><Relationship Type="http://schemas.openxmlformats.org/officeDocument/2006/relationships/notesSlide" Target="/ppt/notesSlides/notesSlide3.xml" Id="R60c40fbc9268420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7e3eeab6f5941da" /><Relationship Type="http://schemas.openxmlformats.org/officeDocument/2006/relationships/hyperlink" Target="https://leaf2qr.atlassian.net/wiki/spaces/L/pages/16580683" TargetMode="External" Id="R73d5619d62874e69" /><Relationship Type="http://schemas.openxmlformats.org/officeDocument/2006/relationships/hyperlink" Target="https://leaf2qr.atlassian.net/wiki/spaces/L/pages/16416770" TargetMode="External" Id="Ra0c8894f2b0944fa" /><Relationship Type="http://schemas.openxmlformats.org/officeDocument/2006/relationships/hyperlink" Target="https://leaf2qr.atlassian.net/wiki/spaces/L/pages/15630342" TargetMode="External" Id="R4f632a4016d5479d" /><Relationship Type="http://schemas.openxmlformats.org/officeDocument/2006/relationships/hyperlink" Target="https://leaf2qr.atlassian.net/browse/LEAF-152" TargetMode="External" Id="R842cf14d06e14d66" /><Relationship Type="http://schemas.openxmlformats.org/officeDocument/2006/relationships/hyperlink" Target="https://leaf2qr.atlassian.net/browse/LEAF-158" TargetMode="External" Id="Rb9dda3a9245f4624" /><Relationship Type="http://schemas.openxmlformats.org/officeDocument/2006/relationships/hyperlink" Target="https://leaf2qr.atlassian.net/browse/LEAF-149" TargetMode="External" Id="Ra8d92e60eb62471d" /><Relationship Type="http://schemas.openxmlformats.org/officeDocument/2006/relationships/hyperlink" Target="https://leaf2qr.atlassian.net/browse/LEAF-154" TargetMode="External" Id="R70d004e3147e492e" /><Relationship Type="http://schemas.openxmlformats.org/officeDocument/2006/relationships/hyperlink" Target="https://leaf2qr.atlassian.net/browse/LEAF-155" TargetMode="External" Id="Rc362afe421d44297" /><Relationship Type="http://schemas.openxmlformats.org/officeDocument/2006/relationships/hyperlink" Target="https://leaf2qr.atlassian.net/wiki/spaces/L/pages/18284545" TargetMode="External" Id="R6264d03dca4d4c56" /><Relationship Type="http://schemas.openxmlformats.org/officeDocument/2006/relationships/hyperlink" Target="https://leaf2qr.atlassian.net/wiki/spaces/L/pages/19726337" TargetMode="External" Id="R62206a49f1464d77" /><Relationship Type="http://schemas.openxmlformats.org/officeDocument/2006/relationships/hyperlink" Target="https://leaf2qr.atlassian.net/browse/LEAF-152" TargetMode="External" Id="Re6a30e3189624804" /><Relationship Type="http://schemas.openxmlformats.org/officeDocument/2006/relationships/hyperlink" Target="https://leaf2qr.atlassian.net/browse/LEAF-158" TargetMode="External" Id="R8d0fbb738c8a4a79" /><Relationship Type="http://schemas.openxmlformats.org/officeDocument/2006/relationships/hyperlink" Target="https://leaf2qr.atlassian.net/browse/LEAF-149" TargetMode="External" Id="R71c88dd3645c4685" /><Relationship Type="http://schemas.openxmlformats.org/officeDocument/2006/relationships/hyperlink" Target="https://leaf2qr.atlassian.net/browse/LEAF-154" TargetMode="External" Id="Rb00f69fd1ca34bbc" /><Relationship Type="http://schemas.openxmlformats.org/officeDocument/2006/relationships/notesSlide" Target="/ppt/notesSlides/notesSlide4.xml" Id="Rf654d9731369443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cd2b4dbb58b49f6" /><Relationship Type="http://schemas.openxmlformats.org/officeDocument/2006/relationships/hyperlink" Target="https://leaf2qr.atlassian.net/wiki/spaces/L/pages/18645003" TargetMode="External" Id="R6f81434654d64219" /><Relationship Type="http://schemas.openxmlformats.org/officeDocument/2006/relationships/hyperlink" Target="https://leaf2qr.atlassian.net/browse/LEAF-157" TargetMode="External" Id="R8df308b8a27145a4" /><Relationship Type="http://schemas.openxmlformats.org/officeDocument/2006/relationships/hyperlink" Target="https://leaf2qr.atlassian.net/wiki/spaces/L/pages/19726337" TargetMode="External" Id="Rba22e1d2dc09405e" /><Relationship Type="http://schemas.openxmlformats.org/officeDocument/2006/relationships/hyperlink" Target="https://leaf2qr.atlassian.net/wiki/spaces/L/pages/19726345" TargetMode="External" Id="R712a6a38563245ac" /><Relationship Type="http://schemas.openxmlformats.org/officeDocument/2006/relationships/hyperlink" Target="https://leaf2qr.atlassian.net/wiki/spaces/L/pages/6193171" TargetMode="External" Id="Rdc91d4f72c704dda" /><Relationship Type="http://schemas.openxmlformats.org/officeDocument/2006/relationships/hyperlink" Target="https://leaf2qr.atlassian.net/wiki/spaces/L/pages/18284545" TargetMode="External" Id="R0dfa1dbe4fdb4fe9" /><Relationship Type="http://schemas.openxmlformats.org/officeDocument/2006/relationships/hyperlink" Target="https://leaf2qr.atlassian.net/browse/LEAF-157" TargetMode="External" Id="R070251a1759f4ffb" /><Relationship Type="http://schemas.openxmlformats.org/officeDocument/2006/relationships/image" Target="/ppt/media/image4.png" Id="Rabcbaa0ee7eb409d" /><Relationship Type="http://schemas.openxmlformats.org/officeDocument/2006/relationships/notesSlide" Target="/ppt/notesSlides/notesSlide5.xml" Id="Ref2b5e7513d0488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237c7a4fafc4149" /><Relationship Type="http://schemas.openxmlformats.org/officeDocument/2006/relationships/hyperlink" Target="https://leaf2qr.atlassian.net/wiki/spaces/L/pages/18284545" TargetMode="External" Id="R7ad727b8ac284899" /><Relationship Type="http://schemas.openxmlformats.org/officeDocument/2006/relationships/hyperlink" Target="https://leaf2qr.atlassian.net/wiki/spaces/L/pages/18448410" TargetMode="External" Id="Rbd2b1e459eae4888" /><Relationship Type="http://schemas.openxmlformats.org/officeDocument/2006/relationships/hyperlink" Target="https://leaf2qr.atlassian.net/wiki/spaces/L/pages/19726345" TargetMode="External" Id="Rbe85b44d103f4013" /><Relationship Type="http://schemas.openxmlformats.org/officeDocument/2006/relationships/hyperlink" Target="https://leaf2qr.atlassian.net/browse/LEAF-150" TargetMode="External" Id="Rdfb0607f07fa4c9b" /><Relationship Type="http://schemas.openxmlformats.org/officeDocument/2006/relationships/hyperlink" Target="https://github.com/Techlauncher-LeafAnalyzer/Hyperspectral-Image-Inspector/pull/28" TargetMode="External" Id="R6144e8aabf39418b" /><Relationship Type="http://schemas.openxmlformats.org/officeDocument/2006/relationships/hyperlink" Target="https://github.com/Techlauncher-LeafAnalyzer/Hyperspectral-Image-Inspector/pull/29" TargetMode="External" Id="R573f701fb33748a6" /><Relationship Type="http://schemas.openxmlformats.org/officeDocument/2006/relationships/hyperlink" Target="https://github.com/Techlauncher-LeafAnalyzer/Hyperspectral-Image-Inspector/pull/36" TargetMode="External" Id="Rb0d12fb0032340b7" /><Relationship Type="http://schemas.openxmlformats.org/officeDocument/2006/relationships/hyperlink" Target="https://leaf2qr.atlassian.net/browse/LEAF-146" TargetMode="External" Id="R874cb4c9a0e44f31" /><Relationship Type="http://schemas.openxmlformats.org/officeDocument/2006/relationships/hyperlink" Target="https://leaf2qr.atlassian.net/browse/LEAF-153" TargetMode="External" Id="Rfe522a28c488409a" /><Relationship Type="http://schemas.openxmlformats.org/officeDocument/2006/relationships/hyperlink" Target="https://leaf2qr.atlassian.net/browse/LEAF-149" TargetMode="External" Id="R1bf786a7c1094d7c" /><Relationship Type="http://schemas.openxmlformats.org/officeDocument/2006/relationships/hyperlink" Target="https://leaf2qr.atlassian.net/browse/LEAF-125" TargetMode="External" Id="Ra0d00457302643d2" /><Relationship Type="http://schemas.openxmlformats.org/officeDocument/2006/relationships/hyperlink" Target="https://leaf2qr.atlassian.net/browse/LEAF-160" TargetMode="External" Id="R3347854732194639" /><Relationship Type="http://schemas.openxmlformats.org/officeDocument/2006/relationships/hyperlink" Target="https://leaf2qr.atlassian.net/browse/LEAF-132" TargetMode="External" Id="R30b9163e2ca64c20" /><Relationship Type="http://schemas.openxmlformats.org/officeDocument/2006/relationships/hyperlink" Target="https://leaf2qr.atlassian.net/browse/LEAF-159" TargetMode="External" Id="R2ce99b7422694398" /><Relationship Type="http://schemas.openxmlformats.org/officeDocument/2006/relationships/hyperlink" Target="https://github.com/Techlauncher-LeafAnalyzer/Hyperspectral-Image-Inspector/pull/29" TargetMode="External" Id="Refa33c3fb0984be7" /><Relationship Type="http://schemas.openxmlformats.org/officeDocument/2006/relationships/notesSlide" Target="/ppt/notesSlides/notesSlide6.xml" Id="R92a145b18d1e426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05dbae06d8144a9" /><Relationship Type="http://schemas.openxmlformats.org/officeDocument/2006/relationships/hyperlink" Target="https://leaf2qr.atlassian.net/browse/LEAF-150" TargetMode="External" Id="R51966dcc3e344ff5" /><Relationship Type="http://schemas.openxmlformats.org/officeDocument/2006/relationships/hyperlink" Target="https://leaf2qr.atlassian.net/browse/LEAF-152" TargetMode="External" Id="R7a065c5256c74442" /><Relationship Type="http://schemas.openxmlformats.org/officeDocument/2006/relationships/hyperlink" Target="https://leaf2qr.atlassian.net/browse/LEAF-149" TargetMode="External" Id="R7fc3e5de0e7846c7" /><Relationship Type="http://schemas.openxmlformats.org/officeDocument/2006/relationships/hyperlink" Target="https://leaf2qr.atlassian.net/browse/LEAF-153" TargetMode="External" Id="Ra9f2434e2d704ae9" /><Relationship Type="http://schemas.openxmlformats.org/officeDocument/2006/relationships/hyperlink" Target="https://leaf2qr.atlassian.net/browse/LEAF-155" TargetMode="External" Id="R80d57242601c4caa" /><Relationship Type="http://schemas.openxmlformats.org/officeDocument/2006/relationships/hyperlink" Target="https://leaf2qr.atlassian.net/browse/LEAF-150" TargetMode="External" Id="R945c20d603944829" /><Relationship Type="http://schemas.openxmlformats.org/officeDocument/2006/relationships/hyperlink" Target="https://leaf2qr.atlassian.net/browse/LEAF-152" TargetMode="External" Id="Rfc1303a51c6444b0" /><Relationship Type="http://schemas.openxmlformats.org/officeDocument/2006/relationships/hyperlink" Target="https://leaf2qr.atlassian.net/browse/LEAF-149" TargetMode="External" Id="Rac89cb1e4ce74c71" /><Relationship Type="http://schemas.openxmlformats.org/officeDocument/2006/relationships/hyperlink" Target="https://leaf2qr.atlassian.net/browse/LEAF-153" TargetMode="External" Id="Rc87bdf90a35b4c96" /><Relationship Type="http://schemas.openxmlformats.org/officeDocument/2006/relationships/hyperlink" Target="https://leaf2qr.atlassian.net/browse/LEAF-155" TargetMode="External" Id="Rfd2fd36033c94908" /><Relationship Type="http://schemas.openxmlformats.org/officeDocument/2006/relationships/image" Target="/ppt/media/image5.png" Id="R408a71ca4f954ea4" /><Relationship Type="http://schemas.openxmlformats.org/officeDocument/2006/relationships/notesSlide" Target="/ppt/notesSlides/notesSlide7.xml" Id="Rf07bff05466741c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b9ef34dae104553" /><Relationship Type="http://schemas.openxmlformats.org/officeDocument/2006/relationships/hyperlink" Target="https://leaf2qr.atlassian.net/wiki/spaces/L/pages/6193171" TargetMode="External" Id="R8e5536a2d0f34fe3" /><Relationship Type="http://schemas.openxmlformats.org/officeDocument/2006/relationships/hyperlink" Target="https://github.com/Techlauncher-LeafAnalyzer/Hyperspectral-Image-Inspector/blob/ac7161342dbb661c9f5efbfd9de5a554ee4c6141/docs/super-resolution.md" TargetMode="External" Id="Rc5cbbd808ef04ccb" /><Relationship Type="http://schemas.openxmlformats.org/officeDocument/2006/relationships/hyperlink" Target="https://leaf2qr.atlassian.net/wiki/spaces/L/pages/19726345" TargetMode="External" Id="Ra8a4c6acc8c04954" /><Relationship Type="http://schemas.openxmlformats.org/officeDocument/2006/relationships/notesSlide" Target="/ppt/notesSlides/notesSlide8.xml" Id="R67469a360533474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b14ba201b624584" /><Relationship Type="http://schemas.openxmlformats.org/officeDocument/2006/relationships/hyperlink" Target="https://github.com/Techlauncher-LeafAnalyzer/Hyperspectral-Image-Inspector/pull/25" TargetMode="External" Id="R4d48593c54b84690" /><Relationship Type="http://schemas.openxmlformats.org/officeDocument/2006/relationships/hyperlink" Target="https://github.com/Techlauncher-LeafAnalyzer/Hyperspectral-Image-Inspector/blob/ac7161342dbb661c9f5efbfd9de5a554ee4c6141/ui_tests/conftest.py" TargetMode="External" Id="Re63d43acd98b4f7f" /><Relationship Type="http://schemas.openxmlformats.org/officeDocument/2006/relationships/hyperlink" Target="https://github.com/Techlauncher-LeafAnalyzer/Hyperspectral-Image-Inspector/blob/ac7161342dbb661c9f5efbfd9de5a554ee4c6141/ui_tests/ui/test_crop.py" TargetMode="External" Id="R09ddb01692e04436" /><Relationship Type="http://schemas.openxmlformats.org/officeDocument/2006/relationships/hyperlink" Target="https://github.com/Techlauncher-LeafAnalyzer/Hyperspectral-Image-Inspector/blob/ac7161342dbb661c9f5efbfd9de5a554ee4c6141/ui_tests/ui/test_super_resolution.py" TargetMode="External" Id="R6b1ef782890e4d94" /><Relationship Type="http://schemas.openxmlformats.org/officeDocument/2006/relationships/hyperlink" Target="https://github.com/Techlauncher-LeafAnalyzer/Hyperspectral-Image-Inspector/blob/ac7161342dbb661c9f5efbfd9de5a554ee4c6141/ui_tests/core/test_super_resolution_model.py" TargetMode="External" Id="R14acd734fc84465e" /><Relationship Type="http://schemas.openxmlformats.org/officeDocument/2006/relationships/hyperlink" Target="https://github.com/Techlauncher-LeafAnalyzer/Hyperspectral-Image-Inspector/pull/36" TargetMode="External" Id="Re439697ba0bd4bf3" /><Relationship Type="http://schemas.openxmlformats.org/officeDocument/2006/relationships/hyperlink" Target="https://leaf2qr.atlassian.net/browse/LEAF-113" TargetMode="External" Id="Rb8356927581142c7" /><Relationship Type="http://schemas.openxmlformats.org/officeDocument/2006/relationships/hyperlink" Target="https://github.com/Techlauncher-LeafAnalyzer/Hyperspectral-Image-Inspector/tree/ac7161342dbb661c9f5efbfd9de5a554ee4c6141/ui_tests/ui" TargetMode="External" Id="R56cd793ab24346fc" /><Relationship Type="http://schemas.openxmlformats.org/officeDocument/2006/relationships/image" Target="/ppt/media/image6.png" Id="Recdef3cbe2a84c2e" /><Relationship Type="http://schemas.openxmlformats.org/officeDocument/2006/relationships/notesSlide" Target="/ppt/notesSlides/notesSlide9.xml" Id="R6c46c55129a74dd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b05e5a9b5de4838" /><Relationship Type="http://schemas.openxmlformats.org/officeDocument/2006/relationships/hyperlink" Target="https://github.com/Techlauncher-LeafAnalyzer/Hyperspectral-Image-Inspector/pull/25" TargetMode="External" Id="Rcdea1bb485ad4867" /><Relationship Type="http://schemas.openxmlformats.org/officeDocument/2006/relationships/hyperlink" Target="https://github.com/Techlauncher-LeafAnalyzer/Hyperspectral-Image-Inspector/blob/ac7161342dbb661c9f5efbfd9de5a554ee4c6141/.github/workflows/ui-tests.yml" TargetMode="External" Id="R898fa88aa4c64d60" /><Relationship Type="http://schemas.openxmlformats.org/officeDocument/2006/relationships/hyperlink" Target="https://github.com/Techlauncher-LeafAnalyzer/Hyperspectral-Image-Inspector/actions/runs/33145582110" TargetMode="External" Id="Rce3546b5f6e14d48" /><Relationship Type="http://schemas.openxmlformats.org/officeDocument/2006/relationships/hyperlink" Target="https://github.com/Techlauncher-LeafAnalyzer/Hyperspectral-Image-Inspector/blob/ac7161342dbb661c9f5efbfd9de5a554ee4c6141/requirements-dev.txt" TargetMode="External" Id="Rbd18d8d847394e40" /><Relationship Type="http://schemas.openxmlformats.org/officeDocument/2006/relationships/image" Target="/ppt/media/image7.png" Id="Re985b2150b8a4edf" /><Relationship Type="http://schemas.openxmlformats.org/officeDocument/2006/relationships/notesSlide" Target="/ppt/notesSlides/notesSlide10.xml" Id="Rafb60848ad3f439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8cf69cf00a9046d5" /><Relationship Type="http://schemas.openxmlformats.org/officeDocument/2006/relationships/hyperlink" Target="https://github.com/Techlauncher-LeafAnalyzer/Hyperspectral-Image-Inspector/pull/36" TargetMode="External" Id="Rdc49eb36469f440f" /><Relationship Type="http://schemas.openxmlformats.org/officeDocument/2006/relationships/hyperlink" Target="https://github.com/Techlauncher-LeafAnalyzer/Hyperspectral-Image-Inspector/pull/36#pullrequestreview-5048104584" TargetMode="External" Id="Rdf676c6294694275" /><Relationship Type="http://schemas.openxmlformats.org/officeDocument/2006/relationships/hyperlink" Target="https://github.com/Techlauncher-LeafAnalyzer/Hyperspectral-Image-Inspector/pull/36#pullrequestreview-5048223876" TargetMode="External" Id="R4b495b8304264f8d" /><Relationship Type="http://schemas.openxmlformats.org/officeDocument/2006/relationships/hyperlink" Target="https://github.com/Techlauncher-LeafAnalyzer/Hyperspectral-Image-Inspector/commit/c285154ac5a1699da66058b6511dbbbc006d60b0" TargetMode="External" Id="R157c695ca0354196" /><Relationship Type="http://schemas.openxmlformats.org/officeDocument/2006/relationships/hyperlink" Target="https://github.com/Techlauncher-LeafAnalyzer/Hyperspectral-Image-Inspector/actions/runs/33145582110" TargetMode="External" Id="Rcd79cc06b9aa4a61" /><Relationship Type="http://schemas.openxmlformats.org/officeDocument/2006/relationships/hyperlink" Target="https://leaf2qr.atlassian.net/wiki/spaces/L/pages/19726337" TargetMode="External" Id="R06d81ecc3ca2480f" /><Relationship Type="http://schemas.openxmlformats.org/officeDocument/2006/relationships/hyperlink" Target="https://leaf2qr.atlassian.net/wiki/spaces/L/pages/19726345" TargetMode="External" Id="R3a7072982aa14d63" /><Relationship Type="http://schemas.openxmlformats.org/officeDocument/2006/relationships/hyperlink" Target="https://github.com/Techlauncher-LeafAnalyzer/Hyperspectral-Image-Inspector/pull/36" TargetMode="External" Id="Ra062f1a489554cb5" /><Relationship Type="http://schemas.openxmlformats.org/officeDocument/2006/relationships/image" Target="/ppt/media/image8.png" Id="R019ba86d37c44d17" /><Relationship Type="http://schemas.openxmlformats.org/officeDocument/2006/relationships/hyperlink" Target="https://github.com/Techlauncher-LeafAnalyzer/Hyperspectral-Image-Inspector/pull/36" TargetMode="External" Id="R59ea6b5cea93404a" /><Relationship Type="http://schemas.openxmlformats.org/officeDocument/2006/relationships/notesSlide" Target="/ppt/notesSlides/notesSlide11.xml" Id="Rb21acdbefd144e5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d53a5ef933b4539" /><Relationship Type="http://schemas.openxmlformats.org/officeDocument/2006/relationships/hyperlink" Target="https://leaf2qr.atlassian.net/wiki/spaces/L/pages/18448410" TargetMode="External" Id="R305af22bb6a14ea8" /><Relationship Type="http://schemas.openxmlformats.org/officeDocument/2006/relationships/hyperlink" Target="https://leaf2qr.atlassian.net/wiki/spaces/L/pages/19726345" TargetMode="External" Id="R1a41bcfce4c94495" /><Relationship Type="http://schemas.openxmlformats.org/officeDocument/2006/relationships/hyperlink" Target="https://leaf2qr.atlassian.net/wiki/spaces/L/pages/18645003" TargetMode="External" Id="Ra68094ee69f44d83" /><Relationship Type="http://schemas.openxmlformats.org/officeDocument/2006/relationships/hyperlink" Target="https://leaf2qr.atlassian.net/browse/LEAF-157" TargetMode="External" Id="R189e51dcb68b4b70" /><Relationship Type="http://schemas.openxmlformats.org/officeDocument/2006/relationships/hyperlink" Target="https://github.com/Techlauncher-LeafAnalyzer/Hyperspectral-Image-Inspector/pull/29" TargetMode="External" Id="R01b70a05e7284bf2" /><Relationship Type="http://schemas.openxmlformats.org/officeDocument/2006/relationships/hyperlink" Target="https://github.com/Techlauncher-LeafAnalyzer/Hyperspectral-Image-Inspector/pull/30" TargetMode="External" Id="R687a089c39a745a9" /><Relationship Type="http://schemas.openxmlformats.org/officeDocument/2006/relationships/hyperlink" Target="https://github.com/Techlauncher-LeafAnalyzer/Hyperspectral-Image-Inspector/pull/34" TargetMode="External" Id="Rc882ac79480742ab" /><Relationship Type="http://schemas.openxmlformats.org/officeDocument/2006/relationships/hyperlink" Target="https://leaf2qr.atlassian.net/wiki/spaces/L/pages/6193171" TargetMode="External" Id="Rbe3975783e23459a" /><Relationship Type="http://schemas.openxmlformats.org/officeDocument/2006/relationships/hyperlink" Target="https://github.com/Techlauncher-LeafAnalyzer/Hyperspectral-Image-Inspector/pull/29" TargetMode="External" Id="R1e9e967b5654481e" /><Relationship Type="http://schemas.openxmlformats.org/officeDocument/2006/relationships/hyperlink" Target="https://github.com/Techlauncher-LeafAnalyzer/Hyperspectral-Image-Inspector/pull/30" TargetMode="External" Id="R5b08a1d2dd424dd5" /><Relationship Type="http://schemas.openxmlformats.org/officeDocument/2006/relationships/hyperlink" Target="https://github.com/Techlauncher-LeafAnalyzer/Hyperspectral-Image-Inspector/pull/34" TargetMode="External" Id="R082ba75e461b4626" /><Relationship Type="http://schemas.openxmlformats.org/officeDocument/2006/relationships/hyperlink" Target="https://leaf2qr.atlassian.net/browse/LEAF-157" TargetMode="External" Id="R018c85db44c5494b" /><Relationship Type="http://schemas.openxmlformats.org/officeDocument/2006/relationships/notesSlide" Target="/ppt/notesSlides/notesSlide12.xml" Id="R2462ca4c7079402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d7febc82bc7e463a" /><Relationship Type="http://schemas.openxmlformats.org/officeDocument/2006/relationships/hyperlink" Target="https://leaf2qr.atlassian.net/wiki/spaces/L/pages/18645003" TargetMode="External" Id="Rf95637f6daec4877" /><Relationship Type="http://schemas.openxmlformats.org/officeDocument/2006/relationships/hyperlink" Target="https://leaf2qr.atlassian.net/wiki/spaces/L/pages/18448410" TargetMode="External" Id="R3ef58d3caac44515" /><Relationship Type="http://schemas.openxmlformats.org/officeDocument/2006/relationships/hyperlink" Target="https://leaf2qr.atlassian.net/wiki/spaces/L/pages/19726345" TargetMode="External" Id="Rafbbbb4db9e2466f" /><Relationship Type="http://schemas.openxmlformats.org/officeDocument/2006/relationships/hyperlink" Target="https://leaf2qr.atlassian.net/wiki/spaces/L/pages/18284545" TargetMode="External" Id="Rf76f256da4b14d1a" /><Relationship Type="http://schemas.openxmlformats.org/officeDocument/2006/relationships/hyperlink" Target="https://leaf2qr.atlassian.net/wiki/spaces/L/pages/6193171" TargetMode="External" Id="R7b9645df95af4c2c" /><Relationship Type="http://schemas.openxmlformats.org/officeDocument/2006/relationships/hyperlink" Target="https://leaf2qr.atlassian.net/browse/LEAF-157" TargetMode="External" Id="R6a45e8ffcf61447e" /><Relationship Type="http://schemas.openxmlformats.org/officeDocument/2006/relationships/hyperlink" Target="https://leaf2qr.atlassian.net/browse/LEAF-150" TargetMode="External" Id="R5c82a868c87f4929" /><Relationship Type="http://schemas.openxmlformats.org/officeDocument/2006/relationships/hyperlink" Target="https://leaf2qr.atlassian.net/browse/LEAF-152" TargetMode="External" Id="Rd4cd9319fedf4191" /><Relationship Type="http://schemas.openxmlformats.org/officeDocument/2006/relationships/hyperlink" Target="https://github.com/Techlauncher-LeafAnalyzer/Hyperspectral-Image-Inspector/pull/25" TargetMode="External" Id="R281930082dec40a4" /><Relationship Type="http://schemas.openxmlformats.org/officeDocument/2006/relationships/hyperlink" Target="https://github.com/Techlauncher-LeafAnalyzer/Hyperspectral-Image-Inspector/actions/runs/33145582110" TargetMode="External" Id="R934c0d4f83ee43ac" /><Relationship Type="http://schemas.openxmlformats.org/officeDocument/2006/relationships/hyperlink" Target="https://leaf2qr.atlassian.net/browse/LEAF-157" TargetMode="External" Id="Rb1b7578545e4453a" /><Relationship Type="http://schemas.openxmlformats.org/officeDocument/2006/relationships/hyperlink" Target="https://github.com/Techlauncher-LeafAnalyzer/Hyperspectral-Image-Inspector/pull/25" TargetMode="External" Id="R9682561e87ef4721" /><Relationship Type="http://schemas.openxmlformats.org/officeDocument/2006/relationships/notesSlide" Target="/ppt/notesSlides/notesSlide13.xml" Id="Rbce462eec4d24e7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ac6f8e18619841ef" /><Relationship Type="http://schemas.openxmlformats.org/officeDocument/2006/relationships/hyperlink" Target="https://leaf2qr.atlassian.net/browse/LEAF-105" TargetMode="External" Id="R5880c06594a544b8" /><Relationship Type="http://schemas.openxmlformats.org/officeDocument/2006/relationships/hyperlink" Target="https://leaf2qr.atlassian.net/browse/LEAF-115" TargetMode="External" Id="Ra50840d2d8474b11" /><Relationship Type="http://schemas.openxmlformats.org/officeDocument/2006/relationships/hyperlink" Target="https://leaf2qr.atlassian.net/browse/LEAF-116" TargetMode="External" Id="Rafa74ab2248c4de3" /><Relationship Type="http://schemas.openxmlformats.org/officeDocument/2006/relationships/hyperlink" Target="https://leaf2qr.atlassian.net/browse/LEAF-113" TargetMode="External" Id="R9116f29805fd4b9a" /><Relationship Type="http://schemas.openxmlformats.org/officeDocument/2006/relationships/hyperlink" Target="https://leaf2qr.atlassian.net/browse/LEAF-163" TargetMode="External" Id="R457854c633d34eb0" /><Relationship Type="http://schemas.openxmlformats.org/officeDocument/2006/relationships/hyperlink" Target="https://leaf2qr.atlassian.net/browse/LEAF-164" TargetMode="External" Id="Rc2d759d5250247b2" /><Relationship Type="http://schemas.openxmlformats.org/officeDocument/2006/relationships/hyperlink" Target="https://github.com/Techlauncher-LeafAnalyzer/Hyperspectral-Image-Inspector/pull/36" TargetMode="External" Id="Rff6f2369a9ea4510" /><Relationship Type="http://schemas.openxmlformats.org/officeDocument/2006/relationships/hyperlink" Target="https://leaf2qr.atlassian.net/wiki/spaces/L/pages/19726337" TargetMode="External" Id="R4c2ae45470444f36" /><Relationship Type="http://schemas.openxmlformats.org/officeDocument/2006/relationships/hyperlink" Target="https://leaf2qr.atlassian.net/wiki/spaces/L/pages/19726345" TargetMode="External" Id="R2d711f990ae44222" /><Relationship Type="http://schemas.openxmlformats.org/officeDocument/2006/relationships/hyperlink" Target="https://leaf2qr.atlassian.net/wiki/spaces/L/pages/6193171" TargetMode="External" Id="Rbc84da5421fa45ff" /><Relationship Type="http://schemas.openxmlformats.org/officeDocument/2006/relationships/hyperlink" Target="https://leaf2qr.atlassian.net/browse/LEAF-115" TargetMode="External" Id="R221443c3704248d5" /><Relationship Type="http://schemas.openxmlformats.org/officeDocument/2006/relationships/hyperlink" Target="https://leaf2qr.atlassian.net/browse/LEAF-116" TargetMode="External" Id="Rdc757acda5034490" /><Relationship Type="http://schemas.openxmlformats.org/officeDocument/2006/relationships/hyperlink" Target="https://leaf2qr.atlassian.net/browse/LEAF-113" TargetMode="External" Id="Ra9a957393dd54bbe" /><Relationship Type="http://schemas.openxmlformats.org/officeDocument/2006/relationships/notesSlide" Target="/ppt/notesSlides/notesSlide14.xml" Id="Rc885f6beb04d4bfc" /></Relationships>
</file>

<file path=ppt/slides/slide1.xml><?xml version="1.0" encoding="utf-8"?>
<p:sld xmlns:p="http://schemas.openxmlformats.org/presentationml/2006/main">
  <p:cSld>
    <p:bg>
      <p:bgPr>
        <a:solidFill xmlns:a="http://schemas.openxmlformats.org/drawingml/2006/main">
          <a:srgbClr val="FBFBF8"/>
        </a:solidFill>
      </p:bgPr>
    </p:bg>
    <p:spTree>
      <p:nvGrpSpPr>
        <p:cNvPr id="1" name=""/>
        <p:cNvGrpSpPr/>
        <p:nvPr/>
      </p:nvGrpSpPr>
      <p:grpSpPr>
        <a:xfrm xmlns:a="http://schemas.openxmlformats.org/drawingml/2006/main"/>
      </p:grpSpPr>
      <p:sp>
        <p:nvSpPr>
          <p:cNvPr id="10" name="TECHLAUNCHER  /  LEAF ANALYZER">
            <a:extLst xmlns:a="http://schemas.openxmlformats.org/drawingml/2006/main">
              <a:ext uri="{FF2B5EF4-FFF2-40B4-BE49-F238E27FC236}">
                <a16:creationId xmlns:a16="http://schemas.microsoft.com/office/drawing/2014/main" id="{213F2B68-8154-4E34-9146-F2C1E03DB152}"/>
              </a:ext>
            </a:extLst>
          </p:cNvPr>
          <p:cNvSpPr>
            <a:spLocks xmlns:a="http://schemas.openxmlformats.org/drawingml/2006/main" noGrp="1"/>
          </p:cNvSpPr>
          <p:nvPr/>
        </p:nvSpPr>
        <p:spPr>
          <a:xfrm xmlns:a="http://schemas.openxmlformats.org/drawingml/2006/main">
            <a:off x="609600" y="45720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575" b="1" i="0">
                <a:solidFill>
                  <a:srgbClr val="173F32"/>
                </a:solidFill>
                <a:latin typeface="Times New Roman"/>
                <a:ea typeface="Times New Roman"/>
                <a:cs typeface="Times New Roman"/>
              </a:defRPr>
            </a:pPr>
            <a:r>
              <a:rPr sz="1575" b="1" i="0" u="none">
                <a:solidFill>
                  <a:srgbClr val="173F32"/>
                </a:solidFill>
                <a:latin typeface="Times New Roman"/>
                <a:ea typeface="Times New Roman"/>
                <a:cs typeface="Times New Roman"/>
              </a:rPr>
              <a:t>TECHLAUNCHER  /  LEAF ANALYZER</a:t>
            </a:r>
          </a:p>
        </p:txBody>
      </p:sp>
      <p:sp>
        <p:nvSpPr>
          <p:cNvPr id="2" name="Sprint 5&#10;Review">
            <a:extLst xmlns:a="http://schemas.openxmlformats.org/drawingml/2006/main">
              <a:ext uri="{FF2B5EF4-FFF2-40B4-BE49-F238E27FC236}">
                <a16:creationId xmlns:a16="http://schemas.microsoft.com/office/drawing/2014/main" id="{0B29E12D-B3AE-4BBD-916F-780442D9D363}"/>
              </a:ext>
            </a:extLst>
          </p:cNvPr>
          <p:cNvSpPr>
            <a:spLocks xmlns:a="http://schemas.openxmlformats.org/drawingml/2006/main" noGrp="1"/>
          </p:cNvSpPr>
          <p:nvPr/>
        </p:nvSpPr>
        <p:spPr>
          <a:xfrm xmlns:a="http://schemas.openxmlformats.org/drawingml/2006/main">
            <a:off x="609600" y="1562100"/>
            <a:ext cx="1066800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7800" b="1" i="0">
                <a:solidFill>
                  <a:srgbClr val="173F32"/>
                </a:solidFill>
                <a:latin typeface="Arial"/>
                <a:ea typeface="Arial"/>
                <a:cs typeface="Arial"/>
              </a:defRPr>
            </a:pPr>
            <a:r>
              <a:rPr sz="7800" b="1" i="0" u="none">
                <a:solidFill>
                  <a:srgbClr val="173F32"/>
                </a:solidFill>
                <a:latin typeface="Arial"/>
                <a:ea typeface="Arial"/>
                <a:cs typeface="Arial"/>
              </a:rPr>
              <a:t>Sprint 5</a:t>
            </a:r>
          </a:p>
          <a:p xmlns:a="http://schemas.openxmlformats.org/drawingml/2006/main">
            <a:pPr algn="l">
              <a:spcBef>
                <a:spcPts val="0"/>
              </a:spcBef>
              <a:spcAft>
                <a:spcPts val="0"/>
              </a:spcAft>
              <a:defRPr sz="7800" b="1" i="0">
                <a:solidFill>
                  <a:srgbClr val="173F32"/>
                </a:solidFill>
                <a:latin typeface="Arial"/>
                <a:ea typeface="Arial"/>
                <a:cs typeface="Arial"/>
              </a:defRPr>
            </a:pPr>
            <a:r>
              <a:rPr sz="7800" b="1" i="0" u="none">
                <a:solidFill>
                  <a:srgbClr val="173F32"/>
                </a:solidFill>
                <a:latin typeface="Arial"/>
                <a:ea typeface="Arial"/>
                <a:cs typeface="Arial"/>
              </a:rPr>
              <a:t>Review</a:t>
            </a:r>
          </a:p>
        </p:txBody>
      </p:sp>
      <p:sp>
        <p:nvSpPr>
          <p:cNvPr id="3" name="直线连接符 2">
            <a:extLst xmlns:a="http://schemas.openxmlformats.org/drawingml/2006/main">
              <a:ext uri="{FF2B5EF4-FFF2-40B4-BE49-F238E27FC236}">
                <a16:creationId xmlns:a16="http://schemas.microsoft.com/office/drawing/2014/main" id="{CB8FC899-AB65-4B22-9FFF-DF26A34D41A0}"/>
              </a:ext>
            </a:extLst>
          </p:cNvPr>
          <p:cNvSpPr>
            <a:spLocks xmlns:a="http://schemas.openxmlformats.org/drawingml/2006/main" noGrp="1"/>
          </p:cNvSpPr>
          <p:nvPr/>
        </p:nvSpPr>
        <p:spPr>
          <a:xfrm xmlns:a="http://schemas.openxmlformats.org/drawingml/2006/main">
            <a:off x="609600" y="4029075"/>
            <a:ext cx="1295400" cy="0"/>
          </a:xfrm>
          <a:prstGeom xmlns:a="http://schemas.openxmlformats.org/drawingml/2006/main" prst="line">
            <a:avLst/>
          </a:prstGeom>
          <a:noFill xmlns:a="http://schemas.openxmlformats.org/drawingml/2006/main"/>
          <a:ln xmlns:a="http://schemas.openxmlformats.org/drawingml/2006/main" w="28575">
            <a:solidFill>
              <a:srgbClr val="8C6125"/>
            </a:solidFill>
            <a:prstDash val="solid"/>
          </a:ln>
        </p:spPr>
      </p:sp>
      <p:sp>
        <p:nvSpPr>
          <p:cNvPr id="4" name="Hyperspectral Image Inspector">
            <a:extLst xmlns:a="http://schemas.openxmlformats.org/drawingml/2006/main">
              <a:ext uri="{FF2B5EF4-FFF2-40B4-BE49-F238E27FC236}">
                <a16:creationId xmlns:a16="http://schemas.microsoft.com/office/drawing/2014/main" id="{27816016-E163-478F-89ED-DD8D1AAE57A5}"/>
              </a:ext>
            </a:extLst>
          </p:cNvPr>
          <p:cNvSpPr>
            <a:spLocks xmlns:a="http://schemas.openxmlformats.org/drawingml/2006/main" noGrp="1"/>
          </p:cNvSpPr>
          <p:nvPr/>
        </p:nvSpPr>
        <p:spPr>
          <a:xfrm xmlns:a="http://schemas.openxmlformats.org/drawingml/2006/main">
            <a:off x="609600" y="4410075"/>
            <a:ext cx="10572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3000" b="0" i="0">
                <a:solidFill>
                  <a:srgbClr val="173F32"/>
                </a:solidFill>
                <a:latin typeface="Times New Roman"/>
                <a:ea typeface="Times New Roman"/>
                <a:cs typeface="Times New Roman"/>
              </a:defRPr>
            </a:pPr>
            <a:r>
              <a:rPr sz="3000" b="0" i="0" u="none">
                <a:solidFill>
                  <a:srgbClr val="173F32"/>
                </a:solidFill>
                <a:latin typeface="Times New Roman"/>
                <a:ea typeface="Times New Roman"/>
                <a:cs typeface="Times New Roman"/>
              </a:rPr>
              <a:t>Hyperspectral Image Inspector</a:t>
            </a:r>
          </a:p>
        </p:txBody>
      </p:sp>
      <p:sp>
        <p:nvSpPr>
          <p:cNvPr id="5" name="Working features. Stronger checks. Clearer fo">
            <a:extLst xmlns:a="http://schemas.openxmlformats.org/drawingml/2006/main">
              <a:ext uri="{FF2B5EF4-FFF2-40B4-BE49-F238E27FC236}">
                <a16:creationId xmlns:a16="http://schemas.microsoft.com/office/drawing/2014/main" id="{90605EE6-B728-4A85-9791-344A487B15AC}"/>
              </a:ext>
            </a:extLst>
          </p:cNvPr>
          <p:cNvSpPr>
            <a:spLocks xmlns:a="http://schemas.openxmlformats.org/drawingml/2006/main" noGrp="1"/>
          </p:cNvSpPr>
          <p:nvPr/>
        </p:nvSpPr>
        <p:spPr>
          <a:xfrm xmlns:a="http://schemas.openxmlformats.org/drawingml/2006/main">
            <a:off x="609600" y="5086350"/>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2175" b="0" i="0">
                <a:solidFill>
                  <a:srgbClr val="59665F"/>
                </a:solidFill>
                <a:latin typeface="Times New Roman"/>
                <a:ea typeface="Times New Roman"/>
                <a:cs typeface="Times New Roman"/>
              </a:defRPr>
            </a:pPr>
            <a:r>
              <a:rPr sz="2175" b="0" i="0" u="none">
                <a:solidFill>
                  <a:srgbClr val="59665F"/>
                </a:solidFill>
                <a:latin typeface="Times New Roman"/>
                <a:ea typeface="Times New Roman"/>
                <a:cs typeface="Times New Roman"/>
              </a:rPr>
              <a:t>What we built and what we learned</a:t>
            </a:r>
          </a:p>
        </p:txBody>
      </p:sp>
      <p:sp>
        <p:nvSpPr>
          <p:cNvPr id="6" name="直线连接符 5">
            <a:extLst xmlns:a="http://schemas.openxmlformats.org/drawingml/2006/main">
              <a:ext uri="{FF2B5EF4-FFF2-40B4-BE49-F238E27FC236}">
                <a16:creationId xmlns:a16="http://schemas.microsoft.com/office/drawing/2014/main" id="{C70573C7-6CC4-4D46-A13C-AD5370D866BD}"/>
              </a:ext>
            </a:extLst>
          </p:cNvPr>
          <p:cNvSpPr>
            <a:spLocks xmlns:a="http://schemas.openxmlformats.org/drawingml/2006/main" noGrp="1"/>
          </p:cNvSpPr>
          <p:nvPr/>
        </p:nvSpPr>
        <p:spPr>
          <a:xfrm xmlns:a="http://schemas.openxmlformats.org/drawingml/2006/main">
            <a:off x="609600" y="6229350"/>
            <a:ext cx="10972800" cy="0"/>
          </a:xfrm>
          <a:prstGeom xmlns:a="http://schemas.openxmlformats.org/drawingml/2006/main" prst="line">
            <a:avLst/>
          </a:prstGeom>
          <a:noFill xmlns:a="http://schemas.openxmlformats.org/drawingml/2006/main"/>
          <a:ln xmlns:a="http://schemas.openxmlformats.org/drawingml/2006/main" w="9525">
            <a:solidFill>
              <a:srgbClr val="CCD5CF"/>
            </a:solidFill>
            <a:prstDash val="solid"/>
          </a:ln>
        </p:spPr>
      </p:sp>
      <p:sp>
        <p:nvSpPr>
          <p:cNvPr id="7" name="LEAF ANALYZER  /  SPRINT 5">
            <a:extLst xmlns:a="http://schemas.openxmlformats.org/drawingml/2006/main">
              <a:ext uri="{FF2B5EF4-FFF2-40B4-BE49-F238E27FC236}">
                <a16:creationId xmlns:a16="http://schemas.microsoft.com/office/drawing/2014/main" id="{45729951-2911-4AFC-B5F4-E56EACBE7CCA}"/>
              </a:ext>
            </a:extLst>
          </p:cNvPr>
          <p:cNvSpPr>
            <a:spLocks xmlns:a="http://schemas.openxmlformats.org/drawingml/2006/main" noGrp="1"/>
          </p:cNvSpPr>
          <p:nvPr/>
        </p:nvSpPr>
        <p:spPr>
          <a:xfrm xmlns:a="http://schemas.openxmlformats.org/drawingml/2006/main">
            <a:off x="8572500" y="457200"/>
            <a:ext cx="3009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spcBef>
                <a:spcPts val="0"/>
              </a:spcBef>
              <a:spcAft>
                <a:spcPts val="0"/>
              </a:spcAft>
              <a:defRPr sz="1200" b="0" i="0">
                <a:solidFill>
                  <a:srgbClr val="59665F"/>
                </a:solidFill>
                <a:latin typeface="Times New Roman"/>
                <a:ea typeface="Times New Roman"/>
                <a:cs typeface="Times New Roman"/>
              </a:defRPr>
            </a:pPr>
            <a:r>
              <a:rPr sz="1200" b="0" i="0" u="none">
                <a:solidFill>
                  <a:srgbClr val="59665F"/>
                </a:solidFill>
                <a:latin typeface="Times New Roman"/>
                <a:ea typeface="Times New Roman"/>
                <a:cs typeface="Times New Roman"/>
              </a:rPr>
              <a:t>LEAF ANALYZER  /  SPRINT 5</a:t>
            </a:r>
          </a:p>
        </p:txBody>
      </p:sp>
      <p:sp>
        <p:nvSpPr>
          <p:cNvPr id="8" name="Evidence through 28 August 2026">
            <a:extLst xmlns:a="http://schemas.openxmlformats.org/drawingml/2006/main">
              <a:ext uri="{FF2B5EF4-FFF2-40B4-BE49-F238E27FC236}">
                <a16:creationId xmlns:a16="http://schemas.microsoft.com/office/drawing/2014/main" id="{7E4DDC68-B0AE-480A-B024-9B682245E2EA}"/>
              </a:ext>
            </a:extLst>
          </p:cNvPr>
          <p:cNvSpPr>
            <a:spLocks xmlns:a="http://schemas.openxmlformats.org/drawingml/2006/main" noGrp="1"/>
          </p:cNvSpPr>
          <p:nvPr/>
        </p:nvSpPr>
        <p:spPr>
          <a:xfrm xmlns:a="http://schemas.openxmlformats.org/drawingml/2006/main">
            <a:off x="609600" y="6362700"/>
            <a:ext cx="10401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200" b="0" i="0">
                <a:solidFill>
                  <a:srgbClr val="59665F"/>
                </a:solidFill>
                <a:latin typeface="Times New Roman"/>
                <a:ea typeface="Times New Roman"/>
                <a:cs typeface="Times New Roman"/>
              </a:defRPr>
            </a:pPr>
            <a:r>
              <a:rPr sz="1200" b="0" i="0" u="none">
                <a:solidFill>
                  <a:srgbClr val="59665F"/>
                </a:solidFill>
                <a:latin typeface="Times New Roman"/>
                <a:ea typeface="Times New Roman"/>
                <a:cs typeface="Times New Roman"/>
              </a:rPr>
              <a:t>Sources: </a:t>
            </a:r>
            <a:r>
              <a:rPr sz="1200" b="0" i="0" u="sng">
                <a:solidFill>
                  <a:srgbClr val="2469A0"/>
                </a:solidFill>
                <a:latin typeface="Times New Roman"/>
                <a:ea typeface="Times New Roman"/>
                <a:cs typeface="Times New Roman"/>
                <a:hlinkClick xmlns:r="http://schemas.openxmlformats.org/officeDocument/2006/relationships" r:id="R4f6b03a9c142473b"/>
              </a:rPr>
              <a:t>LEAF-150</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848e18e035e24290"/>
              </a:rPr>
              <a:t>Backlog</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3b790332a1e241e1"/>
              </a:rPr>
              <a:t>Commit ac71613</a:t>
            </a:r>
          </a:p>
        </p:txBody>
      </p:sp>
      <p:sp>
        <p:nvSpPr>
          <p:cNvPr id="9" name="01">
            <a:extLst xmlns:a="http://schemas.openxmlformats.org/drawingml/2006/main">
              <a:ext uri="{FF2B5EF4-FFF2-40B4-BE49-F238E27FC236}">
                <a16:creationId xmlns:a16="http://schemas.microsoft.com/office/drawing/2014/main" id="{E85B00E6-7724-40CA-B68D-6DDE51F97D72}"/>
              </a:ext>
            </a:extLst>
          </p:cNvPr>
          <p:cNvSpPr>
            <a:spLocks xmlns:a="http://schemas.openxmlformats.org/drawingml/2006/main" noGrp="1"/>
          </p:cNvSpPr>
          <p:nvPr/>
        </p:nvSpPr>
        <p:spPr>
          <a:xfrm xmlns:a="http://schemas.openxmlformats.org/drawingml/2006/main">
            <a:off x="11239500" y="63341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spcBef>
                <a:spcPts val="0"/>
              </a:spcBef>
              <a:spcAft>
                <a:spcPts val="0"/>
              </a:spcAft>
              <a:defRPr sz="1425" b="0" i="0">
                <a:solidFill>
                  <a:srgbClr val="59665F"/>
                </a:solidFill>
                <a:latin typeface="Times New Roman"/>
                <a:ea typeface="Times New Roman"/>
                <a:cs typeface="Times New Roman"/>
              </a:defRPr>
            </a:pPr>
            <a:r>
              <a:rPr sz="1425" b="0" i="0" u="none">
                <a:solidFill>
                  <a:srgbClr val="59665F"/>
                </a:solidFill>
                <a:latin typeface="Times New Roman"/>
                <a:ea typeface="Times New Roman"/>
                <a:cs typeface="Times New Roman"/>
              </a:rPr>
              <a:t>01</a:t>
            </a:r>
          </a:p>
        </p:txBody>
      </p:sp>
    </p:spTree>
    <p:extLst>
      <p:ext uri="{BB962C8B-B14F-4D97-AF65-F5344CB8AC3E}">
        <p14:creationId xmlns:p14="http://schemas.microsoft.com/office/powerpoint/2010/main" val="882422061"/>
      </p:ext>
    </p:extLst>
  </p:cSld>
</p:sld>
</file>

<file path=ppt/slides/slide2.xml><?xml version="1.0" encoding="utf-8"?>
<p:sld xmlns:p="http://schemas.openxmlformats.org/presentationml/2006/main">
  <p:cSld>
    <p:bg>
      <p:bgPr>
        <a:solidFill xmlns:a="http://schemas.openxmlformats.org/drawingml/2006/main">
          <a:srgbClr val="FBFBF8"/>
        </a:solidFill>
      </p:bgPr>
    </p:bg>
    <p:spTree>
      <p:nvGrpSpPr>
        <p:cNvPr id="1" name=""/>
        <p:cNvGrpSpPr/>
        <p:nvPr/>
      </p:nvGrpSpPr>
      <p:grpSpPr>
        <a:xfrm xmlns:a="http://schemas.openxmlformats.org/drawingml/2006/main"/>
      </p:grpSpPr>
      <p:sp>
        <p:nvSpPr>
          <p:cNvPr id="19" name="SPRINT 5 OVERVIEW">
            <a:extLst xmlns:a="http://schemas.openxmlformats.org/drawingml/2006/main">
              <a:ext uri="{FF2B5EF4-FFF2-40B4-BE49-F238E27FC236}">
                <a16:creationId xmlns:a16="http://schemas.microsoft.com/office/drawing/2014/main" id="{742DCAC5-8CDB-4C75-849B-690EC599F429}"/>
              </a:ext>
            </a:extLst>
          </p:cNvPr>
          <p:cNvSpPr>
            <a:spLocks xmlns:a="http://schemas.openxmlformats.org/drawingml/2006/main" noGrp="1"/>
          </p:cNvSpPr>
          <p:nvPr/>
        </p:nvSpPr>
        <p:spPr>
          <a:xfrm xmlns:a="http://schemas.openxmlformats.org/drawingml/2006/main">
            <a:off x="609600" y="390525"/>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350" b="1" i="0">
                <a:solidFill>
                  <a:srgbClr val="173F32"/>
                </a:solidFill>
                <a:latin typeface="Times New Roman"/>
                <a:ea typeface="Times New Roman"/>
                <a:cs typeface="Times New Roman"/>
              </a:defRPr>
            </a:pPr>
            <a:r>
              <a:rPr sz="1350" b="1" i="0" u="none">
                <a:solidFill>
                  <a:srgbClr val="173F32"/>
                </a:solidFill>
                <a:latin typeface="Times New Roman"/>
                <a:ea typeface="Times New Roman"/>
                <a:cs typeface="Times New Roman"/>
              </a:rPr>
              <a:t>SPRINT 5 OVERVIEW</a:t>
            </a:r>
          </a:p>
        </p:txBody>
      </p:sp>
      <p:sp>
        <p:nvSpPr>
          <p:cNvPr id="2" name="More of the analysis workflow now works">
            <a:extLst xmlns:a="http://schemas.openxmlformats.org/drawingml/2006/main">
              <a:ext uri="{FF2B5EF4-FFF2-40B4-BE49-F238E27FC236}">
                <a16:creationId xmlns:a16="http://schemas.microsoft.com/office/drawing/2014/main" id="{50CAB585-FF82-4424-BC51-80AF7707E3CC}"/>
              </a:ext>
            </a:extLst>
          </p:cNvPr>
          <p:cNvSpPr>
            <a:spLocks xmlns:a="http://schemas.openxmlformats.org/drawingml/2006/main" noGrp="1"/>
          </p:cNvSpPr>
          <p:nvPr/>
        </p:nvSpPr>
        <p:spPr>
          <a:xfrm xmlns:a="http://schemas.openxmlformats.org/drawingml/2006/main">
            <a:off x="609600" y="8001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3300" b="1" i="0">
                <a:solidFill>
                  <a:srgbClr val="173F32"/>
                </a:solidFill>
                <a:latin typeface="Arial"/>
                <a:ea typeface="Arial"/>
                <a:cs typeface="Arial"/>
              </a:defRPr>
            </a:pPr>
            <a:r>
              <a:rPr sz="3300" b="1" i="0" u="none">
                <a:solidFill>
                  <a:srgbClr val="173F32"/>
                </a:solidFill>
                <a:latin typeface="Arial"/>
                <a:ea typeface="Arial"/>
                <a:cs typeface="Arial"/>
              </a:rPr>
              <a:t>Visualization and SR now work</a:t>
            </a:r>
          </a:p>
        </p:txBody>
      </p:sp>
      <p:sp>
        <p:nvSpPr>
          <p:cNvPr id="3" name="直线连接符 2">
            <a:extLst xmlns:a="http://schemas.openxmlformats.org/drawingml/2006/main">
              <a:ext uri="{FF2B5EF4-FFF2-40B4-BE49-F238E27FC236}">
                <a16:creationId xmlns:a16="http://schemas.microsoft.com/office/drawing/2014/main" id="{071F811A-4164-40D4-9108-C6A852641838}"/>
              </a:ext>
            </a:extLst>
          </p:cNvPr>
          <p:cNvSpPr>
            <a:spLocks xmlns:a="http://schemas.openxmlformats.org/drawingml/2006/main" noGrp="1"/>
          </p:cNvSpPr>
          <p:nvPr/>
        </p:nvSpPr>
        <p:spPr>
          <a:xfrm xmlns:a="http://schemas.openxmlformats.org/drawingml/2006/main">
            <a:off x="609600" y="6286500"/>
            <a:ext cx="10972800" cy="0"/>
          </a:xfrm>
          <a:prstGeom xmlns:a="http://schemas.openxmlformats.org/drawingml/2006/main" prst="line">
            <a:avLst/>
          </a:prstGeom>
          <a:noFill xmlns:a="http://schemas.openxmlformats.org/drawingml/2006/main"/>
          <a:ln xmlns:a="http://schemas.openxmlformats.org/drawingml/2006/main" w="9525">
            <a:solidFill>
              <a:srgbClr val="CCD5CF"/>
            </a:solidFill>
            <a:prstDash val="solid"/>
          </a:ln>
        </p:spPr>
      </p:sp>
      <p:sp>
        <p:nvSpPr>
          <p:cNvPr id="4" name="LEAF ANALYZER  /  SPRINT 5">
            <a:extLst xmlns:a="http://schemas.openxmlformats.org/drawingml/2006/main">
              <a:ext uri="{FF2B5EF4-FFF2-40B4-BE49-F238E27FC236}">
                <a16:creationId xmlns:a16="http://schemas.microsoft.com/office/drawing/2014/main" id="{8788CDBC-62BC-47B2-B71E-1D8792FA8CCC}"/>
              </a:ext>
            </a:extLst>
          </p:cNvPr>
          <p:cNvSpPr>
            <a:spLocks xmlns:a="http://schemas.openxmlformats.org/drawingml/2006/main" noGrp="1"/>
          </p:cNvSpPr>
          <p:nvPr/>
        </p:nvSpPr>
        <p:spPr>
          <a:xfrm xmlns:a="http://schemas.openxmlformats.org/drawingml/2006/main">
            <a:off x="8572500" y="400050"/>
            <a:ext cx="3009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spcBef>
                <a:spcPts val="0"/>
              </a:spcBef>
              <a:spcAft>
                <a:spcPts val="0"/>
              </a:spcAft>
              <a:defRPr sz="1200" b="0" i="0">
                <a:solidFill>
                  <a:srgbClr val="59665F"/>
                </a:solidFill>
                <a:latin typeface="Times New Roman"/>
                <a:ea typeface="Times New Roman"/>
                <a:cs typeface="Times New Roman"/>
              </a:defRPr>
            </a:pPr>
            <a:r>
              <a:rPr sz="1200" b="0" i="0" u="none">
                <a:solidFill>
                  <a:srgbClr val="59665F"/>
                </a:solidFill>
                <a:latin typeface="Times New Roman"/>
                <a:ea typeface="Times New Roman"/>
                <a:cs typeface="Times New Roman"/>
              </a:rPr>
              <a:t>LEAF ANALYZER  /  SPRINT 5</a:t>
            </a:r>
          </a:p>
        </p:txBody>
      </p:sp>
      <p:sp>
        <p:nvSpPr>
          <p:cNvPr id="5" name="PRs #24–27, #29–36 • Sprint 5 backlog">
            <a:extLst xmlns:a="http://schemas.openxmlformats.org/drawingml/2006/main">
              <a:ext uri="{FF2B5EF4-FFF2-40B4-BE49-F238E27FC236}">
                <a16:creationId xmlns:a16="http://schemas.microsoft.com/office/drawing/2014/main" id="{8BF5AC4C-ED02-4B5A-AD86-9DD78DF16C86}"/>
              </a:ext>
            </a:extLst>
          </p:cNvPr>
          <p:cNvSpPr>
            <a:spLocks xmlns:a="http://schemas.openxmlformats.org/drawingml/2006/main" noGrp="1"/>
          </p:cNvSpPr>
          <p:nvPr/>
        </p:nvSpPr>
        <p:spPr>
          <a:xfrm xmlns:a="http://schemas.openxmlformats.org/drawingml/2006/main">
            <a:off x="609600" y="6362700"/>
            <a:ext cx="1043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200" b="0" i="0">
                <a:solidFill>
                  <a:srgbClr val="59665F"/>
                </a:solidFill>
                <a:latin typeface="Times New Roman"/>
                <a:ea typeface="Times New Roman"/>
                <a:cs typeface="Times New Roman"/>
              </a:defRPr>
            </a:pPr>
            <a:r>
              <a:rPr sz="1200" b="0" i="0" u="none">
                <a:solidFill>
                  <a:srgbClr val="59665F"/>
                </a:solidFill>
                <a:latin typeface="Times New Roman"/>
                <a:ea typeface="Times New Roman"/>
                <a:cs typeface="Times New Roman"/>
              </a:rPr>
              <a:t>Sources: </a:t>
            </a:r>
            <a:r>
              <a:rPr sz="1200" b="0" i="0" u="sng">
                <a:solidFill>
                  <a:srgbClr val="2469A0"/>
                </a:solidFill>
                <a:latin typeface="Times New Roman"/>
                <a:ea typeface="Times New Roman"/>
                <a:cs typeface="Times New Roman"/>
                <a:hlinkClick xmlns:r="http://schemas.openxmlformats.org/officeDocument/2006/relationships" r:id="R1dab8647840c412e"/>
              </a:rPr>
              <a:t>PR #24</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4bf285fa82b64f63"/>
              </a:rPr>
              <a:t>PR #29</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57a128b77a2b4249"/>
              </a:rPr>
              <a:t>PR #33</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fb6f381f460640f0"/>
              </a:rPr>
              <a:t>PR #34</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9f14e0f9e74944b7"/>
              </a:rPr>
              <a:t>PR #36</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3ccd7360febd4e67"/>
              </a:rPr>
              <a:t>Backlog</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6f201497800945cc"/>
              </a:rPr>
              <a:t>Week 5 report</a:t>
            </a:r>
          </a:p>
        </p:txBody>
      </p:sp>
      <p:sp>
        <p:nvSpPr>
          <p:cNvPr id="6" name="02">
            <a:extLst xmlns:a="http://schemas.openxmlformats.org/drawingml/2006/main">
              <a:ext uri="{FF2B5EF4-FFF2-40B4-BE49-F238E27FC236}">
                <a16:creationId xmlns:a16="http://schemas.microsoft.com/office/drawing/2014/main" id="{4C2FA047-CFEC-4DC9-A22B-C3F544239DE2}"/>
              </a:ext>
            </a:extLst>
          </p:cNvPr>
          <p:cNvSpPr>
            <a:spLocks xmlns:a="http://schemas.openxmlformats.org/drawingml/2006/main" noGrp="1"/>
          </p:cNvSpPr>
          <p:nvPr/>
        </p:nvSpPr>
        <p:spPr>
          <a:xfrm xmlns:a="http://schemas.openxmlformats.org/drawingml/2006/main">
            <a:off x="11239500" y="63722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spcBef>
                <a:spcPts val="0"/>
              </a:spcBef>
              <a:spcAft>
                <a:spcPts val="0"/>
              </a:spcAft>
              <a:defRPr sz="1425" b="0" i="0">
                <a:solidFill>
                  <a:srgbClr val="59665F"/>
                </a:solidFill>
                <a:latin typeface="Times New Roman"/>
                <a:ea typeface="Times New Roman"/>
                <a:cs typeface="Times New Roman"/>
              </a:defRPr>
            </a:pPr>
            <a:r>
              <a:rPr sz="1425" b="0" i="0" u="none">
                <a:solidFill>
                  <a:srgbClr val="59665F"/>
                </a:solidFill>
                <a:latin typeface="Times New Roman"/>
                <a:ea typeface="Times New Roman"/>
                <a:cs typeface="Times New Roman"/>
              </a:rPr>
              <a:t>02</a:t>
            </a:r>
          </a:p>
        </p:txBody>
      </p:sp>
      <p:sp>
        <p:nvSpPr>
          <p:cNvPr id="7" name="7">
            <a:extLst xmlns:a="http://schemas.openxmlformats.org/drawingml/2006/main">
              <a:ext uri="{FF2B5EF4-FFF2-40B4-BE49-F238E27FC236}">
                <a16:creationId xmlns:a16="http://schemas.microsoft.com/office/drawing/2014/main" id="{2EA3A30F-3DB0-4B21-BAB2-3BB987F948A3}"/>
              </a:ext>
            </a:extLst>
          </p:cNvPr>
          <p:cNvSpPr>
            <a:spLocks xmlns:a="http://schemas.openxmlformats.org/drawingml/2006/main" noGrp="1"/>
          </p:cNvSpPr>
          <p:nvPr/>
        </p:nvSpPr>
        <p:spPr>
          <a:xfrm xmlns:a="http://schemas.openxmlformats.org/drawingml/2006/main">
            <a:off x="609600" y="1790700"/>
            <a:ext cx="38862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3150" b="1" i="0">
                <a:solidFill>
                  <a:srgbClr val="173F32"/>
                </a:solidFill>
                <a:latin typeface="Times New Roman"/>
                <a:ea typeface="Times New Roman"/>
                <a:cs typeface="Times New Roman"/>
              </a:defRPr>
            </a:pPr>
            <a:r>
              <a:rPr sz="3150" b="1" i="0" u="none">
                <a:solidFill>
                  <a:srgbClr val="173F32"/>
                </a:solidFill>
                <a:latin typeface="Times New Roman"/>
                <a:ea typeface="Times New Roman"/>
                <a:cs typeface="Times New Roman"/>
              </a:rPr>
              <a:t>7 image views</a:t>
            </a:r>
          </a:p>
        </p:txBody>
      </p:sp>
      <p:sp>
        <p:nvSpPr>
          <p:cNvPr id="8" name="2D modes connected">
            <a:extLst xmlns:a="http://schemas.openxmlformats.org/drawingml/2006/main">
              <a:ext uri="{FF2B5EF4-FFF2-40B4-BE49-F238E27FC236}">
                <a16:creationId xmlns:a16="http://schemas.microsoft.com/office/drawing/2014/main" id="{D78AE304-9C60-4D0F-AECA-0061022168A9}"/>
              </a:ext>
            </a:extLst>
          </p:cNvPr>
          <p:cNvSpPr>
            <a:spLocks xmlns:a="http://schemas.openxmlformats.org/drawingml/2006/main" noGrp="1"/>
          </p:cNvSpPr>
          <p:nvPr/>
        </p:nvSpPr>
        <p:spPr>
          <a:xfrm xmlns:a="http://schemas.openxmlformats.org/drawingml/2006/main">
            <a:off x="609600" y="2447925"/>
            <a:ext cx="3886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2175" b="1" i="0">
                <a:solidFill>
                  <a:srgbClr val="293730"/>
                </a:solidFill>
                <a:latin typeface="Times New Roman"/>
                <a:ea typeface="Times New Roman"/>
                <a:cs typeface="Times New Roman"/>
              </a:defRPr>
            </a:pPr>
            <a:r>
              <a:rPr sz="2175" b="1" i="0" u="none">
                <a:solidFill>
                  <a:srgbClr val="293730"/>
                </a:solidFill>
                <a:latin typeface="Times New Roman"/>
                <a:ea typeface="Times New Roman"/>
                <a:cs typeface="Times New Roman"/>
              </a:rPr>
              <a:t>RGB + six vegetation indices</a:t>
            </a:r>
          </a:p>
        </p:txBody>
      </p:sp>
      <p:sp>
        <p:nvSpPr>
          <p:cNvPr id="9" name="RGB plus six vegetation indices; pixel values">
            <a:extLst xmlns:a="http://schemas.openxmlformats.org/drawingml/2006/main">
              <a:ext uri="{FF2B5EF4-FFF2-40B4-BE49-F238E27FC236}">
                <a16:creationId xmlns:a16="http://schemas.microsoft.com/office/drawing/2014/main" id="{77BEF343-89E6-4C07-9393-4345CE0A8577}"/>
              </a:ext>
            </a:extLst>
          </p:cNvPr>
          <p:cNvSpPr>
            <a:spLocks xmlns:a="http://schemas.openxmlformats.org/drawingml/2006/main" noGrp="1"/>
          </p:cNvSpPr>
          <p:nvPr/>
        </p:nvSpPr>
        <p:spPr>
          <a:xfrm xmlns:a="http://schemas.openxmlformats.org/drawingml/2006/main">
            <a:off x="609600" y="3209925"/>
            <a:ext cx="3886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950" b="0" i="0">
                <a:solidFill>
                  <a:srgbClr val="293730"/>
                </a:solidFill>
                <a:latin typeface="Times New Roman"/>
                <a:ea typeface="Times New Roman"/>
                <a:cs typeface="Times New Roman"/>
              </a:defRPr>
            </a:pPr>
            <a:r>
              <a:rPr sz="1950" b="0" i="0" u="none">
                <a:solidFill>
                  <a:srgbClr val="293730"/>
                </a:solidFill>
                <a:latin typeface="Times New Roman"/>
                <a:ea typeface="Times New Roman"/>
                <a:cs typeface="Times New Roman"/>
              </a:rPr>
              <a:t>Inspect pixels and spectra.</a:t>
            </a:r>
          </a:p>
          <a:p xmlns:a="http://schemas.openxmlformats.org/drawingml/2006/main">
            <a:pPr algn="l">
              <a:spcBef>
                <a:spcPts val="0"/>
              </a:spcBef>
              <a:spcAft>
                <a:spcPts val="0"/>
              </a:spcAft>
              <a:defRPr sz="1950" b="0" i="0">
                <a:solidFill>
                  <a:srgbClr val="293730"/>
                </a:solidFill>
                <a:latin typeface="Times New Roman"/>
                <a:ea typeface="Times New Roman"/>
                <a:cs typeface="Times New Roman"/>
              </a:defRPr>
            </a:pPr>
            <a:r>
              <a:rPr sz="1950" b="0" i="0" u="none">
                <a:solidFill>
                  <a:srgbClr val="293730"/>
                </a:solidFill>
                <a:latin typeface="Times New Roman"/>
                <a:ea typeface="Times New Roman"/>
                <a:cs typeface="Times New Roman"/>
              </a:rPr>
              <a:t>Save the current view.</a:t>
            </a:r>
          </a:p>
        </p:txBody>
      </p:sp>
      <p:sp>
        <p:nvSpPr>
          <p:cNvPr id="14" name="Real SR inference">
            <a:extLst xmlns:a="http://schemas.openxmlformats.org/drawingml/2006/main">
              <a:ext uri="{FF2B5EF4-FFF2-40B4-BE49-F238E27FC236}">
                <a16:creationId xmlns:a16="http://schemas.microsoft.com/office/drawing/2014/main" id="{59435005-2408-400C-A67E-5B24508EE204}"/>
              </a:ext>
            </a:extLst>
          </p:cNvPr>
          <p:cNvSpPr>
            <a:spLocks xmlns:a="http://schemas.openxmlformats.org/drawingml/2006/main" noGrp="1"/>
          </p:cNvSpPr>
          <p:nvPr/>
        </p:nvSpPr>
        <p:spPr>
          <a:xfrm xmlns:a="http://schemas.openxmlformats.org/drawingml/2006/main">
            <a:off x="609600" y="4276725"/>
            <a:ext cx="3886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2400" b="1" i="0">
                <a:solidFill>
                  <a:srgbClr val="173F32"/>
                </a:solidFill>
                <a:latin typeface="Times New Roman"/>
                <a:ea typeface="Times New Roman"/>
                <a:cs typeface="Times New Roman"/>
              </a:defRPr>
            </a:pPr>
            <a:r>
              <a:rPr sz="2400" b="1" i="0" u="none">
                <a:solidFill>
                  <a:srgbClr val="173F32"/>
                </a:solidFill>
                <a:latin typeface="Times New Roman"/>
                <a:ea typeface="Times New Roman"/>
                <a:cs typeface="Times New Roman"/>
              </a:rPr>
              <a:t>Also finished</a:t>
            </a:r>
          </a:p>
        </p:txBody>
      </p:sp>
      <p:sp>
        <p:nvSpPr>
          <p:cNvPr id="15" name="480-band inference with progress, cancel and ">
            <a:extLst xmlns:a="http://schemas.openxmlformats.org/drawingml/2006/main">
              <a:ext uri="{FF2B5EF4-FFF2-40B4-BE49-F238E27FC236}">
                <a16:creationId xmlns:a16="http://schemas.microsoft.com/office/drawing/2014/main" id="{54FF80F0-AD0F-41A1-8561-314D45115AEC}"/>
              </a:ext>
            </a:extLst>
          </p:cNvPr>
          <p:cNvSpPr>
            <a:spLocks xmlns:a="http://schemas.openxmlformats.org/drawingml/2006/main" noGrp="1"/>
          </p:cNvSpPr>
          <p:nvPr/>
        </p:nvSpPr>
        <p:spPr>
          <a:xfrm xmlns:a="http://schemas.openxmlformats.org/drawingml/2006/main">
            <a:off x="609600" y="4762500"/>
            <a:ext cx="3886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950" b="0" i="0">
                <a:solidFill>
                  <a:srgbClr val="293730"/>
                </a:solidFill>
                <a:latin typeface="Times New Roman"/>
                <a:ea typeface="Times New Roman"/>
                <a:cs typeface="Times New Roman"/>
              </a:defRPr>
            </a:pPr>
            <a:r>
              <a:rPr sz="1950" b="0" i="0" u="none">
                <a:solidFill>
                  <a:srgbClr val="293730"/>
                </a:solidFill>
                <a:latin typeface="Times New Roman"/>
                <a:ea typeface="Times New Roman"/>
                <a:cs typeface="Times New Roman"/>
              </a:rPr>
              <a:t>3D Hypercube, 2× SR</a:t>
            </a:r>
          </a:p>
          <a:p xmlns:a="http://schemas.openxmlformats.org/drawingml/2006/main">
            <a:pPr algn="l">
              <a:spcBef>
                <a:spcPts val="0"/>
              </a:spcBef>
              <a:spcAft>
                <a:spcPts val="0"/>
              </a:spcAft>
              <a:defRPr sz="1950" b="0" i="0">
                <a:solidFill>
                  <a:srgbClr val="293730"/>
                </a:solidFill>
                <a:latin typeface="Times New Roman"/>
                <a:ea typeface="Times New Roman"/>
                <a:cs typeface="Times New Roman"/>
              </a:defRPr>
            </a:pPr>
            <a:r>
              <a:rPr sz="1950" b="0" i="0" u="none">
                <a:solidFill>
                  <a:srgbClr val="293730"/>
                </a:solidFill>
                <a:latin typeface="Times New Roman"/>
                <a:ea typeface="Times New Roman"/>
                <a:cs typeface="Times New Roman"/>
              </a:rPr>
              <a:t>and classification.</a:t>
            </a:r>
          </a:p>
        </p:txBody>
      </p:sp>
      <p:sp>
        <p:nvSpPr>
          <p:cNvPr id="18" name="Calibration, scientific accuracy and target-p">
            <a:extLst xmlns:a="http://schemas.openxmlformats.org/drawingml/2006/main">
              <a:ext uri="{FF2B5EF4-FFF2-40B4-BE49-F238E27FC236}">
                <a16:creationId xmlns:a16="http://schemas.microsoft.com/office/drawing/2014/main" id="{AE9C2CDC-AAB3-42C8-9703-A9FE5853708B}"/>
              </a:ext>
            </a:extLst>
          </p:cNvPr>
          <p:cNvSpPr>
            <a:spLocks xmlns:a="http://schemas.openxmlformats.org/drawingml/2006/main" noGrp="1"/>
          </p:cNvSpPr>
          <p:nvPr/>
        </p:nvSpPr>
        <p:spPr>
          <a:xfrm xmlns:a="http://schemas.openxmlformats.org/drawingml/2006/main">
            <a:off x="609600" y="5876925"/>
            <a:ext cx="10972800" cy="333375"/>
          </a:xfrm>
          <a:prstGeom xmlns:a="http://schemas.openxmlformats.org/drawingml/2006/main" prst="rect">
            <a:avLst/>
          </a:prstGeom>
          <a:solidFill xmlns:a="http://schemas.openxmlformats.org/drawingml/2006/main">
            <a:srgbClr val="EDF2EE"/>
          </a:solidFill>
          <a:ln xmlns:a="http://schemas.openxmlformats.org/drawingml/2006/main" w="0">
            <a:noFill/>
          </a:ln>
        </p:spPr>
        <p:txBody>
          <a:bodyPr xmlns:a="http://schemas.openxmlformats.org/drawingml/2006/main" wrap="square" lIns="133350" tIns="38100" rIns="133350" bIns="38100" anchor="ctr">
            <a:noAutofit/>
          </a:bodyPr>
          <a:lstStyle xmlns:a="http://schemas.openxmlformats.org/drawingml/2006/main"/>
          <a:p xmlns:a="http://schemas.openxmlformats.org/drawingml/2006/main">
            <a:pPr algn="l">
              <a:spcBef>
                <a:spcPts val="0"/>
              </a:spcBef>
              <a:spcAft>
                <a:spcPts val="0"/>
              </a:spcAft>
              <a:defRPr sz="1800" b="0" i="0">
                <a:solidFill>
                  <a:srgbClr val="173F32"/>
                </a:solidFill>
                <a:latin typeface="Times New Roman"/>
                <a:ea typeface="Times New Roman"/>
                <a:cs typeface="Times New Roman"/>
              </a:defRPr>
            </a:pPr>
            <a:r>
              <a:rPr sz="1800" b="0" i="0" u="none">
                <a:solidFill>
                  <a:srgbClr val="173F32"/>
                </a:solidFill>
                <a:latin typeface="Times New Roman"/>
                <a:ea typeface="Times New Roman"/>
                <a:cs typeface="Times New Roman"/>
              </a:rPr>
              <a:t>We also fixed crop scaling and added tests and GitHub checks.</a:t>
            </a:r>
          </a:p>
        </p:txBody>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65af95a637b948d9"/>
          <a:stretch xmlns:a="http://schemas.openxmlformats.org/drawingml/2006/main"/>
        </p:blipFill>
        <p:spPr>
          <a:xfrm xmlns:a="http://schemas.openxmlformats.org/drawingml/2006/main">
            <a:off x="5029200" y="1619250"/>
            <a:ext cx="6553200" cy="4095750"/>
          </a:xfrm>
          <a:prstGeom xmlns:a="http://schemas.openxmlformats.org/drawingml/2006/main" prst="rect">
            <a:avLst/>
          </a:prstGeom>
        </p:spPr>
      </p:pic>
    </p:spTree>
    <p:extLst>
      <p:ext uri="{BB962C8B-B14F-4D97-AF65-F5344CB8AC3E}">
        <p14:creationId xmlns:p14="http://schemas.microsoft.com/office/powerpoint/2010/main" val="1053261282"/>
      </p:ext>
    </p:extLst>
  </p:cSld>
</p:sld>
</file>

<file path=ppt/slides/slide3.xml><?xml version="1.0" encoding="utf-8"?>
<p:sld xmlns:p="http://schemas.openxmlformats.org/presentationml/2006/main">
  <p:cSld>
    <p:bg>
      <p:bgPr>
        <a:solidFill xmlns:a="http://schemas.openxmlformats.org/drawingml/2006/main">
          <a:srgbClr val="FBFBF8"/>
        </a:solidFill>
      </p:bgPr>
    </p:bg>
    <p:spTree>
      <p:nvGrpSpPr>
        <p:cNvPr id="1" name=""/>
        <p:cNvGrpSpPr/>
        <p:nvPr/>
      </p:nvGrpSpPr>
      <p:grpSpPr>
        <a:xfrm xmlns:a="http://schemas.openxmlformats.org/drawingml/2006/main"/>
      </p:grpSpPr>
      <p:sp>
        <p:nvSpPr>
          <p:cNvPr id="29" name="WHAT WE DELIVERED">
            <a:extLst xmlns:a="http://schemas.openxmlformats.org/drawingml/2006/main">
              <a:ext uri="{FF2B5EF4-FFF2-40B4-BE49-F238E27FC236}">
                <a16:creationId xmlns:a16="http://schemas.microsoft.com/office/drawing/2014/main" id="{9B8D79A1-EB82-4B24-AA2A-E6EB77B7C71F}"/>
              </a:ext>
            </a:extLst>
          </p:cNvPr>
          <p:cNvSpPr>
            <a:spLocks xmlns:a="http://schemas.openxmlformats.org/drawingml/2006/main" noGrp="1"/>
          </p:cNvSpPr>
          <p:nvPr/>
        </p:nvSpPr>
        <p:spPr>
          <a:xfrm xmlns:a="http://schemas.openxmlformats.org/drawingml/2006/main">
            <a:off x="609600" y="390525"/>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350" b="1" i="0">
                <a:solidFill>
                  <a:srgbClr val="173F32"/>
                </a:solidFill>
                <a:latin typeface="Times New Roman"/>
                <a:ea typeface="Times New Roman"/>
                <a:cs typeface="Times New Roman"/>
              </a:defRPr>
            </a:pPr>
            <a:r>
              <a:rPr sz="1350" b="1" i="0" u="none">
                <a:solidFill>
                  <a:srgbClr val="173F32"/>
                </a:solidFill>
                <a:latin typeface="Times New Roman"/>
                <a:ea typeface="Times New Roman"/>
                <a:cs typeface="Times New Roman"/>
              </a:rPr>
              <a:t>WHAT WE DELIVERED</a:t>
            </a:r>
          </a:p>
        </p:txBody>
      </p:sp>
      <p:sp>
        <p:nvSpPr>
          <p:cNvPr id="2" name="Useful features, with clear limits">
            <a:extLst xmlns:a="http://schemas.openxmlformats.org/drawingml/2006/main">
              <a:ext uri="{FF2B5EF4-FFF2-40B4-BE49-F238E27FC236}">
                <a16:creationId xmlns:a16="http://schemas.microsoft.com/office/drawing/2014/main" id="{0E554521-997A-40D5-ADB9-82AD90378556}"/>
              </a:ext>
            </a:extLst>
          </p:cNvPr>
          <p:cNvSpPr>
            <a:spLocks xmlns:a="http://schemas.openxmlformats.org/drawingml/2006/main" noGrp="1"/>
          </p:cNvSpPr>
          <p:nvPr/>
        </p:nvSpPr>
        <p:spPr>
          <a:xfrm xmlns:a="http://schemas.openxmlformats.org/drawingml/2006/main">
            <a:off x="609600" y="8001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3300" b="1" i="0">
                <a:solidFill>
                  <a:srgbClr val="173F32"/>
                </a:solidFill>
                <a:latin typeface="Arial"/>
                <a:ea typeface="Arial"/>
                <a:cs typeface="Arial"/>
              </a:defRPr>
            </a:pPr>
            <a:r>
              <a:rPr sz="3300" b="1" i="0" u="none">
                <a:solidFill>
                  <a:srgbClr val="173F32"/>
                </a:solidFill>
                <a:latin typeface="Arial"/>
                <a:ea typeface="Arial"/>
                <a:cs typeface="Arial"/>
              </a:rPr>
              <a:t>Hypercube and SR in the app</a:t>
            </a:r>
          </a:p>
        </p:txBody>
      </p:sp>
      <p:sp>
        <p:nvSpPr>
          <p:cNvPr id="3" name="直线连接符 2">
            <a:extLst xmlns:a="http://schemas.openxmlformats.org/drawingml/2006/main">
              <a:ext uri="{FF2B5EF4-FFF2-40B4-BE49-F238E27FC236}">
                <a16:creationId xmlns:a16="http://schemas.microsoft.com/office/drawing/2014/main" id="{B59B69C2-C88C-49F6-A066-7F31D5DC4D19}"/>
              </a:ext>
            </a:extLst>
          </p:cNvPr>
          <p:cNvSpPr>
            <a:spLocks xmlns:a="http://schemas.openxmlformats.org/drawingml/2006/main" noGrp="1"/>
          </p:cNvSpPr>
          <p:nvPr/>
        </p:nvSpPr>
        <p:spPr>
          <a:xfrm xmlns:a="http://schemas.openxmlformats.org/drawingml/2006/main">
            <a:off x="609600" y="6286500"/>
            <a:ext cx="10972800" cy="0"/>
          </a:xfrm>
          <a:prstGeom xmlns:a="http://schemas.openxmlformats.org/drawingml/2006/main" prst="line">
            <a:avLst/>
          </a:prstGeom>
          <a:noFill xmlns:a="http://schemas.openxmlformats.org/drawingml/2006/main"/>
          <a:ln xmlns:a="http://schemas.openxmlformats.org/drawingml/2006/main" w="9525">
            <a:solidFill>
              <a:srgbClr val="CCD5CF"/>
            </a:solidFill>
            <a:prstDash val="solid"/>
          </a:ln>
        </p:spPr>
      </p:sp>
      <p:sp>
        <p:nvSpPr>
          <p:cNvPr id="4" name="LEAF ANALYZER  /  SPRINT 5">
            <a:extLst xmlns:a="http://schemas.openxmlformats.org/drawingml/2006/main">
              <a:ext uri="{FF2B5EF4-FFF2-40B4-BE49-F238E27FC236}">
                <a16:creationId xmlns:a16="http://schemas.microsoft.com/office/drawing/2014/main" id="{F2160B15-4A32-475C-89A3-BC490F0F9152}"/>
              </a:ext>
            </a:extLst>
          </p:cNvPr>
          <p:cNvSpPr>
            <a:spLocks xmlns:a="http://schemas.openxmlformats.org/drawingml/2006/main" noGrp="1"/>
          </p:cNvSpPr>
          <p:nvPr/>
        </p:nvSpPr>
        <p:spPr>
          <a:xfrm xmlns:a="http://schemas.openxmlformats.org/drawingml/2006/main">
            <a:off x="8572500" y="400050"/>
            <a:ext cx="3009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spcBef>
                <a:spcPts val="0"/>
              </a:spcBef>
              <a:spcAft>
                <a:spcPts val="0"/>
              </a:spcAft>
              <a:defRPr sz="1200" b="0" i="0">
                <a:solidFill>
                  <a:srgbClr val="59665F"/>
                </a:solidFill>
                <a:latin typeface="Times New Roman"/>
                <a:ea typeface="Times New Roman"/>
                <a:cs typeface="Times New Roman"/>
              </a:defRPr>
            </a:pPr>
            <a:r>
              <a:rPr sz="1200" b="0" i="0" u="none">
                <a:solidFill>
                  <a:srgbClr val="59665F"/>
                </a:solidFill>
                <a:latin typeface="Times New Roman"/>
                <a:ea typeface="Times New Roman"/>
                <a:cs typeface="Times New Roman"/>
              </a:rPr>
              <a:t>LEAF ANALYZER  /  SPRINT 5</a:t>
            </a:r>
          </a:p>
        </p:txBody>
      </p:sp>
      <p:sp>
        <p:nvSpPr>
          <p:cNvPr id="5" name="Merged code and tests • PRs #24, #29–34, #36">
            <a:extLst xmlns:a="http://schemas.openxmlformats.org/drawingml/2006/main">
              <a:ext uri="{FF2B5EF4-FFF2-40B4-BE49-F238E27FC236}">
                <a16:creationId xmlns:a16="http://schemas.microsoft.com/office/drawing/2014/main" id="{930B309F-33A2-467D-9BAA-05C94C69FC44}"/>
              </a:ext>
            </a:extLst>
          </p:cNvPr>
          <p:cNvSpPr>
            <a:spLocks xmlns:a="http://schemas.openxmlformats.org/drawingml/2006/main" noGrp="1"/>
          </p:cNvSpPr>
          <p:nvPr/>
        </p:nvSpPr>
        <p:spPr>
          <a:xfrm xmlns:a="http://schemas.openxmlformats.org/drawingml/2006/main">
            <a:off x="609600" y="6362700"/>
            <a:ext cx="1043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200" b="0" i="0">
                <a:solidFill>
                  <a:srgbClr val="59665F"/>
                </a:solidFill>
                <a:latin typeface="Times New Roman"/>
                <a:ea typeface="Times New Roman"/>
                <a:cs typeface="Times New Roman"/>
              </a:defRPr>
            </a:pPr>
            <a:r>
              <a:rPr sz="1200" b="0" i="0" u="none">
                <a:solidFill>
                  <a:srgbClr val="59665F"/>
                </a:solidFill>
                <a:latin typeface="Times New Roman"/>
                <a:ea typeface="Times New Roman"/>
                <a:cs typeface="Times New Roman"/>
              </a:rPr>
              <a:t>Sources: </a:t>
            </a:r>
            <a:r>
              <a:rPr sz="1200" b="0" i="0" u="sng">
                <a:solidFill>
                  <a:srgbClr val="2469A0"/>
                </a:solidFill>
                <a:latin typeface="Times New Roman"/>
                <a:ea typeface="Times New Roman"/>
                <a:cs typeface="Times New Roman"/>
                <a:hlinkClick xmlns:r="http://schemas.openxmlformats.org/officeDocument/2006/relationships" r:id="R15151abbd50049a4"/>
              </a:rPr>
              <a:t>PR #18</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4b425deb664d441b"/>
              </a:rPr>
              <a:t>PR #24</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30974f41ca9f473d"/>
              </a:rPr>
              <a:t>PR #29</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e4ae3656b06a4a42"/>
              </a:rPr>
              <a:t>PR #30</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6ceecdd62ff24a6e"/>
              </a:rPr>
              <a:t>PR #31</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3b6b3494b1f44416"/>
              </a:rPr>
              <a:t>PR #32</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fd2dd5ce9d50481d"/>
              </a:rPr>
              <a:t>PR #33</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3ce741dd60284102"/>
              </a:rPr>
              <a:t>PR #34</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14b7a5c1c69a485e"/>
              </a:rPr>
              <a:t>PR #36</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22967031dbd04d78"/>
              </a:rPr>
              <a:t>Classification API</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0b30cb690f584449"/>
              </a:rPr>
              <a:t>SR setup</a:t>
            </a:r>
          </a:p>
        </p:txBody>
      </p:sp>
      <p:sp>
        <p:nvSpPr>
          <p:cNvPr id="6" name="03">
            <a:extLst xmlns:a="http://schemas.openxmlformats.org/drawingml/2006/main">
              <a:ext uri="{FF2B5EF4-FFF2-40B4-BE49-F238E27FC236}">
                <a16:creationId xmlns:a16="http://schemas.microsoft.com/office/drawing/2014/main" id="{08EEB19E-9F60-42B2-BE90-C742734CDC6E}"/>
              </a:ext>
            </a:extLst>
          </p:cNvPr>
          <p:cNvSpPr>
            <a:spLocks xmlns:a="http://schemas.openxmlformats.org/drawingml/2006/main" noGrp="1"/>
          </p:cNvSpPr>
          <p:nvPr/>
        </p:nvSpPr>
        <p:spPr>
          <a:xfrm xmlns:a="http://schemas.openxmlformats.org/drawingml/2006/main">
            <a:off x="11239500" y="63722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spcBef>
                <a:spcPts val="0"/>
              </a:spcBef>
              <a:spcAft>
                <a:spcPts val="0"/>
              </a:spcAft>
              <a:defRPr sz="1425" b="0" i="0">
                <a:solidFill>
                  <a:srgbClr val="59665F"/>
                </a:solidFill>
                <a:latin typeface="Times New Roman"/>
                <a:ea typeface="Times New Roman"/>
                <a:cs typeface="Times New Roman"/>
              </a:defRPr>
            </a:pPr>
            <a:r>
              <a:rPr sz="1425" b="0" i="0" u="none">
                <a:solidFill>
                  <a:srgbClr val="59665F"/>
                </a:solidFill>
                <a:latin typeface="Times New Roman"/>
                <a:ea typeface="Times New Roman"/>
                <a:cs typeface="Times New Roman"/>
              </a:rPr>
              <a:t>03</a:t>
            </a:r>
          </a:p>
        </p:txBody>
      </p:sp>
      <p:sp>
        <p:nvSpPr>
          <p:cNvPr id="8" name="DELIVERED">
            <a:extLst xmlns:a="http://schemas.openxmlformats.org/drawingml/2006/main">
              <a:ext uri="{FF2B5EF4-FFF2-40B4-BE49-F238E27FC236}">
                <a16:creationId xmlns:a16="http://schemas.microsoft.com/office/drawing/2014/main" id="{8D846A83-7CA0-4D72-BF04-FA9F2DA65DD0}"/>
              </a:ext>
            </a:extLst>
          </p:cNvPr>
          <p:cNvSpPr>
            <a:spLocks xmlns:a="http://schemas.openxmlformats.org/drawingml/2006/main" noGrp="1"/>
          </p:cNvSpPr>
          <p:nvPr/>
        </p:nvSpPr>
        <p:spPr>
          <a:xfrm xmlns:a="http://schemas.openxmlformats.org/drawingml/2006/main">
            <a:off x="609600" y="1581150"/>
            <a:ext cx="53149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2400" b="1" i="0">
                <a:solidFill>
                  <a:srgbClr val="173F32"/>
                </a:solidFill>
                <a:latin typeface="Times New Roman"/>
                <a:ea typeface="Times New Roman"/>
                <a:cs typeface="Times New Roman"/>
              </a:defRPr>
            </a:pPr>
            <a:r>
              <a:rPr sz="2400" b="1" i="0" u="none">
                <a:solidFill>
                  <a:srgbClr val="173F32"/>
                </a:solidFill>
                <a:latin typeface="Times New Roman"/>
                <a:ea typeface="Times New Roman"/>
                <a:cs typeface="Times New Roman"/>
              </a:rPr>
              <a:t>3D Hypercube</a:t>
            </a:r>
          </a:p>
        </p:txBody>
      </p:sp>
      <p:sp>
        <p:nvSpPr>
          <p:cNvPr id="9" name="VALUE IN THE WORKFLOW">
            <a:extLst xmlns:a="http://schemas.openxmlformats.org/drawingml/2006/main">
              <a:ext uri="{FF2B5EF4-FFF2-40B4-BE49-F238E27FC236}">
                <a16:creationId xmlns:a16="http://schemas.microsoft.com/office/drawing/2014/main" id="{BE0E39F9-296B-43AE-B198-70879032DA11}"/>
              </a:ext>
            </a:extLst>
          </p:cNvPr>
          <p:cNvSpPr>
            <a:spLocks xmlns:a="http://schemas.openxmlformats.org/drawingml/2006/main" noGrp="1"/>
          </p:cNvSpPr>
          <p:nvPr/>
        </p:nvSpPr>
        <p:spPr>
          <a:xfrm xmlns:a="http://schemas.openxmlformats.org/drawingml/2006/main">
            <a:off x="6267450" y="1581150"/>
            <a:ext cx="53149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2400" b="1" i="0">
                <a:solidFill>
                  <a:srgbClr val="173F32"/>
                </a:solidFill>
                <a:latin typeface="Times New Roman"/>
                <a:ea typeface="Times New Roman"/>
                <a:cs typeface="Times New Roman"/>
              </a:defRPr>
            </a:pPr>
            <a:r>
              <a:rPr sz="2400" b="1" i="0" u="none">
                <a:solidFill>
                  <a:srgbClr val="173F32"/>
                </a:solidFill>
                <a:latin typeface="Times New Roman"/>
                <a:ea typeface="Times New Roman"/>
                <a:cs typeface="Times New Roman"/>
              </a:rPr>
              <a:t>Super Resolution</a:t>
            </a:r>
          </a:p>
        </p:txBody>
      </p:sp>
      <p:sp>
        <p:nvSpPr>
          <p:cNvPr id="13" name="Switch modes, inspect spectra and&#10;save the se">
            <a:extLst xmlns:a="http://schemas.openxmlformats.org/drawingml/2006/main">
              <a:ext uri="{FF2B5EF4-FFF2-40B4-BE49-F238E27FC236}">
                <a16:creationId xmlns:a16="http://schemas.microsoft.com/office/drawing/2014/main" id="{FADEE80B-97C2-43EA-AF44-308029F5C336}"/>
              </a:ext>
            </a:extLst>
          </p:cNvPr>
          <p:cNvSpPr>
            <a:spLocks xmlns:a="http://schemas.openxmlformats.org/drawingml/2006/main" noGrp="1"/>
          </p:cNvSpPr>
          <p:nvPr/>
        </p:nvSpPr>
        <p:spPr>
          <a:xfrm xmlns:a="http://schemas.openxmlformats.org/drawingml/2006/main">
            <a:off x="609600" y="5448300"/>
            <a:ext cx="53149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875" b="0" i="0">
                <a:solidFill>
                  <a:srgbClr val="293730"/>
                </a:solidFill>
                <a:latin typeface="Times New Roman"/>
                <a:ea typeface="Times New Roman"/>
                <a:cs typeface="Times New Roman"/>
              </a:defRPr>
            </a:pPr>
            <a:r>
              <a:rPr sz="1875" b="0" i="0" u="none">
                <a:solidFill>
                  <a:srgbClr val="293730"/>
                </a:solidFill>
                <a:latin typeface="Times New Roman"/>
                <a:ea typeface="Times New Roman"/>
                <a:cs typeface="Times New Roman"/>
              </a:rPr>
              <a:t>Rotate, zoom and save the view.</a:t>
            </a:r>
          </a:p>
        </p:txBody>
      </p:sp>
      <p:sp>
        <p:nvSpPr>
          <p:cNvPr id="17" name="Explore spatial/spectral structure;&#10;compare o">
            <a:extLst xmlns:a="http://schemas.openxmlformats.org/drawingml/2006/main">
              <a:ext uri="{FF2B5EF4-FFF2-40B4-BE49-F238E27FC236}">
                <a16:creationId xmlns:a16="http://schemas.microsoft.com/office/drawing/2014/main" id="{8474476F-CD80-49F5-B963-7101B94943B1}"/>
              </a:ext>
            </a:extLst>
          </p:cNvPr>
          <p:cNvSpPr>
            <a:spLocks xmlns:a="http://schemas.openxmlformats.org/drawingml/2006/main" noGrp="1"/>
          </p:cNvSpPr>
          <p:nvPr/>
        </p:nvSpPr>
        <p:spPr>
          <a:xfrm xmlns:a="http://schemas.openxmlformats.org/drawingml/2006/main">
            <a:off x="6267450" y="5448300"/>
            <a:ext cx="53149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875" b="0" i="0">
                <a:solidFill>
                  <a:srgbClr val="293730"/>
                </a:solidFill>
                <a:latin typeface="Times New Roman"/>
                <a:ea typeface="Times New Roman"/>
                <a:cs typeface="Times New Roman"/>
              </a:defRPr>
            </a:pPr>
            <a:r>
              <a:rPr sz="1875" b="0" i="0" u="none">
                <a:solidFill>
                  <a:srgbClr val="293730"/>
                </a:solidFill>
                <a:latin typeface="Times New Roman"/>
                <a:ea typeface="Times New Roman"/>
                <a:cs typeface="Times New Roman"/>
              </a:rPr>
              <a:t>SR demo: 192 × 192 → 384 × 384.</a:t>
            </a:r>
          </a:p>
          <a:p xmlns:a="http://schemas.openxmlformats.org/drawingml/2006/main">
            <a:pPr algn="l">
              <a:spcBef>
                <a:spcPts val="0"/>
              </a:spcBef>
              <a:spcAft>
                <a:spcPts val="0"/>
              </a:spcAft>
              <a:defRPr sz="1875" b="0" i="0">
                <a:solidFill>
                  <a:srgbClr val="293730"/>
                </a:solidFill>
                <a:latin typeface="Times New Roman"/>
                <a:ea typeface="Times New Roman"/>
                <a:cs typeface="Times New Roman"/>
              </a:defRPr>
            </a:pPr>
            <a:r>
              <a:rPr sz="1875" b="0" i="0" u="none">
                <a:solidFill>
                  <a:srgbClr val="293730"/>
                </a:solidFill>
                <a:latin typeface="Times New Roman"/>
                <a:ea typeface="Times New Roman"/>
                <a:cs typeface="Times New Roman"/>
              </a:rPr>
              <a:t>All 480 bands are kept.</a:t>
            </a:r>
          </a:p>
        </p:txBody>
      </p:sp>
      <p:sp>
        <p:nvSpPr>
          <p:cNvPr id="28" name="Limits: fixed 480-band / 2× SR; scientific qu">
            <a:extLst xmlns:a="http://schemas.openxmlformats.org/drawingml/2006/main">
              <a:ext uri="{FF2B5EF4-FFF2-40B4-BE49-F238E27FC236}">
                <a16:creationId xmlns:a16="http://schemas.microsoft.com/office/drawing/2014/main" id="{313908C3-45C6-41F4-ABE0-1450ADBFE0D0}"/>
              </a:ext>
            </a:extLst>
          </p:cNvPr>
          <p:cNvSpPr>
            <a:spLocks xmlns:a="http://schemas.openxmlformats.org/drawingml/2006/main" noGrp="1"/>
          </p:cNvSpPr>
          <p:nvPr/>
        </p:nvSpPr>
        <p:spPr>
          <a:xfrm xmlns:a="http://schemas.openxmlformats.org/drawingml/2006/main">
            <a:off x="609600" y="60198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575" b="0" i="0">
                <a:solidFill>
                  <a:srgbClr val="8C6125"/>
                </a:solidFill>
                <a:latin typeface="Times New Roman"/>
                <a:ea typeface="Times New Roman"/>
                <a:cs typeface="Times New Roman"/>
              </a:defRPr>
            </a:pPr>
            <a:r>
              <a:rPr sz="1575" b="0" i="0" u="none">
                <a:solidFill>
                  <a:srgbClr val="8C6125"/>
                </a:solidFill>
                <a:latin typeface="Times New Roman"/>
                <a:ea typeface="Times New Roman"/>
                <a:cs typeface="Times New Roman"/>
              </a:rPr>
              <a:t>These screenshots show the features running. They do not prove scientific accuracy.</a:t>
            </a:r>
          </a:p>
        </p:txBody>
      </p:sp>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ee3d110a63db4483"/>
          <a:stretch xmlns:a="http://schemas.openxmlformats.org/drawingml/2006/main"/>
        </p:blipFill>
        <p:spPr>
          <a:xfrm xmlns:a="http://schemas.openxmlformats.org/drawingml/2006/main">
            <a:off x="609600" y="2038350"/>
            <a:ext cx="5314950" cy="3321844"/>
          </a:xfrm>
          <a:prstGeom xmlns:a="http://schemas.openxmlformats.org/drawingml/2006/main" prst="rect">
            <a:avLst/>
          </a:prstGeom>
        </p:spPr>
      </p:pic>
      <p:pic>
        <p:nvPicPr>
          <p:cNvPr id="44" name=""/>
          <p:cNvPicPr>
            <a:picLocks xmlns:a="http://schemas.openxmlformats.org/drawingml/2006/main" noChangeAspect="1"/>
          </p:cNvPicPr>
          <p:nvPr/>
        </p:nvPicPr>
        <p:blipFill>
          <a:blip xmlns:r="http://schemas.openxmlformats.org/officeDocument/2006/relationships" xmlns:a="http://schemas.openxmlformats.org/drawingml/2006/main" r:embed="R8bf0bdf5b1be417f"/>
          <a:stretch xmlns:a="http://schemas.openxmlformats.org/drawingml/2006/main"/>
        </p:blipFill>
        <p:spPr>
          <a:xfrm xmlns:a="http://schemas.openxmlformats.org/drawingml/2006/main">
            <a:off x="6267450" y="2038350"/>
            <a:ext cx="5314950" cy="3321844"/>
          </a:xfrm>
          <a:prstGeom xmlns:a="http://schemas.openxmlformats.org/drawingml/2006/main" prst="rect">
            <a:avLst/>
          </a:prstGeom>
        </p:spPr>
      </p:pic>
    </p:spTree>
    <p:extLst>
      <p:ext uri="{BB962C8B-B14F-4D97-AF65-F5344CB8AC3E}">
        <p14:creationId xmlns:p14="http://schemas.microsoft.com/office/powerpoint/2010/main" val="1012557931"/>
      </p:ext>
    </p:extLst>
  </p:cSld>
</p:sld>
</file>

<file path=ppt/slides/slide4.xml><?xml version="1.0" encoding="utf-8"?>
<p:sld xmlns:p="http://schemas.openxmlformats.org/presentationml/2006/main">
  <p:cSld>
    <p:bg>
      <p:bgPr>
        <a:solidFill xmlns:a="http://schemas.openxmlformats.org/drawingml/2006/main">
          <a:srgbClr val="FBFBF8"/>
        </a:solidFill>
      </p:bgPr>
    </p:bg>
    <p:spTree>
      <p:nvGrpSpPr>
        <p:cNvPr id="1" name=""/>
        <p:cNvGrpSpPr/>
        <p:nvPr/>
      </p:nvGrpSpPr>
      <p:grpSpPr>
        <a:xfrm xmlns:a="http://schemas.openxmlformats.org/drawingml/2006/main"/>
      </p:grpSpPr>
      <p:sp>
        <p:nvSpPr>
          <p:cNvPr id="20" name="STAKEHOLDER ENGAGEMENT">
            <a:extLst xmlns:a="http://schemas.openxmlformats.org/drawingml/2006/main">
              <a:ext uri="{FF2B5EF4-FFF2-40B4-BE49-F238E27FC236}">
                <a16:creationId xmlns:a16="http://schemas.microsoft.com/office/drawing/2014/main" id="{35B7BA32-BCE1-4F0D-A85F-151A309CF47E}"/>
              </a:ext>
            </a:extLst>
          </p:cNvPr>
          <p:cNvSpPr>
            <a:spLocks xmlns:a="http://schemas.openxmlformats.org/drawingml/2006/main" noGrp="1"/>
          </p:cNvSpPr>
          <p:nvPr/>
        </p:nvSpPr>
        <p:spPr>
          <a:xfrm xmlns:a="http://schemas.openxmlformats.org/drawingml/2006/main">
            <a:off x="609600" y="390525"/>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350" b="1" i="0">
                <a:solidFill>
                  <a:srgbClr val="173F32"/>
                </a:solidFill>
                <a:latin typeface="Times New Roman"/>
                <a:ea typeface="Times New Roman"/>
                <a:cs typeface="Times New Roman"/>
              </a:defRPr>
            </a:pPr>
            <a:r>
              <a:rPr sz="1350" b="1" i="0" u="none">
                <a:solidFill>
                  <a:srgbClr val="173F32"/>
                </a:solidFill>
                <a:latin typeface="Times New Roman"/>
                <a:ea typeface="Times New Roman"/>
                <a:cs typeface="Times New Roman"/>
              </a:rPr>
              <a:t>STAKEHOLDER ENGAGEMENT</a:t>
            </a:r>
          </a:p>
        </p:txBody>
      </p:sp>
      <p:sp>
        <p:nvSpPr>
          <p:cNvPr id="2" name="Client needs are traceable to code">
            <a:extLst xmlns:a="http://schemas.openxmlformats.org/drawingml/2006/main">
              <a:ext uri="{FF2B5EF4-FFF2-40B4-BE49-F238E27FC236}">
                <a16:creationId xmlns:a16="http://schemas.microsoft.com/office/drawing/2014/main" id="{13058B7F-3613-484A-A494-5F3444F6BB2E}"/>
              </a:ext>
            </a:extLst>
          </p:cNvPr>
          <p:cNvSpPr>
            <a:spLocks xmlns:a="http://schemas.openxmlformats.org/drawingml/2006/main" noGrp="1"/>
          </p:cNvSpPr>
          <p:nvPr/>
        </p:nvSpPr>
        <p:spPr>
          <a:xfrm xmlns:a="http://schemas.openxmlformats.org/drawingml/2006/main">
            <a:off x="609600" y="8001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3300" b="1" i="0">
                <a:solidFill>
                  <a:srgbClr val="173F32"/>
                </a:solidFill>
                <a:latin typeface="Arial"/>
                <a:ea typeface="Arial"/>
                <a:cs typeface="Arial"/>
              </a:defRPr>
            </a:pPr>
            <a:r>
              <a:rPr sz="3300" b="1" i="0" u="none">
                <a:solidFill>
                  <a:srgbClr val="173F32"/>
                </a:solidFill>
                <a:latin typeface="Arial"/>
                <a:ea typeface="Arial"/>
                <a:cs typeface="Arial"/>
              </a:rPr>
              <a:t>Client feedback guided our work</a:t>
            </a:r>
          </a:p>
        </p:txBody>
      </p:sp>
      <p:sp>
        <p:nvSpPr>
          <p:cNvPr id="3" name="直线连接符 2">
            <a:extLst xmlns:a="http://schemas.openxmlformats.org/drawingml/2006/main">
              <a:ext uri="{FF2B5EF4-FFF2-40B4-BE49-F238E27FC236}">
                <a16:creationId xmlns:a16="http://schemas.microsoft.com/office/drawing/2014/main" id="{187F34BC-282A-46AD-A0EA-17B1B0B75D3D}"/>
              </a:ext>
            </a:extLst>
          </p:cNvPr>
          <p:cNvSpPr>
            <a:spLocks xmlns:a="http://schemas.openxmlformats.org/drawingml/2006/main" noGrp="1"/>
          </p:cNvSpPr>
          <p:nvPr/>
        </p:nvSpPr>
        <p:spPr>
          <a:xfrm xmlns:a="http://schemas.openxmlformats.org/drawingml/2006/main">
            <a:off x="609600" y="6286500"/>
            <a:ext cx="10972800" cy="0"/>
          </a:xfrm>
          <a:prstGeom xmlns:a="http://schemas.openxmlformats.org/drawingml/2006/main" prst="line">
            <a:avLst/>
          </a:prstGeom>
          <a:noFill xmlns:a="http://schemas.openxmlformats.org/drawingml/2006/main"/>
          <a:ln xmlns:a="http://schemas.openxmlformats.org/drawingml/2006/main" w="9525">
            <a:solidFill>
              <a:srgbClr val="CCD5CF"/>
            </a:solidFill>
            <a:prstDash val="solid"/>
          </a:ln>
        </p:spPr>
      </p:sp>
      <p:sp>
        <p:nvSpPr>
          <p:cNvPr id="4" name="LEAF ANALYZER  /  SPRINT 5">
            <a:extLst xmlns:a="http://schemas.openxmlformats.org/drawingml/2006/main">
              <a:ext uri="{FF2B5EF4-FFF2-40B4-BE49-F238E27FC236}">
                <a16:creationId xmlns:a16="http://schemas.microsoft.com/office/drawing/2014/main" id="{BFB7B212-E01F-464F-A9ED-7FE86D9A4E54}"/>
              </a:ext>
            </a:extLst>
          </p:cNvPr>
          <p:cNvSpPr>
            <a:spLocks xmlns:a="http://schemas.openxmlformats.org/drawingml/2006/main" noGrp="1"/>
          </p:cNvSpPr>
          <p:nvPr/>
        </p:nvSpPr>
        <p:spPr>
          <a:xfrm xmlns:a="http://schemas.openxmlformats.org/drawingml/2006/main">
            <a:off x="8572500" y="400050"/>
            <a:ext cx="3009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spcBef>
                <a:spcPts val="0"/>
              </a:spcBef>
              <a:spcAft>
                <a:spcPts val="0"/>
              </a:spcAft>
              <a:defRPr sz="1200" b="0" i="0">
                <a:solidFill>
                  <a:srgbClr val="59665F"/>
                </a:solidFill>
                <a:latin typeface="Times New Roman"/>
                <a:ea typeface="Times New Roman"/>
                <a:cs typeface="Times New Roman"/>
              </a:defRPr>
            </a:pPr>
            <a:r>
              <a:rPr sz="1200" b="0" i="0" u="none">
                <a:solidFill>
                  <a:srgbClr val="59665F"/>
                </a:solidFill>
                <a:latin typeface="Times New Roman"/>
                <a:ea typeface="Times New Roman"/>
                <a:cs typeface="Times New Roman"/>
              </a:rPr>
              <a:t>LEAF ANALYZER  /  SPRINT 5</a:t>
            </a:r>
          </a:p>
        </p:txBody>
      </p:sp>
      <p:sp>
        <p:nvSpPr>
          <p:cNvPr id="5" name="Client meeting 7 Aug • planning document • We">
            <a:extLst xmlns:a="http://schemas.openxmlformats.org/drawingml/2006/main">
              <a:ext uri="{FF2B5EF4-FFF2-40B4-BE49-F238E27FC236}">
                <a16:creationId xmlns:a16="http://schemas.microsoft.com/office/drawing/2014/main" id="{395F314C-735E-4E2F-8C2F-BD0E66080BD1}"/>
              </a:ext>
            </a:extLst>
          </p:cNvPr>
          <p:cNvSpPr>
            <a:spLocks xmlns:a="http://schemas.openxmlformats.org/drawingml/2006/main" noGrp="1"/>
          </p:cNvSpPr>
          <p:nvPr/>
        </p:nvSpPr>
        <p:spPr>
          <a:xfrm xmlns:a="http://schemas.openxmlformats.org/drawingml/2006/main">
            <a:off x="609600" y="6362700"/>
            <a:ext cx="1043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200" b="0" i="0">
                <a:solidFill>
                  <a:srgbClr val="59665F"/>
                </a:solidFill>
                <a:latin typeface="Times New Roman"/>
                <a:ea typeface="Times New Roman"/>
                <a:cs typeface="Times New Roman"/>
              </a:defRPr>
            </a:pPr>
            <a:r>
              <a:rPr sz="1200" b="0" i="0" u="none">
                <a:solidFill>
                  <a:srgbClr val="59665F"/>
                </a:solidFill>
                <a:latin typeface="Times New Roman"/>
                <a:ea typeface="Times New Roman"/>
                <a:cs typeface="Times New Roman"/>
              </a:rPr>
              <a:t>Sources: </a:t>
            </a:r>
            <a:r>
              <a:rPr sz="1200" b="0" i="0" u="sng">
                <a:solidFill>
                  <a:srgbClr val="2469A0"/>
                </a:solidFill>
                <a:latin typeface="Times New Roman"/>
                <a:ea typeface="Times New Roman"/>
                <a:cs typeface="Times New Roman"/>
                <a:hlinkClick xmlns:r="http://schemas.openxmlformats.org/officeDocument/2006/relationships" r:id="R73d5619d62874e69"/>
              </a:rPr>
              <a:t>Client meeting</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a0c8894f2b0944fa"/>
              </a:rPr>
              <a:t>Requirements</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4f632a4016d5479d"/>
              </a:rPr>
              <a:t>Client meeting 7</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842cf14d06e14d66"/>
              </a:rPr>
              <a:t>LEAF-152</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b9dda3a9245f4624"/>
              </a:rPr>
              <a:t>LEAF-158</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a8d92e60eb62471d"/>
              </a:rPr>
              <a:t>LEAF-149</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70d004e3147e492e"/>
              </a:rPr>
              <a:t>LEAF-154</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c362afe421d44297"/>
              </a:rPr>
              <a:t>LEAF-155</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6264d03dca4d4c56"/>
              </a:rPr>
              <a:t>Backlog</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62206a49f1464d77"/>
              </a:rPr>
              <a:t>Week 5 report</a:t>
            </a:r>
          </a:p>
        </p:txBody>
      </p:sp>
      <p:sp>
        <p:nvSpPr>
          <p:cNvPr id="6" name="04">
            <a:extLst xmlns:a="http://schemas.openxmlformats.org/drawingml/2006/main">
              <a:ext uri="{FF2B5EF4-FFF2-40B4-BE49-F238E27FC236}">
                <a16:creationId xmlns:a16="http://schemas.microsoft.com/office/drawing/2014/main" id="{7DDAE6D1-B3FB-4770-9415-F43ABB1D41AD}"/>
              </a:ext>
            </a:extLst>
          </p:cNvPr>
          <p:cNvSpPr>
            <a:spLocks xmlns:a="http://schemas.openxmlformats.org/drawingml/2006/main" noGrp="1"/>
          </p:cNvSpPr>
          <p:nvPr/>
        </p:nvSpPr>
        <p:spPr>
          <a:xfrm xmlns:a="http://schemas.openxmlformats.org/drawingml/2006/main">
            <a:off x="11239500" y="63722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spcBef>
                <a:spcPts val="0"/>
              </a:spcBef>
              <a:spcAft>
                <a:spcPts val="0"/>
              </a:spcAft>
              <a:defRPr sz="1425" b="0" i="0">
                <a:solidFill>
                  <a:srgbClr val="59665F"/>
                </a:solidFill>
                <a:latin typeface="Times New Roman"/>
                <a:ea typeface="Times New Roman"/>
                <a:cs typeface="Times New Roman"/>
              </a:defRPr>
            </a:pPr>
            <a:r>
              <a:rPr sz="1425" b="0" i="0" u="none">
                <a:solidFill>
                  <a:srgbClr val="59665F"/>
                </a:solidFill>
                <a:latin typeface="Times New Roman"/>
                <a:ea typeface="Times New Roman"/>
                <a:cs typeface="Times New Roman"/>
              </a:rPr>
              <a:t>04</a:t>
            </a:r>
          </a:p>
        </p:txBody>
      </p:sp>
      <p:sp>
        <p:nvSpPr>
          <p:cNvPr id="7" name="Sprint 4 feedback: formally track meeting act">
            <a:extLst xmlns:a="http://schemas.openxmlformats.org/drawingml/2006/main">
              <a:ext uri="{FF2B5EF4-FFF2-40B4-BE49-F238E27FC236}">
                <a16:creationId xmlns:a16="http://schemas.microsoft.com/office/drawing/2014/main" id="{405D531A-4717-4087-A135-531668F2999D}"/>
              </a:ext>
            </a:extLst>
          </p:cNvPr>
          <p:cNvSpPr>
            <a:spLocks xmlns:a="http://schemas.openxmlformats.org/drawingml/2006/main" noGrp="1"/>
          </p:cNvSpPr>
          <p:nvPr/>
        </p:nvSpPr>
        <p:spPr>
          <a:xfrm xmlns:a="http://schemas.openxmlformats.org/drawingml/2006/main">
            <a:off x="609600" y="15144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2025" b="0" i="0">
                <a:solidFill>
                  <a:srgbClr val="59665F"/>
                </a:solidFill>
                <a:latin typeface="Times New Roman"/>
                <a:ea typeface="Times New Roman"/>
                <a:cs typeface="Times New Roman"/>
              </a:defRPr>
            </a:pPr>
            <a:r>
              <a:rPr sz="2025" b="0" i="0" u="none">
                <a:solidFill>
                  <a:srgbClr val="59665F"/>
                </a:solidFill>
                <a:latin typeface="Times New Roman"/>
                <a:ea typeface="Times New Roman"/>
                <a:cs typeface="Times New Roman"/>
              </a:rPr>
              <a:t>Last sprint: write down meeting actions and report what happened.</a:t>
            </a:r>
          </a:p>
        </p:txBody>
      </p:sp>
      <p:sp>
        <p:nvSpPr>
          <p:cNvPr id="8" name="RECORDED NEED">
            <a:extLst xmlns:a="http://schemas.openxmlformats.org/drawingml/2006/main">
              <a:ext uri="{FF2B5EF4-FFF2-40B4-BE49-F238E27FC236}">
                <a16:creationId xmlns:a16="http://schemas.microsoft.com/office/drawing/2014/main" id="{28720B28-C014-46EA-827F-24CA574AC033}"/>
              </a:ext>
            </a:extLst>
          </p:cNvPr>
          <p:cNvSpPr>
            <a:spLocks xmlns:a="http://schemas.openxmlformats.org/drawingml/2006/main" noGrp="1"/>
          </p:cNvSpPr>
          <p:nvPr/>
        </p:nvSpPr>
        <p:spPr>
          <a:xfrm xmlns:a="http://schemas.openxmlformats.org/drawingml/2006/main">
            <a:off x="609600" y="2200275"/>
            <a:ext cx="3400425" cy="457200"/>
          </a:xfrm>
          <a:prstGeom xmlns:a="http://schemas.openxmlformats.org/drawingml/2006/main" prst="rect">
            <a:avLst/>
          </a:prstGeom>
          <a:solidFill xmlns:a="http://schemas.openxmlformats.org/drawingml/2006/main">
            <a:srgbClr val="173F32"/>
          </a:solidFill>
          <a:ln xmlns:a="http://schemas.openxmlformats.org/drawingml/2006/main" w="0">
            <a:noFill/>
          </a:ln>
        </p:spPr>
        <p:txBody>
          <a:bodyPr xmlns:a="http://schemas.openxmlformats.org/drawingml/2006/main" wrap="square" lIns="152400" tIns="76200" rIns="152400" bIns="76200" anchor="ctr">
            <a:noAutofit/>
          </a:bodyPr>
          <a:lstStyle xmlns:a="http://schemas.openxmlformats.org/drawingml/2006/main"/>
          <a:p xmlns:a="http://schemas.openxmlformats.org/drawingml/2006/main">
            <a:pPr algn="l">
              <a:spcBef>
                <a:spcPts val="0"/>
              </a:spcBef>
              <a:spcAft>
                <a:spcPts val="0"/>
              </a:spcAft>
              <a:defRPr sz="1650" b="1" i="0">
                <a:solidFill>
                  <a:srgbClr val="FFFFFF"/>
                </a:solidFill>
                <a:latin typeface="Times New Roman"/>
                <a:ea typeface="Times New Roman"/>
                <a:cs typeface="Times New Roman"/>
              </a:defRPr>
            </a:pPr>
            <a:r>
              <a:rPr sz="1650" b="1" i="0" u="none">
                <a:solidFill>
                  <a:srgbClr val="FFFFFF"/>
                </a:solidFill>
                <a:latin typeface="Times New Roman"/>
                <a:ea typeface="Times New Roman"/>
                <a:cs typeface="Times New Roman"/>
              </a:rPr>
              <a:t>CLIENT ASKED FOR</a:t>
            </a:r>
          </a:p>
        </p:txBody>
      </p:sp>
      <p:sp>
        <p:nvSpPr>
          <p:cNvPr id="9" name="TRACKED ACTION">
            <a:extLst xmlns:a="http://schemas.openxmlformats.org/drawingml/2006/main">
              <a:ext uri="{FF2B5EF4-FFF2-40B4-BE49-F238E27FC236}">
                <a16:creationId xmlns:a16="http://schemas.microsoft.com/office/drawing/2014/main" id="{B65FBD5B-66C6-49E0-8AB4-9168A1F3DF4B}"/>
              </a:ext>
            </a:extLst>
          </p:cNvPr>
          <p:cNvSpPr>
            <a:spLocks xmlns:a="http://schemas.openxmlformats.org/drawingml/2006/main" noGrp="1"/>
          </p:cNvSpPr>
          <p:nvPr/>
        </p:nvSpPr>
        <p:spPr>
          <a:xfrm xmlns:a="http://schemas.openxmlformats.org/drawingml/2006/main">
            <a:off x="4010025" y="2200275"/>
            <a:ext cx="3743325" cy="457200"/>
          </a:xfrm>
          <a:prstGeom xmlns:a="http://schemas.openxmlformats.org/drawingml/2006/main" prst="rect">
            <a:avLst/>
          </a:prstGeom>
          <a:solidFill xmlns:a="http://schemas.openxmlformats.org/drawingml/2006/main">
            <a:srgbClr val="173F32"/>
          </a:solidFill>
          <a:ln xmlns:a="http://schemas.openxmlformats.org/drawingml/2006/main" w="0">
            <a:noFill/>
          </a:ln>
        </p:spPr>
        <p:txBody>
          <a:bodyPr xmlns:a="http://schemas.openxmlformats.org/drawingml/2006/main" wrap="square" lIns="152400" tIns="76200" rIns="152400" bIns="76200" anchor="ctr">
            <a:noAutofit/>
          </a:bodyPr>
          <a:lstStyle xmlns:a="http://schemas.openxmlformats.org/drawingml/2006/main"/>
          <a:p xmlns:a="http://schemas.openxmlformats.org/drawingml/2006/main">
            <a:pPr algn="l">
              <a:spcBef>
                <a:spcPts val="0"/>
              </a:spcBef>
              <a:spcAft>
                <a:spcPts val="0"/>
              </a:spcAft>
              <a:defRPr sz="1650" b="1" i="0">
                <a:solidFill>
                  <a:srgbClr val="FFFFFF"/>
                </a:solidFill>
                <a:latin typeface="Times New Roman"/>
                <a:ea typeface="Times New Roman"/>
                <a:cs typeface="Times New Roman"/>
              </a:defRPr>
            </a:pPr>
            <a:r>
              <a:rPr sz="1650" b="1" i="0" u="none">
                <a:solidFill>
                  <a:srgbClr val="FFFFFF"/>
                </a:solidFill>
                <a:latin typeface="Times New Roman"/>
                <a:ea typeface="Times New Roman"/>
                <a:cs typeface="Times New Roman"/>
              </a:rPr>
              <a:t>OUR TASKS</a:t>
            </a:r>
          </a:p>
        </p:txBody>
      </p:sp>
      <p:sp>
        <p:nvSpPr>
          <p:cNvPr id="10" name="IMPLEMENTED OUTCOME">
            <a:extLst xmlns:a="http://schemas.openxmlformats.org/drawingml/2006/main">
              <a:ext uri="{FF2B5EF4-FFF2-40B4-BE49-F238E27FC236}">
                <a16:creationId xmlns:a16="http://schemas.microsoft.com/office/drawing/2014/main" id="{10723389-5955-4DB6-972D-61856A3B702F}"/>
              </a:ext>
            </a:extLst>
          </p:cNvPr>
          <p:cNvSpPr>
            <a:spLocks xmlns:a="http://schemas.openxmlformats.org/drawingml/2006/main" noGrp="1"/>
          </p:cNvSpPr>
          <p:nvPr/>
        </p:nvSpPr>
        <p:spPr>
          <a:xfrm xmlns:a="http://schemas.openxmlformats.org/drawingml/2006/main">
            <a:off x="7753350" y="2200275"/>
            <a:ext cx="3829050" cy="457200"/>
          </a:xfrm>
          <a:prstGeom xmlns:a="http://schemas.openxmlformats.org/drawingml/2006/main" prst="rect">
            <a:avLst/>
          </a:prstGeom>
          <a:solidFill xmlns:a="http://schemas.openxmlformats.org/drawingml/2006/main">
            <a:srgbClr val="173F32"/>
          </a:solidFill>
          <a:ln xmlns:a="http://schemas.openxmlformats.org/drawingml/2006/main" w="0">
            <a:noFill/>
          </a:ln>
        </p:spPr>
        <p:txBody>
          <a:bodyPr xmlns:a="http://schemas.openxmlformats.org/drawingml/2006/main" wrap="square" lIns="152400" tIns="76200" rIns="152400" bIns="76200" anchor="ctr">
            <a:noAutofit/>
          </a:bodyPr>
          <a:lstStyle xmlns:a="http://schemas.openxmlformats.org/drawingml/2006/main"/>
          <a:p xmlns:a="http://schemas.openxmlformats.org/drawingml/2006/main">
            <a:pPr algn="l">
              <a:spcBef>
                <a:spcPts val="0"/>
              </a:spcBef>
              <a:spcAft>
                <a:spcPts val="0"/>
              </a:spcAft>
              <a:defRPr sz="1650" b="1" i="0">
                <a:solidFill>
                  <a:srgbClr val="FFFFFF"/>
                </a:solidFill>
                <a:latin typeface="Times New Roman"/>
                <a:ea typeface="Times New Roman"/>
                <a:cs typeface="Times New Roman"/>
              </a:defRPr>
            </a:pPr>
            <a:r>
              <a:rPr sz="1650" b="1" i="0" u="none">
                <a:solidFill>
                  <a:srgbClr val="FFFFFF"/>
                </a:solidFill>
                <a:latin typeface="Times New Roman"/>
                <a:ea typeface="Times New Roman"/>
                <a:cs typeface="Times New Roman"/>
              </a:rPr>
              <a:t>WHAT WE CHANGED</a:t>
            </a:r>
          </a:p>
        </p:txBody>
      </p:sp>
      <p:sp>
        <p:nvSpPr>
          <p:cNvPr id="11" name="直线连接符 10">
            <a:extLst xmlns:a="http://schemas.openxmlformats.org/drawingml/2006/main">
              <a:ext uri="{FF2B5EF4-FFF2-40B4-BE49-F238E27FC236}">
                <a16:creationId xmlns:a16="http://schemas.microsoft.com/office/drawing/2014/main" id="{62888804-220B-4166-9596-F277F0107134}"/>
              </a:ext>
            </a:extLst>
          </p:cNvPr>
          <p:cNvSpPr>
            <a:spLocks xmlns:a="http://schemas.openxmlformats.org/drawingml/2006/main" noGrp="1"/>
          </p:cNvSpPr>
          <p:nvPr/>
        </p:nvSpPr>
        <p:spPr>
          <a:xfrm xmlns:a="http://schemas.openxmlformats.org/drawingml/2006/main">
            <a:off x="609600" y="2657475"/>
            <a:ext cx="10972800" cy="0"/>
          </a:xfrm>
          <a:prstGeom xmlns:a="http://schemas.openxmlformats.org/drawingml/2006/main" prst="line">
            <a:avLst/>
          </a:prstGeom>
          <a:noFill xmlns:a="http://schemas.openxmlformats.org/drawingml/2006/main"/>
          <a:ln xmlns:a="http://schemas.openxmlformats.org/drawingml/2006/main" w="9525">
            <a:solidFill>
              <a:srgbClr val="CCD5CF"/>
            </a:solidFill>
            <a:prstDash val="solid"/>
          </a:ln>
        </p:spPr>
      </p:sp>
      <p:sp>
        <p:nvSpPr>
          <p:cNvPr id="12" name="Frequent SR crashes;&#10;use every spectral band.">
            <a:extLst xmlns:a="http://schemas.openxmlformats.org/drawingml/2006/main">
              <a:ext uri="{FF2B5EF4-FFF2-40B4-BE49-F238E27FC236}">
                <a16:creationId xmlns:a16="http://schemas.microsoft.com/office/drawing/2014/main" id="{52116F32-1C17-40D0-9CE2-8C0B6A087BE9}"/>
              </a:ext>
            </a:extLst>
          </p:cNvPr>
          <p:cNvSpPr>
            <a:spLocks xmlns:a="http://schemas.openxmlformats.org/drawingml/2006/main" noGrp="1"/>
          </p:cNvSpPr>
          <p:nvPr/>
        </p:nvSpPr>
        <p:spPr>
          <a:xfrm xmlns:a="http://schemas.openxmlformats.org/drawingml/2006/main">
            <a:off x="762000" y="2819400"/>
            <a:ext cx="3095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950" b="1" i="0">
                <a:solidFill>
                  <a:srgbClr val="173F32"/>
                </a:solidFill>
                <a:latin typeface="Times New Roman"/>
                <a:ea typeface="Times New Roman"/>
                <a:cs typeface="Times New Roman"/>
              </a:defRPr>
            </a:pPr>
            <a:r>
              <a:rPr sz="1950" b="1" i="0" u="none">
                <a:solidFill>
                  <a:srgbClr val="173F32"/>
                </a:solidFill>
                <a:latin typeface="Times New Roman"/>
                <a:ea typeface="Times New Roman"/>
                <a:cs typeface="Times New Roman"/>
              </a:rPr>
              <a:t>SR that is more reliable</a:t>
            </a:r>
          </a:p>
          <a:p xmlns:a="http://schemas.openxmlformats.org/drawingml/2006/main">
            <a:pPr algn="l">
              <a:spcBef>
                <a:spcPts val="0"/>
              </a:spcBef>
              <a:spcAft>
                <a:spcPts val="0"/>
              </a:spcAft>
              <a:defRPr sz="1950" b="1" i="0">
                <a:solidFill>
                  <a:srgbClr val="173F32"/>
                </a:solidFill>
                <a:latin typeface="Times New Roman"/>
                <a:ea typeface="Times New Roman"/>
                <a:cs typeface="Times New Roman"/>
              </a:defRPr>
            </a:pPr>
            <a:r>
              <a:rPr sz="1950" b="1" i="0" u="none">
                <a:solidFill>
                  <a:srgbClr val="173F32"/>
                </a:solidFill>
                <a:latin typeface="Times New Roman"/>
                <a:ea typeface="Times New Roman"/>
                <a:cs typeface="Times New Roman"/>
              </a:rPr>
              <a:t>and uses all the bands.</a:t>
            </a:r>
          </a:p>
        </p:txBody>
      </p:sp>
      <p:sp>
        <p:nvSpPr>
          <p:cNvPr id="13" name="Guochen · LEAF-152&#10;Ryan · LEAF-158">
            <a:extLst xmlns:a="http://schemas.openxmlformats.org/drawingml/2006/main">
              <a:ext uri="{FF2B5EF4-FFF2-40B4-BE49-F238E27FC236}">
                <a16:creationId xmlns:a16="http://schemas.microsoft.com/office/drawing/2014/main" id="{5C0B15E3-F6F5-4E39-AE89-1EF7624D5E04}"/>
              </a:ext>
            </a:extLst>
          </p:cNvPr>
          <p:cNvSpPr>
            <a:spLocks xmlns:a="http://schemas.openxmlformats.org/drawingml/2006/main" noGrp="1"/>
          </p:cNvSpPr>
          <p:nvPr/>
        </p:nvSpPr>
        <p:spPr>
          <a:xfrm xmlns:a="http://schemas.openxmlformats.org/drawingml/2006/main">
            <a:off x="4162425" y="2819400"/>
            <a:ext cx="34385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950" b="0" i="0">
                <a:solidFill>
                  <a:srgbClr val="293730"/>
                </a:solidFill>
                <a:latin typeface="Times New Roman"/>
                <a:ea typeface="Times New Roman"/>
                <a:cs typeface="Times New Roman"/>
              </a:defRPr>
            </a:pPr>
            <a:r>
              <a:rPr sz="1950" b="0" i="0" u="none">
                <a:solidFill>
                  <a:srgbClr val="293730"/>
                </a:solidFill>
                <a:latin typeface="Times New Roman"/>
                <a:ea typeface="Times New Roman"/>
                <a:cs typeface="Times New Roman"/>
              </a:rPr>
              <a:t>Guochen · </a:t>
            </a:r>
            <a:r>
              <a:rPr sz="1950" b="0" i="0" u="sng">
                <a:solidFill>
                  <a:srgbClr val="2469A0"/>
                </a:solidFill>
                <a:latin typeface="Times New Roman"/>
                <a:ea typeface="Times New Roman"/>
                <a:cs typeface="Times New Roman"/>
                <a:hlinkClick xmlns:r="http://schemas.openxmlformats.org/officeDocument/2006/relationships" r:id="Re6a30e3189624804"/>
              </a:rPr>
              <a:t>LEAF-152</a:t>
            </a:r>
          </a:p>
          <a:p xmlns:a="http://schemas.openxmlformats.org/drawingml/2006/main">
            <a:pPr algn="l">
              <a:spcBef>
                <a:spcPts val="0"/>
              </a:spcBef>
              <a:spcAft>
                <a:spcPts val="0"/>
              </a:spcAft>
              <a:defRPr sz="1950" b="0" i="0">
                <a:solidFill>
                  <a:srgbClr val="293730"/>
                </a:solidFill>
                <a:latin typeface="Times New Roman"/>
                <a:ea typeface="Times New Roman"/>
                <a:cs typeface="Times New Roman"/>
              </a:defRPr>
            </a:pPr>
            <a:r>
              <a:rPr sz="1950" b="0" i="0" u="none">
                <a:solidFill>
                  <a:srgbClr val="293730"/>
                </a:solidFill>
                <a:latin typeface="Times New Roman"/>
                <a:ea typeface="Times New Roman"/>
                <a:cs typeface="Times New Roman"/>
              </a:rPr>
              <a:t>Ryan · </a:t>
            </a:r>
            <a:r>
              <a:rPr sz="1950" b="0" i="0" u="sng">
                <a:solidFill>
                  <a:srgbClr val="2469A0"/>
                </a:solidFill>
                <a:latin typeface="Times New Roman"/>
                <a:ea typeface="Times New Roman"/>
                <a:cs typeface="Times New Roman"/>
                <a:hlinkClick xmlns:r="http://schemas.openxmlformats.org/officeDocument/2006/relationships" r:id="R8d0fbb738c8a4a79"/>
              </a:rPr>
              <a:t>LEAF-158</a:t>
            </a:r>
          </a:p>
        </p:txBody>
      </p:sp>
      <p:sp>
        <p:nvSpPr>
          <p:cNvPr id="14" name="Real inference, cancellation,&#10;recovery and sh">
            <a:extLst xmlns:a="http://schemas.openxmlformats.org/drawingml/2006/main">
              <a:ext uri="{FF2B5EF4-FFF2-40B4-BE49-F238E27FC236}">
                <a16:creationId xmlns:a16="http://schemas.microsoft.com/office/drawing/2014/main" id="{57400CEB-176E-4712-8F3E-9DF1D3977E52}"/>
              </a:ext>
            </a:extLst>
          </p:cNvPr>
          <p:cNvSpPr>
            <a:spLocks xmlns:a="http://schemas.openxmlformats.org/drawingml/2006/main" noGrp="1"/>
          </p:cNvSpPr>
          <p:nvPr/>
        </p:nvSpPr>
        <p:spPr>
          <a:xfrm xmlns:a="http://schemas.openxmlformats.org/drawingml/2006/main">
            <a:off x="7905750" y="2819400"/>
            <a:ext cx="3524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950" b="0" i="0">
                <a:solidFill>
                  <a:srgbClr val="293730"/>
                </a:solidFill>
                <a:latin typeface="Times New Roman"/>
                <a:ea typeface="Times New Roman"/>
                <a:cs typeface="Times New Roman"/>
              </a:defRPr>
            </a:pPr>
            <a:r>
              <a:rPr sz="1950" b="0" i="0" u="none">
                <a:solidFill>
                  <a:srgbClr val="293730"/>
                </a:solidFill>
                <a:latin typeface="Times New Roman"/>
                <a:ea typeface="Times New Roman"/>
                <a:cs typeface="Times New Roman"/>
              </a:rPr>
              <a:t>Real model output, a cancel</a:t>
            </a:r>
          </a:p>
          <a:p xmlns:a="http://schemas.openxmlformats.org/drawingml/2006/main">
            <a:pPr algn="l">
              <a:spcBef>
                <a:spcPts val="0"/>
              </a:spcBef>
              <a:spcAft>
                <a:spcPts val="0"/>
              </a:spcAft>
              <a:defRPr sz="1950" b="0" i="0">
                <a:solidFill>
                  <a:srgbClr val="293730"/>
                </a:solidFill>
                <a:latin typeface="Times New Roman"/>
                <a:ea typeface="Times New Roman"/>
                <a:cs typeface="Times New Roman"/>
              </a:defRPr>
            </a:pPr>
            <a:r>
              <a:rPr sz="1950" b="0" i="0" u="none">
                <a:solidFill>
                  <a:srgbClr val="293730"/>
                </a:solidFill>
                <a:latin typeface="Times New Roman"/>
                <a:ea typeface="Times New Roman"/>
                <a:cs typeface="Times New Roman"/>
              </a:rPr>
              <a:t>button and safer error handling.</a:t>
            </a:r>
          </a:p>
        </p:txBody>
      </p:sp>
      <p:sp>
        <p:nvSpPr>
          <p:cNvPr id="15" name="直线连接符 14">
            <a:extLst xmlns:a="http://schemas.openxmlformats.org/drawingml/2006/main">
              <a:ext uri="{FF2B5EF4-FFF2-40B4-BE49-F238E27FC236}">
                <a16:creationId xmlns:a16="http://schemas.microsoft.com/office/drawing/2014/main" id="{51C2A0A0-57EB-47CD-AD1A-BCD1002B15F0}"/>
              </a:ext>
            </a:extLst>
          </p:cNvPr>
          <p:cNvSpPr>
            <a:spLocks xmlns:a="http://schemas.openxmlformats.org/drawingml/2006/main" noGrp="1"/>
          </p:cNvSpPr>
          <p:nvPr/>
        </p:nvSpPr>
        <p:spPr>
          <a:xfrm xmlns:a="http://schemas.openxmlformats.org/drawingml/2006/main">
            <a:off x="609600" y="3952875"/>
            <a:ext cx="10972800" cy="0"/>
          </a:xfrm>
          <a:prstGeom xmlns:a="http://schemas.openxmlformats.org/drawingml/2006/main" prst="line">
            <a:avLst/>
          </a:prstGeom>
          <a:noFill xmlns:a="http://schemas.openxmlformats.org/drawingml/2006/main"/>
          <a:ln xmlns:a="http://schemas.openxmlformats.org/drawingml/2006/main" w="9525">
            <a:solidFill>
              <a:srgbClr val="CCD5CF"/>
            </a:solidFill>
            <a:prstDash val="solid"/>
          </a:ln>
        </p:spPr>
      </p:sp>
      <p:sp>
        <p:nvSpPr>
          <p:cNvPr id="16" name="A more professional,&#10;usable analysis interfac">
            <a:extLst xmlns:a="http://schemas.openxmlformats.org/drawingml/2006/main">
              <a:ext uri="{FF2B5EF4-FFF2-40B4-BE49-F238E27FC236}">
                <a16:creationId xmlns:a16="http://schemas.microsoft.com/office/drawing/2014/main" id="{A5B4BC66-B229-4B7B-B45E-7A086B9541DC}"/>
              </a:ext>
            </a:extLst>
          </p:cNvPr>
          <p:cNvSpPr>
            <a:spLocks xmlns:a="http://schemas.openxmlformats.org/drawingml/2006/main" noGrp="1"/>
          </p:cNvSpPr>
          <p:nvPr/>
        </p:nvSpPr>
        <p:spPr>
          <a:xfrm xmlns:a="http://schemas.openxmlformats.org/drawingml/2006/main">
            <a:off x="762000" y="4133850"/>
            <a:ext cx="3095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950" b="1" i="0">
                <a:solidFill>
                  <a:srgbClr val="173F32"/>
                </a:solidFill>
                <a:latin typeface="Times New Roman"/>
                <a:ea typeface="Times New Roman"/>
                <a:cs typeface="Times New Roman"/>
              </a:defRPr>
            </a:pPr>
            <a:r>
              <a:rPr sz="1950" b="1" i="0" u="none">
                <a:solidFill>
                  <a:srgbClr val="173F32"/>
                </a:solidFill>
                <a:latin typeface="Times New Roman"/>
                <a:ea typeface="Times New Roman"/>
                <a:cs typeface="Times New Roman"/>
              </a:rPr>
              <a:t>An easier interface</a:t>
            </a:r>
          </a:p>
          <a:p xmlns:a="http://schemas.openxmlformats.org/drawingml/2006/main">
            <a:pPr algn="l">
              <a:spcBef>
                <a:spcPts val="0"/>
              </a:spcBef>
              <a:spcAft>
                <a:spcPts val="0"/>
              </a:spcAft>
              <a:defRPr sz="1950" b="1" i="0">
                <a:solidFill>
                  <a:srgbClr val="173F32"/>
                </a:solidFill>
                <a:latin typeface="Times New Roman"/>
                <a:ea typeface="Times New Roman"/>
                <a:cs typeface="Times New Roman"/>
              </a:defRPr>
            </a:pPr>
            <a:r>
              <a:rPr sz="1950" b="1" i="0" u="none">
                <a:solidFill>
                  <a:srgbClr val="173F32"/>
                </a:solidFill>
                <a:latin typeface="Times New Roman"/>
                <a:ea typeface="Times New Roman"/>
                <a:cs typeface="Times New Roman"/>
              </a:rPr>
              <a:t>for image analysis.</a:t>
            </a:r>
          </a:p>
        </p:txBody>
      </p:sp>
      <p:sp>
        <p:nvSpPr>
          <p:cNvPr id="17" name="Guochen · LEAF-149&#10;Ryan · LEAF-154 / 155">
            <a:extLst xmlns:a="http://schemas.openxmlformats.org/drawingml/2006/main">
              <a:ext uri="{FF2B5EF4-FFF2-40B4-BE49-F238E27FC236}">
                <a16:creationId xmlns:a16="http://schemas.microsoft.com/office/drawing/2014/main" id="{5AD7B12E-B142-4795-A135-12FB792A040D}"/>
              </a:ext>
            </a:extLst>
          </p:cNvPr>
          <p:cNvSpPr>
            <a:spLocks xmlns:a="http://schemas.openxmlformats.org/drawingml/2006/main" noGrp="1"/>
          </p:cNvSpPr>
          <p:nvPr/>
        </p:nvSpPr>
        <p:spPr>
          <a:xfrm xmlns:a="http://schemas.openxmlformats.org/drawingml/2006/main">
            <a:off x="4162425" y="4133850"/>
            <a:ext cx="34385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950" b="0" i="0">
                <a:solidFill>
                  <a:srgbClr val="293730"/>
                </a:solidFill>
                <a:latin typeface="Times New Roman"/>
                <a:ea typeface="Times New Roman"/>
                <a:cs typeface="Times New Roman"/>
              </a:defRPr>
            </a:pPr>
            <a:r>
              <a:rPr sz="1950" b="0" i="0" u="none">
                <a:solidFill>
                  <a:srgbClr val="293730"/>
                </a:solidFill>
                <a:latin typeface="Times New Roman"/>
                <a:ea typeface="Times New Roman"/>
                <a:cs typeface="Times New Roman"/>
              </a:rPr>
              <a:t>Guochen · </a:t>
            </a:r>
            <a:r>
              <a:rPr sz="1950" b="0" i="0" u="sng">
                <a:solidFill>
                  <a:srgbClr val="2469A0"/>
                </a:solidFill>
                <a:latin typeface="Times New Roman"/>
                <a:ea typeface="Times New Roman"/>
                <a:cs typeface="Times New Roman"/>
                <a:hlinkClick xmlns:r="http://schemas.openxmlformats.org/officeDocument/2006/relationships" r:id="R71c88dd3645c4685"/>
              </a:rPr>
              <a:t>LEAF-149</a:t>
            </a:r>
          </a:p>
          <a:p xmlns:a="http://schemas.openxmlformats.org/drawingml/2006/main">
            <a:pPr algn="l">
              <a:spcBef>
                <a:spcPts val="0"/>
              </a:spcBef>
              <a:spcAft>
                <a:spcPts val="0"/>
              </a:spcAft>
              <a:defRPr sz="1950" b="0" i="0">
                <a:solidFill>
                  <a:srgbClr val="293730"/>
                </a:solidFill>
                <a:latin typeface="Times New Roman"/>
                <a:ea typeface="Times New Roman"/>
                <a:cs typeface="Times New Roman"/>
              </a:defRPr>
            </a:pPr>
            <a:r>
              <a:rPr sz="1950" b="0" i="0" u="none">
                <a:solidFill>
                  <a:srgbClr val="293730"/>
                </a:solidFill>
                <a:latin typeface="Times New Roman"/>
                <a:ea typeface="Times New Roman"/>
                <a:cs typeface="Times New Roman"/>
              </a:rPr>
              <a:t>Ryan · </a:t>
            </a:r>
            <a:r>
              <a:rPr sz="1950" b="0" i="0" u="sng">
                <a:solidFill>
                  <a:srgbClr val="2469A0"/>
                </a:solidFill>
                <a:latin typeface="Times New Roman"/>
                <a:ea typeface="Times New Roman"/>
                <a:cs typeface="Times New Roman"/>
                <a:hlinkClick xmlns:r="http://schemas.openxmlformats.org/officeDocument/2006/relationships" r:id="Rb00f69fd1ca34bbc"/>
              </a:rPr>
              <a:t>LEAF-154</a:t>
            </a:r>
            <a:r>
              <a:rPr sz="1950" b="0" i="0" u="none">
                <a:solidFill>
                  <a:srgbClr val="293730"/>
                </a:solidFill>
                <a:latin typeface="Times New Roman"/>
                <a:ea typeface="Times New Roman"/>
                <a:cs typeface="Times New Roman"/>
              </a:rPr>
              <a:t> / 155</a:t>
            </a:r>
          </a:p>
        </p:txBody>
      </p:sp>
      <p:sp>
        <p:nvSpPr>
          <p:cNvPr id="18" name="Clearer menus, persistent&#10;statistics and colo">
            <a:extLst xmlns:a="http://schemas.openxmlformats.org/drawingml/2006/main">
              <a:ext uri="{FF2B5EF4-FFF2-40B4-BE49-F238E27FC236}">
                <a16:creationId xmlns:a16="http://schemas.microsoft.com/office/drawing/2014/main" id="{C2174424-D525-4ECC-8A6B-134750C48288}"/>
              </a:ext>
            </a:extLst>
          </p:cNvPr>
          <p:cNvSpPr>
            <a:spLocks xmlns:a="http://schemas.openxmlformats.org/drawingml/2006/main" noGrp="1"/>
          </p:cNvSpPr>
          <p:nvPr/>
        </p:nvSpPr>
        <p:spPr>
          <a:xfrm xmlns:a="http://schemas.openxmlformats.org/drawingml/2006/main">
            <a:off x="7905750" y="4133850"/>
            <a:ext cx="3524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950" b="0" i="0">
                <a:solidFill>
                  <a:srgbClr val="293730"/>
                </a:solidFill>
                <a:latin typeface="Times New Roman"/>
                <a:ea typeface="Times New Roman"/>
                <a:cs typeface="Times New Roman"/>
              </a:defRPr>
            </a:pPr>
            <a:r>
              <a:rPr sz="1950" b="0" i="0" u="none">
                <a:solidFill>
                  <a:srgbClr val="293730"/>
                </a:solidFill>
                <a:latin typeface="Times New Roman"/>
                <a:ea typeface="Times New Roman"/>
                <a:cs typeface="Times New Roman"/>
              </a:rPr>
              <a:t>Clearer menus, colour values</a:t>
            </a:r>
          </a:p>
          <a:p xmlns:a="http://schemas.openxmlformats.org/drawingml/2006/main">
            <a:pPr algn="l">
              <a:spcBef>
                <a:spcPts val="0"/>
              </a:spcBef>
              <a:spcAft>
                <a:spcPts val="0"/>
              </a:spcAft>
              <a:defRPr sz="1950" b="0" i="0">
                <a:solidFill>
                  <a:srgbClr val="293730"/>
                </a:solidFill>
                <a:latin typeface="Times New Roman"/>
                <a:ea typeface="Times New Roman"/>
                <a:cs typeface="Times New Roman"/>
              </a:defRPr>
            </a:pPr>
            <a:r>
              <a:rPr sz="1950" b="0" i="0" u="none">
                <a:solidFill>
                  <a:srgbClr val="293730"/>
                </a:solidFill>
                <a:latin typeface="Times New Roman"/>
                <a:ea typeface="Times New Roman"/>
                <a:cs typeface="Times New Roman"/>
              </a:rPr>
              <a:t>and a statistics window.</a:t>
            </a:r>
          </a:p>
        </p:txBody>
      </p:sp>
      <p:sp>
        <p:nvSpPr>
          <p:cNvPr id="19" name="Follow-up is recorded in the backlog and 28 A">
            <a:extLst xmlns:a="http://schemas.openxmlformats.org/drawingml/2006/main">
              <a:ext uri="{FF2B5EF4-FFF2-40B4-BE49-F238E27FC236}">
                <a16:creationId xmlns:a16="http://schemas.microsoft.com/office/drawing/2014/main" id="{5945B449-77FC-4CA1-817D-3A97DBE97C5D}"/>
              </a:ext>
            </a:extLst>
          </p:cNvPr>
          <p:cNvSpPr>
            <a:spLocks xmlns:a="http://schemas.openxmlformats.org/drawingml/2006/main" noGrp="1"/>
          </p:cNvSpPr>
          <p:nvPr/>
        </p:nvSpPr>
        <p:spPr>
          <a:xfrm xmlns:a="http://schemas.openxmlformats.org/drawingml/2006/main">
            <a:off x="609600" y="5581650"/>
            <a:ext cx="10972800" cy="590550"/>
          </a:xfrm>
          <a:prstGeom xmlns:a="http://schemas.openxmlformats.org/drawingml/2006/main" prst="rect">
            <a:avLst/>
          </a:prstGeom>
          <a:solidFill xmlns:a="http://schemas.openxmlformats.org/drawingml/2006/main">
            <a:srgbClr val="EDF2EE"/>
          </a:solidFill>
          <a:ln xmlns:a="http://schemas.openxmlformats.org/drawingml/2006/main" w="0">
            <a:noFill/>
          </a:ln>
        </p:spPr>
        <p:txBody>
          <a:bodyPr xmlns:a="http://schemas.openxmlformats.org/drawingml/2006/main" wrap="square" lIns="133350" tIns="38100" rIns="133350" bIns="38100" anchor="ctr">
            <a:noAutofit/>
          </a:bodyPr>
          <a:lstStyle xmlns:a="http://schemas.openxmlformats.org/drawingml/2006/main"/>
          <a:p xmlns:a="http://schemas.openxmlformats.org/drawingml/2006/main">
            <a:pPr algn="l">
              <a:spcBef>
                <a:spcPts val="0"/>
              </a:spcBef>
              <a:spcAft>
                <a:spcPts val="0"/>
              </a:spcAft>
              <a:defRPr sz="1875" b="0" i="0">
                <a:solidFill>
                  <a:srgbClr val="173F32"/>
                </a:solidFill>
                <a:latin typeface="Times New Roman"/>
                <a:ea typeface="Times New Roman"/>
                <a:cs typeface="Times New Roman"/>
              </a:defRPr>
            </a:pPr>
            <a:r>
              <a:rPr sz="1875" b="0" i="0" u="none">
                <a:solidFill>
                  <a:srgbClr val="173F32"/>
                </a:solidFill>
                <a:latin typeface="Times New Roman"/>
                <a:ea typeface="Times New Roman"/>
                <a:cs typeface="Times New Roman"/>
              </a:rPr>
              <a:t>The backlog and Week 5 report show the progress. We still need the client to review the results.</a:t>
            </a:r>
          </a:p>
        </p:txBody>
      </p:sp>
    </p:spTree>
    <p:extLst>
      <p:ext uri="{BB962C8B-B14F-4D97-AF65-F5344CB8AC3E}">
        <p14:creationId xmlns:p14="http://schemas.microsoft.com/office/powerpoint/2010/main" val="16050692"/>
      </p:ext>
    </p:extLst>
  </p:cSld>
</p:sld>
</file>

<file path=ppt/slides/slide5.xml><?xml version="1.0" encoding="utf-8"?>
<p:sld xmlns:p="http://schemas.openxmlformats.org/presentationml/2006/main">
  <p:cSld>
    <p:bg>
      <p:bgPr>
        <a:solidFill xmlns:a="http://schemas.openxmlformats.org/drawingml/2006/main">
          <a:srgbClr val="FBFBF8"/>
        </a:solidFill>
      </p:bgPr>
    </p:bg>
    <p:spTree>
      <p:nvGrpSpPr>
        <p:cNvPr id="1" name=""/>
        <p:cNvGrpSpPr/>
        <p:nvPr/>
      </p:nvGrpSpPr>
      <p:grpSpPr>
        <a:xfrm xmlns:a="http://schemas.openxmlformats.org/drawingml/2006/main"/>
      </p:grpSpPr>
      <p:sp>
        <p:nvSpPr>
          <p:cNvPr id="27" name="STAKEHOLDER ENGAGEMENT">
            <a:extLst xmlns:a="http://schemas.openxmlformats.org/drawingml/2006/main">
              <a:ext uri="{FF2B5EF4-FFF2-40B4-BE49-F238E27FC236}">
                <a16:creationId xmlns:a16="http://schemas.microsoft.com/office/drawing/2014/main" id="{F4FF75FB-2A65-44B6-BC72-A7FDAC738EAC}"/>
              </a:ext>
            </a:extLst>
          </p:cNvPr>
          <p:cNvSpPr>
            <a:spLocks xmlns:a="http://schemas.openxmlformats.org/drawingml/2006/main" noGrp="1"/>
          </p:cNvSpPr>
          <p:nvPr/>
        </p:nvSpPr>
        <p:spPr>
          <a:xfrm xmlns:a="http://schemas.openxmlformats.org/drawingml/2006/main">
            <a:off x="609600" y="390525"/>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350" b="1" i="0">
                <a:solidFill>
                  <a:srgbClr val="173F32"/>
                </a:solidFill>
                <a:latin typeface="Times New Roman"/>
                <a:ea typeface="Times New Roman"/>
                <a:cs typeface="Times New Roman"/>
              </a:defRPr>
            </a:pPr>
            <a:r>
              <a:rPr sz="1350" b="1" i="0" u="none">
                <a:solidFill>
                  <a:srgbClr val="173F32"/>
                </a:solidFill>
                <a:latin typeface="Times New Roman"/>
                <a:ea typeface="Times New Roman"/>
                <a:cs typeface="Times New Roman"/>
              </a:rPr>
              <a:t>STAKEHOLDER ENGAGEMENT</a:t>
            </a:r>
          </a:p>
        </p:txBody>
      </p:sp>
      <p:sp>
        <p:nvSpPr>
          <p:cNvPr id="2" name="Tutor actions have a written follow-up">
            <a:extLst xmlns:a="http://schemas.openxmlformats.org/drawingml/2006/main">
              <a:ext uri="{FF2B5EF4-FFF2-40B4-BE49-F238E27FC236}">
                <a16:creationId xmlns:a16="http://schemas.microsoft.com/office/drawing/2014/main" id="{4921659D-6A5C-49CA-8814-9D28A504C1E4}"/>
              </a:ext>
            </a:extLst>
          </p:cNvPr>
          <p:cNvSpPr>
            <a:spLocks xmlns:a="http://schemas.openxmlformats.org/drawingml/2006/main" noGrp="1"/>
          </p:cNvSpPr>
          <p:nvPr/>
        </p:nvSpPr>
        <p:spPr>
          <a:xfrm xmlns:a="http://schemas.openxmlformats.org/drawingml/2006/main">
            <a:off x="609600" y="8001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3300" b="1" i="0">
                <a:solidFill>
                  <a:srgbClr val="173F32"/>
                </a:solidFill>
                <a:latin typeface="Arial"/>
                <a:ea typeface="Arial"/>
                <a:cs typeface="Arial"/>
              </a:defRPr>
            </a:pPr>
            <a:r>
              <a:rPr sz="3300" b="1" i="0" u="none">
                <a:solidFill>
                  <a:srgbClr val="173F32"/>
                </a:solidFill>
                <a:latin typeface="Arial"/>
                <a:ea typeface="Arial"/>
                <a:cs typeface="Arial"/>
              </a:rPr>
              <a:t>We recorded the tutor’s action items</a:t>
            </a:r>
          </a:p>
        </p:txBody>
      </p:sp>
      <p:sp>
        <p:nvSpPr>
          <p:cNvPr id="3" name="直线连接符 2">
            <a:extLst xmlns:a="http://schemas.openxmlformats.org/drawingml/2006/main">
              <a:ext uri="{FF2B5EF4-FFF2-40B4-BE49-F238E27FC236}">
                <a16:creationId xmlns:a16="http://schemas.microsoft.com/office/drawing/2014/main" id="{C5A90913-5C2E-4672-9D0E-68EC5A455A77}"/>
              </a:ext>
            </a:extLst>
          </p:cNvPr>
          <p:cNvSpPr>
            <a:spLocks xmlns:a="http://schemas.openxmlformats.org/drawingml/2006/main" noGrp="1"/>
          </p:cNvSpPr>
          <p:nvPr/>
        </p:nvSpPr>
        <p:spPr>
          <a:xfrm xmlns:a="http://schemas.openxmlformats.org/drawingml/2006/main">
            <a:off x="609600" y="6286500"/>
            <a:ext cx="10972800" cy="0"/>
          </a:xfrm>
          <a:prstGeom xmlns:a="http://schemas.openxmlformats.org/drawingml/2006/main" prst="line">
            <a:avLst/>
          </a:prstGeom>
          <a:noFill xmlns:a="http://schemas.openxmlformats.org/drawingml/2006/main"/>
          <a:ln xmlns:a="http://schemas.openxmlformats.org/drawingml/2006/main" w="9525">
            <a:solidFill>
              <a:srgbClr val="CCD5CF"/>
            </a:solidFill>
            <a:prstDash val="solid"/>
          </a:ln>
        </p:spPr>
      </p:sp>
      <p:sp>
        <p:nvSpPr>
          <p:cNvPr id="4" name="LEAF ANALYZER  /  SPRINT 5">
            <a:extLst xmlns:a="http://schemas.openxmlformats.org/drawingml/2006/main">
              <a:ext uri="{FF2B5EF4-FFF2-40B4-BE49-F238E27FC236}">
                <a16:creationId xmlns:a16="http://schemas.microsoft.com/office/drawing/2014/main" id="{FDDD53AB-A135-4D87-9E2A-D4BC8AA06552}"/>
              </a:ext>
            </a:extLst>
          </p:cNvPr>
          <p:cNvSpPr>
            <a:spLocks xmlns:a="http://schemas.openxmlformats.org/drawingml/2006/main" noGrp="1"/>
          </p:cNvSpPr>
          <p:nvPr/>
        </p:nvSpPr>
        <p:spPr>
          <a:xfrm xmlns:a="http://schemas.openxmlformats.org/drawingml/2006/main">
            <a:off x="8572500" y="400050"/>
            <a:ext cx="3009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spcBef>
                <a:spcPts val="0"/>
              </a:spcBef>
              <a:spcAft>
                <a:spcPts val="0"/>
              </a:spcAft>
              <a:defRPr sz="1200" b="0" i="0">
                <a:solidFill>
                  <a:srgbClr val="59665F"/>
                </a:solidFill>
                <a:latin typeface="Times New Roman"/>
                <a:ea typeface="Times New Roman"/>
                <a:cs typeface="Times New Roman"/>
              </a:defRPr>
            </a:pPr>
            <a:r>
              <a:rPr sz="1200" b="0" i="0" u="none">
                <a:solidFill>
                  <a:srgbClr val="59665F"/>
                </a:solidFill>
                <a:latin typeface="Times New Roman"/>
                <a:ea typeface="Times New Roman"/>
                <a:cs typeface="Times New Roman"/>
              </a:rPr>
              <a:t>LEAF ANALYZER  /  SPRINT 5</a:t>
            </a:r>
          </a:p>
        </p:txBody>
      </p:sp>
      <p:sp>
        <p:nvSpPr>
          <p:cNvPr id="5" name="Tutor Meeting 21/08 • LEAF-157 • reports and ">
            <a:extLst xmlns:a="http://schemas.openxmlformats.org/drawingml/2006/main">
              <a:ext uri="{FF2B5EF4-FFF2-40B4-BE49-F238E27FC236}">
                <a16:creationId xmlns:a16="http://schemas.microsoft.com/office/drawing/2014/main" id="{47801640-D8B9-444E-8412-A5793D6FED84}"/>
              </a:ext>
            </a:extLst>
          </p:cNvPr>
          <p:cNvSpPr>
            <a:spLocks xmlns:a="http://schemas.openxmlformats.org/drawingml/2006/main" noGrp="1"/>
          </p:cNvSpPr>
          <p:nvPr/>
        </p:nvSpPr>
        <p:spPr>
          <a:xfrm xmlns:a="http://schemas.openxmlformats.org/drawingml/2006/main">
            <a:off x="609600" y="6362700"/>
            <a:ext cx="1043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200" b="0" i="0">
                <a:solidFill>
                  <a:srgbClr val="59665F"/>
                </a:solidFill>
                <a:latin typeface="Times New Roman"/>
                <a:ea typeface="Times New Roman"/>
                <a:cs typeface="Times New Roman"/>
              </a:defRPr>
            </a:pPr>
            <a:r>
              <a:rPr sz="1200" b="0" i="0" u="none">
                <a:solidFill>
                  <a:srgbClr val="59665F"/>
                </a:solidFill>
                <a:latin typeface="Times New Roman"/>
                <a:ea typeface="Times New Roman"/>
                <a:cs typeface="Times New Roman"/>
              </a:rPr>
              <a:t>Sources: </a:t>
            </a:r>
            <a:r>
              <a:rPr sz="1200" b="0" i="0" u="sng">
                <a:solidFill>
                  <a:srgbClr val="2469A0"/>
                </a:solidFill>
                <a:latin typeface="Times New Roman"/>
                <a:ea typeface="Times New Roman"/>
                <a:cs typeface="Times New Roman"/>
                <a:hlinkClick xmlns:r="http://schemas.openxmlformats.org/officeDocument/2006/relationships" r:id="R6f81434654d64219"/>
              </a:rPr>
              <a:t>Tutor meeting</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8df308b8a27145a4"/>
              </a:rPr>
              <a:t>LEAF-157</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ba22e1d2dc09405e"/>
              </a:rPr>
              <a:t>Week 5 report</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712a6a38563245ac"/>
              </a:rPr>
              <a:t>Week 5 reflection</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dc91d4f72c704dda"/>
              </a:rPr>
              <a:t>Risk plan</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0dfa1dbe4fdb4fe9"/>
              </a:rPr>
              <a:t>Backlog</a:t>
            </a:r>
          </a:p>
        </p:txBody>
      </p:sp>
      <p:sp>
        <p:nvSpPr>
          <p:cNvPr id="6" name="05">
            <a:extLst xmlns:a="http://schemas.openxmlformats.org/drawingml/2006/main">
              <a:ext uri="{FF2B5EF4-FFF2-40B4-BE49-F238E27FC236}">
                <a16:creationId xmlns:a16="http://schemas.microsoft.com/office/drawing/2014/main" id="{A6A35694-11F8-4923-B2FD-E628EA175A8A}"/>
              </a:ext>
            </a:extLst>
          </p:cNvPr>
          <p:cNvSpPr>
            <a:spLocks xmlns:a="http://schemas.openxmlformats.org/drawingml/2006/main" noGrp="1"/>
          </p:cNvSpPr>
          <p:nvPr/>
        </p:nvSpPr>
        <p:spPr>
          <a:xfrm xmlns:a="http://schemas.openxmlformats.org/drawingml/2006/main">
            <a:off x="11239500" y="63722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spcBef>
                <a:spcPts val="0"/>
              </a:spcBef>
              <a:spcAft>
                <a:spcPts val="0"/>
              </a:spcAft>
              <a:defRPr sz="1425" b="0" i="0">
                <a:solidFill>
                  <a:srgbClr val="59665F"/>
                </a:solidFill>
                <a:latin typeface="Times New Roman"/>
                <a:ea typeface="Times New Roman"/>
                <a:cs typeface="Times New Roman"/>
              </a:defRPr>
            </a:pPr>
            <a:r>
              <a:rPr sz="1425" b="0" i="0" u="none">
                <a:solidFill>
                  <a:srgbClr val="59665F"/>
                </a:solidFill>
                <a:latin typeface="Times New Roman"/>
                <a:ea typeface="Times New Roman"/>
                <a:cs typeface="Times New Roman"/>
              </a:rPr>
              <a:t>05</a:t>
            </a:r>
          </a:p>
        </p:txBody>
      </p:sp>
      <p:sp>
        <p:nvSpPr>
          <p:cNvPr id="7" name="21 August: record effort, reflect weekly and ">
            <a:extLst xmlns:a="http://schemas.openxmlformats.org/drawingml/2006/main">
              <a:ext uri="{FF2B5EF4-FFF2-40B4-BE49-F238E27FC236}">
                <a16:creationId xmlns:a16="http://schemas.microsoft.com/office/drawing/2014/main" id="{F3E765B8-0235-4EC4-B462-AEE30A1F126A}"/>
              </a:ext>
            </a:extLst>
          </p:cNvPr>
          <p:cNvSpPr>
            <a:spLocks xmlns:a="http://schemas.openxmlformats.org/drawingml/2006/main" noGrp="1"/>
          </p:cNvSpPr>
          <p:nvPr/>
        </p:nvSpPr>
        <p:spPr>
          <a:xfrm xmlns:a="http://schemas.openxmlformats.org/drawingml/2006/main">
            <a:off x="609600" y="14954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2025" b="0" i="0">
                <a:solidFill>
                  <a:srgbClr val="59665F"/>
                </a:solidFill>
                <a:latin typeface="Times New Roman"/>
                <a:ea typeface="Times New Roman"/>
                <a:cs typeface="Times New Roman"/>
              </a:defRPr>
            </a:pPr>
            <a:r>
              <a:rPr sz="2025" b="0" i="0" u="none">
                <a:solidFill>
                  <a:srgbClr val="59665F"/>
                </a:solidFill>
                <a:latin typeface="Times New Roman"/>
                <a:ea typeface="Times New Roman"/>
                <a:cs typeface="Times New Roman"/>
              </a:rPr>
              <a:t>21 August: log our time, reflect each week and keep the risk plan up to date.</a:t>
            </a:r>
          </a:p>
        </p:txBody>
      </p:sp>
      <p:sp>
        <p:nvSpPr>
          <p:cNvPr id="12" name="Feedback">
            <a:extLst xmlns:a="http://schemas.openxmlformats.org/drawingml/2006/main">
              <a:ext uri="{FF2B5EF4-FFF2-40B4-BE49-F238E27FC236}">
                <a16:creationId xmlns:a16="http://schemas.microsoft.com/office/drawing/2014/main" id="{CEEA4FD6-AAB1-4774-A0C2-0EDF8C48C9DE}"/>
              </a:ext>
            </a:extLst>
          </p:cNvPr>
          <p:cNvSpPr>
            <a:spLocks xmlns:a="http://schemas.openxmlformats.org/drawingml/2006/main" noGrp="1"/>
          </p:cNvSpPr>
          <p:nvPr/>
        </p:nvSpPr>
        <p:spPr>
          <a:xfrm xmlns:a="http://schemas.openxmlformats.org/drawingml/2006/main">
            <a:off x="609600" y="2143125"/>
            <a:ext cx="323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2400" b="1" i="0">
                <a:solidFill>
                  <a:srgbClr val="173F32"/>
                </a:solidFill>
                <a:latin typeface="Times New Roman"/>
                <a:ea typeface="Times New Roman"/>
                <a:cs typeface="Times New Roman"/>
              </a:defRPr>
            </a:pPr>
            <a:r>
              <a:rPr sz="2400" b="1" i="0" u="none">
                <a:solidFill>
                  <a:srgbClr val="173F32"/>
                </a:solidFill>
                <a:latin typeface="Times New Roman"/>
                <a:ea typeface="Times New Roman"/>
                <a:cs typeface="Times New Roman"/>
              </a:rPr>
              <a:t>1. Write it down</a:t>
            </a:r>
          </a:p>
        </p:txBody>
      </p:sp>
      <p:sp>
        <p:nvSpPr>
          <p:cNvPr id="13" name="Tutor meeting notes">
            <a:extLst xmlns:a="http://schemas.openxmlformats.org/drawingml/2006/main">
              <a:ext uri="{FF2B5EF4-FFF2-40B4-BE49-F238E27FC236}">
                <a16:creationId xmlns:a16="http://schemas.microsoft.com/office/drawing/2014/main" id="{AF88D70D-B55D-4EB1-A8A5-FFEDD5F6A350}"/>
              </a:ext>
            </a:extLst>
          </p:cNvPr>
          <p:cNvSpPr>
            <a:spLocks xmlns:a="http://schemas.openxmlformats.org/drawingml/2006/main" noGrp="1"/>
          </p:cNvSpPr>
          <p:nvPr/>
        </p:nvSpPr>
        <p:spPr>
          <a:xfrm xmlns:a="http://schemas.openxmlformats.org/drawingml/2006/main">
            <a:off x="609600" y="2609850"/>
            <a:ext cx="3238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950" b="0" i="0">
                <a:solidFill>
                  <a:srgbClr val="293730"/>
                </a:solidFill>
                <a:latin typeface="Times New Roman"/>
                <a:ea typeface="Times New Roman"/>
                <a:cs typeface="Times New Roman"/>
              </a:defRPr>
            </a:pPr>
            <a:r>
              <a:rPr sz="1950" b="0" i="0" u="none">
                <a:solidFill>
                  <a:srgbClr val="293730"/>
                </a:solidFill>
                <a:latin typeface="Times New Roman"/>
                <a:ea typeface="Times New Roman"/>
                <a:cs typeface="Times New Roman"/>
              </a:rPr>
              <a:t>Tutor meeting notes</a:t>
            </a:r>
          </a:p>
        </p:txBody>
      </p:sp>
      <p:sp>
        <p:nvSpPr>
          <p:cNvPr id="16" name="LEAF-157 · Guochen">
            <a:extLst xmlns:a="http://schemas.openxmlformats.org/drawingml/2006/main">
              <a:ext uri="{FF2B5EF4-FFF2-40B4-BE49-F238E27FC236}">
                <a16:creationId xmlns:a16="http://schemas.microsoft.com/office/drawing/2014/main" id="{57A41F6C-DE8C-4087-A05F-5C986C18E6A8}"/>
              </a:ext>
            </a:extLst>
          </p:cNvPr>
          <p:cNvSpPr>
            <a:spLocks xmlns:a="http://schemas.openxmlformats.org/drawingml/2006/main" noGrp="1"/>
          </p:cNvSpPr>
          <p:nvPr/>
        </p:nvSpPr>
        <p:spPr>
          <a:xfrm xmlns:a="http://schemas.openxmlformats.org/drawingml/2006/main">
            <a:off x="609600" y="3343275"/>
            <a:ext cx="323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2400" b="1" i="0">
                <a:solidFill>
                  <a:srgbClr val="173F32"/>
                </a:solidFill>
                <a:latin typeface="Times New Roman"/>
                <a:ea typeface="Times New Roman"/>
                <a:cs typeface="Times New Roman"/>
              </a:defRPr>
            </a:pPr>
            <a:r>
              <a:rPr sz="2400" b="1" i="0" u="none">
                <a:solidFill>
                  <a:srgbClr val="173F32"/>
                </a:solidFill>
                <a:latin typeface="Times New Roman"/>
                <a:ea typeface="Times New Roman"/>
                <a:cs typeface="Times New Roman"/>
              </a:rPr>
              <a:t>2. Assign a task</a:t>
            </a:r>
          </a:p>
        </p:txBody>
      </p:sp>
      <p:sp>
        <p:nvSpPr>
          <p:cNvPr id="19" name="Linked documents">
            <a:extLst xmlns:a="http://schemas.openxmlformats.org/drawingml/2006/main">
              <a:ext uri="{FF2B5EF4-FFF2-40B4-BE49-F238E27FC236}">
                <a16:creationId xmlns:a16="http://schemas.microsoft.com/office/drawing/2014/main" id="{8D88BAA2-0CC1-4F60-8228-EA0BB6474404}"/>
              </a:ext>
            </a:extLst>
          </p:cNvPr>
          <p:cNvSpPr>
            <a:spLocks xmlns:a="http://schemas.openxmlformats.org/drawingml/2006/main" noGrp="1"/>
          </p:cNvSpPr>
          <p:nvPr/>
        </p:nvSpPr>
        <p:spPr>
          <a:xfrm xmlns:a="http://schemas.openxmlformats.org/drawingml/2006/main">
            <a:off x="609600" y="3810000"/>
            <a:ext cx="3238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950" b="0" i="0">
                <a:solidFill>
                  <a:srgbClr val="293730"/>
                </a:solidFill>
                <a:latin typeface="Times New Roman"/>
                <a:ea typeface="Times New Roman"/>
                <a:cs typeface="Times New Roman"/>
              </a:defRPr>
            </a:pPr>
            <a:r>
              <a:rPr sz="1950" b="0" i="0" u="sng">
                <a:solidFill>
                  <a:srgbClr val="2469A0"/>
                </a:solidFill>
                <a:latin typeface="Times New Roman"/>
                <a:ea typeface="Times New Roman"/>
                <a:cs typeface="Times New Roman"/>
                <a:hlinkClick xmlns:r="http://schemas.openxmlformats.org/officeDocument/2006/relationships" r:id="R070251a1759f4ffb"/>
              </a:rPr>
              <a:t>LEAF-157</a:t>
            </a:r>
            <a:r>
              <a:rPr sz="1950" b="0" i="0" u="none">
                <a:solidFill>
                  <a:srgbClr val="293730"/>
                </a:solidFill>
                <a:latin typeface="Times New Roman"/>
                <a:ea typeface="Times New Roman"/>
                <a:cs typeface="Times New Roman"/>
              </a:rPr>
              <a:t> · Guochen</a:t>
            </a:r>
          </a:p>
        </p:txBody>
      </p:sp>
      <p:sp>
        <p:nvSpPr>
          <p:cNvPr id="21" name="Report back">
            <a:extLst xmlns:a="http://schemas.openxmlformats.org/drawingml/2006/main">
              <a:ext uri="{FF2B5EF4-FFF2-40B4-BE49-F238E27FC236}">
                <a16:creationId xmlns:a16="http://schemas.microsoft.com/office/drawing/2014/main" id="{C8AA44DF-6AEA-4577-8E1D-2E7363A3F612}"/>
              </a:ext>
            </a:extLst>
          </p:cNvPr>
          <p:cNvSpPr>
            <a:spLocks xmlns:a="http://schemas.openxmlformats.org/drawingml/2006/main" noGrp="1"/>
          </p:cNvSpPr>
          <p:nvPr/>
        </p:nvSpPr>
        <p:spPr>
          <a:xfrm xmlns:a="http://schemas.openxmlformats.org/drawingml/2006/main">
            <a:off x="609600" y="4543425"/>
            <a:ext cx="323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2400" b="1" i="0">
                <a:solidFill>
                  <a:srgbClr val="173F32"/>
                </a:solidFill>
                <a:latin typeface="Times New Roman"/>
                <a:ea typeface="Times New Roman"/>
                <a:cs typeface="Times New Roman"/>
              </a:defRPr>
            </a:pPr>
            <a:r>
              <a:rPr sz="2400" b="1" i="0" u="none">
                <a:solidFill>
                  <a:srgbClr val="173F32"/>
                </a:solidFill>
                <a:latin typeface="Times New Roman"/>
                <a:ea typeface="Times New Roman"/>
                <a:cs typeface="Times New Roman"/>
              </a:rPr>
              <a:t>3. Report progress</a:t>
            </a:r>
          </a:p>
        </p:txBody>
      </p:sp>
      <p:sp>
        <p:nvSpPr>
          <p:cNvPr id="22" name="Week 5 tutor report">
            <a:extLst xmlns:a="http://schemas.openxmlformats.org/drawingml/2006/main">
              <a:ext uri="{FF2B5EF4-FFF2-40B4-BE49-F238E27FC236}">
                <a16:creationId xmlns:a16="http://schemas.microsoft.com/office/drawing/2014/main" id="{B9BE389C-9B08-4319-84A4-BF1E8D9059A3}"/>
              </a:ext>
            </a:extLst>
          </p:cNvPr>
          <p:cNvSpPr>
            <a:spLocks xmlns:a="http://schemas.openxmlformats.org/drawingml/2006/main" noGrp="1"/>
          </p:cNvSpPr>
          <p:nvPr/>
        </p:nvSpPr>
        <p:spPr>
          <a:xfrm xmlns:a="http://schemas.openxmlformats.org/drawingml/2006/main">
            <a:off x="609600" y="5010150"/>
            <a:ext cx="3238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950" b="0" i="0">
                <a:solidFill>
                  <a:srgbClr val="293730"/>
                </a:solidFill>
                <a:latin typeface="Times New Roman"/>
                <a:ea typeface="Times New Roman"/>
                <a:cs typeface="Times New Roman"/>
              </a:defRPr>
            </a:pPr>
            <a:r>
              <a:rPr sz="1950" b="0" i="0" u="none">
                <a:solidFill>
                  <a:srgbClr val="293730"/>
                </a:solidFill>
                <a:latin typeface="Times New Roman"/>
                <a:ea typeface="Times New Roman"/>
                <a:cs typeface="Times New Roman"/>
              </a:rPr>
              <a:t>Week 5 report + linked documents</a:t>
            </a:r>
          </a:p>
        </p:txBody>
      </p:sp>
      <p:sp>
        <p:nvSpPr>
          <p:cNvPr id="26" name="Impact: the tutor can follow an action to its">
            <a:extLst xmlns:a="http://schemas.openxmlformats.org/drawingml/2006/main">
              <a:ext uri="{FF2B5EF4-FFF2-40B4-BE49-F238E27FC236}">
                <a16:creationId xmlns:a16="http://schemas.microsoft.com/office/drawing/2014/main" id="{63C4556A-9388-475A-BC13-5151D2CCE6BD}"/>
              </a:ext>
            </a:extLst>
          </p:cNvPr>
          <p:cNvSpPr>
            <a:spLocks xmlns:a="http://schemas.openxmlformats.org/drawingml/2006/main" noGrp="1"/>
          </p:cNvSpPr>
          <p:nvPr/>
        </p:nvSpPr>
        <p:spPr>
          <a:xfrm xmlns:a="http://schemas.openxmlformats.org/drawingml/2006/main">
            <a:off x="609600" y="5810250"/>
            <a:ext cx="10972800" cy="381000"/>
          </a:xfrm>
          <a:prstGeom xmlns:a="http://schemas.openxmlformats.org/drawingml/2006/main" prst="rect">
            <a:avLst/>
          </a:prstGeom>
          <a:solidFill xmlns:a="http://schemas.openxmlformats.org/drawingml/2006/main">
            <a:srgbClr val="EDF2EE"/>
          </a:solidFill>
          <a:ln xmlns:a="http://schemas.openxmlformats.org/drawingml/2006/main" w="0">
            <a:noFill/>
          </a:ln>
        </p:spPr>
        <p:txBody>
          <a:bodyPr xmlns:a="http://schemas.openxmlformats.org/drawingml/2006/main" wrap="square" lIns="133350" tIns="38100" rIns="133350" bIns="38100" anchor="ctr">
            <a:noAutofit/>
          </a:bodyPr>
          <a:lstStyle xmlns:a="http://schemas.openxmlformats.org/drawingml/2006/main"/>
          <a:p xmlns:a="http://schemas.openxmlformats.org/drawingml/2006/main">
            <a:pPr algn="l">
              <a:spcBef>
                <a:spcPts val="0"/>
              </a:spcBef>
              <a:spcAft>
                <a:spcPts val="0"/>
              </a:spcAft>
              <a:defRPr sz="1800" b="0" i="0">
                <a:solidFill>
                  <a:srgbClr val="173F32"/>
                </a:solidFill>
                <a:latin typeface="Times New Roman"/>
                <a:ea typeface="Times New Roman"/>
                <a:cs typeface="Times New Roman"/>
              </a:defRPr>
            </a:pPr>
            <a:r>
              <a:rPr sz="1800" b="0" i="0" u="none">
                <a:solidFill>
                  <a:srgbClr val="173F32"/>
                </a:solidFill>
                <a:latin typeface="Times New Roman"/>
                <a:ea typeface="Times New Roman"/>
                <a:cs typeface="Times New Roman"/>
              </a:rPr>
              <a:t>The checklist keeps our project documents and review tasks in one place.</a:t>
            </a:r>
          </a:p>
        </p:txBody>
      </p:sp>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abcbaa0ee7eb409d"/>
          <a:stretch xmlns:a="http://schemas.openxmlformats.org/drawingml/2006/main"/>
        </p:blipFill>
        <p:spPr>
          <a:xfrm xmlns:a="http://schemas.openxmlformats.org/drawingml/2006/main">
            <a:off x="4267200" y="2095500"/>
            <a:ext cx="7315200" cy="3516916"/>
          </a:xfrm>
          <a:prstGeom xmlns:a="http://schemas.openxmlformats.org/drawingml/2006/main" prst="rect">
            <a:avLst/>
          </a:prstGeom>
        </p:spPr>
      </p:pic>
    </p:spTree>
    <p:extLst>
      <p:ext uri="{BB962C8B-B14F-4D97-AF65-F5344CB8AC3E}">
        <p14:creationId xmlns:p14="http://schemas.microsoft.com/office/powerpoint/2010/main" val="1406063070"/>
      </p:ext>
    </p:extLst>
  </p:cSld>
</p:sld>
</file>

<file path=ppt/slides/slide6.xml><?xml version="1.0" encoding="utf-8"?>
<p:sld xmlns:p="http://schemas.openxmlformats.org/presentationml/2006/main">
  <p:cSld>
    <p:bg>
      <p:bgPr>
        <a:solidFill xmlns:a="http://schemas.openxmlformats.org/drawingml/2006/main">
          <a:srgbClr val="FBFBF8"/>
        </a:solidFill>
      </p:bgPr>
    </p:bg>
    <p:spTree>
      <p:nvGrpSpPr>
        <p:cNvPr id="1" name=""/>
        <p:cNvGrpSpPr/>
        <p:nvPr/>
      </p:nvGrpSpPr>
      <p:grpSpPr>
        <a:xfrm xmlns:a="http://schemas.openxmlformats.org/drawingml/2006/main"/>
      </p:grpSpPr>
      <p:sp>
        <p:nvSpPr>
          <p:cNvPr id="23" name="PLANNING AND ORGANISATION">
            <a:extLst xmlns:a="http://schemas.openxmlformats.org/drawingml/2006/main">
              <a:ext uri="{FF2B5EF4-FFF2-40B4-BE49-F238E27FC236}">
                <a16:creationId xmlns:a16="http://schemas.microsoft.com/office/drawing/2014/main" id="{63BD5CF1-58BA-469E-AB2B-18B8080251D5}"/>
              </a:ext>
            </a:extLst>
          </p:cNvPr>
          <p:cNvSpPr>
            <a:spLocks xmlns:a="http://schemas.openxmlformats.org/drawingml/2006/main" noGrp="1"/>
          </p:cNvSpPr>
          <p:nvPr/>
        </p:nvSpPr>
        <p:spPr>
          <a:xfrm xmlns:a="http://schemas.openxmlformats.org/drawingml/2006/main">
            <a:off x="609600" y="390525"/>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350" b="1" i="0">
                <a:solidFill>
                  <a:srgbClr val="173F32"/>
                </a:solidFill>
                <a:latin typeface="Times New Roman"/>
                <a:ea typeface="Times New Roman"/>
                <a:cs typeface="Times New Roman"/>
              </a:defRPr>
            </a:pPr>
            <a:r>
              <a:rPr sz="1350" b="1" i="0" u="none">
                <a:solidFill>
                  <a:srgbClr val="173F32"/>
                </a:solidFill>
                <a:latin typeface="Times New Roman"/>
                <a:ea typeface="Times New Roman"/>
                <a:cs typeface="Times New Roman"/>
              </a:rPr>
              <a:t>PLANNING AND ORGANISATION</a:t>
            </a:r>
          </a:p>
        </p:txBody>
      </p:sp>
      <p:sp>
        <p:nvSpPr>
          <p:cNvPr id="2" name="Owners and hand-offs are more visible">
            <a:extLst xmlns:a="http://schemas.openxmlformats.org/drawingml/2006/main">
              <a:ext uri="{FF2B5EF4-FFF2-40B4-BE49-F238E27FC236}">
                <a16:creationId xmlns:a16="http://schemas.microsoft.com/office/drawing/2014/main" id="{8CB87128-2A15-49D5-99E6-D84D98C887A2}"/>
              </a:ext>
            </a:extLst>
          </p:cNvPr>
          <p:cNvSpPr>
            <a:spLocks xmlns:a="http://schemas.openxmlformats.org/drawingml/2006/main" noGrp="1"/>
          </p:cNvSpPr>
          <p:nvPr/>
        </p:nvSpPr>
        <p:spPr>
          <a:xfrm xmlns:a="http://schemas.openxmlformats.org/drawingml/2006/main">
            <a:off x="609600" y="8001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3300" b="1" i="0">
                <a:solidFill>
                  <a:srgbClr val="173F32"/>
                </a:solidFill>
                <a:latin typeface="Arial"/>
                <a:ea typeface="Arial"/>
                <a:cs typeface="Arial"/>
              </a:defRPr>
            </a:pPr>
            <a:r>
              <a:rPr sz="3300" b="1" i="0" u="none">
                <a:solidFill>
                  <a:srgbClr val="173F32"/>
                </a:solidFill>
                <a:latin typeface="Arial"/>
                <a:ea typeface="Arial"/>
                <a:cs typeface="Arial"/>
              </a:rPr>
              <a:t>Everyone had clear tasks</a:t>
            </a:r>
          </a:p>
        </p:txBody>
      </p:sp>
      <p:sp>
        <p:nvSpPr>
          <p:cNvPr id="3" name="直线连接符 2">
            <a:extLst xmlns:a="http://schemas.openxmlformats.org/drawingml/2006/main">
              <a:ext uri="{FF2B5EF4-FFF2-40B4-BE49-F238E27FC236}">
                <a16:creationId xmlns:a16="http://schemas.microsoft.com/office/drawing/2014/main" id="{5B20C7CD-0921-42F5-833F-C6E3746489C4}"/>
              </a:ext>
            </a:extLst>
          </p:cNvPr>
          <p:cNvSpPr>
            <a:spLocks xmlns:a="http://schemas.openxmlformats.org/drawingml/2006/main" noGrp="1"/>
          </p:cNvSpPr>
          <p:nvPr/>
        </p:nvSpPr>
        <p:spPr>
          <a:xfrm xmlns:a="http://schemas.openxmlformats.org/drawingml/2006/main">
            <a:off x="609600" y="6286500"/>
            <a:ext cx="10972800" cy="0"/>
          </a:xfrm>
          <a:prstGeom xmlns:a="http://schemas.openxmlformats.org/drawingml/2006/main" prst="line">
            <a:avLst/>
          </a:prstGeom>
          <a:noFill xmlns:a="http://schemas.openxmlformats.org/drawingml/2006/main"/>
          <a:ln xmlns:a="http://schemas.openxmlformats.org/drawingml/2006/main" w="9525">
            <a:solidFill>
              <a:srgbClr val="CCD5CF"/>
            </a:solidFill>
            <a:prstDash val="solid"/>
          </a:ln>
        </p:spPr>
      </p:sp>
      <p:sp>
        <p:nvSpPr>
          <p:cNvPr id="4" name="LEAF ANALYZER  /  SPRINT 5">
            <a:extLst xmlns:a="http://schemas.openxmlformats.org/drawingml/2006/main">
              <a:ext uri="{FF2B5EF4-FFF2-40B4-BE49-F238E27FC236}">
                <a16:creationId xmlns:a16="http://schemas.microsoft.com/office/drawing/2014/main" id="{4FCD960D-8F0A-41F8-A3AC-B387CCF3BD08}"/>
              </a:ext>
            </a:extLst>
          </p:cNvPr>
          <p:cNvSpPr>
            <a:spLocks xmlns:a="http://schemas.openxmlformats.org/drawingml/2006/main" noGrp="1"/>
          </p:cNvSpPr>
          <p:nvPr/>
        </p:nvSpPr>
        <p:spPr>
          <a:xfrm xmlns:a="http://schemas.openxmlformats.org/drawingml/2006/main">
            <a:off x="8572500" y="400050"/>
            <a:ext cx="3009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spcBef>
                <a:spcPts val="0"/>
              </a:spcBef>
              <a:spcAft>
                <a:spcPts val="0"/>
              </a:spcAft>
              <a:defRPr sz="1200" b="0" i="0">
                <a:solidFill>
                  <a:srgbClr val="59665F"/>
                </a:solidFill>
                <a:latin typeface="Times New Roman"/>
                <a:ea typeface="Times New Roman"/>
                <a:cs typeface="Times New Roman"/>
              </a:defRPr>
            </a:pPr>
            <a:r>
              <a:rPr sz="1200" b="0" i="0" u="none">
                <a:solidFill>
                  <a:srgbClr val="59665F"/>
                </a:solidFill>
                <a:latin typeface="Times New Roman"/>
                <a:ea typeface="Times New Roman"/>
                <a:cs typeface="Times New Roman"/>
              </a:rPr>
              <a:t>LEAF ANALYZER  /  SPRINT 5</a:t>
            </a:r>
          </a:p>
        </p:txBody>
      </p:sp>
      <p:sp>
        <p:nvSpPr>
          <p:cNvPr id="5" name="Jira assignments • Week 4/5 reflections • PRs">
            <a:extLst xmlns:a="http://schemas.openxmlformats.org/drawingml/2006/main">
              <a:ext uri="{FF2B5EF4-FFF2-40B4-BE49-F238E27FC236}">
                <a16:creationId xmlns:a16="http://schemas.microsoft.com/office/drawing/2014/main" id="{1B2C09B2-AF81-4089-8ECF-A5F8DDE99363}"/>
              </a:ext>
            </a:extLst>
          </p:cNvPr>
          <p:cNvSpPr>
            <a:spLocks xmlns:a="http://schemas.openxmlformats.org/drawingml/2006/main" noGrp="1"/>
          </p:cNvSpPr>
          <p:nvPr/>
        </p:nvSpPr>
        <p:spPr>
          <a:xfrm xmlns:a="http://schemas.openxmlformats.org/drawingml/2006/main">
            <a:off x="609600" y="6362700"/>
            <a:ext cx="1043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200" b="0" i="0">
                <a:solidFill>
                  <a:srgbClr val="59665F"/>
                </a:solidFill>
                <a:latin typeface="Times New Roman"/>
                <a:ea typeface="Times New Roman"/>
                <a:cs typeface="Times New Roman"/>
              </a:defRPr>
            </a:pPr>
            <a:r>
              <a:rPr sz="1200" b="0" i="0" u="none">
                <a:solidFill>
                  <a:srgbClr val="59665F"/>
                </a:solidFill>
                <a:latin typeface="Times New Roman"/>
                <a:ea typeface="Times New Roman"/>
                <a:cs typeface="Times New Roman"/>
              </a:rPr>
              <a:t>Sources: </a:t>
            </a:r>
            <a:r>
              <a:rPr sz="1200" b="0" i="0" u="sng">
                <a:solidFill>
                  <a:srgbClr val="2469A0"/>
                </a:solidFill>
                <a:latin typeface="Times New Roman"/>
                <a:ea typeface="Times New Roman"/>
                <a:cs typeface="Times New Roman"/>
                <a:hlinkClick xmlns:r="http://schemas.openxmlformats.org/officeDocument/2006/relationships" r:id="R7ad727b8ac284899"/>
              </a:rPr>
              <a:t>Backlog</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bd2b1e459eae4888"/>
              </a:rPr>
              <a:t>Week 4 reflection</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be85b44d103f4013"/>
              </a:rPr>
              <a:t>Week 5 reflection</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dfb0607f07fa4c9b"/>
              </a:rPr>
              <a:t>LEAF-150</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6144e8aabf39418b"/>
              </a:rPr>
              <a:t>PR #28</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573f701fb33748a6"/>
              </a:rPr>
              <a:t>PR #29</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b0d12fb0032340b7"/>
              </a:rPr>
              <a:t>PR #36</a:t>
            </a:r>
          </a:p>
        </p:txBody>
      </p:sp>
      <p:sp>
        <p:nvSpPr>
          <p:cNvPr id="6" name="06">
            <a:extLst xmlns:a="http://schemas.openxmlformats.org/drawingml/2006/main">
              <a:ext uri="{FF2B5EF4-FFF2-40B4-BE49-F238E27FC236}">
                <a16:creationId xmlns:a16="http://schemas.microsoft.com/office/drawing/2014/main" id="{8142C773-B680-4BFF-9E4A-F93E263D6D89}"/>
              </a:ext>
            </a:extLst>
          </p:cNvPr>
          <p:cNvSpPr>
            <a:spLocks xmlns:a="http://schemas.openxmlformats.org/drawingml/2006/main" noGrp="1"/>
          </p:cNvSpPr>
          <p:nvPr/>
        </p:nvSpPr>
        <p:spPr>
          <a:xfrm xmlns:a="http://schemas.openxmlformats.org/drawingml/2006/main">
            <a:off x="11239500" y="63722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spcBef>
                <a:spcPts val="0"/>
              </a:spcBef>
              <a:spcAft>
                <a:spcPts val="0"/>
              </a:spcAft>
              <a:defRPr sz="1425" b="0" i="0">
                <a:solidFill>
                  <a:srgbClr val="59665F"/>
                </a:solidFill>
                <a:latin typeface="Times New Roman"/>
                <a:ea typeface="Times New Roman"/>
                <a:cs typeface="Times New Roman"/>
              </a:defRPr>
            </a:pPr>
            <a:r>
              <a:rPr sz="1425" b="0" i="0" u="none">
                <a:solidFill>
                  <a:srgbClr val="59665F"/>
                </a:solidFill>
                <a:latin typeface="Times New Roman"/>
                <a:ea typeface="Times New Roman"/>
                <a:cs typeface="Times New Roman"/>
              </a:rPr>
              <a:t>06</a:t>
            </a:r>
          </a:p>
        </p:txBody>
      </p:sp>
      <p:sp>
        <p:nvSpPr>
          <p:cNvPr id="7" name="Ryan">
            <a:extLst xmlns:a="http://schemas.openxmlformats.org/drawingml/2006/main">
              <a:ext uri="{FF2B5EF4-FFF2-40B4-BE49-F238E27FC236}">
                <a16:creationId xmlns:a16="http://schemas.microsoft.com/office/drawing/2014/main" id="{2ED79CCA-D502-447C-9F73-20D8BDEF3DBF}"/>
              </a:ext>
            </a:extLst>
          </p:cNvPr>
          <p:cNvSpPr>
            <a:spLocks xmlns:a="http://schemas.openxmlformats.org/drawingml/2006/main" noGrp="1"/>
          </p:cNvSpPr>
          <p:nvPr/>
        </p:nvSpPr>
        <p:spPr>
          <a:xfrm xmlns:a="http://schemas.openxmlformats.org/drawingml/2006/main">
            <a:off x="609600" y="1847850"/>
            <a:ext cx="2438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2700" b="1" i="0">
                <a:solidFill>
                  <a:srgbClr val="173F32"/>
                </a:solidFill>
                <a:latin typeface="Times New Roman"/>
                <a:ea typeface="Times New Roman"/>
                <a:cs typeface="Times New Roman"/>
              </a:defRPr>
            </a:pPr>
            <a:r>
              <a:rPr sz="2700" b="1" i="0" u="none">
                <a:solidFill>
                  <a:srgbClr val="173F32"/>
                </a:solidFill>
                <a:latin typeface="Times New Roman"/>
                <a:ea typeface="Times New Roman"/>
                <a:cs typeface="Times New Roman"/>
              </a:rPr>
              <a:t>Ryan</a:t>
            </a:r>
          </a:p>
        </p:txBody>
      </p:sp>
      <p:sp>
        <p:nvSpPr>
          <p:cNvPr id="8" name="UI, Hypercube, crop fixes&#10;and shared SR.">
            <a:extLst xmlns:a="http://schemas.openxmlformats.org/drawingml/2006/main">
              <a:ext uri="{FF2B5EF4-FFF2-40B4-BE49-F238E27FC236}">
                <a16:creationId xmlns:a16="http://schemas.microsoft.com/office/drawing/2014/main" id="{1F82EC45-1120-40D9-83E5-7FD6CAC46240}"/>
              </a:ext>
            </a:extLst>
          </p:cNvPr>
          <p:cNvSpPr>
            <a:spLocks xmlns:a="http://schemas.openxmlformats.org/drawingml/2006/main" noGrp="1"/>
          </p:cNvSpPr>
          <p:nvPr/>
        </p:nvSpPr>
        <p:spPr>
          <a:xfrm xmlns:a="http://schemas.openxmlformats.org/drawingml/2006/main">
            <a:off x="609600" y="2400300"/>
            <a:ext cx="25146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875" b="0" i="0">
                <a:solidFill>
                  <a:srgbClr val="293730"/>
                </a:solidFill>
                <a:latin typeface="Times New Roman"/>
                <a:ea typeface="Times New Roman"/>
                <a:cs typeface="Times New Roman"/>
              </a:defRPr>
            </a:pPr>
            <a:r>
              <a:rPr sz="1875" b="0" i="0" u="none">
                <a:solidFill>
                  <a:srgbClr val="293730"/>
                </a:solidFill>
                <a:latin typeface="Times New Roman"/>
                <a:ea typeface="Times New Roman"/>
                <a:cs typeface="Times New Roman"/>
              </a:rPr>
              <a:t>UI, Hypercube, crop fixes</a:t>
            </a:r>
          </a:p>
          <a:p xmlns:a="http://schemas.openxmlformats.org/drawingml/2006/main">
            <a:pPr algn="l">
              <a:spcBef>
                <a:spcPts val="0"/>
              </a:spcBef>
              <a:spcAft>
                <a:spcPts val="0"/>
              </a:spcAft>
              <a:defRPr sz="1875" b="0" i="0">
                <a:solidFill>
                  <a:srgbClr val="293730"/>
                </a:solidFill>
                <a:latin typeface="Times New Roman"/>
                <a:ea typeface="Times New Roman"/>
                <a:cs typeface="Times New Roman"/>
              </a:defRPr>
            </a:pPr>
            <a:r>
              <a:rPr sz="1875" b="0" i="0" u="none">
                <a:solidFill>
                  <a:srgbClr val="293730"/>
                </a:solidFill>
                <a:latin typeface="Times New Roman"/>
                <a:ea typeface="Times New Roman"/>
                <a:cs typeface="Times New Roman"/>
              </a:rPr>
              <a:t>and shared SR results.</a:t>
            </a:r>
          </a:p>
        </p:txBody>
      </p:sp>
      <p:sp>
        <p:nvSpPr>
          <p:cNvPr id="9" name="LEAF-146–148, 150&#10;LEAF-153–156, 158">
            <a:extLst xmlns:a="http://schemas.openxmlformats.org/drawingml/2006/main">
              <a:ext uri="{FF2B5EF4-FFF2-40B4-BE49-F238E27FC236}">
                <a16:creationId xmlns:a16="http://schemas.microsoft.com/office/drawing/2014/main" id="{4F92FEAD-6D32-4F86-8DE0-B05B4D3D335A}"/>
              </a:ext>
            </a:extLst>
          </p:cNvPr>
          <p:cNvSpPr>
            <a:spLocks xmlns:a="http://schemas.openxmlformats.org/drawingml/2006/main" noGrp="1"/>
          </p:cNvSpPr>
          <p:nvPr/>
        </p:nvSpPr>
        <p:spPr>
          <a:xfrm xmlns:a="http://schemas.openxmlformats.org/drawingml/2006/main">
            <a:off x="609600" y="3543300"/>
            <a:ext cx="2438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650" b="0" i="0">
                <a:solidFill>
                  <a:srgbClr val="293730"/>
                </a:solidFill>
                <a:latin typeface="Times New Roman"/>
                <a:ea typeface="Times New Roman"/>
                <a:cs typeface="Times New Roman"/>
              </a:defRPr>
            </a:pPr>
            <a:r>
              <a:rPr sz="1650" b="0" i="0" u="sng">
                <a:solidFill>
                  <a:srgbClr val="2469A0"/>
                </a:solidFill>
                <a:latin typeface="Times New Roman"/>
                <a:ea typeface="Times New Roman"/>
                <a:cs typeface="Times New Roman"/>
                <a:hlinkClick xmlns:r="http://schemas.openxmlformats.org/officeDocument/2006/relationships" r:id="R874cb4c9a0e44f31"/>
              </a:rPr>
              <a:t>LEAF-146</a:t>
            </a:r>
            <a:r>
              <a:rPr sz="1650" b="0" i="0" u="none">
                <a:solidFill>
                  <a:srgbClr val="293730"/>
                </a:solidFill>
                <a:latin typeface="Times New Roman"/>
                <a:ea typeface="Times New Roman"/>
                <a:cs typeface="Times New Roman"/>
              </a:rPr>
              <a:t>–148, 150</a:t>
            </a:r>
          </a:p>
          <a:p xmlns:a="http://schemas.openxmlformats.org/drawingml/2006/main">
            <a:pPr algn="l">
              <a:spcBef>
                <a:spcPts val="0"/>
              </a:spcBef>
              <a:spcAft>
                <a:spcPts val="0"/>
              </a:spcAft>
              <a:defRPr sz="1650" b="0" i="0">
                <a:solidFill>
                  <a:srgbClr val="293730"/>
                </a:solidFill>
                <a:latin typeface="Times New Roman"/>
                <a:ea typeface="Times New Roman"/>
                <a:cs typeface="Times New Roman"/>
              </a:defRPr>
            </a:pPr>
            <a:r>
              <a:rPr sz="1650" b="0" i="0" u="sng">
                <a:solidFill>
                  <a:srgbClr val="2469A0"/>
                </a:solidFill>
                <a:latin typeface="Times New Roman"/>
                <a:ea typeface="Times New Roman"/>
                <a:cs typeface="Times New Roman"/>
                <a:hlinkClick xmlns:r="http://schemas.openxmlformats.org/officeDocument/2006/relationships" r:id="Rfe522a28c488409a"/>
              </a:rPr>
              <a:t>LEAF-153</a:t>
            </a:r>
            <a:r>
              <a:rPr sz="1650" b="0" i="0" u="none">
                <a:solidFill>
                  <a:srgbClr val="293730"/>
                </a:solidFill>
                <a:latin typeface="Times New Roman"/>
                <a:ea typeface="Times New Roman"/>
                <a:cs typeface="Times New Roman"/>
              </a:rPr>
              <a:t>–156, 158</a:t>
            </a:r>
          </a:p>
        </p:txBody>
      </p:sp>
      <p:sp>
        <p:nvSpPr>
          <p:cNvPr id="10" name="Guochen">
            <a:extLst xmlns:a="http://schemas.openxmlformats.org/drawingml/2006/main">
              <a:ext uri="{FF2B5EF4-FFF2-40B4-BE49-F238E27FC236}">
                <a16:creationId xmlns:a16="http://schemas.microsoft.com/office/drawing/2014/main" id="{6D596703-69D2-4BD1-941E-7225E4B4C42A}"/>
              </a:ext>
            </a:extLst>
          </p:cNvPr>
          <p:cNvSpPr>
            <a:spLocks xmlns:a="http://schemas.openxmlformats.org/drawingml/2006/main" noGrp="1"/>
          </p:cNvSpPr>
          <p:nvPr/>
        </p:nvSpPr>
        <p:spPr>
          <a:xfrm xmlns:a="http://schemas.openxmlformats.org/drawingml/2006/main">
            <a:off x="3429000" y="1847850"/>
            <a:ext cx="2438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2700" b="1" i="0">
                <a:solidFill>
                  <a:srgbClr val="173F32"/>
                </a:solidFill>
                <a:latin typeface="Times New Roman"/>
                <a:ea typeface="Times New Roman"/>
                <a:cs typeface="Times New Roman"/>
              </a:defRPr>
            </a:pPr>
            <a:r>
              <a:rPr sz="2700" b="1" i="0" u="none">
                <a:solidFill>
                  <a:srgbClr val="173F32"/>
                </a:solidFill>
                <a:latin typeface="Times New Roman"/>
                <a:ea typeface="Times New Roman"/>
                <a:cs typeface="Times New Roman"/>
              </a:rPr>
              <a:t>Guochen</a:t>
            </a:r>
          </a:p>
        </p:txBody>
      </p:sp>
      <p:sp>
        <p:nvSpPr>
          <p:cNvPr id="11" name="SR integration, UI polish&#10;and project reporti">
            <a:extLst xmlns:a="http://schemas.openxmlformats.org/drawingml/2006/main">
              <a:ext uri="{FF2B5EF4-FFF2-40B4-BE49-F238E27FC236}">
                <a16:creationId xmlns:a16="http://schemas.microsoft.com/office/drawing/2014/main" id="{D36D158A-3AA2-4799-8A3B-2E7D350CAAC8}"/>
              </a:ext>
            </a:extLst>
          </p:cNvPr>
          <p:cNvSpPr>
            <a:spLocks xmlns:a="http://schemas.openxmlformats.org/drawingml/2006/main" noGrp="1"/>
          </p:cNvSpPr>
          <p:nvPr/>
        </p:nvSpPr>
        <p:spPr>
          <a:xfrm xmlns:a="http://schemas.openxmlformats.org/drawingml/2006/main">
            <a:off x="3429000" y="2400300"/>
            <a:ext cx="25146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875" b="0" i="0">
                <a:solidFill>
                  <a:srgbClr val="293730"/>
                </a:solidFill>
                <a:latin typeface="Times New Roman"/>
                <a:ea typeface="Times New Roman"/>
                <a:cs typeface="Times New Roman"/>
              </a:defRPr>
            </a:pPr>
            <a:r>
              <a:rPr sz="1875" b="0" i="0" u="none">
                <a:solidFill>
                  <a:srgbClr val="293730"/>
                </a:solidFill>
                <a:latin typeface="Times New Roman"/>
                <a:ea typeface="Times New Roman"/>
                <a:cs typeface="Times New Roman"/>
              </a:rPr>
              <a:t>SR, UI changes</a:t>
            </a:r>
          </a:p>
          <a:p xmlns:a="http://schemas.openxmlformats.org/drawingml/2006/main">
            <a:pPr algn="l">
              <a:spcBef>
                <a:spcPts val="0"/>
              </a:spcBef>
              <a:spcAft>
                <a:spcPts val="0"/>
              </a:spcAft>
              <a:defRPr sz="1875" b="0" i="0">
                <a:solidFill>
                  <a:srgbClr val="293730"/>
                </a:solidFill>
                <a:latin typeface="Times New Roman"/>
                <a:ea typeface="Times New Roman"/>
                <a:cs typeface="Times New Roman"/>
              </a:defRPr>
            </a:pPr>
            <a:r>
              <a:rPr sz="1875" b="0" i="0" u="none">
                <a:solidFill>
                  <a:srgbClr val="293730"/>
                </a:solidFill>
                <a:latin typeface="Times New Roman"/>
                <a:ea typeface="Times New Roman"/>
                <a:cs typeface="Times New Roman"/>
              </a:rPr>
              <a:t>and project reports.</a:t>
            </a:r>
          </a:p>
        </p:txBody>
      </p:sp>
      <p:sp>
        <p:nvSpPr>
          <p:cNvPr id="12" name="LEAF-149, 152, 157">
            <a:extLst xmlns:a="http://schemas.openxmlformats.org/drawingml/2006/main">
              <a:ext uri="{FF2B5EF4-FFF2-40B4-BE49-F238E27FC236}">
                <a16:creationId xmlns:a16="http://schemas.microsoft.com/office/drawing/2014/main" id="{5D5F8E27-D450-49BC-B839-E2F24E28D4A4}"/>
              </a:ext>
            </a:extLst>
          </p:cNvPr>
          <p:cNvSpPr>
            <a:spLocks xmlns:a="http://schemas.openxmlformats.org/drawingml/2006/main" noGrp="1"/>
          </p:cNvSpPr>
          <p:nvPr/>
        </p:nvSpPr>
        <p:spPr>
          <a:xfrm xmlns:a="http://schemas.openxmlformats.org/drawingml/2006/main">
            <a:off x="3429000" y="3543300"/>
            <a:ext cx="2438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650" b="0" i="0">
                <a:solidFill>
                  <a:srgbClr val="293730"/>
                </a:solidFill>
                <a:latin typeface="Times New Roman"/>
                <a:ea typeface="Times New Roman"/>
                <a:cs typeface="Times New Roman"/>
              </a:defRPr>
            </a:pPr>
            <a:r>
              <a:rPr sz="1650" b="0" i="0" u="sng">
                <a:solidFill>
                  <a:srgbClr val="2469A0"/>
                </a:solidFill>
                <a:latin typeface="Times New Roman"/>
                <a:ea typeface="Times New Roman"/>
                <a:cs typeface="Times New Roman"/>
                <a:hlinkClick xmlns:r="http://schemas.openxmlformats.org/officeDocument/2006/relationships" r:id="R1bf786a7c1094d7c"/>
              </a:rPr>
              <a:t>LEAF-149</a:t>
            </a:r>
            <a:r>
              <a:rPr sz="1650" b="0" i="0" u="none">
                <a:solidFill>
                  <a:srgbClr val="293730"/>
                </a:solidFill>
                <a:latin typeface="Times New Roman"/>
                <a:ea typeface="Times New Roman"/>
                <a:cs typeface="Times New Roman"/>
              </a:rPr>
              <a:t>, 152, 157</a:t>
            </a:r>
          </a:p>
        </p:txBody>
      </p:sp>
      <p:sp>
        <p:nvSpPr>
          <p:cNvPr id="13" name="Jingyi">
            <a:extLst xmlns:a="http://schemas.openxmlformats.org/drawingml/2006/main">
              <a:ext uri="{FF2B5EF4-FFF2-40B4-BE49-F238E27FC236}">
                <a16:creationId xmlns:a16="http://schemas.microsoft.com/office/drawing/2014/main" id="{483E10F5-6F95-4EC1-B1DF-C3EA349895AF}"/>
              </a:ext>
            </a:extLst>
          </p:cNvPr>
          <p:cNvSpPr>
            <a:spLocks xmlns:a="http://schemas.openxmlformats.org/drawingml/2006/main" noGrp="1"/>
          </p:cNvSpPr>
          <p:nvPr/>
        </p:nvSpPr>
        <p:spPr>
          <a:xfrm xmlns:a="http://schemas.openxmlformats.org/drawingml/2006/main">
            <a:off x="6248400" y="1847850"/>
            <a:ext cx="2438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2700" b="1" i="0">
                <a:solidFill>
                  <a:srgbClr val="173F32"/>
                </a:solidFill>
                <a:latin typeface="Times New Roman"/>
                <a:ea typeface="Times New Roman"/>
                <a:cs typeface="Times New Roman"/>
              </a:defRPr>
            </a:pPr>
            <a:r>
              <a:rPr sz="2700" b="1" i="0" u="none">
                <a:solidFill>
                  <a:srgbClr val="173F32"/>
                </a:solidFill>
                <a:latin typeface="Times New Roman"/>
                <a:ea typeface="Times New Roman"/>
                <a:cs typeface="Times New Roman"/>
              </a:rPr>
              <a:t>Jingyi</a:t>
            </a:r>
          </a:p>
        </p:txBody>
      </p:sp>
      <p:sp>
        <p:nvSpPr>
          <p:cNvPr id="14" name="Visualization models and&#10;supervised classific">
            <a:extLst xmlns:a="http://schemas.openxmlformats.org/drawingml/2006/main">
              <a:ext uri="{FF2B5EF4-FFF2-40B4-BE49-F238E27FC236}">
                <a16:creationId xmlns:a16="http://schemas.microsoft.com/office/drawing/2014/main" id="{B77B18C1-9262-4C7C-A95B-BFD8A5967EAF}"/>
              </a:ext>
            </a:extLst>
          </p:cNvPr>
          <p:cNvSpPr>
            <a:spLocks xmlns:a="http://schemas.openxmlformats.org/drawingml/2006/main" noGrp="1"/>
          </p:cNvSpPr>
          <p:nvPr/>
        </p:nvSpPr>
        <p:spPr>
          <a:xfrm xmlns:a="http://schemas.openxmlformats.org/drawingml/2006/main">
            <a:off x="6248400" y="2400300"/>
            <a:ext cx="25146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875" b="0" i="0">
                <a:solidFill>
                  <a:srgbClr val="293730"/>
                </a:solidFill>
                <a:latin typeface="Times New Roman"/>
                <a:ea typeface="Times New Roman"/>
                <a:cs typeface="Times New Roman"/>
              </a:defRPr>
            </a:pPr>
            <a:r>
              <a:rPr sz="1875" b="0" i="0" u="none">
                <a:solidFill>
                  <a:srgbClr val="293730"/>
                </a:solidFill>
                <a:latin typeface="Times New Roman"/>
                <a:ea typeface="Times New Roman"/>
                <a:cs typeface="Times New Roman"/>
              </a:rPr>
              <a:t>Image display models</a:t>
            </a:r>
          </a:p>
          <a:p xmlns:a="http://schemas.openxmlformats.org/drawingml/2006/main">
            <a:pPr algn="l">
              <a:spcBef>
                <a:spcPts val="0"/>
              </a:spcBef>
              <a:spcAft>
                <a:spcPts val="0"/>
              </a:spcAft>
              <a:defRPr sz="1875" b="0" i="0">
                <a:solidFill>
                  <a:srgbClr val="293730"/>
                </a:solidFill>
                <a:latin typeface="Times New Roman"/>
                <a:ea typeface="Times New Roman"/>
                <a:cs typeface="Times New Roman"/>
              </a:defRPr>
            </a:pPr>
            <a:r>
              <a:rPr sz="1875" b="0" i="0" u="none">
                <a:solidFill>
                  <a:srgbClr val="293730"/>
                </a:solidFill>
                <a:latin typeface="Times New Roman"/>
                <a:ea typeface="Times New Roman"/>
                <a:cs typeface="Times New Roman"/>
              </a:rPr>
              <a:t>and supervised classification.</a:t>
            </a:r>
          </a:p>
        </p:txBody>
      </p:sp>
      <p:sp>
        <p:nvSpPr>
          <p:cNvPr id="15" name="LEAF-125–131&#10;LEAF-160–162, 164">
            <a:extLst xmlns:a="http://schemas.openxmlformats.org/drawingml/2006/main">
              <a:ext uri="{FF2B5EF4-FFF2-40B4-BE49-F238E27FC236}">
                <a16:creationId xmlns:a16="http://schemas.microsoft.com/office/drawing/2014/main" id="{B06C6CAA-F4AE-41FA-AE24-E54E651C43BA}"/>
              </a:ext>
            </a:extLst>
          </p:cNvPr>
          <p:cNvSpPr>
            <a:spLocks xmlns:a="http://schemas.openxmlformats.org/drawingml/2006/main" noGrp="1"/>
          </p:cNvSpPr>
          <p:nvPr/>
        </p:nvSpPr>
        <p:spPr>
          <a:xfrm xmlns:a="http://schemas.openxmlformats.org/drawingml/2006/main">
            <a:off x="6248400" y="3543300"/>
            <a:ext cx="2438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650" b="0" i="0">
                <a:solidFill>
                  <a:srgbClr val="293730"/>
                </a:solidFill>
                <a:latin typeface="Times New Roman"/>
                <a:ea typeface="Times New Roman"/>
                <a:cs typeface="Times New Roman"/>
              </a:defRPr>
            </a:pPr>
            <a:r>
              <a:rPr sz="1650" b="0" i="0" u="sng">
                <a:solidFill>
                  <a:srgbClr val="2469A0"/>
                </a:solidFill>
                <a:latin typeface="Times New Roman"/>
                <a:ea typeface="Times New Roman"/>
                <a:cs typeface="Times New Roman"/>
                <a:hlinkClick xmlns:r="http://schemas.openxmlformats.org/officeDocument/2006/relationships" r:id="Ra0d00457302643d2"/>
              </a:rPr>
              <a:t>LEAF-125</a:t>
            </a:r>
            <a:r>
              <a:rPr sz="1650" b="0" i="0" u="none">
                <a:solidFill>
                  <a:srgbClr val="293730"/>
                </a:solidFill>
                <a:latin typeface="Times New Roman"/>
                <a:ea typeface="Times New Roman"/>
                <a:cs typeface="Times New Roman"/>
              </a:rPr>
              <a:t>–131</a:t>
            </a:r>
          </a:p>
          <a:p xmlns:a="http://schemas.openxmlformats.org/drawingml/2006/main">
            <a:pPr algn="l">
              <a:spcBef>
                <a:spcPts val="0"/>
              </a:spcBef>
              <a:spcAft>
                <a:spcPts val="0"/>
              </a:spcAft>
              <a:defRPr sz="1650" b="0" i="0">
                <a:solidFill>
                  <a:srgbClr val="293730"/>
                </a:solidFill>
                <a:latin typeface="Times New Roman"/>
                <a:ea typeface="Times New Roman"/>
                <a:cs typeface="Times New Roman"/>
              </a:defRPr>
            </a:pPr>
            <a:r>
              <a:rPr sz="1650" b="0" i="0" u="sng">
                <a:solidFill>
                  <a:srgbClr val="2469A0"/>
                </a:solidFill>
                <a:latin typeface="Times New Roman"/>
                <a:ea typeface="Times New Roman"/>
                <a:cs typeface="Times New Roman"/>
                <a:hlinkClick xmlns:r="http://schemas.openxmlformats.org/officeDocument/2006/relationships" r:id="R3347854732194639"/>
              </a:rPr>
              <a:t>LEAF-160</a:t>
            </a:r>
            <a:r>
              <a:rPr sz="1650" b="0" i="0" u="none">
                <a:solidFill>
                  <a:srgbClr val="293730"/>
                </a:solidFill>
                <a:latin typeface="Times New Roman"/>
                <a:ea typeface="Times New Roman"/>
                <a:cs typeface="Times New Roman"/>
              </a:rPr>
              <a:t>–162, 164</a:t>
            </a:r>
          </a:p>
        </p:txBody>
      </p:sp>
      <p:sp>
        <p:nvSpPr>
          <p:cNvPr id="16" name="Pengyun">
            <a:extLst xmlns:a="http://schemas.openxmlformats.org/drawingml/2006/main">
              <a:ext uri="{FF2B5EF4-FFF2-40B4-BE49-F238E27FC236}">
                <a16:creationId xmlns:a16="http://schemas.microsoft.com/office/drawing/2014/main" id="{62C1EAE0-281C-4C57-8185-43350A786A6B}"/>
              </a:ext>
            </a:extLst>
          </p:cNvPr>
          <p:cNvSpPr>
            <a:spLocks xmlns:a="http://schemas.openxmlformats.org/drawingml/2006/main" noGrp="1"/>
          </p:cNvSpPr>
          <p:nvPr/>
        </p:nvSpPr>
        <p:spPr>
          <a:xfrm xmlns:a="http://schemas.openxmlformats.org/drawingml/2006/main">
            <a:off x="9067800" y="1847850"/>
            <a:ext cx="2438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2700" b="1" i="0">
                <a:solidFill>
                  <a:srgbClr val="173F32"/>
                </a:solidFill>
                <a:latin typeface="Times New Roman"/>
                <a:ea typeface="Times New Roman"/>
                <a:cs typeface="Times New Roman"/>
              </a:defRPr>
            </a:pPr>
            <a:r>
              <a:rPr sz="2700" b="1" i="0" u="none">
                <a:solidFill>
                  <a:srgbClr val="173F32"/>
                </a:solidFill>
                <a:latin typeface="Times New Roman"/>
                <a:ea typeface="Times New Roman"/>
                <a:cs typeface="Times New Roman"/>
              </a:rPr>
              <a:t>Pengyun</a:t>
            </a:r>
          </a:p>
        </p:txBody>
      </p:sp>
      <p:sp>
        <p:nvSpPr>
          <p:cNvPr id="17" name="Hypercube components,&#10;K-means, GUI and API.">
            <a:extLst xmlns:a="http://schemas.openxmlformats.org/drawingml/2006/main">
              <a:ext uri="{FF2B5EF4-FFF2-40B4-BE49-F238E27FC236}">
                <a16:creationId xmlns:a16="http://schemas.microsoft.com/office/drawing/2014/main" id="{07F736A1-DDB0-4AAE-A726-525A8F80BB76}"/>
              </a:ext>
            </a:extLst>
          </p:cNvPr>
          <p:cNvSpPr>
            <a:spLocks xmlns:a="http://schemas.openxmlformats.org/drawingml/2006/main" noGrp="1"/>
          </p:cNvSpPr>
          <p:nvPr/>
        </p:nvSpPr>
        <p:spPr>
          <a:xfrm xmlns:a="http://schemas.openxmlformats.org/drawingml/2006/main">
            <a:off x="9067800" y="2400300"/>
            <a:ext cx="25146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875" b="0" i="0">
                <a:solidFill>
                  <a:srgbClr val="293730"/>
                </a:solidFill>
                <a:latin typeface="Times New Roman"/>
                <a:ea typeface="Times New Roman"/>
                <a:cs typeface="Times New Roman"/>
              </a:defRPr>
            </a:pPr>
            <a:r>
              <a:rPr sz="1875" b="0" i="0" u="none">
                <a:solidFill>
                  <a:srgbClr val="293730"/>
                </a:solidFill>
                <a:latin typeface="Times New Roman"/>
                <a:ea typeface="Times New Roman"/>
                <a:cs typeface="Times New Roman"/>
              </a:rPr>
              <a:t>Hypercube components,</a:t>
            </a:r>
          </a:p>
          <a:p xmlns:a="http://schemas.openxmlformats.org/drawingml/2006/main">
            <a:pPr algn="l">
              <a:spcBef>
                <a:spcPts val="0"/>
              </a:spcBef>
              <a:spcAft>
                <a:spcPts val="0"/>
              </a:spcAft>
              <a:defRPr sz="1875" b="0" i="0">
                <a:solidFill>
                  <a:srgbClr val="293730"/>
                </a:solidFill>
                <a:latin typeface="Times New Roman"/>
                <a:ea typeface="Times New Roman"/>
                <a:cs typeface="Times New Roman"/>
              </a:defRPr>
            </a:pPr>
            <a:r>
              <a:rPr sz="1875" b="0" i="0" u="none">
                <a:solidFill>
                  <a:srgbClr val="293730"/>
                </a:solidFill>
                <a:latin typeface="Times New Roman"/>
                <a:ea typeface="Times New Roman"/>
                <a:cs typeface="Times New Roman"/>
              </a:rPr>
              <a:t>K-means and classification UI.</a:t>
            </a:r>
          </a:p>
        </p:txBody>
      </p:sp>
      <p:sp>
        <p:nvSpPr>
          <p:cNvPr id="18" name="LEAF-132–139&#10;LEAF-159, 163, 165–166">
            <a:extLst xmlns:a="http://schemas.openxmlformats.org/drawingml/2006/main">
              <a:ext uri="{FF2B5EF4-FFF2-40B4-BE49-F238E27FC236}">
                <a16:creationId xmlns:a16="http://schemas.microsoft.com/office/drawing/2014/main" id="{F491338E-0D28-4A56-A004-FFC0526B5310}"/>
              </a:ext>
            </a:extLst>
          </p:cNvPr>
          <p:cNvSpPr>
            <a:spLocks xmlns:a="http://schemas.openxmlformats.org/drawingml/2006/main" noGrp="1"/>
          </p:cNvSpPr>
          <p:nvPr/>
        </p:nvSpPr>
        <p:spPr>
          <a:xfrm xmlns:a="http://schemas.openxmlformats.org/drawingml/2006/main">
            <a:off x="9067800" y="3543300"/>
            <a:ext cx="2438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650" b="0" i="0">
                <a:solidFill>
                  <a:srgbClr val="293730"/>
                </a:solidFill>
                <a:latin typeface="Times New Roman"/>
                <a:ea typeface="Times New Roman"/>
                <a:cs typeface="Times New Roman"/>
              </a:defRPr>
            </a:pPr>
            <a:r>
              <a:rPr sz="1650" b="0" i="0" u="sng">
                <a:solidFill>
                  <a:srgbClr val="2469A0"/>
                </a:solidFill>
                <a:latin typeface="Times New Roman"/>
                <a:ea typeface="Times New Roman"/>
                <a:cs typeface="Times New Roman"/>
                <a:hlinkClick xmlns:r="http://schemas.openxmlformats.org/officeDocument/2006/relationships" r:id="R30b9163e2ca64c20"/>
              </a:rPr>
              <a:t>LEAF-132</a:t>
            </a:r>
            <a:r>
              <a:rPr sz="1650" b="0" i="0" u="none">
                <a:solidFill>
                  <a:srgbClr val="293730"/>
                </a:solidFill>
                <a:latin typeface="Times New Roman"/>
                <a:ea typeface="Times New Roman"/>
                <a:cs typeface="Times New Roman"/>
              </a:rPr>
              <a:t>–139</a:t>
            </a:r>
          </a:p>
          <a:p xmlns:a="http://schemas.openxmlformats.org/drawingml/2006/main">
            <a:pPr algn="l">
              <a:spcBef>
                <a:spcPts val="0"/>
              </a:spcBef>
              <a:spcAft>
                <a:spcPts val="0"/>
              </a:spcAft>
              <a:defRPr sz="1650" b="0" i="0">
                <a:solidFill>
                  <a:srgbClr val="293730"/>
                </a:solidFill>
                <a:latin typeface="Times New Roman"/>
                <a:ea typeface="Times New Roman"/>
                <a:cs typeface="Times New Roman"/>
              </a:defRPr>
            </a:pPr>
            <a:r>
              <a:rPr sz="1650" b="0" i="0" u="sng">
                <a:solidFill>
                  <a:srgbClr val="2469A0"/>
                </a:solidFill>
                <a:latin typeface="Times New Roman"/>
                <a:ea typeface="Times New Roman"/>
                <a:cs typeface="Times New Roman"/>
                <a:hlinkClick xmlns:r="http://schemas.openxmlformats.org/officeDocument/2006/relationships" r:id="R2ce99b7422694398"/>
              </a:rPr>
              <a:t>LEAF-159</a:t>
            </a:r>
            <a:r>
              <a:rPr sz="1650" b="0" i="0" u="none">
                <a:solidFill>
                  <a:srgbClr val="293730"/>
                </a:solidFill>
                <a:latin typeface="Times New Roman"/>
                <a:ea typeface="Times New Roman"/>
                <a:cs typeface="Times New Roman"/>
              </a:rPr>
              <a:t>, 163, 165–166</a:t>
            </a:r>
          </a:p>
        </p:txBody>
      </p:sp>
      <p:sp>
        <p:nvSpPr>
          <p:cNvPr id="19" name="直线连接符 18">
            <a:extLst xmlns:a="http://schemas.openxmlformats.org/drawingml/2006/main">
              <a:ext uri="{FF2B5EF4-FFF2-40B4-BE49-F238E27FC236}">
                <a16:creationId xmlns:a16="http://schemas.microsoft.com/office/drawing/2014/main" id="{8E68A839-A075-47A9-A5A1-45D41009522F}"/>
              </a:ext>
            </a:extLst>
          </p:cNvPr>
          <p:cNvSpPr>
            <a:spLocks xmlns:a="http://schemas.openxmlformats.org/drawingml/2006/main" noGrp="1"/>
          </p:cNvSpPr>
          <p:nvPr/>
        </p:nvSpPr>
        <p:spPr>
          <a:xfrm xmlns:a="http://schemas.openxmlformats.org/drawingml/2006/main">
            <a:off x="609600" y="4381500"/>
            <a:ext cx="10972800" cy="0"/>
          </a:xfrm>
          <a:prstGeom xmlns:a="http://schemas.openxmlformats.org/drawingml/2006/main" prst="line">
            <a:avLst/>
          </a:prstGeom>
          <a:noFill xmlns:a="http://schemas.openxmlformats.org/drawingml/2006/main"/>
          <a:ln xmlns:a="http://schemas.openxmlformats.org/drawingml/2006/main" w="9525">
            <a:solidFill>
              <a:srgbClr val="CCD5CF"/>
            </a:solidFill>
            <a:prstDash val="solid"/>
          </a:ln>
        </p:spPr>
      </p:sp>
      <p:sp>
        <p:nvSpPr>
          <p:cNvPr id="20" name="Integration needed rework">
            <a:extLst xmlns:a="http://schemas.openxmlformats.org/drawingml/2006/main">
              <a:ext uri="{FF2B5EF4-FFF2-40B4-BE49-F238E27FC236}">
                <a16:creationId xmlns:a16="http://schemas.microsoft.com/office/drawing/2014/main" id="{0F8CFE1D-5154-489C-8578-7D0AE30EFC8A}"/>
              </a:ext>
            </a:extLst>
          </p:cNvPr>
          <p:cNvSpPr>
            <a:spLocks xmlns:a="http://schemas.openxmlformats.org/drawingml/2006/main" noGrp="1"/>
          </p:cNvSpPr>
          <p:nvPr/>
        </p:nvSpPr>
        <p:spPr>
          <a:xfrm xmlns:a="http://schemas.openxmlformats.org/drawingml/2006/main">
            <a:off x="609600" y="4657725"/>
            <a:ext cx="4191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2325" b="1" i="0">
                <a:solidFill>
                  <a:srgbClr val="173F32"/>
                </a:solidFill>
                <a:latin typeface="Times New Roman"/>
                <a:ea typeface="Times New Roman"/>
                <a:cs typeface="Times New Roman"/>
              </a:defRPr>
            </a:pPr>
            <a:r>
              <a:rPr sz="2325" b="1" i="0" u="none">
                <a:solidFill>
                  <a:srgbClr val="173F32"/>
                </a:solidFill>
                <a:latin typeface="Times New Roman"/>
                <a:ea typeface="Times New Roman"/>
                <a:cs typeface="Times New Roman"/>
              </a:rPr>
              <a:t>Hypercube needed rework</a:t>
            </a:r>
          </a:p>
        </p:txBody>
      </p:sp>
      <p:sp>
        <p:nvSpPr>
          <p:cNvPr id="21" name="21 Aug: Hypercube returned to In Progress.&#10;28">
            <a:extLst xmlns:a="http://schemas.openxmlformats.org/drawingml/2006/main">
              <a:ext uri="{FF2B5EF4-FFF2-40B4-BE49-F238E27FC236}">
                <a16:creationId xmlns:a16="http://schemas.microsoft.com/office/drawing/2014/main" id="{84E7D520-D054-42C6-A871-DB3E9DF82C21}"/>
              </a:ext>
            </a:extLst>
          </p:cNvPr>
          <p:cNvSpPr>
            <a:spLocks xmlns:a="http://schemas.openxmlformats.org/drawingml/2006/main" noGrp="1"/>
          </p:cNvSpPr>
          <p:nvPr/>
        </p:nvSpPr>
        <p:spPr>
          <a:xfrm xmlns:a="http://schemas.openxmlformats.org/drawingml/2006/main">
            <a:off x="5067300" y="4657725"/>
            <a:ext cx="65151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950" b="0" i="0">
                <a:solidFill>
                  <a:srgbClr val="293730"/>
                </a:solidFill>
                <a:latin typeface="Times New Roman"/>
                <a:ea typeface="Times New Roman"/>
                <a:cs typeface="Times New Roman"/>
              </a:defRPr>
            </a:pPr>
            <a:r>
              <a:rPr sz="1950" b="0" i="0" u="none">
                <a:solidFill>
                  <a:srgbClr val="293730"/>
                </a:solidFill>
                <a:latin typeface="Times New Roman"/>
                <a:ea typeface="Times New Roman"/>
                <a:cs typeface="Times New Roman"/>
              </a:rPr>
              <a:t>21 Aug: Hypercube moved back to In Progress.</a:t>
            </a:r>
          </a:p>
          <a:p xmlns:a="http://schemas.openxmlformats.org/drawingml/2006/main">
            <a:pPr algn="l">
              <a:spcBef>
                <a:spcPts val="0"/>
              </a:spcBef>
              <a:spcAft>
                <a:spcPts val="0"/>
              </a:spcAft>
              <a:defRPr sz="1950" b="0" i="0">
                <a:solidFill>
                  <a:srgbClr val="293730"/>
                </a:solidFill>
                <a:latin typeface="Times New Roman"/>
                <a:ea typeface="Times New Roman"/>
                <a:cs typeface="Times New Roman"/>
              </a:defRPr>
            </a:pPr>
            <a:r>
              <a:rPr sz="1950" b="0" i="0" u="none">
                <a:solidFill>
                  <a:srgbClr val="293730"/>
                </a:solidFill>
                <a:latin typeface="Times New Roman"/>
                <a:ea typeface="Times New Roman"/>
                <a:cs typeface="Times New Roman"/>
              </a:rPr>
              <a:t>28 Aug: the working version was merged in </a:t>
            </a:r>
            <a:r>
              <a:rPr sz="1950" b="0" i="0" u="sng">
                <a:solidFill>
                  <a:srgbClr val="2469A0"/>
                </a:solidFill>
                <a:latin typeface="Times New Roman"/>
                <a:ea typeface="Times New Roman"/>
                <a:cs typeface="Times New Roman"/>
                <a:hlinkClick xmlns:r="http://schemas.openxmlformats.org/officeDocument/2006/relationships" r:id="Refa33c3fb0984be7"/>
              </a:rPr>
              <a:t>PR #29</a:t>
            </a:r>
            <a:r>
              <a:rPr sz="1950" b="0" i="0" u="none">
                <a:solidFill>
                  <a:srgbClr val="293730"/>
                </a:solidFill>
                <a:latin typeface="Times New Roman"/>
                <a:ea typeface="Times New Roman"/>
                <a:cs typeface="Times New Roman"/>
              </a:rPr>
              <a:t>.</a:t>
            </a:r>
          </a:p>
        </p:txBody>
      </p:sp>
      <p:sp>
        <p:nvSpPr>
          <p:cNvPr id="22" name="Lesson: plan the model–UI hand-off and integr">
            <a:extLst xmlns:a="http://schemas.openxmlformats.org/drawingml/2006/main">
              <a:ext uri="{FF2B5EF4-FFF2-40B4-BE49-F238E27FC236}">
                <a16:creationId xmlns:a16="http://schemas.microsoft.com/office/drawing/2014/main" id="{F4068130-95B6-4807-B2CF-8203693C230D}"/>
              </a:ext>
            </a:extLst>
          </p:cNvPr>
          <p:cNvSpPr>
            <a:spLocks xmlns:a="http://schemas.openxmlformats.org/drawingml/2006/main" noGrp="1"/>
          </p:cNvSpPr>
          <p:nvPr/>
        </p:nvSpPr>
        <p:spPr>
          <a:xfrm xmlns:a="http://schemas.openxmlformats.org/drawingml/2006/main">
            <a:off x="609600" y="5800725"/>
            <a:ext cx="10972800" cy="381000"/>
          </a:xfrm>
          <a:prstGeom xmlns:a="http://schemas.openxmlformats.org/drawingml/2006/main" prst="rect">
            <a:avLst/>
          </a:prstGeom>
          <a:solidFill xmlns:a="http://schemas.openxmlformats.org/drawingml/2006/main">
            <a:srgbClr val="EDF2EE"/>
          </a:solidFill>
          <a:ln xmlns:a="http://schemas.openxmlformats.org/drawingml/2006/main" w="0">
            <a:noFill/>
          </a:ln>
        </p:spPr>
        <p:txBody>
          <a:bodyPr xmlns:a="http://schemas.openxmlformats.org/drawingml/2006/main" wrap="square" lIns="133350" tIns="38100" rIns="133350" bIns="38100" anchor="ctr">
            <a:noAutofit/>
          </a:bodyPr>
          <a:lstStyle xmlns:a="http://schemas.openxmlformats.org/drawingml/2006/main"/>
          <a:p xmlns:a="http://schemas.openxmlformats.org/drawingml/2006/main">
            <a:pPr algn="l">
              <a:spcBef>
                <a:spcPts val="0"/>
              </a:spcBef>
              <a:spcAft>
                <a:spcPts val="0"/>
              </a:spcAft>
              <a:defRPr sz="1800" b="0" i="0">
                <a:solidFill>
                  <a:srgbClr val="173F32"/>
                </a:solidFill>
                <a:latin typeface="Times New Roman"/>
                <a:ea typeface="Times New Roman"/>
                <a:cs typeface="Times New Roman"/>
              </a:defRPr>
            </a:pPr>
            <a:r>
              <a:rPr sz="1800" b="0" i="0" u="none">
                <a:solidFill>
                  <a:srgbClr val="173F32"/>
                </a:solidFill>
                <a:latin typeface="Times New Roman"/>
                <a:ea typeface="Times New Roman"/>
                <a:cs typeface="Times New Roman"/>
              </a:rPr>
              <a:t>Next time, we will allow time to connect the model and UI, then test them together.</a:t>
            </a:r>
          </a:p>
        </p:txBody>
      </p:sp>
    </p:spTree>
    <p:extLst>
      <p:ext uri="{BB962C8B-B14F-4D97-AF65-F5344CB8AC3E}">
        <p14:creationId xmlns:p14="http://schemas.microsoft.com/office/powerpoint/2010/main" val="263024569"/>
      </p:ext>
    </p:extLst>
  </p:cSld>
</p:sld>
</file>

<file path=ppt/slides/slide7.xml><?xml version="1.0" encoding="utf-8"?>
<p:sld xmlns:p="http://schemas.openxmlformats.org/presentationml/2006/main">
  <p:cSld>
    <p:bg>
      <p:bgPr>
        <a:solidFill xmlns:a="http://schemas.openxmlformats.org/drawingml/2006/main">
          <a:srgbClr val="FBFBF8"/>
        </a:solidFill>
      </p:bgPr>
    </p:bg>
    <p:spTree>
      <p:nvGrpSpPr>
        <p:cNvPr id="1" name=""/>
        <p:cNvGrpSpPr/>
        <p:nvPr/>
      </p:nvGrpSpPr>
      <p:grpSpPr>
        <a:xfrm xmlns:a="http://schemas.openxmlformats.org/drawingml/2006/main"/>
      </p:grpSpPr>
      <p:sp>
        <p:nvSpPr>
          <p:cNvPr id="41" name="PLANNING AND ORGANISATION">
            <a:extLst xmlns:a="http://schemas.openxmlformats.org/drawingml/2006/main">
              <a:ext uri="{FF2B5EF4-FFF2-40B4-BE49-F238E27FC236}">
                <a16:creationId xmlns:a16="http://schemas.microsoft.com/office/drawing/2014/main" id="{35B71D50-32C3-45D7-89CD-030228BFBB84}"/>
              </a:ext>
            </a:extLst>
          </p:cNvPr>
          <p:cNvSpPr>
            <a:spLocks xmlns:a="http://schemas.openxmlformats.org/drawingml/2006/main" noGrp="1"/>
          </p:cNvSpPr>
          <p:nvPr/>
        </p:nvSpPr>
        <p:spPr>
          <a:xfrm xmlns:a="http://schemas.openxmlformats.org/drawingml/2006/main">
            <a:off x="609600" y="390525"/>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350" b="1" i="0">
                <a:solidFill>
                  <a:srgbClr val="173F32"/>
                </a:solidFill>
                <a:latin typeface="Times New Roman"/>
                <a:ea typeface="Times New Roman"/>
                <a:cs typeface="Times New Roman"/>
              </a:defRPr>
            </a:pPr>
            <a:r>
              <a:rPr sz="1350" b="1" i="0" u="none">
                <a:solidFill>
                  <a:srgbClr val="173F32"/>
                </a:solidFill>
                <a:latin typeface="Times New Roman"/>
                <a:ea typeface="Times New Roman"/>
                <a:cs typeface="Times New Roman"/>
              </a:rPr>
              <a:t>PLANNING AND ORGANISATION</a:t>
            </a:r>
          </a:p>
        </p:txBody>
      </p:sp>
      <p:sp>
        <p:nvSpPr>
          <p:cNvPr id="2" name="Effort tracking now supports comparison">
            <a:extLst xmlns:a="http://schemas.openxmlformats.org/drawingml/2006/main">
              <a:ext uri="{FF2B5EF4-FFF2-40B4-BE49-F238E27FC236}">
                <a16:creationId xmlns:a16="http://schemas.microsoft.com/office/drawing/2014/main" id="{3814BFFE-3B9C-401C-B223-CC85C48CA651}"/>
              </a:ext>
            </a:extLst>
          </p:cNvPr>
          <p:cNvSpPr>
            <a:spLocks xmlns:a="http://schemas.openxmlformats.org/drawingml/2006/main" noGrp="1"/>
          </p:cNvSpPr>
          <p:nvPr/>
        </p:nvSpPr>
        <p:spPr>
          <a:xfrm xmlns:a="http://schemas.openxmlformats.org/drawingml/2006/main">
            <a:off x="609600" y="8001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3300" b="1" i="0">
                <a:solidFill>
                  <a:srgbClr val="173F32"/>
                </a:solidFill>
                <a:latin typeface="Arial"/>
                <a:ea typeface="Arial"/>
                <a:cs typeface="Arial"/>
              </a:defRPr>
            </a:pPr>
            <a:r>
              <a:rPr sz="3300" b="1" i="0" u="none">
                <a:solidFill>
                  <a:srgbClr val="173F32"/>
                </a:solidFill>
                <a:latin typeface="Arial"/>
                <a:ea typeface="Arial"/>
                <a:cs typeface="Arial"/>
              </a:rPr>
              <a:t>We compared estimates and logged time</a:t>
            </a:r>
          </a:p>
        </p:txBody>
      </p:sp>
      <p:sp>
        <p:nvSpPr>
          <p:cNvPr id="3" name="直线连接符 2">
            <a:extLst xmlns:a="http://schemas.openxmlformats.org/drawingml/2006/main">
              <a:ext uri="{FF2B5EF4-FFF2-40B4-BE49-F238E27FC236}">
                <a16:creationId xmlns:a16="http://schemas.microsoft.com/office/drawing/2014/main" id="{AB226479-BD51-4324-BBB5-A189C27F22B6}"/>
              </a:ext>
            </a:extLst>
          </p:cNvPr>
          <p:cNvSpPr>
            <a:spLocks xmlns:a="http://schemas.openxmlformats.org/drawingml/2006/main" noGrp="1"/>
          </p:cNvSpPr>
          <p:nvPr/>
        </p:nvSpPr>
        <p:spPr>
          <a:xfrm xmlns:a="http://schemas.openxmlformats.org/drawingml/2006/main">
            <a:off x="609600" y="6286500"/>
            <a:ext cx="10972800" cy="0"/>
          </a:xfrm>
          <a:prstGeom xmlns:a="http://schemas.openxmlformats.org/drawingml/2006/main" prst="line">
            <a:avLst/>
          </a:prstGeom>
          <a:noFill xmlns:a="http://schemas.openxmlformats.org/drawingml/2006/main"/>
          <a:ln xmlns:a="http://schemas.openxmlformats.org/drawingml/2006/main" w="9525">
            <a:solidFill>
              <a:srgbClr val="CCD5CF"/>
            </a:solidFill>
            <a:prstDash val="solid"/>
          </a:ln>
        </p:spPr>
      </p:sp>
      <p:sp>
        <p:nvSpPr>
          <p:cNvPr id="4" name="LEAF ANALYZER  /  SPRINT 5">
            <a:extLst xmlns:a="http://schemas.openxmlformats.org/drawingml/2006/main">
              <a:ext uri="{FF2B5EF4-FFF2-40B4-BE49-F238E27FC236}">
                <a16:creationId xmlns:a16="http://schemas.microsoft.com/office/drawing/2014/main" id="{6E6EF2A4-65DE-48D7-BA1B-0CB3A36D9A32}"/>
              </a:ext>
            </a:extLst>
          </p:cNvPr>
          <p:cNvSpPr>
            <a:spLocks xmlns:a="http://schemas.openxmlformats.org/drawingml/2006/main" noGrp="1"/>
          </p:cNvSpPr>
          <p:nvPr/>
        </p:nvSpPr>
        <p:spPr>
          <a:xfrm xmlns:a="http://schemas.openxmlformats.org/drawingml/2006/main">
            <a:off x="8572500" y="400050"/>
            <a:ext cx="3009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spcBef>
                <a:spcPts val="0"/>
              </a:spcBef>
              <a:spcAft>
                <a:spcPts val="0"/>
              </a:spcAft>
              <a:defRPr sz="1200" b="0" i="0">
                <a:solidFill>
                  <a:srgbClr val="59665F"/>
                </a:solidFill>
                <a:latin typeface="Times New Roman"/>
                <a:ea typeface="Times New Roman"/>
                <a:cs typeface="Times New Roman"/>
              </a:defRPr>
            </a:pPr>
            <a:r>
              <a:rPr sz="1200" b="0" i="0" u="none">
                <a:solidFill>
                  <a:srgbClr val="59665F"/>
                </a:solidFill>
                <a:latin typeface="Times New Roman"/>
                <a:ea typeface="Times New Roman"/>
                <a:cs typeface="Times New Roman"/>
              </a:rPr>
              <a:t>LEAF ANALYZER  /  SPRINT 5</a:t>
            </a:r>
          </a:p>
        </p:txBody>
      </p:sp>
      <p:sp>
        <p:nvSpPr>
          <p:cNvPr id="5" name="Jira original-estimate fields, worklogs and h">
            <a:extLst xmlns:a="http://schemas.openxmlformats.org/drawingml/2006/main">
              <a:ext uri="{FF2B5EF4-FFF2-40B4-BE49-F238E27FC236}">
                <a16:creationId xmlns:a16="http://schemas.microsoft.com/office/drawing/2014/main" id="{0BB78B20-A309-44C9-84D1-EFFBA270445A}"/>
              </a:ext>
            </a:extLst>
          </p:cNvPr>
          <p:cNvSpPr>
            <a:spLocks xmlns:a="http://schemas.openxmlformats.org/drawingml/2006/main" noGrp="1"/>
          </p:cNvSpPr>
          <p:nvPr/>
        </p:nvSpPr>
        <p:spPr>
          <a:xfrm xmlns:a="http://schemas.openxmlformats.org/drawingml/2006/main">
            <a:off x="609600" y="6362700"/>
            <a:ext cx="1043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200" b="0" i="0">
                <a:solidFill>
                  <a:srgbClr val="59665F"/>
                </a:solidFill>
                <a:latin typeface="Times New Roman"/>
                <a:ea typeface="Times New Roman"/>
                <a:cs typeface="Times New Roman"/>
              </a:defRPr>
            </a:pPr>
            <a:r>
              <a:rPr sz="1200" b="0" i="0" u="none">
                <a:solidFill>
                  <a:srgbClr val="59665F"/>
                </a:solidFill>
                <a:latin typeface="Times New Roman"/>
                <a:ea typeface="Times New Roman"/>
                <a:cs typeface="Times New Roman"/>
              </a:rPr>
              <a:t>Sources: </a:t>
            </a:r>
            <a:r>
              <a:rPr sz="1200" b="0" i="0" u="sng">
                <a:solidFill>
                  <a:srgbClr val="2469A0"/>
                </a:solidFill>
                <a:latin typeface="Times New Roman"/>
                <a:ea typeface="Times New Roman"/>
                <a:cs typeface="Times New Roman"/>
                <a:hlinkClick xmlns:r="http://schemas.openxmlformats.org/officeDocument/2006/relationships" r:id="R51966dcc3e344ff5"/>
              </a:rPr>
              <a:t>LEAF-150</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7a065c5256c74442"/>
              </a:rPr>
              <a:t>LEAF-152</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7fc3e5de0e7846c7"/>
              </a:rPr>
              <a:t>LEAF-149</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a9f2434e2d704ae9"/>
              </a:rPr>
              <a:t>LEAF-153</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80d57242601c4caa"/>
              </a:rPr>
              <a:t>LEAF-155</a:t>
            </a:r>
          </a:p>
        </p:txBody>
      </p:sp>
      <p:sp>
        <p:nvSpPr>
          <p:cNvPr id="6" name="07">
            <a:extLst xmlns:a="http://schemas.openxmlformats.org/drawingml/2006/main">
              <a:ext uri="{FF2B5EF4-FFF2-40B4-BE49-F238E27FC236}">
                <a16:creationId xmlns:a16="http://schemas.microsoft.com/office/drawing/2014/main" id="{E5A34639-7809-4E4D-99C2-EA718E5D727C}"/>
              </a:ext>
            </a:extLst>
          </p:cNvPr>
          <p:cNvSpPr>
            <a:spLocks xmlns:a="http://schemas.openxmlformats.org/drawingml/2006/main" noGrp="1"/>
          </p:cNvSpPr>
          <p:nvPr/>
        </p:nvSpPr>
        <p:spPr>
          <a:xfrm xmlns:a="http://schemas.openxmlformats.org/drawingml/2006/main">
            <a:off x="11239500" y="63722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spcBef>
                <a:spcPts val="0"/>
              </a:spcBef>
              <a:spcAft>
                <a:spcPts val="0"/>
              </a:spcAft>
              <a:defRPr sz="1425" b="0" i="0">
                <a:solidFill>
                  <a:srgbClr val="59665F"/>
                </a:solidFill>
                <a:latin typeface="Times New Roman"/>
                <a:ea typeface="Times New Roman"/>
                <a:cs typeface="Times New Roman"/>
              </a:defRPr>
            </a:pPr>
            <a:r>
              <a:rPr sz="1425" b="0" i="0" u="none">
                <a:solidFill>
                  <a:srgbClr val="59665F"/>
                </a:solidFill>
                <a:latin typeface="Times New Roman"/>
                <a:ea typeface="Times New Roman"/>
                <a:cs typeface="Times New Roman"/>
              </a:rPr>
              <a:t>07</a:t>
            </a:r>
          </a:p>
        </p:txBody>
      </p:sp>
      <p:sp>
        <p:nvSpPr>
          <p:cNvPr id="7" name="Recorded estimate vs logged actual — selected">
            <a:extLst xmlns:a="http://schemas.openxmlformats.org/drawingml/2006/main">
              <a:ext uri="{FF2B5EF4-FFF2-40B4-BE49-F238E27FC236}">
                <a16:creationId xmlns:a16="http://schemas.microsoft.com/office/drawing/2014/main" id="{8D4E5E05-27B8-4C47-9D65-351893D918C7}"/>
              </a:ext>
            </a:extLst>
          </p:cNvPr>
          <p:cNvSpPr>
            <a:spLocks xmlns:a="http://schemas.openxmlformats.org/drawingml/2006/main" noGrp="1"/>
          </p:cNvSpPr>
          <p:nvPr/>
        </p:nvSpPr>
        <p:spPr>
          <a:xfrm xmlns:a="http://schemas.openxmlformats.org/drawingml/2006/main">
            <a:off x="609600" y="15240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2025" b="0" i="0">
                <a:solidFill>
                  <a:srgbClr val="59665F"/>
                </a:solidFill>
                <a:latin typeface="Times New Roman"/>
                <a:ea typeface="Times New Roman"/>
                <a:cs typeface="Times New Roman"/>
              </a:defRPr>
            </a:pPr>
            <a:r>
              <a:rPr sz="2025" b="0" i="0" u="none">
                <a:solidFill>
                  <a:srgbClr val="59665F"/>
                </a:solidFill>
                <a:latin typeface="Times New Roman"/>
                <a:ea typeface="Times New Roman"/>
                <a:cs typeface="Times New Roman"/>
              </a:rPr>
              <a:t>Examples from completed Jira tasks</a:t>
            </a:r>
          </a:p>
        </p:txBody>
      </p:sp>
      <p:sp>
        <p:nvSpPr>
          <p:cNvPr id="9" name="TASK">
            <a:extLst xmlns:a="http://schemas.openxmlformats.org/drawingml/2006/main">
              <a:ext uri="{FF2B5EF4-FFF2-40B4-BE49-F238E27FC236}">
                <a16:creationId xmlns:a16="http://schemas.microsoft.com/office/drawing/2014/main" id="{ABA13910-8C91-42EA-844F-A073A7023A6B}"/>
              </a:ext>
            </a:extLst>
          </p:cNvPr>
          <p:cNvSpPr>
            <a:spLocks xmlns:a="http://schemas.openxmlformats.org/drawingml/2006/main" noGrp="1"/>
          </p:cNvSpPr>
          <p:nvPr/>
        </p:nvSpPr>
        <p:spPr>
          <a:xfrm xmlns:a="http://schemas.openxmlformats.org/drawingml/2006/main">
            <a:off x="609600" y="2095500"/>
            <a:ext cx="2952750" cy="438150"/>
          </a:xfrm>
          <a:prstGeom xmlns:a="http://schemas.openxmlformats.org/drawingml/2006/main" prst="rect">
            <a:avLst/>
          </a:prstGeom>
          <a:solidFill xmlns:a="http://schemas.openxmlformats.org/drawingml/2006/main">
            <a:srgbClr val="173F32"/>
          </a:solidFill>
          <a:ln xmlns:a="http://schemas.openxmlformats.org/drawingml/2006/main" w="0">
            <a:noFill/>
          </a:ln>
        </p:spPr>
        <p:txBody>
          <a:bodyPr xmlns:a="http://schemas.openxmlformats.org/drawingml/2006/main" wrap="square" lIns="152400" tIns="76200" rIns="152400" bIns="76200" anchor="ctr">
            <a:noAutofit/>
          </a:bodyPr>
          <a:lstStyle xmlns:a="http://schemas.openxmlformats.org/drawingml/2006/main"/>
          <a:p xmlns:a="http://schemas.openxmlformats.org/drawingml/2006/main">
            <a:pPr algn="l">
              <a:spcBef>
                <a:spcPts val="0"/>
              </a:spcBef>
              <a:spcAft>
                <a:spcPts val="0"/>
              </a:spcAft>
              <a:defRPr sz="1650" b="1" i="0">
                <a:solidFill>
                  <a:srgbClr val="FFFFFF"/>
                </a:solidFill>
                <a:latin typeface="Times New Roman"/>
                <a:ea typeface="Times New Roman"/>
                <a:cs typeface="Times New Roman"/>
              </a:defRPr>
            </a:pPr>
            <a:r>
              <a:rPr sz="1650" b="1" i="0" u="none">
                <a:solidFill>
                  <a:srgbClr val="FFFFFF"/>
                </a:solidFill>
                <a:latin typeface="Times New Roman"/>
                <a:ea typeface="Times New Roman"/>
                <a:cs typeface="Times New Roman"/>
              </a:rPr>
              <a:t>TASK</a:t>
            </a:r>
          </a:p>
        </p:txBody>
      </p:sp>
      <p:sp>
        <p:nvSpPr>
          <p:cNvPr id="10" name="ESTIMATE*">
            <a:extLst xmlns:a="http://schemas.openxmlformats.org/drawingml/2006/main">
              <a:ext uri="{FF2B5EF4-FFF2-40B4-BE49-F238E27FC236}">
                <a16:creationId xmlns:a16="http://schemas.microsoft.com/office/drawing/2014/main" id="{B1D89B9F-1CD5-430D-9D67-30E78CEE0A4D}"/>
              </a:ext>
            </a:extLst>
          </p:cNvPr>
          <p:cNvSpPr>
            <a:spLocks xmlns:a="http://schemas.openxmlformats.org/drawingml/2006/main" noGrp="1"/>
          </p:cNvSpPr>
          <p:nvPr/>
        </p:nvSpPr>
        <p:spPr>
          <a:xfrm xmlns:a="http://schemas.openxmlformats.org/drawingml/2006/main">
            <a:off x="3562350" y="2095500"/>
            <a:ext cx="1447800" cy="438150"/>
          </a:xfrm>
          <a:prstGeom xmlns:a="http://schemas.openxmlformats.org/drawingml/2006/main" prst="rect">
            <a:avLst/>
          </a:prstGeom>
          <a:solidFill xmlns:a="http://schemas.openxmlformats.org/drawingml/2006/main">
            <a:srgbClr val="173F32"/>
          </a:solidFill>
          <a:ln xmlns:a="http://schemas.openxmlformats.org/drawingml/2006/main" w="0">
            <a:noFill/>
          </a:ln>
        </p:spPr>
        <p:txBody>
          <a:bodyPr xmlns:a="http://schemas.openxmlformats.org/drawingml/2006/main" wrap="square" lIns="76200" tIns="76200" rIns="76200" bIns="76200" anchor="ctr">
            <a:noAutofit/>
          </a:bodyPr>
          <a:lstStyle xmlns:a="http://schemas.openxmlformats.org/drawingml/2006/main"/>
          <a:p xmlns:a="http://schemas.openxmlformats.org/drawingml/2006/main">
            <a:pPr algn="ctr">
              <a:spcBef>
                <a:spcPts val="0"/>
              </a:spcBef>
              <a:spcAft>
                <a:spcPts val="0"/>
              </a:spcAft>
              <a:defRPr sz="1650" b="1" i="0">
                <a:solidFill>
                  <a:srgbClr val="FFFFFF"/>
                </a:solidFill>
                <a:latin typeface="Times New Roman"/>
                <a:ea typeface="Times New Roman"/>
                <a:cs typeface="Times New Roman"/>
              </a:defRPr>
            </a:pPr>
            <a:r>
              <a:rPr sz="1650" b="1" i="0" u="none">
                <a:solidFill>
                  <a:srgbClr val="FFFFFF"/>
                </a:solidFill>
                <a:latin typeface="Times New Roman"/>
                <a:ea typeface="Times New Roman"/>
                <a:cs typeface="Times New Roman"/>
              </a:rPr>
              <a:t>ESTIMATE*</a:t>
            </a:r>
          </a:p>
        </p:txBody>
      </p:sp>
      <p:sp>
        <p:nvSpPr>
          <p:cNvPr id="11" name="LOGGED ACTUAL">
            <a:extLst xmlns:a="http://schemas.openxmlformats.org/drawingml/2006/main">
              <a:ext uri="{FF2B5EF4-FFF2-40B4-BE49-F238E27FC236}">
                <a16:creationId xmlns:a16="http://schemas.microsoft.com/office/drawing/2014/main" id="{E12091BA-AEA0-48EB-AF4F-FB47A114B669}"/>
              </a:ext>
            </a:extLst>
          </p:cNvPr>
          <p:cNvSpPr>
            <a:spLocks xmlns:a="http://schemas.openxmlformats.org/drawingml/2006/main" noGrp="1"/>
          </p:cNvSpPr>
          <p:nvPr/>
        </p:nvSpPr>
        <p:spPr>
          <a:xfrm xmlns:a="http://schemas.openxmlformats.org/drawingml/2006/main">
            <a:off x="5010150" y="2095500"/>
            <a:ext cx="1333500" cy="438150"/>
          </a:xfrm>
          <a:prstGeom xmlns:a="http://schemas.openxmlformats.org/drawingml/2006/main" prst="rect">
            <a:avLst/>
          </a:prstGeom>
          <a:solidFill xmlns:a="http://schemas.openxmlformats.org/drawingml/2006/main">
            <a:srgbClr val="173F32"/>
          </a:solidFill>
          <a:ln xmlns:a="http://schemas.openxmlformats.org/drawingml/2006/main" w="0">
            <a:noFill/>
          </a:ln>
        </p:spPr>
        <p:txBody>
          <a:bodyPr xmlns:a="http://schemas.openxmlformats.org/drawingml/2006/main" wrap="square" lIns="76200" tIns="76200" rIns="76200" bIns="76200" anchor="ctr">
            <a:noAutofit/>
          </a:bodyPr>
          <a:lstStyle xmlns:a="http://schemas.openxmlformats.org/drawingml/2006/main"/>
          <a:p xmlns:a="http://schemas.openxmlformats.org/drawingml/2006/main">
            <a:pPr algn="ctr">
              <a:spcBef>
                <a:spcPts val="0"/>
              </a:spcBef>
              <a:spcAft>
                <a:spcPts val="0"/>
              </a:spcAft>
              <a:defRPr sz="1650" b="1" i="0">
                <a:solidFill>
                  <a:srgbClr val="FFFFFF"/>
                </a:solidFill>
                <a:latin typeface="Times New Roman"/>
                <a:ea typeface="Times New Roman"/>
                <a:cs typeface="Times New Roman"/>
              </a:defRPr>
            </a:pPr>
            <a:r>
              <a:rPr sz="1650" b="1" i="0" u="none">
                <a:solidFill>
                  <a:srgbClr val="FFFFFF"/>
                </a:solidFill>
                <a:latin typeface="Times New Roman"/>
                <a:ea typeface="Times New Roman"/>
                <a:cs typeface="Times New Roman"/>
              </a:rPr>
              <a:t>LOGGED</a:t>
            </a:r>
          </a:p>
        </p:txBody>
      </p:sp>
      <p:sp>
        <p:nvSpPr>
          <p:cNvPr id="12" name="DIFFERENCE">
            <a:extLst xmlns:a="http://schemas.openxmlformats.org/drawingml/2006/main">
              <a:ext uri="{FF2B5EF4-FFF2-40B4-BE49-F238E27FC236}">
                <a16:creationId xmlns:a16="http://schemas.microsoft.com/office/drawing/2014/main" id="{EDCC1C36-26DD-40CB-A5D8-0CC2A5013461}"/>
              </a:ext>
            </a:extLst>
          </p:cNvPr>
          <p:cNvSpPr>
            <a:spLocks xmlns:a="http://schemas.openxmlformats.org/drawingml/2006/main" noGrp="1"/>
          </p:cNvSpPr>
          <p:nvPr/>
        </p:nvSpPr>
        <p:spPr>
          <a:xfrm xmlns:a="http://schemas.openxmlformats.org/drawingml/2006/main">
            <a:off x="6343650" y="2095500"/>
            <a:ext cx="1257300" cy="438150"/>
          </a:xfrm>
          <a:prstGeom xmlns:a="http://schemas.openxmlformats.org/drawingml/2006/main" prst="rect">
            <a:avLst/>
          </a:prstGeom>
          <a:solidFill xmlns:a="http://schemas.openxmlformats.org/drawingml/2006/main">
            <a:srgbClr val="173F32"/>
          </a:solidFill>
          <a:ln xmlns:a="http://schemas.openxmlformats.org/drawingml/2006/main" w="0">
            <a:noFill/>
          </a:ln>
        </p:spPr>
        <p:txBody>
          <a:bodyPr xmlns:a="http://schemas.openxmlformats.org/drawingml/2006/main" wrap="square" lIns="76200" tIns="76200" rIns="76200" bIns="76200" anchor="ctr">
            <a:noAutofit/>
          </a:bodyPr>
          <a:lstStyle xmlns:a="http://schemas.openxmlformats.org/drawingml/2006/main"/>
          <a:p xmlns:a="http://schemas.openxmlformats.org/drawingml/2006/main">
            <a:pPr algn="ctr">
              <a:spcBef>
                <a:spcPts val="0"/>
              </a:spcBef>
              <a:spcAft>
                <a:spcPts val="0"/>
              </a:spcAft>
              <a:defRPr sz="1650" b="1" i="0">
                <a:solidFill>
                  <a:srgbClr val="FFFFFF"/>
                </a:solidFill>
                <a:latin typeface="Times New Roman"/>
                <a:ea typeface="Times New Roman"/>
                <a:cs typeface="Times New Roman"/>
              </a:defRPr>
            </a:pPr>
            <a:r>
              <a:rPr sz="1650" b="1" i="0" u="none">
                <a:solidFill>
                  <a:srgbClr val="FFFFFF"/>
                </a:solidFill>
                <a:latin typeface="Times New Roman"/>
                <a:ea typeface="Times New Roman"/>
                <a:cs typeface="Times New Roman"/>
              </a:rPr>
              <a:t>DIFF.</a:t>
            </a:r>
          </a:p>
        </p:txBody>
      </p:sp>
      <p:sp>
        <p:nvSpPr>
          <p:cNvPr id="13" name="直线连接符 12">
            <a:extLst xmlns:a="http://schemas.openxmlformats.org/drawingml/2006/main">
              <a:ext uri="{FF2B5EF4-FFF2-40B4-BE49-F238E27FC236}">
                <a16:creationId xmlns:a16="http://schemas.microsoft.com/office/drawing/2014/main" id="{F6450926-34E3-4CE8-9CE6-47028422CE3E}"/>
              </a:ext>
            </a:extLst>
          </p:cNvPr>
          <p:cNvSpPr>
            <a:spLocks xmlns:a="http://schemas.openxmlformats.org/drawingml/2006/main" noGrp="1"/>
          </p:cNvSpPr>
          <p:nvPr/>
        </p:nvSpPr>
        <p:spPr>
          <a:xfrm xmlns:a="http://schemas.openxmlformats.org/drawingml/2006/main">
            <a:off x="609600" y="2533650"/>
            <a:ext cx="6991350" cy="0"/>
          </a:xfrm>
          <a:prstGeom xmlns:a="http://schemas.openxmlformats.org/drawingml/2006/main" prst="line">
            <a:avLst/>
          </a:prstGeom>
          <a:noFill xmlns:a="http://schemas.openxmlformats.org/drawingml/2006/main"/>
          <a:ln xmlns:a="http://schemas.openxmlformats.org/drawingml/2006/main" w="9525">
            <a:solidFill>
              <a:srgbClr val="CCD5CF"/>
            </a:solidFill>
            <a:prstDash val="solid"/>
          </a:ln>
        </p:spPr>
      </p:sp>
      <p:sp>
        <p:nvSpPr>
          <p:cNvPr id="14" name="LEAF-150 · Hypercube">
            <a:extLst xmlns:a="http://schemas.openxmlformats.org/drawingml/2006/main">
              <a:ext uri="{FF2B5EF4-FFF2-40B4-BE49-F238E27FC236}">
                <a16:creationId xmlns:a16="http://schemas.microsoft.com/office/drawing/2014/main" id="{D92AFEBF-AF2E-4811-BD7E-F4C123117EAE}"/>
              </a:ext>
            </a:extLst>
          </p:cNvPr>
          <p:cNvSpPr>
            <a:spLocks xmlns:a="http://schemas.openxmlformats.org/drawingml/2006/main" noGrp="1"/>
          </p:cNvSpPr>
          <p:nvPr/>
        </p:nvSpPr>
        <p:spPr>
          <a:xfrm xmlns:a="http://schemas.openxmlformats.org/drawingml/2006/main">
            <a:off x="762000" y="2657475"/>
            <a:ext cx="2647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800" b="1" i="0">
                <a:solidFill>
                  <a:srgbClr val="173F32"/>
                </a:solidFill>
                <a:latin typeface="Times New Roman"/>
                <a:ea typeface="Times New Roman"/>
                <a:cs typeface="Times New Roman"/>
              </a:defRPr>
            </a:pPr>
            <a:r>
              <a:rPr sz="1800" b="1" i="0" u="sng">
                <a:solidFill>
                  <a:srgbClr val="2469A0"/>
                </a:solidFill>
                <a:latin typeface="Times New Roman"/>
                <a:ea typeface="Times New Roman"/>
                <a:cs typeface="Times New Roman"/>
                <a:hlinkClick xmlns:r="http://schemas.openxmlformats.org/officeDocument/2006/relationships" r:id="R945c20d603944829"/>
              </a:rPr>
              <a:t>LEAF-150</a:t>
            </a:r>
            <a:r>
              <a:rPr sz="1800" b="1" i="0" u="none">
                <a:solidFill>
                  <a:srgbClr val="173F32"/>
                </a:solidFill>
                <a:latin typeface="Times New Roman"/>
                <a:ea typeface="Times New Roman"/>
                <a:cs typeface="Times New Roman"/>
              </a:rPr>
              <a:t> · Hypercube</a:t>
            </a:r>
          </a:p>
        </p:txBody>
      </p:sp>
      <p:sp>
        <p:nvSpPr>
          <p:cNvPr id="15" name="5h">
            <a:extLst xmlns:a="http://schemas.openxmlformats.org/drawingml/2006/main">
              <a:ext uri="{FF2B5EF4-FFF2-40B4-BE49-F238E27FC236}">
                <a16:creationId xmlns:a16="http://schemas.microsoft.com/office/drawing/2014/main" id="{748751BD-28DA-4E30-84B1-5F245FCBF94D}"/>
              </a:ext>
            </a:extLst>
          </p:cNvPr>
          <p:cNvSpPr>
            <a:spLocks xmlns:a="http://schemas.openxmlformats.org/drawingml/2006/main" noGrp="1"/>
          </p:cNvSpPr>
          <p:nvPr/>
        </p:nvSpPr>
        <p:spPr>
          <a:xfrm xmlns:a="http://schemas.openxmlformats.org/drawingml/2006/main">
            <a:off x="3714750" y="2657475"/>
            <a:ext cx="114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spcBef>
                <a:spcPts val="0"/>
              </a:spcBef>
              <a:spcAft>
                <a:spcPts val="0"/>
              </a:spcAft>
              <a:defRPr sz="1800" b="0" i="0">
                <a:solidFill>
                  <a:srgbClr val="293730"/>
                </a:solidFill>
                <a:latin typeface="Times New Roman"/>
                <a:ea typeface="Times New Roman"/>
                <a:cs typeface="Times New Roman"/>
              </a:defRPr>
            </a:pPr>
            <a:r>
              <a:rPr sz="1800" b="0" i="0" u="none">
                <a:solidFill>
                  <a:srgbClr val="293730"/>
                </a:solidFill>
                <a:latin typeface="Times New Roman"/>
                <a:ea typeface="Times New Roman"/>
                <a:cs typeface="Times New Roman"/>
              </a:rPr>
              <a:t>5h</a:t>
            </a:r>
          </a:p>
        </p:txBody>
      </p:sp>
      <p:sp>
        <p:nvSpPr>
          <p:cNvPr id="16" name="6h">
            <a:extLst xmlns:a="http://schemas.openxmlformats.org/drawingml/2006/main">
              <a:ext uri="{FF2B5EF4-FFF2-40B4-BE49-F238E27FC236}">
                <a16:creationId xmlns:a16="http://schemas.microsoft.com/office/drawing/2014/main" id="{9DA3A5A4-D264-4305-B056-9203A515B8EB}"/>
              </a:ext>
            </a:extLst>
          </p:cNvPr>
          <p:cNvSpPr>
            <a:spLocks xmlns:a="http://schemas.openxmlformats.org/drawingml/2006/main" noGrp="1"/>
          </p:cNvSpPr>
          <p:nvPr/>
        </p:nvSpPr>
        <p:spPr>
          <a:xfrm xmlns:a="http://schemas.openxmlformats.org/drawingml/2006/main">
            <a:off x="5162550" y="2657475"/>
            <a:ext cx="1028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spcBef>
                <a:spcPts val="0"/>
              </a:spcBef>
              <a:spcAft>
                <a:spcPts val="0"/>
              </a:spcAft>
              <a:defRPr sz="1800" b="0" i="0">
                <a:solidFill>
                  <a:srgbClr val="293730"/>
                </a:solidFill>
                <a:latin typeface="Times New Roman"/>
                <a:ea typeface="Times New Roman"/>
                <a:cs typeface="Times New Roman"/>
              </a:defRPr>
            </a:pPr>
            <a:r>
              <a:rPr sz="1800" b="0" i="0" u="none">
                <a:solidFill>
                  <a:srgbClr val="293730"/>
                </a:solidFill>
                <a:latin typeface="Times New Roman"/>
                <a:ea typeface="Times New Roman"/>
                <a:cs typeface="Times New Roman"/>
              </a:rPr>
              <a:t>6h</a:t>
            </a:r>
          </a:p>
        </p:txBody>
      </p:sp>
      <p:sp>
        <p:nvSpPr>
          <p:cNvPr id="17" name="+1h">
            <a:extLst xmlns:a="http://schemas.openxmlformats.org/drawingml/2006/main">
              <a:ext uri="{FF2B5EF4-FFF2-40B4-BE49-F238E27FC236}">
                <a16:creationId xmlns:a16="http://schemas.microsoft.com/office/drawing/2014/main" id="{76FCF324-5684-4642-988C-0FC01DA14DA2}"/>
              </a:ext>
            </a:extLst>
          </p:cNvPr>
          <p:cNvSpPr>
            <a:spLocks xmlns:a="http://schemas.openxmlformats.org/drawingml/2006/main" noGrp="1"/>
          </p:cNvSpPr>
          <p:nvPr/>
        </p:nvSpPr>
        <p:spPr>
          <a:xfrm xmlns:a="http://schemas.openxmlformats.org/drawingml/2006/main">
            <a:off x="6496050" y="2657475"/>
            <a:ext cx="952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spcBef>
                <a:spcPts val="0"/>
              </a:spcBef>
              <a:spcAft>
                <a:spcPts val="0"/>
              </a:spcAft>
              <a:defRPr sz="1800" b="0" i="0">
                <a:solidFill>
                  <a:srgbClr val="8C6125"/>
                </a:solidFill>
                <a:latin typeface="Times New Roman"/>
                <a:ea typeface="Times New Roman"/>
                <a:cs typeface="Times New Roman"/>
              </a:defRPr>
            </a:pPr>
            <a:r>
              <a:rPr sz="1800" b="0" i="0" u="none">
                <a:solidFill>
                  <a:srgbClr val="8C6125"/>
                </a:solidFill>
                <a:latin typeface="Times New Roman"/>
                <a:ea typeface="Times New Roman"/>
                <a:cs typeface="Times New Roman"/>
              </a:rPr>
              <a:t>+1h</a:t>
            </a:r>
          </a:p>
        </p:txBody>
      </p:sp>
      <p:sp>
        <p:nvSpPr>
          <p:cNvPr id="18" name="直线连接符 17">
            <a:extLst xmlns:a="http://schemas.openxmlformats.org/drawingml/2006/main">
              <a:ext uri="{FF2B5EF4-FFF2-40B4-BE49-F238E27FC236}">
                <a16:creationId xmlns:a16="http://schemas.microsoft.com/office/drawing/2014/main" id="{FA9667BA-E988-44CE-8AF0-E935069B0319}"/>
              </a:ext>
            </a:extLst>
          </p:cNvPr>
          <p:cNvSpPr>
            <a:spLocks xmlns:a="http://schemas.openxmlformats.org/drawingml/2006/main" noGrp="1"/>
          </p:cNvSpPr>
          <p:nvPr/>
        </p:nvSpPr>
        <p:spPr>
          <a:xfrm xmlns:a="http://schemas.openxmlformats.org/drawingml/2006/main">
            <a:off x="609600" y="3048000"/>
            <a:ext cx="6991350" cy="0"/>
          </a:xfrm>
          <a:prstGeom xmlns:a="http://schemas.openxmlformats.org/drawingml/2006/main" prst="line">
            <a:avLst/>
          </a:prstGeom>
          <a:noFill xmlns:a="http://schemas.openxmlformats.org/drawingml/2006/main"/>
          <a:ln xmlns:a="http://schemas.openxmlformats.org/drawingml/2006/main" w="9525">
            <a:solidFill>
              <a:srgbClr val="CCD5CF"/>
            </a:solidFill>
            <a:prstDash val="solid"/>
          </a:ln>
        </p:spPr>
      </p:sp>
      <p:sp>
        <p:nvSpPr>
          <p:cNvPr id="19" name="LEAF-152 · Super-resolution">
            <a:extLst xmlns:a="http://schemas.openxmlformats.org/drawingml/2006/main">
              <a:ext uri="{FF2B5EF4-FFF2-40B4-BE49-F238E27FC236}">
                <a16:creationId xmlns:a16="http://schemas.microsoft.com/office/drawing/2014/main" id="{6FB87414-2888-4C27-AF58-92805BE26E30}"/>
              </a:ext>
            </a:extLst>
          </p:cNvPr>
          <p:cNvSpPr>
            <a:spLocks xmlns:a="http://schemas.openxmlformats.org/drawingml/2006/main" noGrp="1"/>
          </p:cNvSpPr>
          <p:nvPr/>
        </p:nvSpPr>
        <p:spPr>
          <a:xfrm xmlns:a="http://schemas.openxmlformats.org/drawingml/2006/main">
            <a:off x="762000" y="3152775"/>
            <a:ext cx="2647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800" b="1" i="0">
                <a:solidFill>
                  <a:srgbClr val="173F32"/>
                </a:solidFill>
                <a:latin typeface="Times New Roman"/>
                <a:ea typeface="Times New Roman"/>
                <a:cs typeface="Times New Roman"/>
              </a:defRPr>
            </a:pPr>
            <a:r>
              <a:rPr sz="1800" b="1" i="0" u="sng">
                <a:solidFill>
                  <a:srgbClr val="2469A0"/>
                </a:solidFill>
                <a:latin typeface="Times New Roman"/>
                <a:ea typeface="Times New Roman"/>
                <a:cs typeface="Times New Roman"/>
                <a:hlinkClick xmlns:r="http://schemas.openxmlformats.org/officeDocument/2006/relationships" r:id="Rfc1303a51c6444b0"/>
              </a:rPr>
              <a:t>LEAF-152</a:t>
            </a:r>
            <a:r>
              <a:rPr sz="1800" b="1" i="0" u="none">
                <a:solidFill>
                  <a:srgbClr val="173F32"/>
                </a:solidFill>
                <a:latin typeface="Times New Roman"/>
                <a:ea typeface="Times New Roman"/>
                <a:cs typeface="Times New Roman"/>
              </a:rPr>
              <a:t> · SR</a:t>
            </a:r>
          </a:p>
        </p:txBody>
      </p:sp>
      <p:sp>
        <p:nvSpPr>
          <p:cNvPr id="20" name="5h">
            <a:extLst xmlns:a="http://schemas.openxmlformats.org/drawingml/2006/main">
              <a:ext uri="{FF2B5EF4-FFF2-40B4-BE49-F238E27FC236}">
                <a16:creationId xmlns:a16="http://schemas.microsoft.com/office/drawing/2014/main" id="{B5416B2C-C49F-404C-AAD3-9418E7233FF1}"/>
              </a:ext>
            </a:extLst>
          </p:cNvPr>
          <p:cNvSpPr>
            <a:spLocks xmlns:a="http://schemas.openxmlformats.org/drawingml/2006/main" noGrp="1"/>
          </p:cNvSpPr>
          <p:nvPr/>
        </p:nvSpPr>
        <p:spPr>
          <a:xfrm xmlns:a="http://schemas.openxmlformats.org/drawingml/2006/main">
            <a:off x="3714750" y="3152775"/>
            <a:ext cx="114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spcBef>
                <a:spcPts val="0"/>
              </a:spcBef>
              <a:spcAft>
                <a:spcPts val="0"/>
              </a:spcAft>
              <a:defRPr sz="1800" b="0" i="0">
                <a:solidFill>
                  <a:srgbClr val="293730"/>
                </a:solidFill>
                <a:latin typeface="Times New Roman"/>
                <a:ea typeface="Times New Roman"/>
                <a:cs typeface="Times New Roman"/>
              </a:defRPr>
            </a:pPr>
            <a:r>
              <a:rPr sz="1800" b="0" i="0" u="none">
                <a:solidFill>
                  <a:srgbClr val="293730"/>
                </a:solidFill>
                <a:latin typeface="Times New Roman"/>
                <a:ea typeface="Times New Roman"/>
                <a:cs typeface="Times New Roman"/>
              </a:rPr>
              <a:t>5h</a:t>
            </a:r>
          </a:p>
        </p:txBody>
      </p:sp>
      <p:sp>
        <p:nvSpPr>
          <p:cNvPr id="21" name="7h">
            <a:extLst xmlns:a="http://schemas.openxmlformats.org/drawingml/2006/main">
              <a:ext uri="{FF2B5EF4-FFF2-40B4-BE49-F238E27FC236}">
                <a16:creationId xmlns:a16="http://schemas.microsoft.com/office/drawing/2014/main" id="{990553A7-1668-4C7A-8D06-F1D123E811CC}"/>
              </a:ext>
            </a:extLst>
          </p:cNvPr>
          <p:cNvSpPr>
            <a:spLocks xmlns:a="http://schemas.openxmlformats.org/drawingml/2006/main" noGrp="1"/>
          </p:cNvSpPr>
          <p:nvPr/>
        </p:nvSpPr>
        <p:spPr>
          <a:xfrm xmlns:a="http://schemas.openxmlformats.org/drawingml/2006/main">
            <a:off x="5162550" y="3152775"/>
            <a:ext cx="1028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spcBef>
                <a:spcPts val="0"/>
              </a:spcBef>
              <a:spcAft>
                <a:spcPts val="0"/>
              </a:spcAft>
              <a:defRPr sz="1800" b="0" i="0">
                <a:solidFill>
                  <a:srgbClr val="293730"/>
                </a:solidFill>
                <a:latin typeface="Times New Roman"/>
                <a:ea typeface="Times New Roman"/>
                <a:cs typeface="Times New Roman"/>
              </a:defRPr>
            </a:pPr>
            <a:r>
              <a:rPr sz="1800" b="0" i="0" u="none">
                <a:solidFill>
                  <a:srgbClr val="293730"/>
                </a:solidFill>
                <a:latin typeface="Times New Roman"/>
                <a:ea typeface="Times New Roman"/>
                <a:cs typeface="Times New Roman"/>
              </a:rPr>
              <a:t>7h</a:t>
            </a:r>
          </a:p>
        </p:txBody>
      </p:sp>
      <p:sp>
        <p:nvSpPr>
          <p:cNvPr id="22" name="+2h">
            <a:extLst xmlns:a="http://schemas.openxmlformats.org/drawingml/2006/main">
              <a:ext uri="{FF2B5EF4-FFF2-40B4-BE49-F238E27FC236}">
                <a16:creationId xmlns:a16="http://schemas.microsoft.com/office/drawing/2014/main" id="{9A9CEA04-2A1B-4BBB-8841-973EB167D4BF}"/>
              </a:ext>
            </a:extLst>
          </p:cNvPr>
          <p:cNvSpPr>
            <a:spLocks xmlns:a="http://schemas.openxmlformats.org/drawingml/2006/main" noGrp="1"/>
          </p:cNvSpPr>
          <p:nvPr/>
        </p:nvSpPr>
        <p:spPr>
          <a:xfrm xmlns:a="http://schemas.openxmlformats.org/drawingml/2006/main">
            <a:off x="6496050" y="3152775"/>
            <a:ext cx="952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spcBef>
                <a:spcPts val="0"/>
              </a:spcBef>
              <a:spcAft>
                <a:spcPts val="0"/>
              </a:spcAft>
              <a:defRPr sz="1800" b="0" i="0">
                <a:solidFill>
                  <a:srgbClr val="8C6125"/>
                </a:solidFill>
                <a:latin typeface="Times New Roman"/>
                <a:ea typeface="Times New Roman"/>
                <a:cs typeface="Times New Roman"/>
              </a:defRPr>
            </a:pPr>
            <a:r>
              <a:rPr sz="1800" b="0" i="0" u="none">
                <a:solidFill>
                  <a:srgbClr val="8C6125"/>
                </a:solidFill>
                <a:latin typeface="Times New Roman"/>
                <a:ea typeface="Times New Roman"/>
                <a:cs typeface="Times New Roman"/>
              </a:rPr>
              <a:t>+2h</a:t>
            </a:r>
          </a:p>
        </p:txBody>
      </p:sp>
      <p:sp>
        <p:nvSpPr>
          <p:cNvPr id="23" name="直线连接符 22">
            <a:extLst xmlns:a="http://schemas.openxmlformats.org/drawingml/2006/main">
              <a:ext uri="{FF2B5EF4-FFF2-40B4-BE49-F238E27FC236}">
                <a16:creationId xmlns:a16="http://schemas.microsoft.com/office/drawing/2014/main" id="{609E34CD-E2E8-40C3-AEF0-E6B2BF2DC14A}"/>
              </a:ext>
            </a:extLst>
          </p:cNvPr>
          <p:cNvSpPr>
            <a:spLocks xmlns:a="http://schemas.openxmlformats.org/drawingml/2006/main" noGrp="1"/>
          </p:cNvSpPr>
          <p:nvPr/>
        </p:nvSpPr>
        <p:spPr>
          <a:xfrm xmlns:a="http://schemas.openxmlformats.org/drawingml/2006/main">
            <a:off x="609600" y="3543300"/>
            <a:ext cx="6991350" cy="0"/>
          </a:xfrm>
          <a:prstGeom xmlns:a="http://schemas.openxmlformats.org/drawingml/2006/main" prst="line">
            <a:avLst/>
          </a:prstGeom>
          <a:noFill xmlns:a="http://schemas.openxmlformats.org/drawingml/2006/main"/>
          <a:ln xmlns:a="http://schemas.openxmlformats.org/drawingml/2006/main" w="9525">
            <a:solidFill>
              <a:srgbClr val="CCD5CF"/>
            </a:solidFill>
            <a:prstDash val="solid"/>
          </a:ln>
        </p:spPr>
      </p:sp>
      <p:sp>
        <p:nvSpPr>
          <p:cNvPr id="24" name="LEAF-149 · Context menu">
            <a:extLst xmlns:a="http://schemas.openxmlformats.org/drawingml/2006/main">
              <a:ext uri="{FF2B5EF4-FFF2-40B4-BE49-F238E27FC236}">
                <a16:creationId xmlns:a16="http://schemas.microsoft.com/office/drawing/2014/main" id="{A6EBBD44-41C8-4A03-8891-1112A119BA86}"/>
              </a:ext>
            </a:extLst>
          </p:cNvPr>
          <p:cNvSpPr>
            <a:spLocks xmlns:a="http://schemas.openxmlformats.org/drawingml/2006/main" noGrp="1"/>
          </p:cNvSpPr>
          <p:nvPr/>
        </p:nvSpPr>
        <p:spPr>
          <a:xfrm xmlns:a="http://schemas.openxmlformats.org/drawingml/2006/main">
            <a:off x="762000" y="3648075"/>
            <a:ext cx="2647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800" b="1" i="0">
                <a:solidFill>
                  <a:srgbClr val="173F32"/>
                </a:solidFill>
                <a:latin typeface="Times New Roman"/>
                <a:ea typeface="Times New Roman"/>
                <a:cs typeface="Times New Roman"/>
              </a:defRPr>
            </a:pPr>
            <a:r>
              <a:rPr sz="1800" b="1" i="0" u="sng">
                <a:solidFill>
                  <a:srgbClr val="2469A0"/>
                </a:solidFill>
                <a:latin typeface="Times New Roman"/>
                <a:ea typeface="Times New Roman"/>
                <a:cs typeface="Times New Roman"/>
                <a:hlinkClick xmlns:r="http://schemas.openxmlformats.org/officeDocument/2006/relationships" r:id="Rac89cb1e4ce74c71"/>
              </a:rPr>
              <a:t>LEAF-149</a:t>
            </a:r>
            <a:r>
              <a:rPr sz="1800" b="1" i="0" u="none">
                <a:solidFill>
                  <a:srgbClr val="173F32"/>
                </a:solidFill>
                <a:latin typeface="Times New Roman"/>
                <a:ea typeface="Times New Roman"/>
                <a:cs typeface="Times New Roman"/>
              </a:rPr>
              <a:t> · Menu</a:t>
            </a:r>
          </a:p>
        </p:txBody>
      </p:sp>
      <p:sp>
        <p:nvSpPr>
          <p:cNvPr id="25" name="40m">
            <a:extLst xmlns:a="http://schemas.openxmlformats.org/drawingml/2006/main">
              <a:ext uri="{FF2B5EF4-FFF2-40B4-BE49-F238E27FC236}">
                <a16:creationId xmlns:a16="http://schemas.microsoft.com/office/drawing/2014/main" id="{9336C493-BBF0-41D2-AD6E-A6B65F9C9455}"/>
              </a:ext>
            </a:extLst>
          </p:cNvPr>
          <p:cNvSpPr>
            <a:spLocks xmlns:a="http://schemas.openxmlformats.org/drawingml/2006/main" noGrp="1"/>
          </p:cNvSpPr>
          <p:nvPr/>
        </p:nvSpPr>
        <p:spPr>
          <a:xfrm xmlns:a="http://schemas.openxmlformats.org/drawingml/2006/main">
            <a:off x="3714750" y="3648075"/>
            <a:ext cx="114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spcBef>
                <a:spcPts val="0"/>
              </a:spcBef>
              <a:spcAft>
                <a:spcPts val="0"/>
              </a:spcAft>
              <a:defRPr sz="1800" b="0" i="0">
                <a:solidFill>
                  <a:srgbClr val="293730"/>
                </a:solidFill>
                <a:latin typeface="Times New Roman"/>
                <a:ea typeface="Times New Roman"/>
                <a:cs typeface="Times New Roman"/>
              </a:defRPr>
            </a:pPr>
            <a:r>
              <a:rPr sz="1800" b="0" i="0" u="none">
                <a:solidFill>
                  <a:srgbClr val="293730"/>
                </a:solidFill>
                <a:latin typeface="Times New Roman"/>
                <a:ea typeface="Times New Roman"/>
                <a:cs typeface="Times New Roman"/>
              </a:rPr>
              <a:t>40m</a:t>
            </a:r>
          </a:p>
        </p:txBody>
      </p:sp>
      <p:sp>
        <p:nvSpPr>
          <p:cNvPr id="26" name="40m">
            <a:extLst xmlns:a="http://schemas.openxmlformats.org/drawingml/2006/main">
              <a:ext uri="{FF2B5EF4-FFF2-40B4-BE49-F238E27FC236}">
                <a16:creationId xmlns:a16="http://schemas.microsoft.com/office/drawing/2014/main" id="{264D8C34-5D4E-499E-B45A-A25CB08AC170}"/>
              </a:ext>
            </a:extLst>
          </p:cNvPr>
          <p:cNvSpPr>
            <a:spLocks xmlns:a="http://schemas.openxmlformats.org/drawingml/2006/main" noGrp="1"/>
          </p:cNvSpPr>
          <p:nvPr/>
        </p:nvSpPr>
        <p:spPr>
          <a:xfrm xmlns:a="http://schemas.openxmlformats.org/drawingml/2006/main">
            <a:off x="5162550" y="3648075"/>
            <a:ext cx="1028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spcBef>
                <a:spcPts val="0"/>
              </a:spcBef>
              <a:spcAft>
                <a:spcPts val="0"/>
              </a:spcAft>
              <a:defRPr sz="1800" b="0" i="0">
                <a:solidFill>
                  <a:srgbClr val="293730"/>
                </a:solidFill>
                <a:latin typeface="Times New Roman"/>
                <a:ea typeface="Times New Roman"/>
                <a:cs typeface="Times New Roman"/>
              </a:defRPr>
            </a:pPr>
            <a:r>
              <a:rPr sz="1800" b="0" i="0" u="none">
                <a:solidFill>
                  <a:srgbClr val="293730"/>
                </a:solidFill>
                <a:latin typeface="Times New Roman"/>
                <a:ea typeface="Times New Roman"/>
                <a:cs typeface="Times New Roman"/>
              </a:rPr>
              <a:t>40m</a:t>
            </a:r>
          </a:p>
        </p:txBody>
      </p:sp>
      <p:sp>
        <p:nvSpPr>
          <p:cNvPr id="27" name="0">
            <a:extLst xmlns:a="http://schemas.openxmlformats.org/drawingml/2006/main">
              <a:ext uri="{FF2B5EF4-FFF2-40B4-BE49-F238E27FC236}">
                <a16:creationId xmlns:a16="http://schemas.microsoft.com/office/drawing/2014/main" id="{404C7B7E-0B65-440D-A98C-C49D07B37AA4}"/>
              </a:ext>
            </a:extLst>
          </p:cNvPr>
          <p:cNvSpPr>
            <a:spLocks xmlns:a="http://schemas.openxmlformats.org/drawingml/2006/main" noGrp="1"/>
          </p:cNvSpPr>
          <p:nvPr/>
        </p:nvSpPr>
        <p:spPr>
          <a:xfrm xmlns:a="http://schemas.openxmlformats.org/drawingml/2006/main">
            <a:off x="6496050" y="3648075"/>
            <a:ext cx="952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spcBef>
                <a:spcPts val="0"/>
              </a:spcBef>
              <a:spcAft>
                <a:spcPts val="0"/>
              </a:spcAft>
              <a:defRPr sz="1800" b="0" i="0">
                <a:solidFill>
                  <a:srgbClr val="293730"/>
                </a:solidFill>
                <a:latin typeface="Times New Roman"/>
                <a:ea typeface="Times New Roman"/>
                <a:cs typeface="Times New Roman"/>
              </a:defRPr>
            </a:pPr>
            <a:r>
              <a:rPr sz="1800" b="0" i="0" u="none">
                <a:solidFill>
                  <a:srgbClr val="293730"/>
                </a:solidFill>
                <a:latin typeface="Times New Roman"/>
                <a:ea typeface="Times New Roman"/>
                <a:cs typeface="Times New Roman"/>
              </a:rPr>
              <a:t>0</a:t>
            </a:r>
          </a:p>
        </p:txBody>
      </p:sp>
      <p:sp>
        <p:nvSpPr>
          <p:cNvPr id="28" name="直线连接符 27">
            <a:extLst xmlns:a="http://schemas.openxmlformats.org/drawingml/2006/main">
              <a:ext uri="{FF2B5EF4-FFF2-40B4-BE49-F238E27FC236}">
                <a16:creationId xmlns:a16="http://schemas.microsoft.com/office/drawing/2014/main" id="{BEA93B95-988D-4434-B640-E801AD82D049}"/>
              </a:ext>
            </a:extLst>
          </p:cNvPr>
          <p:cNvSpPr>
            <a:spLocks xmlns:a="http://schemas.openxmlformats.org/drawingml/2006/main" noGrp="1"/>
          </p:cNvSpPr>
          <p:nvPr/>
        </p:nvSpPr>
        <p:spPr>
          <a:xfrm xmlns:a="http://schemas.openxmlformats.org/drawingml/2006/main">
            <a:off x="609600" y="4038600"/>
            <a:ext cx="6991350" cy="0"/>
          </a:xfrm>
          <a:prstGeom xmlns:a="http://schemas.openxmlformats.org/drawingml/2006/main" prst="line">
            <a:avLst/>
          </a:prstGeom>
          <a:noFill xmlns:a="http://schemas.openxmlformats.org/drawingml/2006/main"/>
          <a:ln xmlns:a="http://schemas.openxmlformats.org/drawingml/2006/main" w="9525">
            <a:solidFill>
              <a:srgbClr val="CCD5CF"/>
            </a:solidFill>
            <a:prstDash val="solid"/>
          </a:ln>
        </p:spPr>
      </p:sp>
      <p:sp>
        <p:nvSpPr>
          <p:cNvPr id="29" name="LEAF-153 · Crop scaling">
            <a:extLst xmlns:a="http://schemas.openxmlformats.org/drawingml/2006/main">
              <a:ext uri="{FF2B5EF4-FFF2-40B4-BE49-F238E27FC236}">
                <a16:creationId xmlns:a16="http://schemas.microsoft.com/office/drawing/2014/main" id="{CF991D7B-51C9-4217-935E-DD4D6E9706A5}"/>
              </a:ext>
            </a:extLst>
          </p:cNvPr>
          <p:cNvSpPr>
            <a:spLocks xmlns:a="http://schemas.openxmlformats.org/drawingml/2006/main" noGrp="1"/>
          </p:cNvSpPr>
          <p:nvPr/>
        </p:nvSpPr>
        <p:spPr>
          <a:xfrm xmlns:a="http://schemas.openxmlformats.org/drawingml/2006/main">
            <a:off x="762000" y="4143375"/>
            <a:ext cx="2647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800" b="1" i="0">
                <a:solidFill>
                  <a:srgbClr val="173F32"/>
                </a:solidFill>
                <a:latin typeface="Times New Roman"/>
                <a:ea typeface="Times New Roman"/>
                <a:cs typeface="Times New Roman"/>
              </a:defRPr>
            </a:pPr>
            <a:r>
              <a:rPr sz="1800" b="1" i="0" u="sng">
                <a:solidFill>
                  <a:srgbClr val="2469A0"/>
                </a:solidFill>
                <a:latin typeface="Times New Roman"/>
                <a:ea typeface="Times New Roman"/>
                <a:cs typeface="Times New Roman"/>
                <a:hlinkClick xmlns:r="http://schemas.openxmlformats.org/officeDocument/2006/relationships" r:id="Rc87bdf90a35b4c96"/>
              </a:rPr>
              <a:t>LEAF-153</a:t>
            </a:r>
            <a:r>
              <a:rPr sz="1800" b="1" i="0" u="none">
                <a:solidFill>
                  <a:srgbClr val="173F32"/>
                </a:solidFill>
                <a:latin typeface="Times New Roman"/>
                <a:ea typeface="Times New Roman"/>
                <a:cs typeface="Times New Roman"/>
              </a:rPr>
              <a:t> · Crop scale</a:t>
            </a:r>
          </a:p>
        </p:txBody>
      </p:sp>
      <p:sp>
        <p:nvSpPr>
          <p:cNvPr id="30" name="30m">
            <a:extLst xmlns:a="http://schemas.openxmlformats.org/drawingml/2006/main">
              <a:ext uri="{FF2B5EF4-FFF2-40B4-BE49-F238E27FC236}">
                <a16:creationId xmlns:a16="http://schemas.microsoft.com/office/drawing/2014/main" id="{C7DFBA05-C34B-4DEE-8D3F-9A5282DD45D2}"/>
              </a:ext>
            </a:extLst>
          </p:cNvPr>
          <p:cNvSpPr>
            <a:spLocks xmlns:a="http://schemas.openxmlformats.org/drawingml/2006/main" noGrp="1"/>
          </p:cNvSpPr>
          <p:nvPr/>
        </p:nvSpPr>
        <p:spPr>
          <a:xfrm xmlns:a="http://schemas.openxmlformats.org/drawingml/2006/main">
            <a:off x="3714750" y="4143375"/>
            <a:ext cx="114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spcBef>
                <a:spcPts val="0"/>
              </a:spcBef>
              <a:spcAft>
                <a:spcPts val="0"/>
              </a:spcAft>
              <a:defRPr sz="1800" b="0" i="0">
                <a:solidFill>
                  <a:srgbClr val="293730"/>
                </a:solidFill>
                <a:latin typeface="Times New Roman"/>
                <a:ea typeface="Times New Roman"/>
                <a:cs typeface="Times New Roman"/>
              </a:defRPr>
            </a:pPr>
            <a:r>
              <a:rPr sz="1800" b="0" i="0" u="none">
                <a:solidFill>
                  <a:srgbClr val="293730"/>
                </a:solidFill>
                <a:latin typeface="Times New Roman"/>
                <a:ea typeface="Times New Roman"/>
                <a:cs typeface="Times New Roman"/>
              </a:rPr>
              <a:t>30m</a:t>
            </a:r>
          </a:p>
        </p:txBody>
      </p:sp>
      <p:sp>
        <p:nvSpPr>
          <p:cNvPr id="31" name="15m">
            <a:extLst xmlns:a="http://schemas.openxmlformats.org/drawingml/2006/main">
              <a:ext uri="{FF2B5EF4-FFF2-40B4-BE49-F238E27FC236}">
                <a16:creationId xmlns:a16="http://schemas.microsoft.com/office/drawing/2014/main" id="{A912BFDE-8505-4C04-AF6F-5903BD179C26}"/>
              </a:ext>
            </a:extLst>
          </p:cNvPr>
          <p:cNvSpPr>
            <a:spLocks xmlns:a="http://schemas.openxmlformats.org/drawingml/2006/main" noGrp="1"/>
          </p:cNvSpPr>
          <p:nvPr/>
        </p:nvSpPr>
        <p:spPr>
          <a:xfrm xmlns:a="http://schemas.openxmlformats.org/drawingml/2006/main">
            <a:off x="5162550" y="4143375"/>
            <a:ext cx="1028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spcBef>
                <a:spcPts val="0"/>
              </a:spcBef>
              <a:spcAft>
                <a:spcPts val="0"/>
              </a:spcAft>
              <a:defRPr sz="1800" b="0" i="0">
                <a:solidFill>
                  <a:srgbClr val="293730"/>
                </a:solidFill>
                <a:latin typeface="Times New Roman"/>
                <a:ea typeface="Times New Roman"/>
                <a:cs typeface="Times New Roman"/>
              </a:defRPr>
            </a:pPr>
            <a:r>
              <a:rPr sz="1800" b="0" i="0" u="none">
                <a:solidFill>
                  <a:srgbClr val="293730"/>
                </a:solidFill>
                <a:latin typeface="Times New Roman"/>
                <a:ea typeface="Times New Roman"/>
                <a:cs typeface="Times New Roman"/>
              </a:rPr>
              <a:t>15m</a:t>
            </a:r>
          </a:p>
        </p:txBody>
      </p:sp>
      <p:sp>
        <p:nvSpPr>
          <p:cNvPr id="32" name="−15m">
            <a:extLst xmlns:a="http://schemas.openxmlformats.org/drawingml/2006/main">
              <a:ext uri="{FF2B5EF4-FFF2-40B4-BE49-F238E27FC236}">
                <a16:creationId xmlns:a16="http://schemas.microsoft.com/office/drawing/2014/main" id="{1D4863D4-CF8E-43BF-AC99-71DBC5F2355B}"/>
              </a:ext>
            </a:extLst>
          </p:cNvPr>
          <p:cNvSpPr>
            <a:spLocks xmlns:a="http://schemas.openxmlformats.org/drawingml/2006/main" noGrp="1"/>
          </p:cNvSpPr>
          <p:nvPr/>
        </p:nvSpPr>
        <p:spPr>
          <a:xfrm xmlns:a="http://schemas.openxmlformats.org/drawingml/2006/main">
            <a:off x="6496050" y="4143375"/>
            <a:ext cx="952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spcBef>
                <a:spcPts val="0"/>
              </a:spcBef>
              <a:spcAft>
                <a:spcPts val="0"/>
              </a:spcAft>
              <a:defRPr sz="1800" b="0" i="0">
                <a:solidFill>
                  <a:srgbClr val="293730"/>
                </a:solidFill>
                <a:latin typeface="Times New Roman"/>
                <a:ea typeface="Times New Roman"/>
                <a:cs typeface="Times New Roman"/>
              </a:defRPr>
            </a:pPr>
            <a:r>
              <a:rPr sz="1800" b="0" i="0" u="none">
                <a:solidFill>
                  <a:srgbClr val="293730"/>
                </a:solidFill>
                <a:latin typeface="Times New Roman"/>
                <a:ea typeface="Times New Roman"/>
                <a:cs typeface="Times New Roman"/>
              </a:rPr>
              <a:t>−15m</a:t>
            </a:r>
          </a:p>
        </p:txBody>
      </p:sp>
      <p:sp>
        <p:nvSpPr>
          <p:cNvPr id="33" name="直线连接符 32">
            <a:extLst xmlns:a="http://schemas.openxmlformats.org/drawingml/2006/main">
              <a:ext uri="{FF2B5EF4-FFF2-40B4-BE49-F238E27FC236}">
                <a16:creationId xmlns:a16="http://schemas.microsoft.com/office/drawing/2014/main" id="{E8294425-343B-4A4C-B009-F3A873E31008}"/>
              </a:ext>
            </a:extLst>
          </p:cNvPr>
          <p:cNvSpPr>
            <a:spLocks xmlns:a="http://schemas.openxmlformats.org/drawingml/2006/main" noGrp="1"/>
          </p:cNvSpPr>
          <p:nvPr/>
        </p:nvSpPr>
        <p:spPr>
          <a:xfrm xmlns:a="http://schemas.openxmlformats.org/drawingml/2006/main">
            <a:off x="609600" y="4533900"/>
            <a:ext cx="6991350" cy="0"/>
          </a:xfrm>
          <a:prstGeom xmlns:a="http://schemas.openxmlformats.org/drawingml/2006/main" prst="line">
            <a:avLst/>
          </a:prstGeom>
          <a:noFill xmlns:a="http://schemas.openxmlformats.org/drawingml/2006/main"/>
          <a:ln xmlns:a="http://schemas.openxmlformats.org/drawingml/2006/main" w="9525">
            <a:solidFill>
              <a:srgbClr val="CCD5CF"/>
            </a:solidFill>
            <a:prstDash val="solid"/>
          </a:ln>
        </p:spPr>
      </p:sp>
      <p:sp>
        <p:nvSpPr>
          <p:cNvPr id="34" name="LEAF-155 · Colour swatches">
            <a:extLst xmlns:a="http://schemas.openxmlformats.org/drawingml/2006/main">
              <a:ext uri="{FF2B5EF4-FFF2-40B4-BE49-F238E27FC236}">
                <a16:creationId xmlns:a16="http://schemas.microsoft.com/office/drawing/2014/main" id="{BA995AB0-42AB-4543-9BE5-C4A622BF1DF5}"/>
              </a:ext>
            </a:extLst>
          </p:cNvPr>
          <p:cNvSpPr>
            <a:spLocks xmlns:a="http://schemas.openxmlformats.org/drawingml/2006/main" noGrp="1"/>
          </p:cNvSpPr>
          <p:nvPr/>
        </p:nvSpPr>
        <p:spPr>
          <a:xfrm xmlns:a="http://schemas.openxmlformats.org/drawingml/2006/main">
            <a:off x="762000" y="4638675"/>
            <a:ext cx="2647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800" b="1" i="0">
                <a:solidFill>
                  <a:srgbClr val="173F32"/>
                </a:solidFill>
                <a:latin typeface="Times New Roman"/>
                <a:ea typeface="Times New Roman"/>
                <a:cs typeface="Times New Roman"/>
              </a:defRPr>
            </a:pPr>
            <a:r>
              <a:rPr sz="1800" b="1" i="0" u="sng">
                <a:solidFill>
                  <a:srgbClr val="2469A0"/>
                </a:solidFill>
                <a:latin typeface="Times New Roman"/>
                <a:ea typeface="Times New Roman"/>
                <a:cs typeface="Times New Roman"/>
                <a:hlinkClick xmlns:r="http://schemas.openxmlformats.org/officeDocument/2006/relationships" r:id="Rfd2fd36033c94908"/>
              </a:rPr>
              <a:t>LEAF-155</a:t>
            </a:r>
            <a:r>
              <a:rPr sz="1800" b="1" i="0" u="none">
                <a:solidFill>
                  <a:srgbClr val="173F32"/>
                </a:solidFill>
                <a:latin typeface="Times New Roman"/>
                <a:ea typeface="Times New Roman"/>
                <a:cs typeface="Times New Roman"/>
              </a:rPr>
              <a:t> · Colours</a:t>
            </a:r>
          </a:p>
        </p:txBody>
      </p:sp>
      <p:sp>
        <p:nvSpPr>
          <p:cNvPr id="35" name="2h">
            <a:extLst xmlns:a="http://schemas.openxmlformats.org/drawingml/2006/main">
              <a:ext uri="{FF2B5EF4-FFF2-40B4-BE49-F238E27FC236}">
                <a16:creationId xmlns:a16="http://schemas.microsoft.com/office/drawing/2014/main" id="{35FE8E4C-4F63-4B25-A079-943AA812311A}"/>
              </a:ext>
            </a:extLst>
          </p:cNvPr>
          <p:cNvSpPr>
            <a:spLocks xmlns:a="http://schemas.openxmlformats.org/drawingml/2006/main" noGrp="1"/>
          </p:cNvSpPr>
          <p:nvPr/>
        </p:nvSpPr>
        <p:spPr>
          <a:xfrm xmlns:a="http://schemas.openxmlformats.org/drawingml/2006/main">
            <a:off x="3714750" y="4638675"/>
            <a:ext cx="114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spcBef>
                <a:spcPts val="0"/>
              </a:spcBef>
              <a:spcAft>
                <a:spcPts val="0"/>
              </a:spcAft>
              <a:defRPr sz="1800" b="0" i="0">
                <a:solidFill>
                  <a:srgbClr val="293730"/>
                </a:solidFill>
                <a:latin typeface="Times New Roman"/>
                <a:ea typeface="Times New Roman"/>
                <a:cs typeface="Times New Roman"/>
              </a:defRPr>
            </a:pPr>
            <a:r>
              <a:rPr sz="1800" b="0" i="0" u="none">
                <a:solidFill>
                  <a:srgbClr val="293730"/>
                </a:solidFill>
                <a:latin typeface="Times New Roman"/>
                <a:ea typeface="Times New Roman"/>
                <a:cs typeface="Times New Roman"/>
              </a:rPr>
              <a:t>2h</a:t>
            </a:r>
          </a:p>
        </p:txBody>
      </p:sp>
      <p:sp>
        <p:nvSpPr>
          <p:cNvPr id="36" name="40m">
            <a:extLst xmlns:a="http://schemas.openxmlformats.org/drawingml/2006/main">
              <a:ext uri="{FF2B5EF4-FFF2-40B4-BE49-F238E27FC236}">
                <a16:creationId xmlns:a16="http://schemas.microsoft.com/office/drawing/2014/main" id="{50924E42-DC6F-4AA8-AC3F-0EEDBAF3693A}"/>
              </a:ext>
            </a:extLst>
          </p:cNvPr>
          <p:cNvSpPr>
            <a:spLocks xmlns:a="http://schemas.openxmlformats.org/drawingml/2006/main" noGrp="1"/>
          </p:cNvSpPr>
          <p:nvPr/>
        </p:nvSpPr>
        <p:spPr>
          <a:xfrm xmlns:a="http://schemas.openxmlformats.org/drawingml/2006/main">
            <a:off x="5162550" y="4638675"/>
            <a:ext cx="1028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spcBef>
                <a:spcPts val="0"/>
              </a:spcBef>
              <a:spcAft>
                <a:spcPts val="0"/>
              </a:spcAft>
              <a:defRPr sz="1800" b="0" i="0">
                <a:solidFill>
                  <a:srgbClr val="293730"/>
                </a:solidFill>
                <a:latin typeface="Times New Roman"/>
                <a:ea typeface="Times New Roman"/>
                <a:cs typeface="Times New Roman"/>
              </a:defRPr>
            </a:pPr>
            <a:r>
              <a:rPr sz="1800" b="0" i="0" u="none">
                <a:solidFill>
                  <a:srgbClr val="293730"/>
                </a:solidFill>
                <a:latin typeface="Times New Roman"/>
                <a:ea typeface="Times New Roman"/>
                <a:cs typeface="Times New Roman"/>
              </a:rPr>
              <a:t>40m</a:t>
            </a:r>
          </a:p>
        </p:txBody>
      </p:sp>
      <p:sp>
        <p:nvSpPr>
          <p:cNvPr id="37" name="−1h 20m">
            <a:extLst xmlns:a="http://schemas.openxmlformats.org/drawingml/2006/main">
              <a:ext uri="{FF2B5EF4-FFF2-40B4-BE49-F238E27FC236}">
                <a16:creationId xmlns:a16="http://schemas.microsoft.com/office/drawing/2014/main" id="{DF87B607-D274-4493-9DBD-9396133BEFDD}"/>
              </a:ext>
            </a:extLst>
          </p:cNvPr>
          <p:cNvSpPr>
            <a:spLocks xmlns:a="http://schemas.openxmlformats.org/drawingml/2006/main" noGrp="1"/>
          </p:cNvSpPr>
          <p:nvPr/>
        </p:nvSpPr>
        <p:spPr>
          <a:xfrm xmlns:a="http://schemas.openxmlformats.org/drawingml/2006/main">
            <a:off x="6496050" y="4638675"/>
            <a:ext cx="952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spcBef>
                <a:spcPts val="0"/>
              </a:spcBef>
              <a:spcAft>
                <a:spcPts val="0"/>
              </a:spcAft>
              <a:defRPr sz="1800" b="0" i="0">
                <a:solidFill>
                  <a:srgbClr val="293730"/>
                </a:solidFill>
                <a:latin typeface="Times New Roman"/>
                <a:ea typeface="Times New Roman"/>
                <a:cs typeface="Times New Roman"/>
              </a:defRPr>
            </a:pPr>
            <a:r>
              <a:rPr sz="1800" b="0" i="0" u="none">
                <a:solidFill>
                  <a:srgbClr val="293730"/>
                </a:solidFill>
                <a:latin typeface="Times New Roman"/>
                <a:ea typeface="Times New Roman"/>
                <a:cs typeface="Times New Roman"/>
              </a:rPr>
              <a:t>−80m</a:t>
            </a:r>
          </a:p>
        </p:txBody>
      </p:sp>
      <p:sp>
        <p:nvSpPr>
          <p:cNvPr id="38" name="直线连接符 37">
            <a:extLst xmlns:a="http://schemas.openxmlformats.org/drawingml/2006/main">
              <a:ext uri="{FF2B5EF4-FFF2-40B4-BE49-F238E27FC236}">
                <a16:creationId xmlns:a16="http://schemas.microsoft.com/office/drawing/2014/main" id="{6D2B0EDD-C77A-4F42-8FE0-B989EE16BD97}"/>
              </a:ext>
            </a:extLst>
          </p:cNvPr>
          <p:cNvSpPr>
            <a:spLocks xmlns:a="http://schemas.openxmlformats.org/drawingml/2006/main" noGrp="1"/>
          </p:cNvSpPr>
          <p:nvPr/>
        </p:nvSpPr>
        <p:spPr>
          <a:xfrm xmlns:a="http://schemas.openxmlformats.org/drawingml/2006/main">
            <a:off x="609600" y="5048250"/>
            <a:ext cx="6991350" cy="0"/>
          </a:xfrm>
          <a:prstGeom xmlns:a="http://schemas.openxmlformats.org/drawingml/2006/main" prst="line">
            <a:avLst/>
          </a:prstGeom>
          <a:noFill xmlns:a="http://schemas.openxmlformats.org/drawingml/2006/main"/>
          <a:ln xmlns:a="http://schemas.openxmlformats.org/drawingml/2006/main" w="9525">
            <a:solidFill>
              <a:srgbClr val="CCD5CF"/>
            </a:solidFill>
            <a:prstDash val="solid"/>
          </a:ln>
        </p:spPr>
      </p:sp>
      <p:sp>
        <p:nvSpPr>
          <p:cNvPr id="39" name="*Current Jira estimate. SR changed 3h → 4h → ">
            <a:extLst xmlns:a="http://schemas.openxmlformats.org/drawingml/2006/main">
              <a:ext uri="{FF2B5EF4-FFF2-40B4-BE49-F238E27FC236}">
                <a16:creationId xmlns:a16="http://schemas.microsoft.com/office/drawing/2014/main" id="{F21CA4DD-2FF3-4280-8CE2-A30FD6B5637E}"/>
              </a:ext>
            </a:extLst>
          </p:cNvPr>
          <p:cNvSpPr>
            <a:spLocks xmlns:a="http://schemas.openxmlformats.org/drawingml/2006/main" noGrp="1"/>
          </p:cNvSpPr>
          <p:nvPr/>
        </p:nvSpPr>
        <p:spPr>
          <a:xfrm xmlns:a="http://schemas.openxmlformats.org/drawingml/2006/main">
            <a:off x="609600" y="53340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650" b="0" i="0">
                <a:solidFill>
                  <a:srgbClr val="8C6125"/>
                </a:solidFill>
                <a:latin typeface="Times New Roman"/>
                <a:ea typeface="Times New Roman"/>
                <a:cs typeface="Times New Roman"/>
              </a:defRPr>
            </a:pPr>
            <a:r>
              <a:rPr sz="1650" b="0" i="0" u="none">
                <a:solidFill>
                  <a:srgbClr val="8C6125"/>
                </a:solidFill>
                <a:latin typeface="Times New Roman"/>
                <a:ea typeface="Times New Roman"/>
                <a:cs typeface="Times New Roman"/>
              </a:rPr>
              <a:t>*Current estimates. SR changed from 3h to 5h. Hypercube was estimated during review.</a:t>
            </a:r>
          </a:p>
        </p:txBody>
      </p:sp>
      <p:sp>
        <p:nvSpPr>
          <p:cNvPr id="40" name="Sprint 6 proposal: save the starting estimate">
            <a:extLst xmlns:a="http://schemas.openxmlformats.org/drawingml/2006/main">
              <a:ext uri="{FF2B5EF4-FFF2-40B4-BE49-F238E27FC236}">
                <a16:creationId xmlns:a16="http://schemas.microsoft.com/office/drawing/2014/main" id="{2E1D47B9-48C9-48B2-8366-1D69D9A7EF3B}"/>
              </a:ext>
            </a:extLst>
          </p:cNvPr>
          <p:cNvSpPr>
            <a:spLocks xmlns:a="http://schemas.openxmlformats.org/drawingml/2006/main" noGrp="1"/>
          </p:cNvSpPr>
          <p:nvPr/>
        </p:nvSpPr>
        <p:spPr>
          <a:xfrm xmlns:a="http://schemas.openxmlformats.org/drawingml/2006/main">
            <a:off x="609600" y="5791200"/>
            <a:ext cx="10972800" cy="400050"/>
          </a:xfrm>
          <a:prstGeom xmlns:a="http://schemas.openxmlformats.org/drawingml/2006/main" prst="rect">
            <a:avLst/>
          </a:prstGeom>
          <a:solidFill xmlns:a="http://schemas.openxmlformats.org/drawingml/2006/main">
            <a:srgbClr val="EDF2EE"/>
          </a:solidFill>
          <a:ln xmlns:a="http://schemas.openxmlformats.org/drawingml/2006/main" w="0">
            <a:noFill/>
          </a:ln>
        </p:spPr>
        <p:txBody>
          <a:bodyPr xmlns:a="http://schemas.openxmlformats.org/drawingml/2006/main" wrap="square" lIns="133350" tIns="38100" rIns="133350" bIns="38100" anchor="ctr">
            <a:noAutofit/>
          </a:bodyPr>
          <a:lstStyle xmlns:a="http://schemas.openxmlformats.org/drawingml/2006/main"/>
          <a:p xmlns:a="http://schemas.openxmlformats.org/drawingml/2006/main">
            <a:pPr algn="l">
              <a:spcBef>
                <a:spcPts val="0"/>
              </a:spcBef>
              <a:spcAft>
                <a:spcPts val="0"/>
              </a:spcAft>
              <a:defRPr sz="1725" b="0" i="0">
                <a:solidFill>
                  <a:srgbClr val="173F32"/>
                </a:solidFill>
                <a:latin typeface="Times New Roman"/>
                <a:ea typeface="Times New Roman"/>
                <a:cs typeface="Times New Roman"/>
              </a:defRPr>
            </a:pPr>
            <a:r>
              <a:rPr sz="1725" b="0" i="0" u="none">
                <a:solidFill>
                  <a:srgbClr val="173F32"/>
                </a:solidFill>
                <a:latin typeface="Times New Roman"/>
                <a:ea typeface="Times New Roman"/>
                <a:cs typeface="Times New Roman"/>
              </a:rPr>
              <a:t>Next sprint: keep the first estimate and record why it changes. Allow time for integration and tests.</a:t>
            </a:r>
          </a:p>
        </p:txBody>
      </p:sp>
      <p:pic>
        <p:nvPicPr>
          <p:cNvPr id="82" name=""/>
          <p:cNvPicPr>
            <a:picLocks xmlns:a="http://schemas.openxmlformats.org/drawingml/2006/main" noChangeAspect="1"/>
          </p:cNvPicPr>
          <p:nvPr/>
        </p:nvPicPr>
        <p:blipFill>
          <a:blip xmlns:r="http://schemas.openxmlformats.org/officeDocument/2006/relationships" xmlns:a="http://schemas.openxmlformats.org/drawingml/2006/main" r:embed="R408a71ca4f954ea4"/>
          <a:stretch xmlns:a="http://schemas.openxmlformats.org/drawingml/2006/main"/>
        </p:blipFill>
        <p:spPr>
          <a:xfrm xmlns:a="http://schemas.openxmlformats.org/drawingml/2006/main">
            <a:off x="8153400" y="1971675"/>
            <a:ext cx="3067050" cy="3231356"/>
          </a:xfrm>
          <a:prstGeom xmlns:a="http://schemas.openxmlformats.org/drawingml/2006/main" prst="rect">
            <a:avLst/>
          </a:prstGeom>
        </p:spPr>
      </p:pic>
    </p:spTree>
    <p:extLst>
      <p:ext uri="{BB962C8B-B14F-4D97-AF65-F5344CB8AC3E}">
        <p14:creationId xmlns:p14="http://schemas.microsoft.com/office/powerpoint/2010/main" val="828627161"/>
      </p:ext>
    </p:extLst>
  </p:cSld>
</p:sld>
</file>

<file path=ppt/slides/slide8.xml><?xml version="1.0" encoding="utf-8"?>
<p:sld xmlns:p="http://schemas.openxmlformats.org/presentationml/2006/main">
  <p:cSld>
    <p:bg>
      <p:bgPr>
        <a:solidFill xmlns:a="http://schemas.openxmlformats.org/drawingml/2006/main">
          <a:srgbClr val="FBFBF8"/>
        </a:solidFill>
      </p:bgPr>
    </p:bg>
    <p:spTree>
      <p:nvGrpSpPr>
        <p:cNvPr id="1" name=""/>
        <p:cNvGrpSpPr/>
        <p:nvPr/>
      </p:nvGrpSpPr>
      <p:grpSpPr>
        <a:xfrm xmlns:a="http://schemas.openxmlformats.org/drawingml/2006/main"/>
      </p:grpSpPr>
      <p:sp>
        <p:nvSpPr>
          <p:cNvPr id="26" name="PLANNING AND ORGANISATION">
            <a:extLst xmlns:a="http://schemas.openxmlformats.org/drawingml/2006/main">
              <a:ext uri="{FF2B5EF4-FFF2-40B4-BE49-F238E27FC236}">
                <a16:creationId xmlns:a16="http://schemas.microsoft.com/office/drawing/2014/main" id="{0C4BB752-DD06-4F94-A98A-0C51448C2D0F}"/>
              </a:ext>
            </a:extLst>
          </p:cNvPr>
          <p:cNvSpPr>
            <a:spLocks xmlns:a="http://schemas.openxmlformats.org/drawingml/2006/main" noGrp="1"/>
          </p:cNvSpPr>
          <p:nvPr/>
        </p:nvSpPr>
        <p:spPr>
          <a:xfrm xmlns:a="http://schemas.openxmlformats.org/drawingml/2006/main">
            <a:off x="609600" y="390525"/>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350" b="1" i="0">
                <a:solidFill>
                  <a:srgbClr val="173F32"/>
                </a:solidFill>
                <a:latin typeface="Times New Roman"/>
                <a:ea typeface="Times New Roman"/>
                <a:cs typeface="Times New Roman"/>
              </a:defRPr>
            </a:pPr>
            <a:r>
              <a:rPr sz="1350" b="1" i="0" u="none">
                <a:solidFill>
                  <a:srgbClr val="173F32"/>
                </a:solidFill>
                <a:latin typeface="Times New Roman"/>
                <a:ea typeface="Times New Roman"/>
                <a:cs typeface="Times New Roman"/>
              </a:rPr>
              <a:t>PLANNING AND ORGANISATION</a:t>
            </a:r>
          </a:p>
        </p:txBody>
      </p:sp>
      <p:sp>
        <p:nvSpPr>
          <p:cNvPr id="2" name="Risks changed as integration grew">
            <a:extLst xmlns:a="http://schemas.openxmlformats.org/drawingml/2006/main">
              <a:ext uri="{FF2B5EF4-FFF2-40B4-BE49-F238E27FC236}">
                <a16:creationId xmlns:a16="http://schemas.microsoft.com/office/drawing/2014/main" id="{4DFD7516-8C20-4F24-B0F4-E1EB5F6766CD}"/>
              </a:ext>
            </a:extLst>
          </p:cNvPr>
          <p:cNvSpPr>
            <a:spLocks xmlns:a="http://schemas.openxmlformats.org/drawingml/2006/main" noGrp="1"/>
          </p:cNvSpPr>
          <p:nvPr/>
        </p:nvSpPr>
        <p:spPr>
          <a:xfrm xmlns:a="http://schemas.openxmlformats.org/drawingml/2006/main">
            <a:off x="609600" y="8001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3300" b="1" i="0">
                <a:solidFill>
                  <a:srgbClr val="173F32"/>
                </a:solidFill>
                <a:latin typeface="Arial"/>
                <a:ea typeface="Arial"/>
                <a:cs typeface="Arial"/>
              </a:defRPr>
            </a:pPr>
            <a:r>
              <a:rPr sz="3300" b="1" i="0" u="none">
                <a:solidFill>
                  <a:srgbClr val="173F32"/>
                </a:solidFill>
                <a:latin typeface="Arial"/>
                <a:ea typeface="Arial"/>
                <a:cs typeface="Arial"/>
              </a:rPr>
              <a:t>We updated the risk plan each week</a:t>
            </a:r>
          </a:p>
        </p:txBody>
      </p:sp>
      <p:sp>
        <p:nvSpPr>
          <p:cNvPr id="3" name="直线连接符 2">
            <a:extLst xmlns:a="http://schemas.openxmlformats.org/drawingml/2006/main">
              <a:ext uri="{FF2B5EF4-FFF2-40B4-BE49-F238E27FC236}">
                <a16:creationId xmlns:a16="http://schemas.microsoft.com/office/drawing/2014/main" id="{F707922B-3DB3-44CB-A2C6-D35C37617092}"/>
              </a:ext>
            </a:extLst>
          </p:cNvPr>
          <p:cNvSpPr>
            <a:spLocks xmlns:a="http://schemas.openxmlformats.org/drawingml/2006/main" noGrp="1"/>
          </p:cNvSpPr>
          <p:nvPr/>
        </p:nvSpPr>
        <p:spPr>
          <a:xfrm xmlns:a="http://schemas.openxmlformats.org/drawingml/2006/main">
            <a:off x="609600" y="6286500"/>
            <a:ext cx="10972800" cy="0"/>
          </a:xfrm>
          <a:prstGeom xmlns:a="http://schemas.openxmlformats.org/drawingml/2006/main" prst="line">
            <a:avLst/>
          </a:prstGeom>
          <a:noFill xmlns:a="http://schemas.openxmlformats.org/drawingml/2006/main"/>
          <a:ln xmlns:a="http://schemas.openxmlformats.org/drawingml/2006/main" w="9525">
            <a:solidFill>
              <a:srgbClr val="CCD5CF"/>
            </a:solidFill>
            <a:prstDash val="solid"/>
          </a:ln>
        </p:spPr>
      </p:sp>
      <p:sp>
        <p:nvSpPr>
          <p:cNvPr id="4" name="LEAF ANALYZER  /  SPRINT 5">
            <a:extLst xmlns:a="http://schemas.openxmlformats.org/drawingml/2006/main">
              <a:ext uri="{FF2B5EF4-FFF2-40B4-BE49-F238E27FC236}">
                <a16:creationId xmlns:a16="http://schemas.microsoft.com/office/drawing/2014/main" id="{961FB640-8C76-4564-BC34-76368490634C}"/>
              </a:ext>
            </a:extLst>
          </p:cNvPr>
          <p:cNvSpPr>
            <a:spLocks xmlns:a="http://schemas.openxmlformats.org/drawingml/2006/main" noGrp="1"/>
          </p:cNvSpPr>
          <p:nvPr/>
        </p:nvSpPr>
        <p:spPr>
          <a:xfrm xmlns:a="http://schemas.openxmlformats.org/drawingml/2006/main">
            <a:off x="8572500" y="400050"/>
            <a:ext cx="3009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spcBef>
                <a:spcPts val="0"/>
              </a:spcBef>
              <a:spcAft>
                <a:spcPts val="0"/>
              </a:spcAft>
              <a:defRPr sz="1200" b="0" i="0">
                <a:solidFill>
                  <a:srgbClr val="59665F"/>
                </a:solidFill>
                <a:latin typeface="Times New Roman"/>
                <a:ea typeface="Times New Roman"/>
                <a:cs typeface="Times New Roman"/>
              </a:defRPr>
            </a:pPr>
            <a:r>
              <a:rPr sz="1200" b="0" i="0" u="none">
                <a:solidFill>
                  <a:srgbClr val="59665F"/>
                </a:solidFill>
                <a:latin typeface="Times New Roman"/>
                <a:ea typeface="Times New Roman"/>
                <a:cs typeface="Times New Roman"/>
              </a:rPr>
              <a:t>LEAF ANALYZER  /  SPRINT 5</a:t>
            </a:r>
          </a:p>
        </p:txBody>
      </p:sp>
      <p:sp>
        <p:nvSpPr>
          <p:cNvPr id="5" name="Risk Management Plan • reviewed 21 and 28 Aug">
            <a:extLst xmlns:a="http://schemas.openxmlformats.org/drawingml/2006/main">
              <a:ext uri="{FF2B5EF4-FFF2-40B4-BE49-F238E27FC236}">
                <a16:creationId xmlns:a16="http://schemas.microsoft.com/office/drawing/2014/main" id="{BE88B09C-167E-458B-BD3B-7DA5408C766C}"/>
              </a:ext>
            </a:extLst>
          </p:cNvPr>
          <p:cNvSpPr>
            <a:spLocks xmlns:a="http://schemas.openxmlformats.org/drawingml/2006/main" noGrp="1"/>
          </p:cNvSpPr>
          <p:nvPr/>
        </p:nvSpPr>
        <p:spPr>
          <a:xfrm xmlns:a="http://schemas.openxmlformats.org/drawingml/2006/main">
            <a:off x="609600" y="6362700"/>
            <a:ext cx="1043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200" b="0" i="0">
                <a:solidFill>
                  <a:srgbClr val="59665F"/>
                </a:solidFill>
                <a:latin typeface="Times New Roman"/>
                <a:ea typeface="Times New Roman"/>
                <a:cs typeface="Times New Roman"/>
              </a:defRPr>
            </a:pPr>
            <a:r>
              <a:rPr sz="1200" b="0" i="0" u="none">
                <a:solidFill>
                  <a:srgbClr val="59665F"/>
                </a:solidFill>
                <a:latin typeface="Times New Roman"/>
                <a:ea typeface="Times New Roman"/>
                <a:cs typeface="Times New Roman"/>
              </a:rPr>
              <a:t>Sources: </a:t>
            </a:r>
            <a:r>
              <a:rPr sz="1200" b="0" i="0" u="sng">
                <a:solidFill>
                  <a:srgbClr val="2469A0"/>
                </a:solidFill>
                <a:latin typeface="Times New Roman"/>
                <a:ea typeface="Times New Roman"/>
                <a:cs typeface="Times New Roman"/>
                <a:hlinkClick xmlns:r="http://schemas.openxmlformats.org/officeDocument/2006/relationships" r:id="R8e5536a2d0f34fe3"/>
              </a:rPr>
              <a:t>Risk plan</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c5cbbd808ef04ccb"/>
              </a:rPr>
              <a:t>SR setup</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a8a4c6acc8c04954"/>
              </a:rPr>
              <a:t>Week 5 reflection</a:t>
            </a:r>
          </a:p>
        </p:txBody>
      </p:sp>
      <p:sp>
        <p:nvSpPr>
          <p:cNvPr id="6" name="08">
            <a:extLst xmlns:a="http://schemas.openxmlformats.org/drawingml/2006/main">
              <a:ext uri="{FF2B5EF4-FFF2-40B4-BE49-F238E27FC236}">
                <a16:creationId xmlns:a16="http://schemas.microsoft.com/office/drawing/2014/main" id="{6FE23607-17E6-4264-B965-3BC6C7F0F9AB}"/>
              </a:ext>
            </a:extLst>
          </p:cNvPr>
          <p:cNvSpPr>
            <a:spLocks xmlns:a="http://schemas.openxmlformats.org/drawingml/2006/main" noGrp="1"/>
          </p:cNvSpPr>
          <p:nvPr/>
        </p:nvSpPr>
        <p:spPr>
          <a:xfrm xmlns:a="http://schemas.openxmlformats.org/drawingml/2006/main">
            <a:off x="11239500" y="63722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spcBef>
                <a:spcPts val="0"/>
              </a:spcBef>
              <a:spcAft>
                <a:spcPts val="0"/>
              </a:spcAft>
              <a:defRPr sz="1425" b="0" i="0">
                <a:solidFill>
                  <a:srgbClr val="59665F"/>
                </a:solidFill>
                <a:latin typeface="Times New Roman"/>
                <a:ea typeface="Times New Roman"/>
                <a:cs typeface="Times New Roman"/>
              </a:defRPr>
            </a:pPr>
            <a:r>
              <a:rPr sz="1425" b="0" i="0" u="none">
                <a:solidFill>
                  <a:srgbClr val="59665F"/>
                </a:solidFill>
                <a:latin typeface="Times New Roman"/>
                <a:ea typeface="Times New Roman"/>
                <a:cs typeface="Times New Roman"/>
              </a:rPr>
              <a:t>08</a:t>
            </a:r>
          </a:p>
        </p:txBody>
      </p:sp>
      <p:sp>
        <p:nvSpPr>
          <p:cNvPr id="7" name="Owners, triggers and responses are recorded; ">
            <a:extLst xmlns:a="http://schemas.openxmlformats.org/drawingml/2006/main">
              <a:ext uri="{FF2B5EF4-FFF2-40B4-BE49-F238E27FC236}">
                <a16:creationId xmlns:a16="http://schemas.microsoft.com/office/drawing/2014/main" id="{C1A81FE2-B9D6-4D7E-BE6F-F078F9F06DE4}"/>
              </a:ext>
            </a:extLst>
          </p:cNvPr>
          <p:cNvSpPr>
            <a:spLocks xmlns:a="http://schemas.openxmlformats.org/drawingml/2006/main" noGrp="1"/>
          </p:cNvSpPr>
          <p:nvPr/>
        </p:nvSpPr>
        <p:spPr>
          <a:xfrm xmlns:a="http://schemas.openxmlformats.org/drawingml/2006/main">
            <a:off x="609600" y="15049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2025" b="0" i="0">
                <a:solidFill>
                  <a:srgbClr val="59665F"/>
                </a:solidFill>
                <a:latin typeface="Times New Roman"/>
                <a:ea typeface="Times New Roman"/>
                <a:cs typeface="Times New Roman"/>
              </a:defRPr>
            </a:pPr>
            <a:r>
              <a:rPr sz="2025" b="0" i="0" u="none">
                <a:solidFill>
                  <a:srgbClr val="59665F"/>
                </a:solidFill>
                <a:latin typeface="Times New Roman"/>
                <a:ea typeface="Times New Roman"/>
                <a:cs typeface="Times New Roman"/>
              </a:rPr>
              <a:t>Reviewed on 21 and 28 August. Next review: 4 September.</a:t>
            </a:r>
          </a:p>
        </p:txBody>
      </p:sp>
      <p:sp>
        <p:nvSpPr>
          <p:cNvPr id="9" name="RISK / PRIORITY">
            <a:extLst xmlns:a="http://schemas.openxmlformats.org/drawingml/2006/main">
              <a:ext uri="{FF2B5EF4-FFF2-40B4-BE49-F238E27FC236}">
                <a16:creationId xmlns:a16="http://schemas.microsoft.com/office/drawing/2014/main" id="{4ED48AE0-22C3-4470-A0FB-1ACB30470949}"/>
              </a:ext>
            </a:extLst>
          </p:cNvPr>
          <p:cNvSpPr>
            <a:spLocks xmlns:a="http://schemas.openxmlformats.org/drawingml/2006/main" noGrp="1"/>
          </p:cNvSpPr>
          <p:nvPr/>
        </p:nvSpPr>
        <p:spPr>
          <a:xfrm xmlns:a="http://schemas.openxmlformats.org/drawingml/2006/main">
            <a:off x="609600" y="2038350"/>
            <a:ext cx="3124200" cy="457200"/>
          </a:xfrm>
          <a:prstGeom xmlns:a="http://schemas.openxmlformats.org/drawingml/2006/main" prst="rect">
            <a:avLst/>
          </a:prstGeom>
          <a:solidFill xmlns:a="http://schemas.openxmlformats.org/drawingml/2006/main">
            <a:srgbClr val="173F32"/>
          </a:solidFill>
          <a:ln xmlns:a="http://schemas.openxmlformats.org/drawingml/2006/main" w="0">
            <a:noFill/>
          </a:ln>
        </p:spPr>
        <p:txBody>
          <a:bodyPr xmlns:a="http://schemas.openxmlformats.org/drawingml/2006/main" wrap="square" lIns="152400" tIns="76200" rIns="152400" bIns="76200" anchor="ctr">
            <a:noAutofit/>
          </a:bodyPr>
          <a:lstStyle xmlns:a="http://schemas.openxmlformats.org/drawingml/2006/main"/>
          <a:p xmlns:a="http://schemas.openxmlformats.org/drawingml/2006/main">
            <a:pPr algn="l">
              <a:spcBef>
                <a:spcPts val="0"/>
              </a:spcBef>
              <a:spcAft>
                <a:spcPts val="0"/>
              </a:spcAft>
              <a:defRPr sz="1650" b="1" i="0">
                <a:solidFill>
                  <a:srgbClr val="FFFFFF"/>
                </a:solidFill>
                <a:latin typeface="Times New Roman"/>
                <a:ea typeface="Times New Roman"/>
                <a:cs typeface="Times New Roman"/>
              </a:defRPr>
            </a:pPr>
            <a:r>
              <a:rPr sz="1650" b="1" i="0" u="none">
                <a:solidFill>
                  <a:srgbClr val="FFFFFF"/>
                </a:solidFill>
                <a:latin typeface="Times New Roman"/>
                <a:ea typeface="Times New Roman"/>
                <a:cs typeface="Times New Roman"/>
              </a:rPr>
              <a:t>MAIN RISK</a:t>
            </a:r>
          </a:p>
        </p:txBody>
      </p:sp>
      <p:sp>
        <p:nvSpPr>
          <p:cNvPr id="10" name="CONTROL IN PLACE">
            <a:extLst xmlns:a="http://schemas.openxmlformats.org/drawingml/2006/main">
              <a:ext uri="{FF2B5EF4-FFF2-40B4-BE49-F238E27FC236}">
                <a16:creationId xmlns:a16="http://schemas.microsoft.com/office/drawing/2014/main" id="{ED3820F5-AFBB-47D4-BBC4-F92C754F18AF}"/>
              </a:ext>
            </a:extLst>
          </p:cNvPr>
          <p:cNvSpPr>
            <a:spLocks xmlns:a="http://schemas.openxmlformats.org/drawingml/2006/main" noGrp="1"/>
          </p:cNvSpPr>
          <p:nvPr/>
        </p:nvSpPr>
        <p:spPr>
          <a:xfrm xmlns:a="http://schemas.openxmlformats.org/drawingml/2006/main">
            <a:off x="3733800" y="2038350"/>
            <a:ext cx="3924300" cy="457200"/>
          </a:xfrm>
          <a:prstGeom xmlns:a="http://schemas.openxmlformats.org/drawingml/2006/main" prst="rect">
            <a:avLst/>
          </a:prstGeom>
          <a:solidFill xmlns:a="http://schemas.openxmlformats.org/drawingml/2006/main">
            <a:srgbClr val="173F32"/>
          </a:solidFill>
          <a:ln xmlns:a="http://schemas.openxmlformats.org/drawingml/2006/main" w="0">
            <a:noFill/>
          </a:ln>
        </p:spPr>
        <p:txBody>
          <a:bodyPr xmlns:a="http://schemas.openxmlformats.org/drawingml/2006/main" wrap="square" lIns="152400" tIns="76200" rIns="152400" bIns="76200" anchor="ctr">
            <a:noAutofit/>
          </a:bodyPr>
          <a:lstStyle xmlns:a="http://schemas.openxmlformats.org/drawingml/2006/main"/>
          <a:p xmlns:a="http://schemas.openxmlformats.org/drawingml/2006/main">
            <a:pPr algn="l">
              <a:spcBef>
                <a:spcPts val="0"/>
              </a:spcBef>
              <a:spcAft>
                <a:spcPts val="0"/>
              </a:spcAft>
              <a:defRPr sz="1650" b="1" i="0">
                <a:solidFill>
                  <a:srgbClr val="FFFFFF"/>
                </a:solidFill>
                <a:latin typeface="Times New Roman"/>
                <a:ea typeface="Times New Roman"/>
                <a:cs typeface="Times New Roman"/>
              </a:defRPr>
            </a:pPr>
            <a:r>
              <a:rPr sz="1650" b="1" i="0" u="none">
                <a:solidFill>
                  <a:srgbClr val="FFFFFF"/>
                </a:solidFill>
                <a:latin typeface="Times New Roman"/>
                <a:ea typeface="Times New Roman"/>
                <a:cs typeface="Times New Roman"/>
              </a:rPr>
              <a:t>WHAT WE HAVE DONE</a:t>
            </a:r>
          </a:p>
        </p:txBody>
      </p:sp>
      <p:sp>
        <p:nvSpPr>
          <p:cNvPr id="11" name="NEXT EVIDENCE NEEDED">
            <a:extLst xmlns:a="http://schemas.openxmlformats.org/drawingml/2006/main">
              <a:ext uri="{FF2B5EF4-FFF2-40B4-BE49-F238E27FC236}">
                <a16:creationId xmlns:a16="http://schemas.microsoft.com/office/drawing/2014/main" id="{0E02D5EF-A47B-40B4-845A-06FF841B5D73}"/>
              </a:ext>
            </a:extLst>
          </p:cNvPr>
          <p:cNvSpPr>
            <a:spLocks xmlns:a="http://schemas.openxmlformats.org/drawingml/2006/main" noGrp="1"/>
          </p:cNvSpPr>
          <p:nvPr/>
        </p:nvSpPr>
        <p:spPr>
          <a:xfrm xmlns:a="http://schemas.openxmlformats.org/drawingml/2006/main">
            <a:off x="7658100" y="2038350"/>
            <a:ext cx="3924300" cy="457200"/>
          </a:xfrm>
          <a:prstGeom xmlns:a="http://schemas.openxmlformats.org/drawingml/2006/main" prst="rect">
            <a:avLst/>
          </a:prstGeom>
          <a:solidFill xmlns:a="http://schemas.openxmlformats.org/drawingml/2006/main">
            <a:srgbClr val="173F32"/>
          </a:solidFill>
          <a:ln xmlns:a="http://schemas.openxmlformats.org/drawingml/2006/main" w="0">
            <a:noFill/>
          </a:ln>
        </p:spPr>
        <p:txBody>
          <a:bodyPr xmlns:a="http://schemas.openxmlformats.org/drawingml/2006/main" wrap="square" lIns="152400" tIns="76200" rIns="152400" bIns="76200" anchor="ctr">
            <a:noAutofit/>
          </a:bodyPr>
          <a:lstStyle xmlns:a="http://schemas.openxmlformats.org/drawingml/2006/main"/>
          <a:p xmlns:a="http://schemas.openxmlformats.org/drawingml/2006/main">
            <a:pPr algn="l">
              <a:spcBef>
                <a:spcPts val="0"/>
              </a:spcBef>
              <a:spcAft>
                <a:spcPts val="0"/>
              </a:spcAft>
              <a:defRPr sz="1650" b="1" i="0">
                <a:solidFill>
                  <a:srgbClr val="FFFFFF"/>
                </a:solidFill>
                <a:latin typeface="Times New Roman"/>
                <a:ea typeface="Times New Roman"/>
                <a:cs typeface="Times New Roman"/>
              </a:defRPr>
            </a:pPr>
            <a:r>
              <a:rPr sz="1650" b="1" i="0" u="none">
                <a:solidFill>
                  <a:srgbClr val="FFFFFF"/>
                </a:solidFill>
                <a:latin typeface="Times New Roman"/>
                <a:ea typeface="Times New Roman"/>
                <a:cs typeface="Times New Roman"/>
              </a:rPr>
              <a:t>WHAT WE STILL NEED</a:t>
            </a:r>
          </a:p>
        </p:txBody>
      </p:sp>
      <p:sp>
        <p:nvSpPr>
          <p:cNvPr id="12" name="直线连接符 11">
            <a:extLst xmlns:a="http://schemas.openxmlformats.org/drawingml/2006/main">
              <a:ext uri="{FF2B5EF4-FFF2-40B4-BE49-F238E27FC236}">
                <a16:creationId xmlns:a16="http://schemas.microsoft.com/office/drawing/2014/main" id="{EFB556D9-73FD-4F3A-B378-52EE421D9C15}"/>
              </a:ext>
            </a:extLst>
          </p:cNvPr>
          <p:cNvSpPr>
            <a:spLocks xmlns:a="http://schemas.openxmlformats.org/drawingml/2006/main" noGrp="1"/>
          </p:cNvSpPr>
          <p:nvPr/>
        </p:nvSpPr>
        <p:spPr>
          <a:xfrm xmlns:a="http://schemas.openxmlformats.org/drawingml/2006/main">
            <a:off x="609600" y="2495550"/>
            <a:ext cx="10972800" cy="0"/>
          </a:xfrm>
          <a:prstGeom xmlns:a="http://schemas.openxmlformats.org/drawingml/2006/main" prst="line">
            <a:avLst/>
          </a:prstGeom>
          <a:noFill xmlns:a="http://schemas.openxmlformats.org/drawingml/2006/main"/>
          <a:ln xmlns:a="http://schemas.openxmlformats.org/drawingml/2006/main" w="9525">
            <a:solidFill>
              <a:srgbClr val="CCD5CF"/>
            </a:solidFill>
            <a:prstDash val="solid"/>
          </a:ln>
        </p:spPr>
      </p:sp>
      <p:sp>
        <p:nvSpPr>
          <p:cNvPr id="13" name="Large captures · Critical">
            <a:extLst xmlns:a="http://schemas.openxmlformats.org/drawingml/2006/main">
              <a:ext uri="{FF2B5EF4-FFF2-40B4-BE49-F238E27FC236}">
                <a16:creationId xmlns:a16="http://schemas.microsoft.com/office/drawing/2014/main" id="{57636DEC-E2E6-417C-B342-91FBE3F147B5}"/>
              </a:ext>
            </a:extLst>
          </p:cNvPr>
          <p:cNvSpPr>
            <a:spLocks xmlns:a="http://schemas.openxmlformats.org/drawingml/2006/main" noGrp="1"/>
          </p:cNvSpPr>
          <p:nvPr/>
        </p:nvSpPr>
        <p:spPr>
          <a:xfrm xmlns:a="http://schemas.openxmlformats.org/drawingml/2006/main">
            <a:off x="762000" y="2657475"/>
            <a:ext cx="2819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950" b="1" i="0">
                <a:solidFill>
                  <a:srgbClr val="173F32"/>
                </a:solidFill>
                <a:latin typeface="Times New Roman"/>
                <a:ea typeface="Times New Roman"/>
                <a:cs typeface="Times New Roman"/>
              </a:defRPr>
            </a:pPr>
            <a:r>
              <a:rPr sz="1950" b="1" i="0" u="none">
                <a:solidFill>
                  <a:srgbClr val="173F32"/>
                </a:solidFill>
                <a:latin typeface="Times New Roman"/>
                <a:ea typeface="Times New Roman"/>
                <a:cs typeface="Times New Roman"/>
              </a:rPr>
              <a:t>Large files · Critical</a:t>
            </a:r>
          </a:p>
        </p:txBody>
      </p:sp>
      <p:sp>
        <p:nvSpPr>
          <p:cNvPr id="14" name="Background workers; tiled SR;&#10;original data p">
            <a:extLst xmlns:a="http://schemas.openxmlformats.org/drawingml/2006/main">
              <a:ext uri="{FF2B5EF4-FFF2-40B4-BE49-F238E27FC236}">
                <a16:creationId xmlns:a16="http://schemas.microsoft.com/office/drawing/2014/main" id="{047521FB-BF06-43B2-B8DE-26C016E54B7C}"/>
              </a:ext>
            </a:extLst>
          </p:cNvPr>
          <p:cNvSpPr>
            <a:spLocks xmlns:a="http://schemas.openxmlformats.org/drawingml/2006/main" noGrp="1"/>
          </p:cNvSpPr>
          <p:nvPr/>
        </p:nvSpPr>
        <p:spPr>
          <a:xfrm xmlns:a="http://schemas.openxmlformats.org/drawingml/2006/main">
            <a:off x="3886200" y="2657475"/>
            <a:ext cx="3619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950" b="0" i="0">
                <a:solidFill>
                  <a:srgbClr val="293730"/>
                </a:solidFill>
                <a:latin typeface="Times New Roman"/>
                <a:ea typeface="Times New Roman"/>
                <a:cs typeface="Times New Roman"/>
              </a:defRPr>
            </a:pPr>
            <a:r>
              <a:rPr sz="1950" b="0" i="0" u="none">
                <a:solidFill>
                  <a:srgbClr val="293730"/>
                </a:solidFill>
                <a:latin typeface="Times New Roman"/>
                <a:ea typeface="Times New Roman"/>
                <a:cs typeface="Times New Roman"/>
              </a:rPr>
              <a:t>Run work in the background.</a:t>
            </a:r>
          </a:p>
          <a:p xmlns:a="http://schemas.openxmlformats.org/drawingml/2006/main">
            <a:pPr algn="l">
              <a:spcBef>
                <a:spcPts val="0"/>
              </a:spcBef>
              <a:spcAft>
                <a:spcPts val="0"/>
              </a:spcAft>
              <a:defRPr sz="1950" b="0" i="0">
                <a:solidFill>
                  <a:srgbClr val="293730"/>
                </a:solidFill>
                <a:latin typeface="Times New Roman"/>
                <a:ea typeface="Times New Roman"/>
                <a:cs typeface="Times New Roman"/>
              </a:defRPr>
            </a:pPr>
            <a:r>
              <a:rPr sz="1950" b="0" i="0" u="none">
                <a:solidFill>
                  <a:srgbClr val="293730"/>
                </a:solidFill>
                <a:latin typeface="Times New Roman"/>
                <a:ea typeface="Times New Roman"/>
                <a:cs typeface="Times New Roman"/>
              </a:rPr>
              <a:t>Process SR in smaller tiles.</a:t>
            </a:r>
          </a:p>
        </p:txBody>
      </p:sp>
      <p:sp>
        <p:nvSpPr>
          <p:cNvPr id="15" name="Runtime, RAM and disk tests;&#10;~7 GiB estimated">
            <a:extLst xmlns:a="http://schemas.openxmlformats.org/drawingml/2006/main">
              <a:ext uri="{FF2B5EF4-FFF2-40B4-BE49-F238E27FC236}">
                <a16:creationId xmlns:a16="http://schemas.microsoft.com/office/drawing/2014/main" id="{4BC6DA36-D941-44DF-A6BF-EA070B0CF583}"/>
              </a:ext>
            </a:extLst>
          </p:cNvPr>
          <p:cNvSpPr>
            <a:spLocks xmlns:a="http://schemas.openxmlformats.org/drawingml/2006/main" noGrp="1"/>
          </p:cNvSpPr>
          <p:nvPr/>
        </p:nvSpPr>
        <p:spPr>
          <a:xfrm xmlns:a="http://schemas.openxmlformats.org/drawingml/2006/main">
            <a:off x="7810500" y="2657475"/>
            <a:ext cx="3619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950" b="0" i="0">
                <a:solidFill>
                  <a:srgbClr val="293730"/>
                </a:solidFill>
                <a:latin typeface="Times New Roman"/>
                <a:ea typeface="Times New Roman"/>
                <a:cs typeface="Times New Roman"/>
              </a:defRPr>
            </a:pPr>
            <a:r>
              <a:rPr sz="1950" b="0" i="0" u="none">
                <a:solidFill>
                  <a:srgbClr val="293730"/>
                </a:solidFill>
                <a:latin typeface="Times New Roman"/>
                <a:ea typeface="Times New Roman"/>
                <a:cs typeface="Times New Roman"/>
              </a:rPr>
              <a:t>Measure time, memory and disk</a:t>
            </a:r>
          </a:p>
          <a:p xmlns:a="http://schemas.openxmlformats.org/drawingml/2006/main">
            <a:pPr algn="l">
              <a:spcBef>
                <a:spcPts val="0"/>
              </a:spcBef>
              <a:spcAft>
                <a:spcPts val="0"/>
              </a:spcAft>
              <a:defRPr sz="1950" b="0" i="0">
                <a:solidFill>
                  <a:srgbClr val="293730"/>
                </a:solidFill>
                <a:latin typeface="Times New Roman"/>
                <a:ea typeface="Times New Roman"/>
                <a:cs typeface="Times New Roman"/>
              </a:defRPr>
            </a:pPr>
            <a:r>
              <a:rPr sz="1950" b="0" i="0" u="none">
                <a:solidFill>
                  <a:srgbClr val="293730"/>
                </a:solidFill>
                <a:latin typeface="Times New Roman"/>
                <a:ea typeface="Times New Roman"/>
                <a:cs typeface="Times New Roman"/>
              </a:rPr>
              <a:t>use with full-size captures.</a:t>
            </a:r>
          </a:p>
        </p:txBody>
      </p:sp>
      <p:sp>
        <p:nvSpPr>
          <p:cNvPr id="16" name="直线连接符 15">
            <a:extLst xmlns:a="http://schemas.openxmlformats.org/drawingml/2006/main">
              <a:ext uri="{FF2B5EF4-FFF2-40B4-BE49-F238E27FC236}">
                <a16:creationId xmlns:a16="http://schemas.microsoft.com/office/drawing/2014/main" id="{7663C5A1-F63E-49EF-A35D-BB0C333C818E}"/>
              </a:ext>
            </a:extLst>
          </p:cNvPr>
          <p:cNvSpPr>
            <a:spLocks xmlns:a="http://schemas.openxmlformats.org/drawingml/2006/main" noGrp="1"/>
          </p:cNvSpPr>
          <p:nvPr/>
        </p:nvSpPr>
        <p:spPr>
          <a:xfrm xmlns:a="http://schemas.openxmlformats.org/drawingml/2006/main">
            <a:off x="609600" y="3533775"/>
            <a:ext cx="10972800" cy="0"/>
          </a:xfrm>
          <a:prstGeom xmlns:a="http://schemas.openxmlformats.org/drawingml/2006/main" prst="line">
            <a:avLst/>
          </a:prstGeom>
          <a:noFill xmlns:a="http://schemas.openxmlformats.org/drawingml/2006/main"/>
          <a:ln xmlns:a="http://schemas.openxmlformats.org/drawingml/2006/main" w="9525">
            <a:solidFill>
              <a:srgbClr val="CCD5CF"/>
            </a:solidFill>
            <a:prstDash val="solid"/>
          </a:ln>
        </p:spPr>
      </p:sp>
      <p:sp>
        <p:nvSpPr>
          <p:cNvPr id="17" name="Scientific validity · Critical">
            <a:extLst xmlns:a="http://schemas.openxmlformats.org/drawingml/2006/main">
              <a:ext uri="{FF2B5EF4-FFF2-40B4-BE49-F238E27FC236}">
                <a16:creationId xmlns:a16="http://schemas.microsoft.com/office/drawing/2014/main" id="{2036E7C2-0455-4E74-B327-CF9E227ABE69}"/>
              </a:ext>
            </a:extLst>
          </p:cNvPr>
          <p:cNvSpPr>
            <a:spLocks xmlns:a="http://schemas.openxmlformats.org/drawingml/2006/main" noGrp="1"/>
          </p:cNvSpPr>
          <p:nvPr/>
        </p:nvSpPr>
        <p:spPr>
          <a:xfrm xmlns:a="http://schemas.openxmlformats.org/drawingml/2006/main">
            <a:off x="762000" y="3667125"/>
            <a:ext cx="2819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950" b="1" i="0">
                <a:solidFill>
                  <a:srgbClr val="173F32"/>
                </a:solidFill>
                <a:latin typeface="Times New Roman"/>
                <a:ea typeface="Times New Roman"/>
                <a:cs typeface="Times New Roman"/>
              </a:defRPr>
            </a:pPr>
            <a:r>
              <a:rPr sz="1950" b="1" i="0" u="none">
                <a:solidFill>
                  <a:srgbClr val="173F32"/>
                </a:solidFill>
                <a:latin typeface="Times New Roman"/>
                <a:ea typeface="Times New Roman"/>
                <a:cs typeface="Times New Roman"/>
              </a:rPr>
              <a:t>Wrong results · Critical</a:t>
            </a:r>
          </a:p>
        </p:txBody>
      </p:sp>
      <p:sp>
        <p:nvSpPr>
          <p:cNvPr id="18" name="Model limits and provenance&#10;are documented.">
            <a:extLst xmlns:a="http://schemas.openxmlformats.org/drawingml/2006/main">
              <a:ext uri="{FF2B5EF4-FFF2-40B4-BE49-F238E27FC236}">
                <a16:creationId xmlns:a16="http://schemas.microsoft.com/office/drawing/2014/main" id="{7699886C-C07B-495C-A676-E26B6F5B2883}"/>
              </a:ext>
            </a:extLst>
          </p:cNvPr>
          <p:cNvSpPr>
            <a:spLocks xmlns:a="http://schemas.openxmlformats.org/drawingml/2006/main" noGrp="1"/>
          </p:cNvSpPr>
          <p:nvPr/>
        </p:nvSpPr>
        <p:spPr>
          <a:xfrm xmlns:a="http://schemas.openxmlformats.org/drawingml/2006/main">
            <a:off x="3886200" y="3667125"/>
            <a:ext cx="3619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950" b="0" i="0">
                <a:solidFill>
                  <a:srgbClr val="293730"/>
                </a:solidFill>
                <a:latin typeface="Times New Roman"/>
                <a:ea typeface="Times New Roman"/>
                <a:cs typeface="Times New Roman"/>
              </a:defRPr>
            </a:pPr>
            <a:r>
              <a:rPr sz="1950" b="0" i="0" u="none">
                <a:solidFill>
                  <a:srgbClr val="293730"/>
                </a:solidFill>
                <a:latin typeface="Times New Roman"/>
                <a:ea typeface="Times New Roman"/>
                <a:cs typeface="Times New Roman"/>
              </a:rPr>
              <a:t>Write down the model’s limits</a:t>
            </a:r>
          </a:p>
          <a:p xmlns:a="http://schemas.openxmlformats.org/drawingml/2006/main">
            <a:pPr algn="l">
              <a:spcBef>
                <a:spcPts val="0"/>
              </a:spcBef>
              <a:spcAft>
                <a:spcPts val="0"/>
              </a:spcAft>
              <a:defRPr sz="1950" b="0" i="0">
                <a:solidFill>
                  <a:srgbClr val="293730"/>
                </a:solidFill>
                <a:latin typeface="Times New Roman"/>
                <a:ea typeface="Times New Roman"/>
                <a:cs typeface="Times New Roman"/>
              </a:defRPr>
            </a:pPr>
            <a:r>
              <a:rPr sz="1950" b="0" i="0" u="none">
                <a:solidFill>
                  <a:srgbClr val="293730"/>
                </a:solidFill>
                <a:latin typeface="Times New Roman"/>
                <a:ea typeface="Times New Roman"/>
                <a:cs typeface="Times New Roman"/>
              </a:rPr>
              <a:t>and the data it expects.</a:t>
            </a:r>
          </a:p>
        </p:txBody>
      </p:sp>
      <p:sp>
        <p:nvSpPr>
          <p:cNvPr id="19" name="Index reference tests; sensor&#10;compatibility a">
            <a:extLst xmlns:a="http://schemas.openxmlformats.org/drawingml/2006/main">
              <a:ext uri="{FF2B5EF4-FFF2-40B4-BE49-F238E27FC236}">
                <a16:creationId xmlns:a16="http://schemas.microsoft.com/office/drawing/2014/main" id="{A8463E86-C6B2-49F9-8F4B-B656D8B3336B}"/>
              </a:ext>
            </a:extLst>
          </p:cNvPr>
          <p:cNvSpPr>
            <a:spLocks xmlns:a="http://schemas.openxmlformats.org/drawingml/2006/main" noGrp="1"/>
          </p:cNvSpPr>
          <p:nvPr/>
        </p:nvSpPr>
        <p:spPr>
          <a:xfrm xmlns:a="http://schemas.openxmlformats.org/drawingml/2006/main">
            <a:off x="7810500" y="3667125"/>
            <a:ext cx="3619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950" b="0" i="0">
                <a:solidFill>
                  <a:srgbClr val="293730"/>
                </a:solidFill>
                <a:latin typeface="Times New Roman"/>
                <a:ea typeface="Times New Roman"/>
                <a:cs typeface="Times New Roman"/>
              </a:defRPr>
            </a:pPr>
            <a:r>
              <a:rPr sz="1950" b="0" i="0" u="none">
                <a:solidFill>
                  <a:srgbClr val="293730"/>
                </a:solidFill>
                <a:latin typeface="Times New Roman"/>
                <a:ea typeface="Times New Roman"/>
                <a:cs typeface="Times New Roman"/>
              </a:rPr>
              <a:t>Compare results with known</a:t>
            </a:r>
          </a:p>
          <a:p xmlns:a="http://schemas.openxmlformats.org/drawingml/2006/main">
            <a:pPr algn="l">
              <a:spcBef>
                <a:spcPts val="0"/>
              </a:spcBef>
              <a:spcAft>
                <a:spcPts val="0"/>
              </a:spcAft>
              <a:defRPr sz="1950" b="0" i="0">
                <a:solidFill>
                  <a:srgbClr val="293730"/>
                </a:solidFill>
                <a:latin typeface="Times New Roman"/>
                <a:ea typeface="Times New Roman"/>
                <a:cs typeface="Times New Roman"/>
              </a:defRPr>
            </a:pPr>
            <a:r>
              <a:rPr sz="1950" b="0" i="0" u="none">
                <a:solidFill>
                  <a:srgbClr val="293730"/>
                </a:solidFill>
                <a:latin typeface="Times New Roman"/>
                <a:ea typeface="Times New Roman"/>
                <a:cs typeface="Times New Roman"/>
              </a:rPr>
              <a:t>values and suitable test data.</a:t>
            </a:r>
          </a:p>
        </p:txBody>
      </p:sp>
      <p:sp>
        <p:nvSpPr>
          <p:cNvPr id="20" name="直线连接符 19">
            <a:extLst xmlns:a="http://schemas.openxmlformats.org/drawingml/2006/main">
              <a:ext uri="{FF2B5EF4-FFF2-40B4-BE49-F238E27FC236}">
                <a16:creationId xmlns:a16="http://schemas.microsoft.com/office/drawing/2014/main" id="{F0B9BEE3-74CC-47DA-A074-ED7200E4A437}"/>
              </a:ext>
            </a:extLst>
          </p:cNvPr>
          <p:cNvSpPr>
            <a:spLocks xmlns:a="http://schemas.openxmlformats.org/drawingml/2006/main" noGrp="1"/>
          </p:cNvSpPr>
          <p:nvPr/>
        </p:nvSpPr>
        <p:spPr>
          <a:xfrm xmlns:a="http://schemas.openxmlformats.org/drawingml/2006/main">
            <a:off x="609600" y="4543425"/>
            <a:ext cx="10972800" cy="0"/>
          </a:xfrm>
          <a:prstGeom xmlns:a="http://schemas.openxmlformats.org/drawingml/2006/main" prst="line">
            <a:avLst/>
          </a:prstGeom>
          <a:noFill xmlns:a="http://schemas.openxmlformats.org/drawingml/2006/main"/>
          <a:ln xmlns:a="http://schemas.openxmlformats.org/drawingml/2006/main" w="9525">
            <a:solidFill>
              <a:srgbClr val="CCD5CF"/>
            </a:solidFill>
            <a:prstDash val="solid"/>
          </a:ln>
        </p:spPr>
      </p:sp>
      <p:sp>
        <p:nvSpPr>
          <p:cNvPr id="21" name="Environment gaps · High">
            <a:extLst xmlns:a="http://schemas.openxmlformats.org/drawingml/2006/main">
              <a:ext uri="{FF2B5EF4-FFF2-40B4-BE49-F238E27FC236}">
                <a16:creationId xmlns:a16="http://schemas.microsoft.com/office/drawing/2014/main" id="{E5385CB3-CC71-46EC-9CD6-580CE8E71B06}"/>
              </a:ext>
            </a:extLst>
          </p:cNvPr>
          <p:cNvSpPr>
            <a:spLocks xmlns:a="http://schemas.openxmlformats.org/drawingml/2006/main" noGrp="1"/>
          </p:cNvSpPr>
          <p:nvPr/>
        </p:nvSpPr>
        <p:spPr>
          <a:xfrm xmlns:a="http://schemas.openxmlformats.org/drawingml/2006/main">
            <a:off x="762000" y="4676775"/>
            <a:ext cx="2819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950" b="1" i="0">
                <a:solidFill>
                  <a:srgbClr val="173F32"/>
                </a:solidFill>
                <a:latin typeface="Times New Roman"/>
                <a:ea typeface="Times New Roman"/>
                <a:cs typeface="Times New Roman"/>
              </a:defRPr>
            </a:pPr>
            <a:r>
              <a:rPr sz="1950" b="1" i="0" u="none">
                <a:solidFill>
                  <a:srgbClr val="173F32"/>
                </a:solidFill>
                <a:latin typeface="Times New Roman"/>
                <a:ea typeface="Times New Roman"/>
                <a:cs typeface="Times New Roman"/>
              </a:rPr>
              <a:t>Different PCs · High</a:t>
            </a:r>
          </a:p>
        </p:txBody>
      </p:sp>
      <p:sp>
        <p:nvSpPr>
          <p:cNvPr id="22" name="Ubuntu CI and explicit&#10;dependency/sample skip">
            <a:extLst xmlns:a="http://schemas.openxmlformats.org/drawingml/2006/main">
              <a:ext uri="{FF2B5EF4-FFF2-40B4-BE49-F238E27FC236}">
                <a16:creationId xmlns:a16="http://schemas.microsoft.com/office/drawing/2014/main" id="{CE7FF553-986F-455D-BB0F-A51A20D1902F}"/>
              </a:ext>
            </a:extLst>
          </p:cNvPr>
          <p:cNvSpPr>
            <a:spLocks xmlns:a="http://schemas.openxmlformats.org/drawingml/2006/main" noGrp="1"/>
          </p:cNvSpPr>
          <p:nvPr/>
        </p:nvSpPr>
        <p:spPr>
          <a:xfrm xmlns:a="http://schemas.openxmlformats.org/drawingml/2006/main">
            <a:off x="3886200" y="4676775"/>
            <a:ext cx="3619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950" b="0" i="0">
                <a:solidFill>
                  <a:srgbClr val="293730"/>
                </a:solidFill>
                <a:latin typeface="Times New Roman"/>
                <a:ea typeface="Times New Roman"/>
                <a:cs typeface="Times New Roman"/>
              </a:defRPr>
            </a:pPr>
            <a:r>
              <a:rPr sz="1950" b="0" i="0" u="none">
                <a:solidFill>
                  <a:srgbClr val="293730"/>
                </a:solidFill>
                <a:latin typeface="Times New Roman"/>
                <a:ea typeface="Times New Roman"/>
                <a:cs typeface="Times New Roman"/>
              </a:rPr>
              <a:t>Run tests on Ubuntu in CI.</a:t>
            </a:r>
          </a:p>
          <a:p xmlns:a="http://schemas.openxmlformats.org/drawingml/2006/main">
            <a:pPr algn="l">
              <a:spcBef>
                <a:spcPts val="0"/>
              </a:spcBef>
              <a:spcAft>
                <a:spcPts val="0"/>
              </a:spcAft>
              <a:defRPr sz="1950" b="0" i="0">
                <a:solidFill>
                  <a:srgbClr val="293730"/>
                </a:solidFill>
                <a:latin typeface="Times New Roman"/>
                <a:ea typeface="Times New Roman"/>
                <a:cs typeface="Times New Roman"/>
              </a:defRPr>
            </a:pPr>
            <a:r>
              <a:rPr sz="1950" b="0" i="0" u="none">
                <a:solidFill>
                  <a:srgbClr val="293730"/>
                </a:solidFill>
                <a:latin typeface="Times New Roman"/>
                <a:ea typeface="Times New Roman"/>
                <a:cs typeface="Times New Roman"/>
              </a:rPr>
              <a:t>Show why tests are skipped.</a:t>
            </a:r>
          </a:p>
        </p:txBody>
      </p:sp>
      <p:sp>
        <p:nvSpPr>
          <p:cNvPr id="23" name="SR-enabled CPU tests and&#10;Windows/OpenGL check">
            <a:extLst xmlns:a="http://schemas.openxmlformats.org/drawingml/2006/main">
              <a:ext uri="{FF2B5EF4-FFF2-40B4-BE49-F238E27FC236}">
                <a16:creationId xmlns:a16="http://schemas.microsoft.com/office/drawing/2014/main" id="{C2DC8DE9-CFF4-4134-BDA1-D66F2E5DE8FC}"/>
              </a:ext>
            </a:extLst>
          </p:cNvPr>
          <p:cNvSpPr>
            <a:spLocks xmlns:a="http://schemas.openxmlformats.org/drawingml/2006/main" noGrp="1"/>
          </p:cNvSpPr>
          <p:nvPr/>
        </p:nvSpPr>
        <p:spPr>
          <a:xfrm xmlns:a="http://schemas.openxmlformats.org/drawingml/2006/main">
            <a:off x="7810500" y="4676775"/>
            <a:ext cx="3619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950" b="0" i="0">
                <a:solidFill>
                  <a:srgbClr val="293730"/>
                </a:solidFill>
                <a:latin typeface="Times New Roman"/>
                <a:ea typeface="Times New Roman"/>
                <a:cs typeface="Times New Roman"/>
              </a:defRPr>
            </a:pPr>
            <a:r>
              <a:rPr sz="1950" b="0" i="0" u="none">
                <a:solidFill>
                  <a:srgbClr val="293730"/>
                </a:solidFill>
                <a:latin typeface="Times New Roman"/>
                <a:ea typeface="Times New Roman"/>
                <a:cs typeface="Times New Roman"/>
              </a:rPr>
              <a:t>Test SR and 3D graphics</a:t>
            </a:r>
          </a:p>
          <a:p xmlns:a="http://schemas.openxmlformats.org/drawingml/2006/main">
            <a:pPr algn="l">
              <a:spcBef>
                <a:spcPts val="0"/>
              </a:spcBef>
              <a:spcAft>
                <a:spcPts val="0"/>
              </a:spcAft>
              <a:defRPr sz="1950" b="0" i="0">
                <a:solidFill>
                  <a:srgbClr val="293730"/>
                </a:solidFill>
                <a:latin typeface="Times New Roman"/>
                <a:ea typeface="Times New Roman"/>
                <a:cs typeface="Times New Roman"/>
              </a:defRPr>
            </a:pPr>
            <a:r>
              <a:rPr sz="1950" b="0" i="0" u="none">
                <a:solidFill>
                  <a:srgbClr val="293730"/>
                </a:solidFill>
                <a:latin typeface="Times New Roman"/>
                <a:ea typeface="Times New Roman"/>
                <a:cs typeface="Times New Roman"/>
              </a:rPr>
              <a:t>on the target Windows PC.</a:t>
            </a:r>
          </a:p>
        </p:txBody>
      </p:sp>
      <p:sp>
        <p:nvSpPr>
          <p:cNvPr id="24" name="直线连接符 23">
            <a:extLst xmlns:a="http://schemas.openxmlformats.org/drawingml/2006/main">
              <a:ext uri="{FF2B5EF4-FFF2-40B4-BE49-F238E27FC236}">
                <a16:creationId xmlns:a16="http://schemas.microsoft.com/office/drawing/2014/main" id="{B1237732-6BE7-41F7-B975-DDE843667CDB}"/>
              </a:ext>
            </a:extLst>
          </p:cNvPr>
          <p:cNvSpPr>
            <a:spLocks xmlns:a="http://schemas.openxmlformats.org/drawingml/2006/main" noGrp="1"/>
          </p:cNvSpPr>
          <p:nvPr/>
        </p:nvSpPr>
        <p:spPr>
          <a:xfrm xmlns:a="http://schemas.openxmlformats.org/drawingml/2006/main">
            <a:off x="609600" y="5553075"/>
            <a:ext cx="10972800" cy="0"/>
          </a:xfrm>
          <a:prstGeom xmlns:a="http://schemas.openxmlformats.org/drawingml/2006/main" prst="line">
            <a:avLst/>
          </a:prstGeom>
          <a:noFill xmlns:a="http://schemas.openxmlformats.org/drawingml/2006/main"/>
          <a:ln xmlns:a="http://schemas.openxmlformats.org/drawingml/2006/main" w="9525">
            <a:solidFill>
              <a:srgbClr val="CCD5CF"/>
            </a:solidFill>
            <a:prstDash val="solid"/>
          </a:ln>
        </p:spPr>
      </p:sp>
      <p:sp>
        <p:nvSpPr>
          <p:cNvPr id="25" name="Next: confirm named accountable owners for th">
            <a:extLst xmlns:a="http://schemas.openxmlformats.org/drawingml/2006/main">
              <a:ext uri="{FF2B5EF4-FFF2-40B4-BE49-F238E27FC236}">
                <a16:creationId xmlns:a16="http://schemas.microsoft.com/office/drawing/2014/main" id="{4A34E8A8-44FE-4F6E-AAC7-94AE769F1430}"/>
              </a:ext>
            </a:extLst>
          </p:cNvPr>
          <p:cNvSpPr>
            <a:spLocks xmlns:a="http://schemas.openxmlformats.org/drawingml/2006/main" noGrp="1"/>
          </p:cNvSpPr>
          <p:nvPr/>
        </p:nvSpPr>
        <p:spPr>
          <a:xfrm xmlns:a="http://schemas.openxmlformats.org/drawingml/2006/main">
            <a:off x="609600" y="5810250"/>
            <a:ext cx="10972800" cy="381000"/>
          </a:xfrm>
          <a:prstGeom xmlns:a="http://schemas.openxmlformats.org/drawingml/2006/main" prst="rect">
            <a:avLst/>
          </a:prstGeom>
          <a:solidFill xmlns:a="http://schemas.openxmlformats.org/drawingml/2006/main">
            <a:srgbClr val="EDF2EE"/>
          </a:solidFill>
          <a:ln xmlns:a="http://schemas.openxmlformats.org/drawingml/2006/main" w="0">
            <a:noFill/>
          </a:ln>
        </p:spPr>
        <p:txBody>
          <a:bodyPr xmlns:a="http://schemas.openxmlformats.org/drawingml/2006/main" wrap="square" lIns="133350" tIns="38100" rIns="133350" bIns="38100" anchor="ctr">
            <a:noAutofit/>
          </a:bodyPr>
          <a:lstStyle xmlns:a="http://schemas.openxmlformats.org/drawingml/2006/main"/>
          <a:p xmlns:a="http://schemas.openxmlformats.org/drawingml/2006/main">
            <a:pPr algn="l">
              <a:spcBef>
                <a:spcPts val="0"/>
              </a:spcBef>
              <a:spcAft>
                <a:spcPts val="0"/>
              </a:spcAft>
              <a:defRPr sz="1800" b="0" i="0">
                <a:solidFill>
                  <a:srgbClr val="173F32"/>
                </a:solidFill>
                <a:latin typeface="Times New Roman"/>
                <a:ea typeface="Times New Roman"/>
                <a:cs typeface="Times New Roman"/>
              </a:defRPr>
            </a:pPr>
            <a:r>
              <a:rPr sz="1800" b="0" i="0" u="none">
                <a:solidFill>
                  <a:srgbClr val="173F32"/>
                </a:solidFill>
                <a:latin typeface="Times New Roman"/>
                <a:ea typeface="Times New Roman"/>
                <a:cs typeface="Times New Roman"/>
              </a:rPr>
              <a:t>We still need to put a person’s name against each role in the risk plan.</a:t>
            </a:r>
          </a:p>
        </p:txBody>
      </p:sp>
    </p:spTree>
    <p:extLst>
      <p:ext uri="{BB962C8B-B14F-4D97-AF65-F5344CB8AC3E}">
        <p14:creationId xmlns:p14="http://schemas.microsoft.com/office/powerpoint/2010/main" val="27894910"/>
      </p:ext>
    </p:extLst>
  </p:cSld>
</p:sld>
</file>

<file path=ppt/slides/slide9.xml><?xml version="1.0" encoding="utf-8"?>
<p:sld xmlns:p="http://schemas.openxmlformats.org/presentationml/2006/main">
  <p:cSld>
    <p:bg>
      <p:bgPr>
        <a:solidFill xmlns:a="http://schemas.openxmlformats.org/drawingml/2006/main">
          <a:srgbClr val="FBFBF8"/>
        </a:solidFill>
      </p:bgPr>
    </p:bg>
    <p:spTree>
      <p:nvGrpSpPr>
        <p:cNvPr id="1" name=""/>
        <p:cNvGrpSpPr/>
        <p:nvPr/>
      </p:nvGrpSpPr>
      <p:grpSpPr>
        <a:xfrm xmlns:a="http://schemas.openxmlformats.org/drawingml/2006/main"/>
      </p:grpSpPr>
      <p:sp>
        <p:nvSpPr>
          <p:cNvPr id="27" name="EXECUTION AND QUALITY">
            <a:extLst xmlns:a="http://schemas.openxmlformats.org/drawingml/2006/main">
              <a:ext uri="{FF2B5EF4-FFF2-40B4-BE49-F238E27FC236}">
                <a16:creationId xmlns:a16="http://schemas.microsoft.com/office/drawing/2014/main" id="{CAE07812-0E7B-40DC-8CBB-CF0149200396}"/>
              </a:ext>
            </a:extLst>
          </p:cNvPr>
          <p:cNvSpPr>
            <a:spLocks xmlns:a="http://schemas.openxmlformats.org/drawingml/2006/main" noGrp="1"/>
          </p:cNvSpPr>
          <p:nvPr/>
        </p:nvSpPr>
        <p:spPr>
          <a:xfrm xmlns:a="http://schemas.openxmlformats.org/drawingml/2006/main">
            <a:off x="609600" y="390525"/>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350" b="1" i="0">
                <a:solidFill>
                  <a:srgbClr val="173F32"/>
                </a:solidFill>
                <a:latin typeface="Times New Roman"/>
                <a:ea typeface="Times New Roman"/>
                <a:cs typeface="Times New Roman"/>
              </a:defRPr>
            </a:pPr>
            <a:r>
              <a:rPr sz="1350" b="1" i="0" u="none">
                <a:solidFill>
                  <a:srgbClr val="173F32"/>
                </a:solidFill>
                <a:latin typeface="Times New Roman"/>
                <a:ea typeface="Times New Roman"/>
                <a:cs typeface="Times New Roman"/>
              </a:rPr>
              <a:t>EXECUTION AND QUALITY</a:t>
            </a:r>
          </a:p>
        </p:txBody>
      </p:sp>
      <p:sp>
        <p:nvSpPr>
          <p:cNvPr id="2" name="Tests cover connected user workflows">
            <a:extLst xmlns:a="http://schemas.openxmlformats.org/drawingml/2006/main">
              <a:ext uri="{FF2B5EF4-FFF2-40B4-BE49-F238E27FC236}">
                <a16:creationId xmlns:a16="http://schemas.microsoft.com/office/drawing/2014/main" id="{848ADC8B-0394-4A9D-A9B5-368A8D2DC9A7}"/>
              </a:ext>
            </a:extLst>
          </p:cNvPr>
          <p:cNvSpPr>
            <a:spLocks xmlns:a="http://schemas.openxmlformats.org/drawingml/2006/main" noGrp="1"/>
          </p:cNvSpPr>
          <p:nvPr/>
        </p:nvSpPr>
        <p:spPr>
          <a:xfrm xmlns:a="http://schemas.openxmlformats.org/drawingml/2006/main">
            <a:off x="609600" y="8001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3300" b="1" i="0">
                <a:solidFill>
                  <a:srgbClr val="173F32"/>
                </a:solidFill>
                <a:latin typeface="Arial"/>
                <a:ea typeface="Arial"/>
                <a:cs typeface="Arial"/>
              </a:defRPr>
            </a:pPr>
            <a:r>
              <a:rPr sz="3300" b="1" i="0" u="none">
                <a:solidFill>
                  <a:srgbClr val="173F32"/>
                </a:solidFill>
                <a:latin typeface="Arial"/>
                <a:ea typeface="Arial"/>
                <a:cs typeface="Arial"/>
              </a:rPr>
              <a:t>We added tests for common user actions</a:t>
            </a:r>
          </a:p>
        </p:txBody>
      </p:sp>
      <p:sp>
        <p:nvSpPr>
          <p:cNvPr id="3" name="直线连接符 2">
            <a:extLst xmlns:a="http://schemas.openxmlformats.org/drawingml/2006/main">
              <a:ext uri="{FF2B5EF4-FFF2-40B4-BE49-F238E27FC236}">
                <a16:creationId xmlns:a16="http://schemas.microsoft.com/office/drawing/2014/main" id="{17CE52A9-9F66-4583-B81E-0F9B44531160}"/>
              </a:ext>
            </a:extLst>
          </p:cNvPr>
          <p:cNvSpPr>
            <a:spLocks xmlns:a="http://schemas.openxmlformats.org/drawingml/2006/main" noGrp="1"/>
          </p:cNvSpPr>
          <p:nvPr/>
        </p:nvSpPr>
        <p:spPr>
          <a:xfrm xmlns:a="http://schemas.openxmlformats.org/drawingml/2006/main">
            <a:off x="609600" y="6286500"/>
            <a:ext cx="10972800" cy="0"/>
          </a:xfrm>
          <a:prstGeom xmlns:a="http://schemas.openxmlformats.org/drawingml/2006/main" prst="line">
            <a:avLst/>
          </a:prstGeom>
          <a:noFill xmlns:a="http://schemas.openxmlformats.org/drawingml/2006/main"/>
          <a:ln xmlns:a="http://schemas.openxmlformats.org/drawingml/2006/main" w="9525">
            <a:solidFill>
              <a:srgbClr val="CCD5CF"/>
            </a:solidFill>
            <a:prstDash val="solid"/>
          </a:ln>
        </p:spPr>
      </p:sp>
      <p:sp>
        <p:nvSpPr>
          <p:cNvPr id="4" name="LEAF ANALYZER  /  SPRINT 5">
            <a:extLst xmlns:a="http://schemas.openxmlformats.org/drawingml/2006/main">
              <a:ext uri="{FF2B5EF4-FFF2-40B4-BE49-F238E27FC236}">
                <a16:creationId xmlns:a16="http://schemas.microsoft.com/office/drawing/2014/main" id="{73096B14-D72E-4ADA-9114-228879350600}"/>
              </a:ext>
            </a:extLst>
          </p:cNvPr>
          <p:cNvSpPr>
            <a:spLocks xmlns:a="http://schemas.openxmlformats.org/drawingml/2006/main" noGrp="1"/>
          </p:cNvSpPr>
          <p:nvPr/>
        </p:nvSpPr>
        <p:spPr>
          <a:xfrm xmlns:a="http://schemas.openxmlformats.org/drawingml/2006/main">
            <a:off x="8572500" y="400050"/>
            <a:ext cx="3009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spcBef>
                <a:spcPts val="0"/>
              </a:spcBef>
              <a:spcAft>
                <a:spcPts val="0"/>
              </a:spcAft>
              <a:defRPr sz="1200" b="0" i="0">
                <a:solidFill>
                  <a:srgbClr val="59665F"/>
                </a:solidFill>
                <a:latin typeface="Times New Roman"/>
                <a:ea typeface="Times New Roman"/>
                <a:cs typeface="Times New Roman"/>
              </a:defRPr>
            </a:pPr>
            <a:r>
              <a:rPr sz="1200" b="0" i="0" u="none">
                <a:solidFill>
                  <a:srgbClr val="59665F"/>
                </a:solidFill>
                <a:latin typeface="Times New Roman"/>
                <a:ea typeface="Times New Roman"/>
                <a:cs typeface="Times New Roman"/>
              </a:rPr>
              <a:t>LEAF ANALYZER  /  SPRINT 5</a:t>
            </a:r>
          </a:p>
        </p:txBody>
      </p:sp>
      <p:sp>
        <p:nvSpPr>
          <p:cNvPr id="5" name="LEAF-147 · PR #25 • current ui_tests suite">
            <a:extLst xmlns:a="http://schemas.openxmlformats.org/drawingml/2006/main">
              <a:ext uri="{FF2B5EF4-FFF2-40B4-BE49-F238E27FC236}">
                <a16:creationId xmlns:a16="http://schemas.microsoft.com/office/drawing/2014/main" id="{20AD1C6D-5FC1-4E33-87F3-821BFA0BC789}"/>
              </a:ext>
            </a:extLst>
          </p:cNvPr>
          <p:cNvSpPr>
            <a:spLocks xmlns:a="http://schemas.openxmlformats.org/drawingml/2006/main" noGrp="1"/>
          </p:cNvSpPr>
          <p:nvPr/>
        </p:nvSpPr>
        <p:spPr>
          <a:xfrm xmlns:a="http://schemas.openxmlformats.org/drawingml/2006/main">
            <a:off x="609600" y="6362700"/>
            <a:ext cx="1043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200" b="0" i="0">
                <a:solidFill>
                  <a:srgbClr val="59665F"/>
                </a:solidFill>
                <a:latin typeface="Times New Roman"/>
                <a:ea typeface="Times New Roman"/>
                <a:cs typeface="Times New Roman"/>
              </a:defRPr>
            </a:pPr>
            <a:r>
              <a:rPr sz="1200" b="0" i="0" u="none">
                <a:solidFill>
                  <a:srgbClr val="59665F"/>
                </a:solidFill>
                <a:latin typeface="Times New Roman"/>
                <a:ea typeface="Times New Roman"/>
                <a:cs typeface="Times New Roman"/>
              </a:rPr>
              <a:t>Sources: </a:t>
            </a:r>
            <a:r>
              <a:rPr sz="1200" b="0" i="0" u="sng">
                <a:solidFill>
                  <a:srgbClr val="2469A0"/>
                </a:solidFill>
                <a:latin typeface="Times New Roman"/>
                <a:ea typeface="Times New Roman"/>
                <a:cs typeface="Times New Roman"/>
                <a:hlinkClick xmlns:r="http://schemas.openxmlformats.org/officeDocument/2006/relationships" r:id="R4d48593c54b84690"/>
              </a:rPr>
              <a:t>PR #25</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e63d43acd98b4f7f"/>
              </a:rPr>
              <a:t>Test setup</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09ddb01692e04436"/>
              </a:rPr>
              <a:t>Crop tests</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6b1ef782890e4d94"/>
              </a:rPr>
              <a:t>SR UI tests</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14acd734fc84465e"/>
              </a:rPr>
              <a:t>SR model tests</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e439697ba0bd4bf3"/>
              </a:rPr>
              <a:t>PR #36</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b8356927581142c7"/>
              </a:rPr>
              <a:t>LEAF-113</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56cd793ab24346fc"/>
              </a:rPr>
              <a:t>UI test files</a:t>
            </a:r>
          </a:p>
        </p:txBody>
      </p:sp>
      <p:sp>
        <p:nvSpPr>
          <p:cNvPr id="6" name="09">
            <a:extLst xmlns:a="http://schemas.openxmlformats.org/drawingml/2006/main">
              <a:ext uri="{FF2B5EF4-FFF2-40B4-BE49-F238E27FC236}">
                <a16:creationId xmlns:a16="http://schemas.microsoft.com/office/drawing/2014/main" id="{0DAEF50B-9267-4FE5-ABC8-1BE747FD83D4}"/>
              </a:ext>
            </a:extLst>
          </p:cNvPr>
          <p:cNvSpPr>
            <a:spLocks xmlns:a="http://schemas.openxmlformats.org/drawingml/2006/main" noGrp="1"/>
          </p:cNvSpPr>
          <p:nvPr/>
        </p:nvSpPr>
        <p:spPr>
          <a:xfrm xmlns:a="http://schemas.openxmlformats.org/drawingml/2006/main">
            <a:off x="11239500" y="63722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spcBef>
                <a:spcPts val="0"/>
              </a:spcBef>
              <a:spcAft>
                <a:spcPts val="0"/>
              </a:spcAft>
              <a:defRPr sz="1425" b="0" i="0">
                <a:solidFill>
                  <a:srgbClr val="59665F"/>
                </a:solidFill>
                <a:latin typeface="Times New Roman"/>
                <a:ea typeface="Times New Roman"/>
                <a:cs typeface="Times New Roman"/>
              </a:defRPr>
            </a:pPr>
            <a:r>
              <a:rPr sz="1425" b="0" i="0" u="none">
                <a:solidFill>
                  <a:srgbClr val="59665F"/>
                </a:solidFill>
                <a:latin typeface="Times New Roman"/>
                <a:ea typeface="Times New Roman"/>
                <a:cs typeface="Times New Roman"/>
              </a:rPr>
              <a:t>09</a:t>
            </a:r>
          </a:p>
        </p:txBody>
      </p:sp>
      <p:sp>
        <p:nvSpPr>
          <p:cNvPr id="7" name="Sprint 4 feedback: introduce systematic unit ">
            <a:extLst xmlns:a="http://schemas.openxmlformats.org/drawingml/2006/main">
              <a:ext uri="{FF2B5EF4-FFF2-40B4-BE49-F238E27FC236}">
                <a16:creationId xmlns:a16="http://schemas.microsoft.com/office/drawing/2014/main" id="{740FABD0-91FE-4938-9EA4-81BEB11B2A73}"/>
              </a:ext>
            </a:extLst>
          </p:cNvPr>
          <p:cNvSpPr>
            <a:spLocks xmlns:a="http://schemas.openxmlformats.org/drawingml/2006/main" noGrp="1"/>
          </p:cNvSpPr>
          <p:nvPr/>
        </p:nvSpPr>
        <p:spPr>
          <a:xfrm xmlns:a="http://schemas.openxmlformats.org/drawingml/2006/main">
            <a:off x="609600" y="15049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2025" b="0" i="0">
                <a:solidFill>
                  <a:srgbClr val="59665F"/>
                </a:solidFill>
                <a:latin typeface="Times New Roman"/>
                <a:ea typeface="Times New Roman"/>
                <a:cs typeface="Times New Roman"/>
              </a:defRPr>
            </a:pPr>
            <a:r>
              <a:rPr sz="2025" b="0" i="0" u="none">
                <a:solidFill>
                  <a:srgbClr val="59665F"/>
                </a:solidFill>
                <a:latin typeface="Times New Roman"/>
                <a:ea typeface="Times New Roman"/>
                <a:cs typeface="Times New Roman"/>
              </a:rPr>
              <a:t>Last sprint: add unit tests and integration tests.</a:t>
            </a:r>
          </a:p>
        </p:txBody>
      </p:sp>
      <p:sp>
        <p:nvSpPr>
          <p:cNvPr id="13" name="Units / components">
            <a:extLst xmlns:a="http://schemas.openxmlformats.org/drawingml/2006/main">
              <a:ext uri="{FF2B5EF4-FFF2-40B4-BE49-F238E27FC236}">
                <a16:creationId xmlns:a16="http://schemas.microsoft.com/office/drawing/2014/main" id="{9FAE85EF-8165-47B4-822A-1A9CFD8A681D}"/>
              </a:ext>
            </a:extLst>
          </p:cNvPr>
          <p:cNvSpPr>
            <a:spLocks xmlns:a="http://schemas.openxmlformats.org/drawingml/2006/main" noGrp="1"/>
          </p:cNvSpPr>
          <p:nvPr/>
        </p:nvSpPr>
        <p:spPr>
          <a:xfrm xmlns:a="http://schemas.openxmlformats.org/drawingml/2006/main">
            <a:off x="609600" y="2276475"/>
            <a:ext cx="48387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2325" b="1" i="0">
                <a:solidFill>
                  <a:srgbClr val="173F32"/>
                </a:solidFill>
                <a:latin typeface="Times New Roman"/>
                <a:ea typeface="Times New Roman"/>
                <a:cs typeface="Times New Roman"/>
              </a:defRPr>
            </a:pPr>
            <a:r>
              <a:rPr sz="2325" b="1" i="0" u="none">
                <a:solidFill>
                  <a:srgbClr val="173F32"/>
                </a:solidFill>
                <a:latin typeface="Times New Roman"/>
                <a:ea typeface="Times New Roman"/>
                <a:cs typeface="Times New Roman"/>
              </a:rPr>
              <a:t>Model and component tests</a:t>
            </a:r>
          </a:p>
        </p:txBody>
      </p:sp>
      <p:sp>
        <p:nvSpPr>
          <p:cNvPr id="14" name="Hypercube geometry; SR output&#10;shape, bands an">
            <a:extLst xmlns:a="http://schemas.openxmlformats.org/drawingml/2006/main">
              <a:ext uri="{FF2B5EF4-FFF2-40B4-BE49-F238E27FC236}">
                <a16:creationId xmlns:a16="http://schemas.microsoft.com/office/drawing/2014/main" id="{EDBE6CA4-2DCA-4E36-BFD5-BB9ED08BAA84}"/>
              </a:ext>
            </a:extLst>
          </p:cNvPr>
          <p:cNvSpPr>
            <a:spLocks xmlns:a="http://schemas.openxmlformats.org/drawingml/2006/main" noGrp="1"/>
          </p:cNvSpPr>
          <p:nvPr/>
        </p:nvSpPr>
        <p:spPr>
          <a:xfrm xmlns:a="http://schemas.openxmlformats.org/drawingml/2006/main">
            <a:off x="609600" y="2857500"/>
            <a:ext cx="48387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2025" b="0" i="0">
                <a:solidFill>
                  <a:srgbClr val="293730"/>
                </a:solidFill>
                <a:latin typeface="Times New Roman"/>
                <a:ea typeface="Times New Roman"/>
                <a:cs typeface="Times New Roman"/>
              </a:defRPr>
            </a:pPr>
            <a:r>
              <a:rPr sz="2025" b="0" i="0" u="none">
                <a:solidFill>
                  <a:srgbClr val="293730"/>
                </a:solidFill>
                <a:latin typeface="Times New Roman"/>
                <a:ea typeface="Times New Roman"/>
                <a:cs typeface="Times New Roman"/>
              </a:rPr>
              <a:t>Check Hypercube geometry,</a:t>
            </a:r>
          </a:p>
          <a:p xmlns:a="http://schemas.openxmlformats.org/drawingml/2006/main">
            <a:pPr algn="l">
              <a:spcBef>
                <a:spcPts val="0"/>
              </a:spcBef>
              <a:spcAft>
                <a:spcPts val="0"/>
              </a:spcAft>
              <a:defRPr sz="2025" b="0" i="0">
                <a:solidFill>
                  <a:srgbClr val="293730"/>
                </a:solidFill>
                <a:latin typeface="Times New Roman"/>
                <a:ea typeface="Times New Roman"/>
                <a:cs typeface="Times New Roman"/>
              </a:defRPr>
            </a:pPr>
            <a:r>
              <a:rPr sz="2025" b="0" i="0" u="none">
                <a:solidFill>
                  <a:srgbClr val="293730"/>
                </a:solidFill>
                <a:latin typeface="Times New Roman"/>
                <a:ea typeface="Times New Roman"/>
                <a:cs typeface="Times New Roman"/>
              </a:rPr>
              <a:t>SR output size and cancellation.</a:t>
            </a:r>
          </a:p>
        </p:txBody>
      </p:sp>
      <p:sp>
        <p:nvSpPr>
          <p:cNvPr id="17" name="UI integration">
            <a:extLst xmlns:a="http://schemas.openxmlformats.org/drawingml/2006/main">
              <a:ext uri="{FF2B5EF4-FFF2-40B4-BE49-F238E27FC236}">
                <a16:creationId xmlns:a16="http://schemas.microsoft.com/office/drawing/2014/main" id="{8FDFA718-2E83-4D6F-83B4-E178219B326D}"/>
              </a:ext>
            </a:extLst>
          </p:cNvPr>
          <p:cNvSpPr>
            <a:spLocks xmlns:a="http://schemas.openxmlformats.org/drawingml/2006/main" noGrp="1"/>
          </p:cNvSpPr>
          <p:nvPr/>
        </p:nvSpPr>
        <p:spPr>
          <a:xfrm xmlns:a="http://schemas.openxmlformats.org/drawingml/2006/main">
            <a:off x="609600" y="4010025"/>
            <a:ext cx="48387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2325" b="1" i="0">
                <a:solidFill>
                  <a:srgbClr val="173F32"/>
                </a:solidFill>
                <a:latin typeface="Times New Roman"/>
                <a:ea typeface="Times New Roman"/>
                <a:cs typeface="Times New Roman"/>
              </a:defRPr>
            </a:pPr>
            <a:r>
              <a:rPr sz="2325" b="1" i="0" u="none">
                <a:solidFill>
                  <a:srgbClr val="173F32"/>
                </a:solidFill>
                <a:latin typeface="Times New Roman"/>
                <a:ea typeface="Times New Roman"/>
                <a:cs typeface="Times New Roman"/>
              </a:rPr>
              <a:t>UI tests</a:t>
            </a:r>
          </a:p>
        </p:txBody>
      </p:sp>
      <p:sp>
        <p:nvSpPr>
          <p:cNvPr id="18" name="Load → crop → undo → switch → save;&#10;SR compar">
            <a:extLst xmlns:a="http://schemas.openxmlformats.org/drawingml/2006/main">
              <a:ext uri="{FF2B5EF4-FFF2-40B4-BE49-F238E27FC236}">
                <a16:creationId xmlns:a16="http://schemas.microsoft.com/office/drawing/2014/main" id="{A894303C-FEDF-4567-9A70-599EB636AA27}"/>
              </a:ext>
            </a:extLst>
          </p:cNvPr>
          <p:cNvSpPr>
            <a:spLocks xmlns:a="http://schemas.openxmlformats.org/drawingml/2006/main" noGrp="1"/>
          </p:cNvSpPr>
          <p:nvPr/>
        </p:nvSpPr>
        <p:spPr>
          <a:xfrm xmlns:a="http://schemas.openxmlformats.org/drawingml/2006/main">
            <a:off x="609600" y="4543425"/>
            <a:ext cx="48387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2025" b="0" i="0">
                <a:solidFill>
                  <a:srgbClr val="293730"/>
                </a:solidFill>
                <a:latin typeface="Times New Roman"/>
                <a:ea typeface="Times New Roman"/>
                <a:cs typeface="Times New Roman"/>
              </a:defRPr>
            </a:pPr>
            <a:r>
              <a:rPr sz="2025" b="0" i="0" u="none">
                <a:solidFill>
                  <a:srgbClr val="293730"/>
                </a:solidFill>
                <a:latin typeface="Times New Roman"/>
                <a:ea typeface="Times New Roman"/>
                <a:cs typeface="Times New Roman"/>
              </a:rPr>
              <a:t>Load, crop, undo and save.</a:t>
            </a:r>
          </a:p>
          <a:p xmlns:a="http://schemas.openxmlformats.org/drawingml/2006/main">
            <a:pPr algn="l">
              <a:spcBef>
                <a:spcPts val="0"/>
              </a:spcBef>
              <a:spcAft>
                <a:spcPts val="0"/>
              </a:spcAft>
              <a:defRPr sz="2025" b="0" i="0">
                <a:solidFill>
                  <a:srgbClr val="293730"/>
                </a:solidFill>
                <a:latin typeface="Times New Roman"/>
                <a:ea typeface="Times New Roman"/>
                <a:cs typeface="Times New Roman"/>
              </a:defRPr>
            </a:pPr>
            <a:r>
              <a:rPr sz="2025" b="0" i="0" u="none">
                <a:solidFill>
                  <a:srgbClr val="293730"/>
                </a:solidFill>
                <a:latin typeface="Times New Roman"/>
                <a:ea typeface="Times New Roman"/>
                <a:cs typeface="Times New Roman"/>
              </a:rPr>
              <a:t>Switch views and compare SR.</a:t>
            </a:r>
          </a:p>
        </p:txBody>
      </p:sp>
      <p:sp>
        <p:nvSpPr>
          <p:cNvPr id="25" name="Local check: 114 passed / 11 skipped — all sk">
            <a:extLst xmlns:a="http://schemas.openxmlformats.org/drawingml/2006/main">
              <a:ext uri="{FF2B5EF4-FFF2-40B4-BE49-F238E27FC236}">
                <a16:creationId xmlns:a16="http://schemas.microsoft.com/office/drawing/2014/main" id="{808CD3E8-74E9-4587-8138-06DD3C94FF17}"/>
              </a:ext>
            </a:extLst>
          </p:cNvPr>
          <p:cNvSpPr>
            <a:spLocks xmlns:a="http://schemas.openxmlformats.org/drawingml/2006/main" noGrp="1"/>
          </p:cNvSpPr>
          <p:nvPr/>
        </p:nvSpPr>
        <p:spPr>
          <a:xfrm xmlns:a="http://schemas.openxmlformats.org/drawingml/2006/main">
            <a:off x="609600" y="57150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875" b="1" i="0">
                <a:solidFill>
                  <a:srgbClr val="173F32"/>
                </a:solidFill>
                <a:latin typeface="Times New Roman"/>
                <a:ea typeface="Times New Roman"/>
                <a:cs typeface="Times New Roman"/>
              </a:defRPr>
            </a:pPr>
            <a:r>
              <a:rPr sz="1875" b="1" i="0" u="none">
                <a:solidFill>
                  <a:srgbClr val="173F32"/>
                </a:solidFill>
                <a:latin typeface="Times New Roman"/>
                <a:ea typeface="Times New Roman"/>
                <a:cs typeface="Times New Roman"/>
              </a:rPr>
              <a:t>Local check in pytorch_env: 125 tests passed on 28 August.</a:t>
            </a:r>
          </a:p>
        </p:txBody>
      </p:sp>
      <p:sp>
        <p:nvSpPr>
          <p:cNvPr id="26" name="Scientific index accuracy and dedicated class">
            <a:extLst xmlns:a="http://schemas.openxmlformats.org/drawingml/2006/main">
              <a:ext uri="{FF2B5EF4-FFF2-40B4-BE49-F238E27FC236}">
                <a16:creationId xmlns:a16="http://schemas.microsoft.com/office/drawing/2014/main" id="{3E92763C-DEB1-4938-A408-0F16A94841F4}"/>
              </a:ext>
            </a:extLst>
          </p:cNvPr>
          <p:cNvSpPr>
            <a:spLocks xmlns:a="http://schemas.openxmlformats.org/drawingml/2006/main" noGrp="1"/>
          </p:cNvSpPr>
          <p:nvPr/>
        </p:nvSpPr>
        <p:spPr>
          <a:xfrm xmlns:a="http://schemas.openxmlformats.org/drawingml/2006/main">
            <a:off x="609600" y="60293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575" b="0" i="0">
                <a:solidFill>
                  <a:srgbClr val="8C6125"/>
                </a:solidFill>
                <a:latin typeface="Times New Roman"/>
                <a:ea typeface="Times New Roman"/>
                <a:cs typeface="Times New Roman"/>
              </a:defRPr>
            </a:pPr>
            <a:r>
              <a:rPr sz="1575" b="0" i="0" u="none">
                <a:solidFill>
                  <a:srgbClr val="8C6125"/>
                </a:solidFill>
                <a:latin typeface="Times New Roman"/>
                <a:ea typeface="Times New Roman"/>
                <a:cs typeface="Times New Roman"/>
              </a:rPr>
              <a:t>Still needed: more classification tests and checks against known scientific results.</a:t>
            </a:r>
          </a:p>
        </p:txBody>
      </p:sp>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ecdef3cbe2a84c2e"/>
          <a:stretch xmlns:a="http://schemas.openxmlformats.org/drawingml/2006/main"/>
        </p:blipFill>
        <p:spPr>
          <a:xfrm xmlns:a="http://schemas.openxmlformats.org/drawingml/2006/main">
            <a:off x="6296025" y="1876425"/>
            <a:ext cx="5286375" cy="3716655"/>
          </a:xfrm>
          <a:prstGeom xmlns:a="http://schemas.openxmlformats.org/drawingml/2006/main" prst="rect">
            <a:avLst/>
          </a:prstGeom>
        </p:spPr>
      </p:pic>
    </p:spTree>
    <p:extLst>
      <p:ext uri="{BB962C8B-B14F-4D97-AF65-F5344CB8AC3E}">
        <p14:creationId xmlns:p14="http://schemas.microsoft.com/office/powerpoint/2010/main" val="1504527570"/>
      </p:ext>
    </p:extLst>
  </p:cSld>
</p:sld>
</file>

<file path=ppt/slides/slide10.xml><?xml version="1.0" encoding="utf-8"?>
<p:sld xmlns:p="http://schemas.openxmlformats.org/presentationml/2006/main">
  <p:cSld>
    <p:bg>
      <p:bgPr>
        <a:solidFill xmlns:a="http://schemas.openxmlformats.org/drawingml/2006/main">
          <a:srgbClr val="FBFBF8"/>
        </a:solidFill>
      </p:bgPr>
    </p:bg>
    <p:spTree>
      <p:nvGrpSpPr>
        <p:cNvPr id="1" name=""/>
        <p:cNvGrpSpPr/>
        <p:nvPr/>
      </p:nvGrpSpPr>
      <p:grpSpPr>
        <a:xfrm xmlns:a="http://schemas.openxmlformats.org/drawingml/2006/main"/>
      </p:grpSpPr>
      <p:sp>
        <p:nvSpPr>
          <p:cNvPr id="30" name="EXECUTION AND QUALITY">
            <a:extLst xmlns:a="http://schemas.openxmlformats.org/drawingml/2006/main">
              <a:ext uri="{FF2B5EF4-FFF2-40B4-BE49-F238E27FC236}">
                <a16:creationId xmlns:a16="http://schemas.microsoft.com/office/drawing/2014/main" id="{E79EB6AC-D7F0-4672-8BF0-3ADCA5145100}"/>
              </a:ext>
            </a:extLst>
          </p:cNvPr>
          <p:cNvSpPr>
            <a:spLocks xmlns:a="http://schemas.openxmlformats.org/drawingml/2006/main" noGrp="1"/>
          </p:cNvSpPr>
          <p:nvPr/>
        </p:nvSpPr>
        <p:spPr>
          <a:xfrm xmlns:a="http://schemas.openxmlformats.org/drawingml/2006/main">
            <a:off x="609600" y="390525"/>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350" b="1" i="0">
                <a:solidFill>
                  <a:srgbClr val="173F32"/>
                </a:solidFill>
                <a:latin typeface="Times New Roman"/>
                <a:ea typeface="Times New Roman"/>
                <a:cs typeface="Times New Roman"/>
              </a:defRPr>
            </a:pPr>
            <a:r>
              <a:rPr sz="1350" b="1" i="0" u="none">
                <a:solidFill>
                  <a:srgbClr val="173F32"/>
                </a:solidFill>
                <a:latin typeface="Times New Roman"/>
                <a:ea typeface="Times New Roman"/>
                <a:cs typeface="Times New Roman"/>
              </a:rPr>
              <a:t>EXECUTION AND QUALITY</a:t>
            </a:r>
          </a:p>
        </p:txBody>
      </p:sp>
      <p:sp>
        <p:nvSpPr>
          <p:cNvPr id="2" name="CI checks pull requests and main">
            <a:extLst xmlns:a="http://schemas.openxmlformats.org/drawingml/2006/main">
              <a:ext uri="{FF2B5EF4-FFF2-40B4-BE49-F238E27FC236}">
                <a16:creationId xmlns:a16="http://schemas.microsoft.com/office/drawing/2014/main" id="{E9F3C630-AD2B-4682-9313-AC73113715CD}"/>
              </a:ext>
            </a:extLst>
          </p:cNvPr>
          <p:cNvSpPr>
            <a:spLocks xmlns:a="http://schemas.openxmlformats.org/drawingml/2006/main" noGrp="1"/>
          </p:cNvSpPr>
          <p:nvPr/>
        </p:nvSpPr>
        <p:spPr>
          <a:xfrm xmlns:a="http://schemas.openxmlformats.org/drawingml/2006/main">
            <a:off x="609600" y="8001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3300" b="1" i="0">
                <a:solidFill>
                  <a:srgbClr val="173F32"/>
                </a:solidFill>
                <a:latin typeface="Arial"/>
                <a:ea typeface="Arial"/>
                <a:cs typeface="Arial"/>
              </a:defRPr>
            </a:pPr>
            <a:r>
              <a:rPr sz="3300" b="1" i="0" u="none">
                <a:solidFill>
                  <a:srgbClr val="173F32"/>
                </a:solidFill>
                <a:latin typeface="Arial"/>
                <a:ea typeface="Arial"/>
                <a:cs typeface="Arial"/>
              </a:rPr>
              <a:t>GitHub runs our tests automatically</a:t>
            </a:r>
          </a:p>
        </p:txBody>
      </p:sp>
      <p:sp>
        <p:nvSpPr>
          <p:cNvPr id="3" name="直线连接符 2">
            <a:extLst xmlns:a="http://schemas.openxmlformats.org/drawingml/2006/main">
              <a:ext uri="{FF2B5EF4-FFF2-40B4-BE49-F238E27FC236}">
                <a16:creationId xmlns:a16="http://schemas.microsoft.com/office/drawing/2014/main" id="{B549625E-2882-4E4F-8BF2-D793351E9892}"/>
              </a:ext>
            </a:extLst>
          </p:cNvPr>
          <p:cNvSpPr>
            <a:spLocks xmlns:a="http://schemas.openxmlformats.org/drawingml/2006/main" noGrp="1"/>
          </p:cNvSpPr>
          <p:nvPr/>
        </p:nvSpPr>
        <p:spPr>
          <a:xfrm xmlns:a="http://schemas.openxmlformats.org/drawingml/2006/main">
            <a:off x="609600" y="6286500"/>
            <a:ext cx="10972800" cy="0"/>
          </a:xfrm>
          <a:prstGeom xmlns:a="http://schemas.openxmlformats.org/drawingml/2006/main" prst="line">
            <a:avLst/>
          </a:prstGeom>
          <a:noFill xmlns:a="http://schemas.openxmlformats.org/drawingml/2006/main"/>
          <a:ln xmlns:a="http://schemas.openxmlformats.org/drawingml/2006/main" w="9525">
            <a:solidFill>
              <a:srgbClr val="CCD5CF"/>
            </a:solidFill>
            <a:prstDash val="solid"/>
          </a:ln>
        </p:spPr>
      </p:sp>
      <p:sp>
        <p:nvSpPr>
          <p:cNvPr id="4" name="LEAF ANALYZER  /  SPRINT 5">
            <a:extLst xmlns:a="http://schemas.openxmlformats.org/drawingml/2006/main">
              <a:ext uri="{FF2B5EF4-FFF2-40B4-BE49-F238E27FC236}">
                <a16:creationId xmlns:a16="http://schemas.microsoft.com/office/drawing/2014/main" id="{AD9E35B3-A447-47F2-A58A-9CFC691CF97B}"/>
              </a:ext>
            </a:extLst>
          </p:cNvPr>
          <p:cNvSpPr>
            <a:spLocks xmlns:a="http://schemas.openxmlformats.org/drawingml/2006/main" noGrp="1"/>
          </p:cNvSpPr>
          <p:nvPr/>
        </p:nvSpPr>
        <p:spPr>
          <a:xfrm xmlns:a="http://schemas.openxmlformats.org/drawingml/2006/main">
            <a:off x="8572500" y="400050"/>
            <a:ext cx="3009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spcBef>
                <a:spcPts val="0"/>
              </a:spcBef>
              <a:spcAft>
                <a:spcPts val="0"/>
              </a:spcAft>
              <a:defRPr sz="1200" b="0" i="0">
                <a:solidFill>
                  <a:srgbClr val="59665F"/>
                </a:solidFill>
                <a:latin typeface="Times New Roman"/>
                <a:ea typeface="Times New Roman"/>
                <a:cs typeface="Times New Roman"/>
              </a:defRPr>
            </a:pPr>
            <a:r>
              <a:rPr sz="1200" b="0" i="0" u="none">
                <a:solidFill>
                  <a:srgbClr val="59665F"/>
                </a:solidFill>
                <a:latin typeface="Times New Roman"/>
                <a:ea typeface="Times New Roman"/>
                <a:cs typeface="Times New Roman"/>
              </a:rPr>
              <a:t>LEAF ANALYZER  /  SPRINT 5</a:t>
            </a:r>
          </a:p>
        </p:txBody>
      </p:sp>
      <p:sp>
        <p:nvSpPr>
          <p:cNvPr id="5" name="GitHub Actions • UI Tests • run 33145582110">
            <a:extLst xmlns:a="http://schemas.openxmlformats.org/drawingml/2006/main">
              <a:ext uri="{FF2B5EF4-FFF2-40B4-BE49-F238E27FC236}">
                <a16:creationId xmlns:a16="http://schemas.microsoft.com/office/drawing/2014/main" id="{A606CCB3-BAD4-457D-B62C-4D69B3BDB801}"/>
              </a:ext>
            </a:extLst>
          </p:cNvPr>
          <p:cNvSpPr>
            <a:spLocks xmlns:a="http://schemas.openxmlformats.org/drawingml/2006/main" noGrp="1"/>
          </p:cNvSpPr>
          <p:nvPr/>
        </p:nvSpPr>
        <p:spPr>
          <a:xfrm xmlns:a="http://schemas.openxmlformats.org/drawingml/2006/main">
            <a:off x="609600" y="6362700"/>
            <a:ext cx="1043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200" b="0" i="0">
                <a:solidFill>
                  <a:srgbClr val="59665F"/>
                </a:solidFill>
                <a:latin typeface="Times New Roman"/>
                <a:ea typeface="Times New Roman"/>
                <a:cs typeface="Times New Roman"/>
              </a:defRPr>
            </a:pPr>
            <a:r>
              <a:rPr sz="1200" b="0" i="0" u="none">
                <a:solidFill>
                  <a:srgbClr val="59665F"/>
                </a:solidFill>
                <a:latin typeface="Times New Roman"/>
                <a:ea typeface="Times New Roman"/>
                <a:cs typeface="Times New Roman"/>
              </a:rPr>
              <a:t>Sources: </a:t>
            </a:r>
            <a:r>
              <a:rPr sz="1200" b="0" i="0" u="sng">
                <a:solidFill>
                  <a:srgbClr val="2469A0"/>
                </a:solidFill>
                <a:latin typeface="Times New Roman"/>
                <a:ea typeface="Times New Roman"/>
                <a:cs typeface="Times New Roman"/>
                <a:hlinkClick xmlns:r="http://schemas.openxmlformats.org/officeDocument/2006/relationships" r:id="Rcdea1bb485ad4867"/>
              </a:rPr>
              <a:t>PR #25</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898fa88aa4c64d60"/>
              </a:rPr>
              <a:t>CI workflow</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ce3546b5f6e14d48"/>
              </a:rPr>
              <a:t>CI run</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bd18d8d847394e40"/>
              </a:rPr>
              <a:t>Test packages</a:t>
            </a:r>
          </a:p>
        </p:txBody>
      </p:sp>
      <p:sp>
        <p:nvSpPr>
          <p:cNvPr id="6" name="10">
            <a:extLst xmlns:a="http://schemas.openxmlformats.org/drawingml/2006/main">
              <a:ext uri="{FF2B5EF4-FFF2-40B4-BE49-F238E27FC236}">
                <a16:creationId xmlns:a16="http://schemas.microsoft.com/office/drawing/2014/main" id="{85B31256-663A-4FE4-8621-48219AF250D0}"/>
              </a:ext>
            </a:extLst>
          </p:cNvPr>
          <p:cNvSpPr>
            <a:spLocks xmlns:a="http://schemas.openxmlformats.org/drawingml/2006/main" noGrp="1"/>
          </p:cNvSpPr>
          <p:nvPr/>
        </p:nvSpPr>
        <p:spPr>
          <a:xfrm xmlns:a="http://schemas.openxmlformats.org/drawingml/2006/main">
            <a:off x="11239500" y="63722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spcBef>
                <a:spcPts val="0"/>
              </a:spcBef>
              <a:spcAft>
                <a:spcPts val="0"/>
              </a:spcAft>
              <a:defRPr sz="1425" b="0" i="0">
                <a:solidFill>
                  <a:srgbClr val="59665F"/>
                </a:solidFill>
                <a:latin typeface="Times New Roman"/>
                <a:ea typeface="Times New Roman"/>
                <a:cs typeface="Times New Roman"/>
              </a:defRPr>
            </a:pPr>
            <a:r>
              <a:rPr sz="1425" b="0" i="0" u="none">
                <a:solidFill>
                  <a:srgbClr val="59665F"/>
                </a:solidFill>
                <a:latin typeface="Times New Roman"/>
                <a:ea typeface="Times New Roman"/>
                <a:cs typeface="Times New Roman"/>
              </a:rPr>
              <a:t>10</a:t>
            </a:r>
          </a:p>
        </p:txBody>
      </p:sp>
      <p:sp>
        <p:nvSpPr>
          <p:cNvPr id="11" name="Code + tests">
            <a:extLst xmlns:a="http://schemas.openxmlformats.org/drawingml/2006/main">
              <a:ext uri="{FF2B5EF4-FFF2-40B4-BE49-F238E27FC236}">
                <a16:creationId xmlns:a16="http://schemas.microsoft.com/office/drawing/2014/main" id="{F4868951-5756-47C0-B827-91EE523995D4}"/>
              </a:ext>
            </a:extLst>
          </p:cNvPr>
          <p:cNvSpPr>
            <a:spLocks xmlns:a="http://schemas.openxmlformats.org/drawingml/2006/main" noGrp="1"/>
          </p:cNvSpPr>
          <p:nvPr/>
        </p:nvSpPr>
        <p:spPr>
          <a:xfrm xmlns:a="http://schemas.openxmlformats.org/drawingml/2006/main">
            <a:off x="609600" y="1733550"/>
            <a:ext cx="23241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3525" b="1" i="0">
                <a:solidFill>
                  <a:srgbClr val="173F32"/>
                </a:solidFill>
                <a:latin typeface="Times New Roman"/>
                <a:ea typeface="Times New Roman"/>
                <a:cs typeface="Times New Roman"/>
              </a:defRPr>
            </a:pPr>
            <a:r>
              <a:rPr sz="3525" b="1" i="0" u="none">
                <a:solidFill>
                  <a:srgbClr val="173F32"/>
                </a:solidFill>
                <a:latin typeface="Times New Roman"/>
                <a:ea typeface="Times New Roman"/>
                <a:cs typeface="Times New Roman"/>
              </a:rPr>
              <a:t>105 passed</a:t>
            </a:r>
          </a:p>
        </p:txBody>
      </p:sp>
      <p:sp>
        <p:nvSpPr>
          <p:cNvPr id="12" name="Working branch">
            <a:extLst xmlns:a="http://schemas.openxmlformats.org/drawingml/2006/main">
              <a:ext uri="{FF2B5EF4-FFF2-40B4-BE49-F238E27FC236}">
                <a16:creationId xmlns:a16="http://schemas.microsoft.com/office/drawing/2014/main" id="{7B27A524-2F11-4E0C-8013-BA09C67FBE57}"/>
              </a:ext>
            </a:extLst>
          </p:cNvPr>
          <p:cNvSpPr>
            <a:spLocks xmlns:a="http://schemas.openxmlformats.org/drawingml/2006/main" noGrp="1"/>
          </p:cNvSpPr>
          <p:nvPr/>
        </p:nvSpPr>
        <p:spPr>
          <a:xfrm xmlns:a="http://schemas.openxmlformats.org/drawingml/2006/main">
            <a:off x="3114675" y="1790700"/>
            <a:ext cx="20764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2775" b="0" i="0">
                <a:solidFill>
                  <a:srgbClr val="59665F"/>
                </a:solidFill>
                <a:latin typeface="Times New Roman"/>
                <a:ea typeface="Times New Roman"/>
                <a:cs typeface="Times New Roman"/>
              </a:defRPr>
            </a:pPr>
            <a:r>
              <a:rPr sz="2775" b="0" i="0" u="none">
                <a:solidFill>
                  <a:srgbClr val="59665F"/>
                </a:solidFill>
                <a:latin typeface="Times New Roman"/>
                <a:ea typeface="Times New Roman"/>
                <a:cs typeface="Times New Roman"/>
              </a:rPr>
              <a:t>20 skipped</a:t>
            </a:r>
          </a:p>
        </p:txBody>
      </p:sp>
      <p:sp>
        <p:nvSpPr>
          <p:cNvPr id="14" name="Pull request">
            <a:extLst xmlns:a="http://schemas.openxmlformats.org/drawingml/2006/main">
              <a:ext uri="{FF2B5EF4-FFF2-40B4-BE49-F238E27FC236}">
                <a16:creationId xmlns:a16="http://schemas.microsoft.com/office/drawing/2014/main" id="{43C5B737-20BF-46A0-AF6B-987596D281CA}"/>
              </a:ext>
            </a:extLst>
          </p:cNvPr>
          <p:cNvSpPr>
            <a:spLocks xmlns:a="http://schemas.openxmlformats.org/drawingml/2006/main" noGrp="1"/>
          </p:cNvSpPr>
          <p:nvPr/>
        </p:nvSpPr>
        <p:spPr>
          <a:xfrm xmlns:a="http://schemas.openxmlformats.org/drawingml/2006/main">
            <a:off x="5419725" y="1771650"/>
            <a:ext cx="30003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875" b="1" i="0">
                <a:solidFill>
                  <a:srgbClr val="293730"/>
                </a:solidFill>
                <a:latin typeface="Times New Roman"/>
                <a:ea typeface="Times New Roman"/>
                <a:cs typeface="Times New Roman"/>
              </a:defRPr>
            </a:pPr>
            <a:r>
              <a:rPr sz="1875" b="1" i="0" u="none">
                <a:solidFill>
                  <a:srgbClr val="293730"/>
                </a:solidFill>
                <a:latin typeface="Times New Roman"/>
                <a:ea typeface="Times New Roman"/>
                <a:cs typeface="Times New Roman"/>
              </a:rPr>
              <a:t>Checks run on PRs</a:t>
            </a:r>
          </a:p>
          <a:p xmlns:a="http://schemas.openxmlformats.org/drawingml/2006/main">
            <a:pPr algn="l">
              <a:spcBef>
                <a:spcPts val="0"/>
              </a:spcBef>
              <a:spcAft>
                <a:spcPts val="0"/>
              </a:spcAft>
              <a:defRPr sz="1875" b="1" i="0">
                <a:solidFill>
                  <a:srgbClr val="293730"/>
                </a:solidFill>
                <a:latin typeface="Times New Roman"/>
                <a:ea typeface="Times New Roman"/>
                <a:cs typeface="Times New Roman"/>
              </a:defRPr>
            </a:pPr>
            <a:r>
              <a:rPr sz="1875" b="1" i="0" u="none">
                <a:solidFill>
                  <a:srgbClr val="293730"/>
                </a:solidFill>
                <a:latin typeface="Times New Roman"/>
                <a:ea typeface="Times New Roman"/>
                <a:cs typeface="Times New Roman"/>
              </a:rPr>
              <a:t>and pushes to main.</a:t>
            </a:r>
          </a:p>
        </p:txBody>
      </p:sp>
      <p:sp>
        <p:nvSpPr>
          <p:cNvPr id="15" name="Human review">
            <a:extLst xmlns:a="http://schemas.openxmlformats.org/drawingml/2006/main">
              <a:ext uri="{FF2B5EF4-FFF2-40B4-BE49-F238E27FC236}">
                <a16:creationId xmlns:a16="http://schemas.microsoft.com/office/drawing/2014/main" id="{8343673F-07CE-4F5D-BD0A-248E459713FA}"/>
              </a:ext>
            </a:extLst>
          </p:cNvPr>
          <p:cNvSpPr>
            <a:spLocks xmlns:a="http://schemas.openxmlformats.org/drawingml/2006/main" noGrp="1"/>
          </p:cNvSpPr>
          <p:nvPr/>
        </p:nvSpPr>
        <p:spPr>
          <a:xfrm xmlns:a="http://schemas.openxmlformats.org/drawingml/2006/main">
            <a:off x="8610600" y="1771650"/>
            <a:ext cx="2971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875" b="0" i="0">
                <a:solidFill>
                  <a:srgbClr val="293730"/>
                </a:solidFill>
                <a:latin typeface="Times New Roman"/>
                <a:ea typeface="Times New Roman"/>
                <a:cs typeface="Times New Roman"/>
              </a:defRPr>
            </a:pPr>
            <a:r>
              <a:rPr sz="1875" b="0" i="0" u="none">
                <a:solidFill>
                  <a:srgbClr val="293730"/>
                </a:solidFill>
                <a:latin typeface="Times New Roman"/>
                <a:ea typeface="Times New Roman"/>
                <a:cs typeface="Times New Roman"/>
              </a:rPr>
              <a:t>11 skips need PyTorch.</a:t>
            </a:r>
          </a:p>
          <a:p xmlns:a="http://schemas.openxmlformats.org/drawingml/2006/main">
            <a:pPr algn="l">
              <a:spcBef>
                <a:spcPts val="0"/>
              </a:spcBef>
              <a:spcAft>
                <a:spcPts val="0"/>
              </a:spcAft>
              <a:defRPr sz="1875" b="0" i="0">
                <a:solidFill>
                  <a:srgbClr val="293730"/>
                </a:solidFill>
                <a:latin typeface="Times New Roman"/>
                <a:ea typeface="Times New Roman"/>
                <a:cs typeface="Times New Roman"/>
              </a:defRPr>
            </a:pPr>
            <a:r>
              <a:rPr sz="1875" b="0" i="0" u="none">
                <a:solidFill>
                  <a:srgbClr val="293730"/>
                </a:solidFill>
                <a:latin typeface="Times New Roman"/>
                <a:ea typeface="Times New Roman"/>
                <a:cs typeface="Times New Roman"/>
              </a:rPr>
              <a:t>9 need real sample files.</a:t>
            </a:r>
          </a:p>
        </p:txBody>
      </p:sp>
      <p:sp>
        <p:nvSpPr>
          <p:cNvPr id="29" name="Impact: repeatable regression checks before a">
            <a:extLst xmlns:a="http://schemas.openxmlformats.org/drawingml/2006/main">
              <a:ext uri="{FF2B5EF4-FFF2-40B4-BE49-F238E27FC236}">
                <a16:creationId xmlns:a16="http://schemas.microsoft.com/office/drawing/2014/main" id="{26CBEEB7-FF6A-4377-B478-ED55820FBD5E}"/>
              </a:ext>
            </a:extLst>
          </p:cNvPr>
          <p:cNvSpPr>
            <a:spLocks xmlns:a="http://schemas.openxmlformats.org/drawingml/2006/main" noGrp="1"/>
          </p:cNvSpPr>
          <p:nvPr/>
        </p:nvSpPr>
        <p:spPr>
          <a:xfrm xmlns:a="http://schemas.openxmlformats.org/drawingml/2006/main">
            <a:off x="609600" y="5838825"/>
            <a:ext cx="10972800" cy="352425"/>
          </a:xfrm>
          <a:prstGeom xmlns:a="http://schemas.openxmlformats.org/drawingml/2006/main" prst="rect">
            <a:avLst/>
          </a:prstGeom>
          <a:solidFill xmlns:a="http://schemas.openxmlformats.org/drawingml/2006/main">
            <a:srgbClr val="EDF2EE"/>
          </a:solidFill>
          <a:ln xmlns:a="http://schemas.openxmlformats.org/drawingml/2006/main" w="0">
            <a:noFill/>
          </a:ln>
        </p:spPr>
        <p:txBody>
          <a:bodyPr xmlns:a="http://schemas.openxmlformats.org/drawingml/2006/main" wrap="square" lIns="133350" tIns="38100" rIns="133350" bIns="38100" anchor="ctr">
            <a:noAutofit/>
          </a:bodyPr>
          <a:lstStyle xmlns:a="http://schemas.openxmlformats.org/drawingml/2006/main"/>
          <a:p xmlns:a="http://schemas.openxmlformats.org/drawingml/2006/main">
            <a:pPr algn="l">
              <a:spcBef>
                <a:spcPts val="0"/>
              </a:spcBef>
              <a:spcAft>
                <a:spcPts val="0"/>
              </a:spcAft>
              <a:defRPr sz="1800" b="0" i="0">
                <a:solidFill>
                  <a:srgbClr val="173F32"/>
                </a:solidFill>
                <a:latin typeface="Times New Roman"/>
                <a:ea typeface="Times New Roman"/>
                <a:cs typeface="Times New Roman"/>
              </a:defRPr>
            </a:pPr>
            <a:r>
              <a:rPr sz="1800" b="0" i="0" u="none">
                <a:solidFill>
                  <a:srgbClr val="173F32"/>
                </a:solidFill>
                <a:latin typeface="Times New Roman"/>
                <a:ea typeface="Times New Roman"/>
                <a:cs typeface="Times New Roman"/>
              </a:rPr>
              <a:t>We added CI. Automatic deployment is not set up yet.</a:t>
            </a:r>
          </a:p>
        </p:txBody>
      </p:sp>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e985b2150b8a4edf"/>
          <a:stretch xmlns:a="http://schemas.openxmlformats.org/drawingml/2006/main"/>
        </p:blipFill>
        <p:spPr>
          <a:xfrm xmlns:a="http://schemas.openxmlformats.org/drawingml/2006/main">
            <a:off x="1952625" y="2638425"/>
            <a:ext cx="8286750" cy="3037904"/>
          </a:xfrm>
          <a:prstGeom xmlns:a="http://schemas.openxmlformats.org/drawingml/2006/main" prst="rect">
            <a:avLst/>
          </a:prstGeom>
        </p:spPr>
      </p:pic>
    </p:spTree>
    <p:extLst>
      <p:ext uri="{BB962C8B-B14F-4D97-AF65-F5344CB8AC3E}">
        <p14:creationId xmlns:p14="http://schemas.microsoft.com/office/powerpoint/2010/main" val="2052982339"/>
      </p:ext>
    </p:extLst>
  </p:cSld>
</p:sld>
</file>

<file path=ppt/slides/slide11.xml><?xml version="1.0" encoding="utf-8"?>
<p:sld xmlns:p="http://schemas.openxmlformats.org/presentationml/2006/main">
  <p:cSld>
    <p:bg>
      <p:bgPr>
        <a:solidFill xmlns:a="http://schemas.openxmlformats.org/drawingml/2006/main">
          <a:srgbClr val="FBFBF8"/>
        </a:solidFill>
      </p:bgPr>
    </p:bg>
    <p:spTree>
      <p:nvGrpSpPr>
        <p:cNvPr id="1" name=""/>
        <p:cNvGrpSpPr/>
        <p:nvPr/>
      </p:nvGrpSpPr>
      <p:grpSpPr>
        <a:xfrm xmlns:a="http://schemas.openxmlformats.org/drawingml/2006/main"/>
      </p:grpSpPr>
      <p:sp>
        <p:nvSpPr>
          <p:cNvPr id="12" name="EXECUTION AND QUALITY">
            <a:extLst xmlns:a="http://schemas.openxmlformats.org/drawingml/2006/main">
              <a:ext uri="{FF2B5EF4-FFF2-40B4-BE49-F238E27FC236}">
                <a16:creationId xmlns:a16="http://schemas.microsoft.com/office/drawing/2014/main" id="{6C3674CE-7415-4A07-819B-4B00B1F4F372}"/>
              </a:ext>
            </a:extLst>
          </p:cNvPr>
          <p:cNvSpPr>
            <a:spLocks xmlns:a="http://schemas.openxmlformats.org/drawingml/2006/main" noGrp="1"/>
          </p:cNvSpPr>
          <p:nvPr/>
        </p:nvSpPr>
        <p:spPr>
          <a:xfrm xmlns:a="http://schemas.openxmlformats.org/drawingml/2006/main">
            <a:off x="609600" y="390525"/>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350" b="1" i="0">
                <a:solidFill>
                  <a:srgbClr val="173F32"/>
                </a:solidFill>
                <a:latin typeface="Times New Roman"/>
                <a:ea typeface="Times New Roman"/>
                <a:cs typeface="Times New Roman"/>
              </a:defRPr>
            </a:pPr>
            <a:r>
              <a:rPr sz="1350" b="1" i="0" u="none">
                <a:solidFill>
                  <a:srgbClr val="173F32"/>
                </a:solidFill>
                <a:latin typeface="Times New Roman"/>
                <a:ea typeface="Times New Roman"/>
                <a:cs typeface="Times New Roman"/>
              </a:rPr>
              <a:t>EXECUTION AND QUALITY</a:t>
            </a:r>
          </a:p>
        </p:txBody>
      </p:sp>
      <p:sp>
        <p:nvSpPr>
          <p:cNvPr id="2" name="Review led to a concrete refactor">
            <a:extLst xmlns:a="http://schemas.openxmlformats.org/drawingml/2006/main">
              <a:ext uri="{FF2B5EF4-FFF2-40B4-BE49-F238E27FC236}">
                <a16:creationId xmlns:a16="http://schemas.microsoft.com/office/drawing/2014/main" id="{B9D5AA8E-3964-4F05-AD7D-22AEA3D1ED38}"/>
              </a:ext>
            </a:extLst>
          </p:cNvPr>
          <p:cNvSpPr>
            <a:spLocks xmlns:a="http://schemas.openxmlformats.org/drawingml/2006/main" noGrp="1"/>
          </p:cNvSpPr>
          <p:nvPr/>
        </p:nvSpPr>
        <p:spPr>
          <a:xfrm xmlns:a="http://schemas.openxmlformats.org/drawingml/2006/main">
            <a:off x="609600" y="8001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3300" b="1" i="0">
                <a:solidFill>
                  <a:srgbClr val="173F32"/>
                </a:solidFill>
                <a:latin typeface="Arial"/>
                <a:ea typeface="Arial"/>
                <a:cs typeface="Arial"/>
              </a:defRPr>
            </a:pPr>
            <a:r>
              <a:rPr sz="3300" b="1" i="0" u="none">
                <a:solidFill>
                  <a:srgbClr val="173F32"/>
                </a:solidFill>
                <a:latin typeface="Arial"/>
                <a:ea typeface="Arial"/>
                <a:cs typeface="Arial"/>
              </a:rPr>
              <a:t>Code review helped us tidy the code</a:t>
            </a:r>
          </a:p>
        </p:txBody>
      </p:sp>
      <p:sp>
        <p:nvSpPr>
          <p:cNvPr id="3" name="直线连接符 2">
            <a:extLst xmlns:a="http://schemas.openxmlformats.org/drawingml/2006/main">
              <a:ext uri="{FF2B5EF4-FFF2-40B4-BE49-F238E27FC236}">
                <a16:creationId xmlns:a16="http://schemas.microsoft.com/office/drawing/2014/main" id="{89C4D2AE-245F-47EF-830C-BAF2331AF110}"/>
              </a:ext>
            </a:extLst>
          </p:cNvPr>
          <p:cNvSpPr>
            <a:spLocks xmlns:a="http://schemas.openxmlformats.org/drawingml/2006/main" noGrp="1"/>
          </p:cNvSpPr>
          <p:nvPr/>
        </p:nvSpPr>
        <p:spPr>
          <a:xfrm xmlns:a="http://schemas.openxmlformats.org/drawingml/2006/main">
            <a:off x="609600" y="6286500"/>
            <a:ext cx="10972800" cy="0"/>
          </a:xfrm>
          <a:prstGeom xmlns:a="http://schemas.openxmlformats.org/drawingml/2006/main" prst="line">
            <a:avLst/>
          </a:prstGeom>
          <a:noFill xmlns:a="http://schemas.openxmlformats.org/drawingml/2006/main"/>
          <a:ln xmlns:a="http://schemas.openxmlformats.org/drawingml/2006/main" w="9525">
            <a:solidFill>
              <a:srgbClr val="CCD5CF"/>
            </a:solidFill>
            <a:prstDash val="solid"/>
          </a:ln>
        </p:spPr>
      </p:sp>
      <p:sp>
        <p:nvSpPr>
          <p:cNvPr id="4" name="LEAF ANALYZER  /  SPRINT 5">
            <a:extLst xmlns:a="http://schemas.openxmlformats.org/drawingml/2006/main">
              <a:ext uri="{FF2B5EF4-FFF2-40B4-BE49-F238E27FC236}">
                <a16:creationId xmlns:a16="http://schemas.microsoft.com/office/drawing/2014/main" id="{D96EB067-8428-4F34-A264-24B419E925D6}"/>
              </a:ext>
            </a:extLst>
          </p:cNvPr>
          <p:cNvSpPr>
            <a:spLocks xmlns:a="http://schemas.openxmlformats.org/drawingml/2006/main" noGrp="1"/>
          </p:cNvSpPr>
          <p:nvPr/>
        </p:nvSpPr>
        <p:spPr>
          <a:xfrm xmlns:a="http://schemas.openxmlformats.org/drawingml/2006/main">
            <a:off x="8572500" y="400050"/>
            <a:ext cx="3009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spcBef>
                <a:spcPts val="0"/>
              </a:spcBef>
              <a:spcAft>
                <a:spcPts val="0"/>
              </a:spcAft>
              <a:defRPr sz="1200" b="0" i="0">
                <a:solidFill>
                  <a:srgbClr val="59665F"/>
                </a:solidFill>
                <a:latin typeface="Times New Roman"/>
                <a:ea typeface="Times New Roman"/>
                <a:cs typeface="Times New Roman"/>
              </a:defRPr>
            </a:pPr>
            <a:r>
              <a:rPr sz="1200" b="0" i="0" u="none">
                <a:solidFill>
                  <a:srgbClr val="59665F"/>
                </a:solidFill>
                <a:latin typeface="Times New Roman"/>
                <a:ea typeface="Times New Roman"/>
                <a:cs typeface="Times New Roman"/>
              </a:rPr>
              <a:t>LEAF ANALYZER  /  SPRINT 5</a:t>
            </a:r>
          </a:p>
        </p:txBody>
      </p:sp>
      <p:sp>
        <p:nvSpPr>
          <p:cNvPr id="5" name="PR #36 • classification model, GUI and API">
            <a:extLst xmlns:a="http://schemas.openxmlformats.org/drawingml/2006/main">
              <a:ext uri="{FF2B5EF4-FFF2-40B4-BE49-F238E27FC236}">
                <a16:creationId xmlns:a16="http://schemas.microsoft.com/office/drawing/2014/main" id="{E9CB7623-3853-444E-B5F8-1A2428B6B187}"/>
              </a:ext>
            </a:extLst>
          </p:cNvPr>
          <p:cNvSpPr>
            <a:spLocks xmlns:a="http://schemas.openxmlformats.org/drawingml/2006/main" noGrp="1"/>
          </p:cNvSpPr>
          <p:nvPr/>
        </p:nvSpPr>
        <p:spPr>
          <a:xfrm xmlns:a="http://schemas.openxmlformats.org/drawingml/2006/main">
            <a:off x="609600" y="6362700"/>
            <a:ext cx="1043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200" b="0" i="0">
                <a:solidFill>
                  <a:srgbClr val="59665F"/>
                </a:solidFill>
                <a:latin typeface="Times New Roman"/>
                <a:ea typeface="Times New Roman"/>
                <a:cs typeface="Times New Roman"/>
              </a:defRPr>
            </a:pPr>
            <a:r>
              <a:rPr sz="1200" b="0" i="0" u="none">
                <a:solidFill>
                  <a:srgbClr val="59665F"/>
                </a:solidFill>
                <a:latin typeface="Times New Roman"/>
                <a:ea typeface="Times New Roman"/>
                <a:cs typeface="Times New Roman"/>
              </a:rPr>
              <a:t>Sources: </a:t>
            </a:r>
            <a:r>
              <a:rPr sz="1200" b="0" i="0" u="sng">
                <a:solidFill>
                  <a:srgbClr val="2469A0"/>
                </a:solidFill>
                <a:latin typeface="Times New Roman"/>
                <a:ea typeface="Times New Roman"/>
                <a:cs typeface="Times New Roman"/>
                <a:hlinkClick xmlns:r="http://schemas.openxmlformats.org/officeDocument/2006/relationships" r:id="Rdc49eb36469f440f"/>
              </a:rPr>
              <a:t>PR #36</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df676c6294694275"/>
              </a:rPr>
              <a:t>Review request</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4b495b8304264f8d"/>
              </a:rPr>
              <a:t>Approval</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157c695ca0354196"/>
              </a:rPr>
              <a:t>Commit c285154</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cd79cc06b9aa4a61"/>
              </a:rPr>
              <a:t>CI run</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06d81ecc3ca2480f"/>
              </a:rPr>
              <a:t>Week 5 report</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3a7072982aa14d63"/>
              </a:rPr>
              <a:t>Week 5 reflection</a:t>
            </a:r>
          </a:p>
        </p:txBody>
      </p:sp>
      <p:sp>
        <p:nvSpPr>
          <p:cNvPr id="6" name="11">
            <a:extLst xmlns:a="http://schemas.openxmlformats.org/drawingml/2006/main">
              <a:ext uri="{FF2B5EF4-FFF2-40B4-BE49-F238E27FC236}">
                <a16:creationId xmlns:a16="http://schemas.microsoft.com/office/drawing/2014/main" id="{9AB82573-ECD1-47F2-B5A0-172FB32174E1}"/>
              </a:ext>
            </a:extLst>
          </p:cNvPr>
          <p:cNvSpPr>
            <a:spLocks xmlns:a="http://schemas.openxmlformats.org/drawingml/2006/main" noGrp="1"/>
          </p:cNvSpPr>
          <p:nvPr/>
        </p:nvSpPr>
        <p:spPr>
          <a:xfrm xmlns:a="http://schemas.openxmlformats.org/drawingml/2006/main">
            <a:off x="11239500" y="63722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spcBef>
                <a:spcPts val="0"/>
              </a:spcBef>
              <a:spcAft>
                <a:spcPts val="0"/>
              </a:spcAft>
              <a:defRPr sz="1425" b="0" i="0">
                <a:solidFill>
                  <a:srgbClr val="59665F"/>
                </a:solidFill>
                <a:latin typeface="Times New Roman"/>
                <a:ea typeface="Times New Roman"/>
                <a:cs typeface="Times New Roman"/>
              </a:defRPr>
            </a:pPr>
            <a:r>
              <a:rPr sz="1425" b="0" i="0" u="none">
                <a:solidFill>
                  <a:srgbClr val="59665F"/>
                </a:solidFill>
                <a:latin typeface="Times New Roman"/>
                <a:ea typeface="Times New Roman"/>
                <a:cs typeface="Times New Roman"/>
              </a:rPr>
              <a:t>11</a:t>
            </a:r>
          </a:p>
        </p:txBody>
      </p:sp>
      <p:sp>
        <p:nvSpPr>
          <p:cNvPr id="7" name="28 August · Changes requested → refactor → ap">
            <a:extLst xmlns:a="http://schemas.openxmlformats.org/drawingml/2006/main">
              <a:ext uri="{FF2B5EF4-FFF2-40B4-BE49-F238E27FC236}">
                <a16:creationId xmlns:a16="http://schemas.microsoft.com/office/drawing/2014/main" id="{B14A6504-BD72-46BD-8943-68EB4E8E2181}"/>
              </a:ext>
            </a:extLst>
          </p:cNvPr>
          <p:cNvSpPr>
            <a:spLocks xmlns:a="http://schemas.openxmlformats.org/drawingml/2006/main" noGrp="1"/>
          </p:cNvSpPr>
          <p:nvPr/>
        </p:nvSpPr>
        <p:spPr>
          <a:xfrm xmlns:a="http://schemas.openxmlformats.org/drawingml/2006/main">
            <a:off x="609600" y="15049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2025" b="0" i="0">
                <a:solidFill>
                  <a:srgbClr val="59665F"/>
                </a:solidFill>
                <a:latin typeface="Times New Roman"/>
                <a:ea typeface="Times New Roman"/>
                <a:cs typeface="Times New Roman"/>
              </a:defRPr>
            </a:pPr>
            <a:r>
              <a:rPr sz="2025" b="0" i="0" u="none">
                <a:solidFill>
                  <a:srgbClr val="59665F"/>
                </a:solidFill>
                <a:latin typeface="Times New Roman"/>
                <a:ea typeface="Times New Roman"/>
                <a:cs typeface="Times New Roman"/>
              </a:rPr>
              <a:t>28 August: Ryan asked for a change before approving </a:t>
            </a:r>
            <a:r>
              <a:rPr sz="2025" b="0" i="0" u="sng">
                <a:solidFill>
                  <a:srgbClr val="2469A0"/>
                </a:solidFill>
                <a:latin typeface="Times New Roman"/>
                <a:ea typeface="Times New Roman"/>
                <a:cs typeface="Times New Roman"/>
                <a:hlinkClick xmlns:r="http://schemas.openxmlformats.org/officeDocument/2006/relationships" r:id="Ra062f1a489554cb5"/>
              </a:rPr>
              <a:t>PR #36</a:t>
            </a:r>
            <a:r>
              <a:rPr sz="2025" b="0" i="0" u="none">
                <a:solidFill>
                  <a:srgbClr val="59665F"/>
                </a:solidFill>
                <a:latin typeface="Times New Roman"/>
                <a:ea typeface="Times New Roman"/>
                <a:cs typeface="Times New Roman"/>
              </a:rPr>
              <a:t>.</a:t>
            </a:r>
          </a:p>
        </p:txBody>
      </p:sp>
      <p:pic>
        <p:nvPicPr>
          <p:cNvPr id="21" name="图片 18"/>
          <p:cNvPicPr>
            <a:picLocks xmlns:a="http://schemas.openxmlformats.org/drawingml/2006/main" noChangeAspect="1"/>
          </p:cNvPicPr>
          <p:nvPr/>
        </p:nvPicPr>
        <p:blipFill>
          <a:blip xmlns:r="http://schemas.openxmlformats.org/officeDocument/2006/relationships" xmlns:a="http://schemas.openxmlformats.org/drawingml/2006/main" r:embed="R019ba86d37c44d17"/>
          <a:stretch xmlns:a="http://schemas.openxmlformats.org/drawingml/2006/main"/>
        </p:blipFill>
        <p:spPr>
          <a:xfrm xmlns:a="http://schemas.openxmlformats.org/drawingml/2006/main">
            <a:off x="609600" y="2143125"/>
            <a:ext cx="10972800" cy="2354199"/>
          </a:xfrm>
          <a:prstGeom xmlns:a="http://schemas.openxmlformats.org/drawingml/2006/main" prst="rect">
            <a:avLst/>
          </a:prstGeom>
        </p:spPr>
      </p:pic>
      <p:sp>
        <p:nvSpPr>
          <p:cNvPr id="9" name="Change made">
            <a:extLst xmlns:a="http://schemas.openxmlformats.org/drawingml/2006/main">
              <a:ext uri="{FF2B5EF4-FFF2-40B4-BE49-F238E27FC236}">
                <a16:creationId xmlns:a16="http://schemas.microsoft.com/office/drawing/2014/main" id="{4C7647F8-00CD-4C76-AAE9-460859CFEC8B}"/>
              </a:ext>
            </a:extLst>
          </p:cNvPr>
          <p:cNvSpPr>
            <a:spLocks xmlns:a="http://schemas.openxmlformats.org/drawingml/2006/main" noGrp="1"/>
          </p:cNvSpPr>
          <p:nvPr/>
        </p:nvSpPr>
        <p:spPr>
          <a:xfrm xmlns:a="http://schemas.openxmlformats.org/drawingml/2006/main">
            <a:off x="609600" y="4867275"/>
            <a:ext cx="2628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2400" b="1" i="0">
                <a:solidFill>
                  <a:srgbClr val="173F32"/>
                </a:solidFill>
                <a:latin typeface="Times New Roman"/>
                <a:ea typeface="Times New Roman"/>
                <a:cs typeface="Times New Roman"/>
              </a:defRPr>
            </a:pPr>
            <a:r>
              <a:rPr sz="2400" b="1" i="0" u="none">
                <a:solidFill>
                  <a:srgbClr val="173F32"/>
                </a:solidFill>
                <a:latin typeface="Times New Roman"/>
                <a:ea typeface="Times New Roman"/>
                <a:cs typeface="Times New Roman"/>
              </a:rPr>
              <a:t>What we did</a:t>
            </a:r>
          </a:p>
        </p:txBody>
      </p:sp>
      <p:sp>
        <p:nvSpPr>
          <p:cNvPr id="10" name="Classification logic moved into its own contr">
            <a:extLst xmlns:a="http://schemas.openxmlformats.org/drawingml/2006/main">
              <a:ext uri="{FF2B5EF4-FFF2-40B4-BE49-F238E27FC236}">
                <a16:creationId xmlns:a16="http://schemas.microsoft.com/office/drawing/2014/main" id="{58D96DDA-714C-4F64-96EB-E09C2D6A77E0}"/>
              </a:ext>
            </a:extLst>
          </p:cNvPr>
          <p:cNvSpPr>
            <a:spLocks xmlns:a="http://schemas.openxmlformats.org/drawingml/2006/main" noGrp="1"/>
          </p:cNvSpPr>
          <p:nvPr/>
        </p:nvSpPr>
        <p:spPr>
          <a:xfrm xmlns:a="http://schemas.openxmlformats.org/drawingml/2006/main">
            <a:off x="3543300" y="4857750"/>
            <a:ext cx="80391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2025" b="0" i="0">
                <a:solidFill>
                  <a:srgbClr val="293730"/>
                </a:solidFill>
                <a:latin typeface="Times New Roman"/>
                <a:ea typeface="Times New Roman"/>
                <a:cs typeface="Times New Roman"/>
              </a:defRPr>
            </a:pPr>
            <a:r>
              <a:rPr sz="2025" b="0" i="0" u="none">
                <a:solidFill>
                  <a:srgbClr val="293730"/>
                </a:solidFill>
                <a:latin typeface="Times New Roman"/>
                <a:ea typeface="Times New Roman"/>
                <a:cs typeface="Times New Roman"/>
              </a:rPr>
              <a:t>We moved the classification code out of the main window</a:t>
            </a:r>
          </a:p>
          <a:p xmlns:a="http://schemas.openxmlformats.org/drawingml/2006/main">
            <a:pPr algn="l">
              <a:spcBef>
                <a:spcPts val="0"/>
              </a:spcBef>
              <a:spcAft>
                <a:spcPts val="0"/>
              </a:spcAft>
              <a:defRPr sz="2025" b="0" i="0">
                <a:solidFill>
                  <a:srgbClr val="293730"/>
                </a:solidFill>
                <a:latin typeface="Times New Roman"/>
                <a:ea typeface="Times New Roman"/>
                <a:cs typeface="Times New Roman"/>
              </a:defRPr>
            </a:pPr>
            <a:r>
              <a:rPr sz="2025" b="0" i="0" u="none">
                <a:solidFill>
                  <a:srgbClr val="293730"/>
                </a:solidFill>
                <a:latin typeface="Times New Roman"/>
                <a:ea typeface="Times New Roman"/>
                <a:cs typeface="Times New Roman"/>
              </a:rPr>
              <a:t>and into its own controller.</a:t>
            </a:r>
          </a:p>
        </p:txBody>
      </p:sp>
      <p:sp>
        <p:nvSpPr>
          <p:cNvPr id="11" name="PR #36 merged at 15:42 AEST. Main CI passed; ">
            <a:extLst xmlns:a="http://schemas.openxmlformats.org/drawingml/2006/main">
              <a:ext uri="{FF2B5EF4-FFF2-40B4-BE49-F238E27FC236}">
                <a16:creationId xmlns:a16="http://schemas.microsoft.com/office/drawing/2014/main" id="{2D3F8C48-B245-4D2B-9E18-C5E540D6AB5C}"/>
              </a:ext>
            </a:extLst>
          </p:cNvPr>
          <p:cNvSpPr>
            <a:spLocks xmlns:a="http://schemas.openxmlformats.org/drawingml/2006/main" noGrp="1"/>
          </p:cNvSpPr>
          <p:nvPr/>
        </p:nvSpPr>
        <p:spPr>
          <a:xfrm xmlns:a="http://schemas.openxmlformats.org/drawingml/2006/main">
            <a:off x="609600" y="5829300"/>
            <a:ext cx="10972800" cy="371475"/>
          </a:xfrm>
          <a:prstGeom xmlns:a="http://schemas.openxmlformats.org/drawingml/2006/main" prst="rect">
            <a:avLst/>
          </a:prstGeom>
          <a:solidFill xmlns:a="http://schemas.openxmlformats.org/drawingml/2006/main">
            <a:srgbClr val="EDF2EE"/>
          </a:solidFill>
          <a:ln xmlns:a="http://schemas.openxmlformats.org/drawingml/2006/main" w="0">
            <a:noFill/>
          </a:ln>
        </p:spPr>
        <p:txBody>
          <a:bodyPr xmlns:a="http://schemas.openxmlformats.org/drawingml/2006/main" wrap="square" lIns="133350" tIns="38100" rIns="133350" bIns="38100" anchor="ctr">
            <a:noAutofit/>
          </a:bodyPr>
          <a:lstStyle xmlns:a="http://schemas.openxmlformats.org/drawingml/2006/main"/>
          <a:p xmlns:a="http://schemas.openxmlformats.org/drawingml/2006/main">
            <a:pPr algn="l">
              <a:spcBef>
                <a:spcPts val="0"/>
              </a:spcBef>
              <a:spcAft>
                <a:spcPts val="0"/>
              </a:spcAft>
              <a:defRPr sz="1725" b="0" i="0">
                <a:solidFill>
                  <a:srgbClr val="173F32"/>
                </a:solidFill>
                <a:latin typeface="Times New Roman"/>
                <a:ea typeface="Times New Roman"/>
                <a:cs typeface="Times New Roman"/>
              </a:defRPr>
            </a:pPr>
            <a:r>
              <a:rPr sz="1725" b="0" i="0" u="sng">
                <a:solidFill>
                  <a:srgbClr val="2469A0"/>
                </a:solidFill>
                <a:latin typeface="Times New Roman"/>
                <a:ea typeface="Times New Roman"/>
                <a:cs typeface="Times New Roman"/>
                <a:hlinkClick xmlns:r="http://schemas.openxmlformats.org/officeDocument/2006/relationships" r:id="R59ea6b5cea93404a"/>
              </a:rPr>
              <a:t>PR #36</a:t>
            </a:r>
            <a:r>
              <a:rPr sz="1725" b="0" i="0" u="none">
                <a:solidFill>
                  <a:srgbClr val="173F32"/>
                </a:solidFill>
                <a:latin typeface="Times New Roman"/>
                <a:ea typeface="Times New Roman"/>
                <a:cs typeface="Times New Roman"/>
              </a:rPr>
              <a:t> was approved and merged. CI passed. More classification tests are still needed.</a:t>
            </a:r>
          </a:p>
        </p:txBody>
      </p:sp>
    </p:spTree>
    <p:extLst>
      <p:ext uri="{BB962C8B-B14F-4D97-AF65-F5344CB8AC3E}">
        <p14:creationId xmlns:p14="http://schemas.microsoft.com/office/powerpoint/2010/main" val="542598407"/>
      </p:ext>
    </p:extLst>
  </p:cSld>
</p:sld>
</file>

<file path=ppt/slides/slide12.xml><?xml version="1.0" encoding="utf-8"?>
<p:sld xmlns:p="http://schemas.openxmlformats.org/presentationml/2006/main">
  <p:cSld>
    <p:bg>
      <p:bgPr>
        <a:solidFill xmlns:a="http://schemas.openxmlformats.org/drawingml/2006/main">
          <a:srgbClr val="FBFBF8"/>
        </a:solidFill>
      </p:bgPr>
    </p:bg>
    <p:spTree>
      <p:nvGrpSpPr>
        <p:cNvPr id="1" name=""/>
        <p:cNvGrpSpPr/>
        <p:nvPr/>
      </p:nvGrpSpPr>
      <p:grpSpPr>
        <a:xfrm xmlns:a="http://schemas.openxmlformats.org/drawingml/2006/main"/>
      </p:grpSpPr>
      <p:sp>
        <p:nvSpPr>
          <p:cNvPr id="26" name="REFLECTION AND IMPROVEMENT">
            <a:extLst xmlns:a="http://schemas.openxmlformats.org/drawingml/2006/main">
              <a:ext uri="{FF2B5EF4-FFF2-40B4-BE49-F238E27FC236}">
                <a16:creationId xmlns:a16="http://schemas.microsoft.com/office/drawing/2014/main" id="{A8E5029D-5353-4D7F-8549-E5EA2D785AF1}"/>
              </a:ext>
            </a:extLst>
          </p:cNvPr>
          <p:cNvSpPr>
            <a:spLocks xmlns:a="http://schemas.openxmlformats.org/drawingml/2006/main" noGrp="1"/>
          </p:cNvSpPr>
          <p:nvPr/>
        </p:nvSpPr>
        <p:spPr>
          <a:xfrm xmlns:a="http://schemas.openxmlformats.org/drawingml/2006/main">
            <a:off x="609600" y="390525"/>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350" b="1" i="0">
                <a:solidFill>
                  <a:srgbClr val="173F32"/>
                </a:solidFill>
                <a:latin typeface="Times New Roman"/>
                <a:ea typeface="Times New Roman"/>
                <a:cs typeface="Times New Roman"/>
              </a:defRPr>
            </a:pPr>
            <a:r>
              <a:rPr sz="1350" b="1" i="0" u="none">
                <a:solidFill>
                  <a:srgbClr val="173F32"/>
                </a:solidFill>
                <a:latin typeface="Times New Roman"/>
                <a:ea typeface="Times New Roman"/>
                <a:cs typeface="Times New Roman"/>
              </a:rPr>
              <a:t>REFLECTION AND IMPROVEMENT</a:t>
            </a:r>
          </a:p>
        </p:txBody>
      </p:sp>
      <p:sp>
        <p:nvSpPr>
          <p:cNvPr id="2" name="Weekly reflection led to follow-up work">
            <a:extLst xmlns:a="http://schemas.openxmlformats.org/drawingml/2006/main">
              <a:ext uri="{FF2B5EF4-FFF2-40B4-BE49-F238E27FC236}">
                <a16:creationId xmlns:a16="http://schemas.microsoft.com/office/drawing/2014/main" id="{0B8945BF-772C-4E61-A18F-9D3E027A15C0}"/>
              </a:ext>
            </a:extLst>
          </p:cNvPr>
          <p:cNvSpPr>
            <a:spLocks xmlns:a="http://schemas.openxmlformats.org/drawingml/2006/main" noGrp="1"/>
          </p:cNvSpPr>
          <p:nvPr/>
        </p:nvSpPr>
        <p:spPr>
          <a:xfrm xmlns:a="http://schemas.openxmlformats.org/drawingml/2006/main">
            <a:off x="609600" y="8001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3300" b="1" i="0">
                <a:solidFill>
                  <a:srgbClr val="173F32"/>
                </a:solidFill>
                <a:latin typeface="Arial"/>
                <a:ea typeface="Arial"/>
                <a:cs typeface="Arial"/>
              </a:defRPr>
            </a:pPr>
            <a:r>
              <a:rPr sz="3300" b="1" i="0" u="none">
                <a:solidFill>
                  <a:srgbClr val="173F32"/>
                </a:solidFill>
                <a:latin typeface="Arial"/>
                <a:ea typeface="Arial"/>
                <a:cs typeface="Arial"/>
              </a:rPr>
              <a:t>We recorded problems and followed up</a:t>
            </a:r>
          </a:p>
        </p:txBody>
      </p:sp>
      <p:sp>
        <p:nvSpPr>
          <p:cNvPr id="3" name="直线连接符 2">
            <a:extLst xmlns:a="http://schemas.openxmlformats.org/drawingml/2006/main">
              <a:ext uri="{FF2B5EF4-FFF2-40B4-BE49-F238E27FC236}">
                <a16:creationId xmlns:a16="http://schemas.microsoft.com/office/drawing/2014/main" id="{1329B812-6CDD-4042-989B-A5850B21FCA8}"/>
              </a:ext>
            </a:extLst>
          </p:cNvPr>
          <p:cNvSpPr>
            <a:spLocks xmlns:a="http://schemas.openxmlformats.org/drawingml/2006/main" noGrp="1"/>
          </p:cNvSpPr>
          <p:nvPr/>
        </p:nvSpPr>
        <p:spPr>
          <a:xfrm xmlns:a="http://schemas.openxmlformats.org/drawingml/2006/main">
            <a:off x="609600" y="6286500"/>
            <a:ext cx="10972800" cy="0"/>
          </a:xfrm>
          <a:prstGeom xmlns:a="http://schemas.openxmlformats.org/drawingml/2006/main" prst="line">
            <a:avLst/>
          </a:prstGeom>
          <a:noFill xmlns:a="http://schemas.openxmlformats.org/drawingml/2006/main"/>
          <a:ln xmlns:a="http://schemas.openxmlformats.org/drawingml/2006/main" w="9525">
            <a:solidFill>
              <a:srgbClr val="CCD5CF"/>
            </a:solidFill>
            <a:prstDash val="solid"/>
          </a:ln>
        </p:spPr>
      </p:sp>
      <p:sp>
        <p:nvSpPr>
          <p:cNvPr id="4" name="LEAF ANALYZER  /  SPRINT 5">
            <a:extLst xmlns:a="http://schemas.openxmlformats.org/drawingml/2006/main">
              <a:ext uri="{FF2B5EF4-FFF2-40B4-BE49-F238E27FC236}">
                <a16:creationId xmlns:a16="http://schemas.microsoft.com/office/drawing/2014/main" id="{7D4BBE9B-851F-425F-92B5-DCFA067B3FCB}"/>
              </a:ext>
            </a:extLst>
          </p:cNvPr>
          <p:cNvSpPr>
            <a:spLocks xmlns:a="http://schemas.openxmlformats.org/drawingml/2006/main" noGrp="1"/>
          </p:cNvSpPr>
          <p:nvPr/>
        </p:nvSpPr>
        <p:spPr>
          <a:xfrm xmlns:a="http://schemas.openxmlformats.org/drawingml/2006/main">
            <a:off x="8572500" y="400050"/>
            <a:ext cx="3009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spcBef>
                <a:spcPts val="0"/>
              </a:spcBef>
              <a:spcAft>
                <a:spcPts val="0"/>
              </a:spcAft>
              <a:defRPr sz="1200" b="0" i="0">
                <a:solidFill>
                  <a:srgbClr val="59665F"/>
                </a:solidFill>
                <a:latin typeface="Times New Roman"/>
                <a:ea typeface="Times New Roman"/>
                <a:cs typeface="Times New Roman"/>
              </a:defRPr>
            </a:pPr>
            <a:r>
              <a:rPr sz="1200" b="0" i="0" u="none">
                <a:solidFill>
                  <a:srgbClr val="59665F"/>
                </a:solidFill>
                <a:latin typeface="Times New Roman"/>
                <a:ea typeface="Times New Roman"/>
                <a:cs typeface="Times New Roman"/>
              </a:rPr>
              <a:t>LEAF ANALYZER  /  SPRINT 5</a:t>
            </a:r>
          </a:p>
        </p:txBody>
      </p:sp>
      <p:sp>
        <p:nvSpPr>
          <p:cNvPr id="5" name="Team + individual reflections • 21 and 28 Aug">
            <a:extLst xmlns:a="http://schemas.openxmlformats.org/drawingml/2006/main">
              <a:ext uri="{FF2B5EF4-FFF2-40B4-BE49-F238E27FC236}">
                <a16:creationId xmlns:a16="http://schemas.microsoft.com/office/drawing/2014/main" id="{B00C3F0E-3311-4CE5-BA20-2D6E8867E703}"/>
              </a:ext>
            </a:extLst>
          </p:cNvPr>
          <p:cNvSpPr>
            <a:spLocks xmlns:a="http://schemas.openxmlformats.org/drawingml/2006/main" noGrp="1"/>
          </p:cNvSpPr>
          <p:nvPr/>
        </p:nvSpPr>
        <p:spPr>
          <a:xfrm xmlns:a="http://schemas.openxmlformats.org/drawingml/2006/main">
            <a:off x="609600" y="6362700"/>
            <a:ext cx="1043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200" b="0" i="0">
                <a:solidFill>
                  <a:srgbClr val="59665F"/>
                </a:solidFill>
                <a:latin typeface="Times New Roman"/>
                <a:ea typeface="Times New Roman"/>
                <a:cs typeface="Times New Roman"/>
              </a:defRPr>
            </a:pPr>
            <a:r>
              <a:rPr sz="1200" b="0" i="0" u="none">
                <a:solidFill>
                  <a:srgbClr val="59665F"/>
                </a:solidFill>
                <a:latin typeface="Times New Roman"/>
                <a:ea typeface="Times New Roman"/>
                <a:cs typeface="Times New Roman"/>
              </a:rPr>
              <a:t>Sources: </a:t>
            </a:r>
            <a:r>
              <a:rPr sz="1200" b="0" i="0" u="sng">
                <a:solidFill>
                  <a:srgbClr val="2469A0"/>
                </a:solidFill>
                <a:latin typeface="Times New Roman"/>
                <a:ea typeface="Times New Roman"/>
                <a:cs typeface="Times New Roman"/>
                <a:hlinkClick xmlns:r="http://schemas.openxmlformats.org/officeDocument/2006/relationships" r:id="R305af22bb6a14ea8"/>
              </a:rPr>
              <a:t>Week 4 reflection</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1a41bcfce4c94495"/>
              </a:rPr>
              <a:t>Week 5 reflection</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a68094ee69f44d83"/>
              </a:rPr>
              <a:t>Tutor meeting</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189e51dcb68b4b70"/>
              </a:rPr>
              <a:t>LEAF-157</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01b70a05e7284bf2"/>
              </a:rPr>
              <a:t>PR #29</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687a089c39a745a9"/>
              </a:rPr>
              <a:t>PR #30</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c882ac79480742ab"/>
              </a:rPr>
              <a:t>PR #34</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be3975783e23459a"/>
              </a:rPr>
              <a:t>Risk plan</a:t>
            </a:r>
          </a:p>
        </p:txBody>
      </p:sp>
      <p:sp>
        <p:nvSpPr>
          <p:cNvPr id="6" name="12">
            <a:extLst xmlns:a="http://schemas.openxmlformats.org/drawingml/2006/main">
              <a:ext uri="{FF2B5EF4-FFF2-40B4-BE49-F238E27FC236}">
                <a16:creationId xmlns:a16="http://schemas.microsoft.com/office/drawing/2014/main" id="{1D7C6BFE-20A7-4DFB-954F-93BAF0E5D008}"/>
              </a:ext>
            </a:extLst>
          </p:cNvPr>
          <p:cNvSpPr>
            <a:spLocks xmlns:a="http://schemas.openxmlformats.org/drawingml/2006/main" noGrp="1"/>
          </p:cNvSpPr>
          <p:nvPr/>
        </p:nvSpPr>
        <p:spPr>
          <a:xfrm xmlns:a="http://schemas.openxmlformats.org/drawingml/2006/main">
            <a:off x="11239500" y="63722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spcBef>
                <a:spcPts val="0"/>
              </a:spcBef>
              <a:spcAft>
                <a:spcPts val="0"/>
              </a:spcAft>
              <a:defRPr sz="1425" b="0" i="0">
                <a:solidFill>
                  <a:srgbClr val="59665F"/>
                </a:solidFill>
                <a:latin typeface="Times New Roman"/>
                <a:ea typeface="Times New Roman"/>
                <a:cs typeface="Times New Roman"/>
              </a:defRPr>
            </a:pPr>
            <a:r>
              <a:rPr sz="1425" b="0" i="0" u="none">
                <a:solidFill>
                  <a:srgbClr val="59665F"/>
                </a:solidFill>
                <a:latin typeface="Times New Roman"/>
                <a:ea typeface="Times New Roman"/>
                <a:cs typeface="Times New Roman"/>
              </a:rPr>
              <a:t>12</a:t>
            </a:r>
          </a:p>
        </p:txBody>
      </p:sp>
      <p:sp>
        <p:nvSpPr>
          <p:cNvPr id="8" name="PROBLEM / FEEDBACK">
            <a:extLst xmlns:a="http://schemas.openxmlformats.org/drawingml/2006/main">
              <a:ext uri="{FF2B5EF4-FFF2-40B4-BE49-F238E27FC236}">
                <a16:creationId xmlns:a16="http://schemas.microsoft.com/office/drawing/2014/main" id="{1B2DE263-204F-44E5-87CC-4AB8E79435D0}"/>
              </a:ext>
            </a:extLst>
          </p:cNvPr>
          <p:cNvSpPr>
            <a:spLocks xmlns:a="http://schemas.openxmlformats.org/drawingml/2006/main" noGrp="1"/>
          </p:cNvSpPr>
          <p:nvPr/>
        </p:nvSpPr>
        <p:spPr>
          <a:xfrm xmlns:a="http://schemas.openxmlformats.org/drawingml/2006/main">
            <a:off x="609600" y="1809750"/>
            <a:ext cx="3267075" cy="457200"/>
          </a:xfrm>
          <a:prstGeom xmlns:a="http://schemas.openxmlformats.org/drawingml/2006/main" prst="rect">
            <a:avLst/>
          </a:prstGeom>
          <a:solidFill xmlns:a="http://schemas.openxmlformats.org/drawingml/2006/main">
            <a:srgbClr val="173F32"/>
          </a:solidFill>
          <a:ln xmlns:a="http://schemas.openxmlformats.org/drawingml/2006/main" w="0">
            <a:noFill/>
          </a:ln>
        </p:spPr>
        <p:txBody>
          <a:bodyPr xmlns:a="http://schemas.openxmlformats.org/drawingml/2006/main" wrap="square" lIns="152400" tIns="76200" rIns="152400" bIns="76200" anchor="ctr">
            <a:noAutofit/>
          </a:bodyPr>
          <a:lstStyle xmlns:a="http://schemas.openxmlformats.org/drawingml/2006/main"/>
          <a:p xmlns:a="http://schemas.openxmlformats.org/drawingml/2006/main">
            <a:pPr algn="l">
              <a:spcBef>
                <a:spcPts val="0"/>
              </a:spcBef>
              <a:spcAft>
                <a:spcPts val="0"/>
              </a:spcAft>
              <a:defRPr sz="1650" b="1" i="0">
                <a:solidFill>
                  <a:srgbClr val="FFFFFF"/>
                </a:solidFill>
                <a:latin typeface="Times New Roman"/>
                <a:ea typeface="Times New Roman"/>
                <a:cs typeface="Times New Roman"/>
              </a:defRPr>
            </a:pPr>
            <a:r>
              <a:rPr sz="1650" b="1" i="0" u="none">
                <a:solidFill>
                  <a:srgbClr val="FFFFFF"/>
                </a:solidFill>
                <a:latin typeface="Times New Roman"/>
                <a:ea typeface="Times New Roman"/>
                <a:cs typeface="Times New Roman"/>
              </a:rPr>
              <a:t>PROBLEM</a:t>
            </a:r>
          </a:p>
        </p:txBody>
      </p:sp>
      <p:sp>
        <p:nvSpPr>
          <p:cNvPr id="9" name="LESSON / ACTION">
            <a:extLst xmlns:a="http://schemas.openxmlformats.org/drawingml/2006/main">
              <a:ext uri="{FF2B5EF4-FFF2-40B4-BE49-F238E27FC236}">
                <a16:creationId xmlns:a16="http://schemas.microsoft.com/office/drawing/2014/main" id="{25F18750-88B6-489A-88BB-A1D24533EA94}"/>
              </a:ext>
            </a:extLst>
          </p:cNvPr>
          <p:cNvSpPr>
            <a:spLocks xmlns:a="http://schemas.openxmlformats.org/drawingml/2006/main" noGrp="1"/>
          </p:cNvSpPr>
          <p:nvPr/>
        </p:nvSpPr>
        <p:spPr>
          <a:xfrm xmlns:a="http://schemas.openxmlformats.org/drawingml/2006/main">
            <a:off x="3876675" y="1809750"/>
            <a:ext cx="3800475" cy="457200"/>
          </a:xfrm>
          <a:prstGeom xmlns:a="http://schemas.openxmlformats.org/drawingml/2006/main" prst="rect">
            <a:avLst/>
          </a:prstGeom>
          <a:solidFill xmlns:a="http://schemas.openxmlformats.org/drawingml/2006/main">
            <a:srgbClr val="173F32"/>
          </a:solidFill>
          <a:ln xmlns:a="http://schemas.openxmlformats.org/drawingml/2006/main" w="0">
            <a:noFill/>
          </a:ln>
        </p:spPr>
        <p:txBody>
          <a:bodyPr xmlns:a="http://schemas.openxmlformats.org/drawingml/2006/main" wrap="square" lIns="152400" tIns="76200" rIns="152400" bIns="76200" anchor="ctr">
            <a:noAutofit/>
          </a:bodyPr>
          <a:lstStyle xmlns:a="http://schemas.openxmlformats.org/drawingml/2006/main"/>
          <a:p xmlns:a="http://schemas.openxmlformats.org/drawingml/2006/main">
            <a:pPr algn="l">
              <a:spcBef>
                <a:spcPts val="0"/>
              </a:spcBef>
              <a:spcAft>
                <a:spcPts val="0"/>
              </a:spcAft>
              <a:defRPr sz="1650" b="1" i="0">
                <a:solidFill>
                  <a:srgbClr val="FFFFFF"/>
                </a:solidFill>
                <a:latin typeface="Times New Roman"/>
                <a:ea typeface="Times New Roman"/>
                <a:cs typeface="Times New Roman"/>
              </a:defRPr>
            </a:pPr>
            <a:r>
              <a:rPr sz="1650" b="1" i="0" u="none">
                <a:solidFill>
                  <a:srgbClr val="FFFFFF"/>
                </a:solidFill>
                <a:latin typeface="Times New Roman"/>
                <a:ea typeface="Times New Roman"/>
                <a:cs typeface="Times New Roman"/>
              </a:rPr>
              <a:t>WHAT WE LEARNED</a:t>
            </a:r>
          </a:p>
        </p:txBody>
      </p:sp>
      <p:sp>
        <p:nvSpPr>
          <p:cNvPr id="10" name="IMPLEMENTATION EVIDENCE">
            <a:extLst xmlns:a="http://schemas.openxmlformats.org/drawingml/2006/main">
              <a:ext uri="{FF2B5EF4-FFF2-40B4-BE49-F238E27FC236}">
                <a16:creationId xmlns:a16="http://schemas.microsoft.com/office/drawing/2014/main" id="{AB542731-3701-45D3-B048-5087DFD99079}"/>
              </a:ext>
            </a:extLst>
          </p:cNvPr>
          <p:cNvSpPr>
            <a:spLocks xmlns:a="http://schemas.openxmlformats.org/drawingml/2006/main" noGrp="1"/>
          </p:cNvSpPr>
          <p:nvPr/>
        </p:nvSpPr>
        <p:spPr>
          <a:xfrm xmlns:a="http://schemas.openxmlformats.org/drawingml/2006/main">
            <a:off x="7677150" y="1809750"/>
            <a:ext cx="3905250" cy="457200"/>
          </a:xfrm>
          <a:prstGeom xmlns:a="http://schemas.openxmlformats.org/drawingml/2006/main" prst="rect">
            <a:avLst/>
          </a:prstGeom>
          <a:solidFill xmlns:a="http://schemas.openxmlformats.org/drawingml/2006/main">
            <a:srgbClr val="173F32"/>
          </a:solidFill>
          <a:ln xmlns:a="http://schemas.openxmlformats.org/drawingml/2006/main" w="0">
            <a:noFill/>
          </a:ln>
        </p:spPr>
        <p:txBody>
          <a:bodyPr xmlns:a="http://schemas.openxmlformats.org/drawingml/2006/main" wrap="square" lIns="152400" tIns="76200" rIns="152400" bIns="76200" anchor="ctr">
            <a:noAutofit/>
          </a:bodyPr>
          <a:lstStyle xmlns:a="http://schemas.openxmlformats.org/drawingml/2006/main"/>
          <a:p xmlns:a="http://schemas.openxmlformats.org/drawingml/2006/main">
            <a:pPr algn="l">
              <a:spcBef>
                <a:spcPts val="0"/>
              </a:spcBef>
              <a:spcAft>
                <a:spcPts val="0"/>
              </a:spcAft>
              <a:defRPr sz="1650" b="1" i="0">
                <a:solidFill>
                  <a:srgbClr val="FFFFFF"/>
                </a:solidFill>
                <a:latin typeface="Times New Roman"/>
                <a:ea typeface="Times New Roman"/>
                <a:cs typeface="Times New Roman"/>
              </a:defRPr>
            </a:pPr>
            <a:r>
              <a:rPr sz="1650" b="1" i="0" u="none">
                <a:solidFill>
                  <a:srgbClr val="FFFFFF"/>
                </a:solidFill>
                <a:latin typeface="Times New Roman"/>
                <a:ea typeface="Times New Roman"/>
                <a:cs typeface="Times New Roman"/>
              </a:rPr>
              <a:t>WHAT HAPPENED NEXT</a:t>
            </a:r>
          </a:p>
        </p:txBody>
      </p:sp>
      <p:sp>
        <p:nvSpPr>
          <p:cNvPr id="11" name="直线连接符 10">
            <a:extLst xmlns:a="http://schemas.openxmlformats.org/drawingml/2006/main">
              <a:ext uri="{FF2B5EF4-FFF2-40B4-BE49-F238E27FC236}">
                <a16:creationId xmlns:a16="http://schemas.microsoft.com/office/drawing/2014/main" id="{D9DA8F4E-627F-48F7-8AC5-4000FF427C1E}"/>
              </a:ext>
            </a:extLst>
          </p:cNvPr>
          <p:cNvSpPr>
            <a:spLocks xmlns:a="http://schemas.openxmlformats.org/drawingml/2006/main" noGrp="1"/>
          </p:cNvSpPr>
          <p:nvPr/>
        </p:nvSpPr>
        <p:spPr>
          <a:xfrm xmlns:a="http://schemas.openxmlformats.org/drawingml/2006/main">
            <a:off x="609600" y="2266950"/>
            <a:ext cx="10972800" cy="0"/>
          </a:xfrm>
          <a:prstGeom xmlns:a="http://schemas.openxmlformats.org/drawingml/2006/main" prst="line">
            <a:avLst/>
          </a:prstGeom>
          <a:noFill xmlns:a="http://schemas.openxmlformats.org/drawingml/2006/main"/>
          <a:ln xmlns:a="http://schemas.openxmlformats.org/drawingml/2006/main" w="9525">
            <a:solidFill>
              <a:srgbClr val="CCD5CF"/>
            </a:solidFill>
            <a:prstDash val="solid"/>
          </a:ln>
        </p:spPr>
      </p:sp>
      <p:sp>
        <p:nvSpPr>
          <p:cNvPr id="12" name="Hypercube still unfinished&#10;on 21 August.">
            <a:extLst xmlns:a="http://schemas.openxmlformats.org/drawingml/2006/main">
              <a:ext uri="{FF2B5EF4-FFF2-40B4-BE49-F238E27FC236}">
                <a16:creationId xmlns:a16="http://schemas.microsoft.com/office/drawing/2014/main" id="{EDA60899-4172-41D6-A917-3A455817FAD1}"/>
              </a:ext>
            </a:extLst>
          </p:cNvPr>
          <p:cNvSpPr>
            <a:spLocks xmlns:a="http://schemas.openxmlformats.org/drawingml/2006/main" noGrp="1"/>
          </p:cNvSpPr>
          <p:nvPr/>
        </p:nvSpPr>
        <p:spPr>
          <a:xfrm xmlns:a="http://schemas.openxmlformats.org/drawingml/2006/main">
            <a:off x="762000" y="2409825"/>
            <a:ext cx="29622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950" b="1" i="0">
                <a:solidFill>
                  <a:srgbClr val="173F32"/>
                </a:solidFill>
                <a:latin typeface="Times New Roman"/>
                <a:ea typeface="Times New Roman"/>
                <a:cs typeface="Times New Roman"/>
              </a:defRPr>
            </a:pPr>
            <a:r>
              <a:rPr sz="1950" b="1" i="0" u="none">
                <a:solidFill>
                  <a:srgbClr val="173F32"/>
                </a:solidFill>
                <a:latin typeface="Times New Roman"/>
                <a:ea typeface="Times New Roman"/>
                <a:cs typeface="Times New Roman"/>
              </a:rPr>
              <a:t>Hypercube was not ready</a:t>
            </a:r>
          </a:p>
          <a:p xmlns:a="http://schemas.openxmlformats.org/drawingml/2006/main">
            <a:pPr algn="l">
              <a:spcBef>
                <a:spcPts val="0"/>
              </a:spcBef>
              <a:spcAft>
                <a:spcPts val="0"/>
              </a:spcAft>
              <a:defRPr sz="1950" b="1" i="0">
                <a:solidFill>
                  <a:srgbClr val="173F32"/>
                </a:solidFill>
                <a:latin typeface="Times New Roman"/>
                <a:ea typeface="Times New Roman"/>
                <a:cs typeface="Times New Roman"/>
              </a:defRPr>
            </a:pPr>
            <a:r>
              <a:rPr sz="1950" b="1" i="0" u="none">
                <a:solidFill>
                  <a:srgbClr val="173F32"/>
                </a:solidFill>
                <a:latin typeface="Times New Roman"/>
                <a:ea typeface="Times New Roman"/>
                <a:cs typeface="Times New Roman"/>
              </a:rPr>
              <a:t>on 21 August.</a:t>
            </a:r>
          </a:p>
        </p:txBody>
      </p:sp>
      <p:sp>
        <p:nvSpPr>
          <p:cNvPr id="13" name="Components need a complete&#10;UI hand-off and ve">
            <a:extLst xmlns:a="http://schemas.openxmlformats.org/drawingml/2006/main">
              <a:ext uri="{FF2B5EF4-FFF2-40B4-BE49-F238E27FC236}">
                <a16:creationId xmlns:a16="http://schemas.microsoft.com/office/drawing/2014/main" id="{4160FA97-7DC8-4ECA-9073-FD3558B4E72A}"/>
              </a:ext>
            </a:extLst>
          </p:cNvPr>
          <p:cNvSpPr>
            <a:spLocks xmlns:a="http://schemas.openxmlformats.org/drawingml/2006/main" noGrp="1"/>
          </p:cNvSpPr>
          <p:nvPr/>
        </p:nvSpPr>
        <p:spPr>
          <a:xfrm xmlns:a="http://schemas.openxmlformats.org/drawingml/2006/main">
            <a:off x="4029075" y="2409825"/>
            <a:ext cx="34956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950" b="0" i="0">
                <a:solidFill>
                  <a:srgbClr val="293730"/>
                </a:solidFill>
                <a:latin typeface="Times New Roman"/>
                <a:ea typeface="Times New Roman"/>
                <a:cs typeface="Times New Roman"/>
              </a:defRPr>
            </a:pPr>
            <a:r>
              <a:rPr sz="1950" b="0" i="0" u="none">
                <a:solidFill>
                  <a:srgbClr val="293730"/>
                </a:solidFill>
                <a:latin typeface="Times New Roman"/>
                <a:ea typeface="Times New Roman"/>
                <a:cs typeface="Times New Roman"/>
              </a:rPr>
              <a:t>Test the model and UI</a:t>
            </a:r>
          </a:p>
          <a:p xmlns:a="http://schemas.openxmlformats.org/drawingml/2006/main">
            <a:pPr algn="l">
              <a:spcBef>
                <a:spcPts val="0"/>
              </a:spcBef>
              <a:spcAft>
                <a:spcPts val="0"/>
              </a:spcAft>
              <a:defRPr sz="1950" b="0" i="0">
                <a:solidFill>
                  <a:srgbClr val="293730"/>
                </a:solidFill>
                <a:latin typeface="Times New Roman"/>
                <a:ea typeface="Times New Roman"/>
                <a:cs typeface="Times New Roman"/>
              </a:defRPr>
            </a:pPr>
            <a:r>
              <a:rPr sz="1950" b="0" i="0" u="none">
                <a:solidFill>
                  <a:srgbClr val="293730"/>
                </a:solidFill>
                <a:latin typeface="Times New Roman"/>
                <a:ea typeface="Times New Roman"/>
                <a:cs typeface="Times New Roman"/>
              </a:rPr>
              <a:t>together before calling it done.</a:t>
            </a:r>
          </a:p>
        </p:txBody>
      </p:sp>
      <p:sp>
        <p:nvSpPr>
          <p:cNvPr id="14" name="Repaired integration merged&#10;in PR #29 on 28 A">
            <a:extLst xmlns:a="http://schemas.openxmlformats.org/drawingml/2006/main">
              <a:ext uri="{FF2B5EF4-FFF2-40B4-BE49-F238E27FC236}">
                <a16:creationId xmlns:a16="http://schemas.microsoft.com/office/drawing/2014/main" id="{22791492-A844-4E6F-A54C-530E5DEDAE9F}"/>
              </a:ext>
            </a:extLst>
          </p:cNvPr>
          <p:cNvSpPr>
            <a:spLocks xmlns:a="http://schemas.openxmlformats.org/drawingml/2006/main" noGrp="1"/>
          </p:cNvSpPr>
          <p:nvPr/>
        </p:nvSpPr>
        <p:spPr>
          <a:xfrm xmlns:a="http://schemas.openxmlformats.org/drawingml/2006/main">
            <a:off x="7829550" y="2409825"/>
            <a:ext cx="36004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950" b="0" i="0">
                <a:solidFill>
                  <a:srgbClr val="293730"/>
                </a:solidFill>
                <a:latin typeface="Times New Roman"/>
                <a:ea typeface="Times New Roman"/>
                <a:cs typeface="Times New Roman"/>
              </a:defRPr>
            </a:pPr>
            <a:r>
              <a:rPr sz="1950" b="0" i="0" u="none">
                <a:solidFill>
                  <a:srgbClr val="293730"/>
                </a:solidFill>
                <a:latin typeface="Times New Roman"/>
                <a:ea typeface="Times New Roman"/>
                <a:cs typeface="Times New Roman"/>
              </a:rPr>
              <a:t>The working version was</a:t>
            </a:r>
          </a:p>
          <a:p xmlns:a="http://schemas.openxmlformats.org/drawingml/2006/main">
            <a:pPr algn="l">
              <a:spcBef>
                <a:spcPts val="0"/>
              </a:spcBef>
              <a:spcAft>
                <a:spcPts val="0"/>
              </a:spcAft>
              <a:defRPr sz="1950" b="0" i="0">
                <a:solidFill>
                  <a:srgbClr val="293730"/>
                </a:solidFill>
                <a:latin typeface="Times New Roman"/>
                <a:ea typeface="Times New Roman"/>
                <a:cs typeface="Times New Roman"/>
              </a:defRPr>
            </a:pPr>
            <a:r>
              <a:rPr sz="1950" b="0" i="0" u="none">
                <a:solidFill>
                  <a:srgbClr val="293730"/>
                </a:solidFill>
                <a:latin typeface="Times New Roman"/>
                <a:ea typeface="Times New Roman"/>
                <a:cs typeface="Times New Roman"/>
              </a:rPr>
              <a:t>merged in </a:t>
            </a:r>
            <a:r>
              <a:rPr sz="1950" b="0" i="0" u="sng">
                <a:solidFill>
                  <a:srgbClr val="2469A0"/>
                </a:solidFill>
                <a:latin typeface="Times New Roman"/>
                <a:ea typeface="Times New Roman"/>
                <a:cs typeface="Times New Roman"/>
                <a:hlinkClick xmlns:r="http://schemas.openxmlformats.org/officeDocument/2006/relationships" r:id="R1e9e967b5654481e"/>
              </a:rPr>
              <a:t>PR #29</a:t>
            </a:r>
            <a:r>
              <a:rPr sz="1950" b="0" i="0" u="none">
                <a:solidFill>
                  <a:srgbClr val="293730"/>
                </a:solidFill>
                <a:latin typeface="Times New Roman"/>
                <a:ea typeface="Times New Roman"/>
                <a:cs typeface="Times New Roman"/>
              </a:rPr>
              <a:t> on 28 Aug.</a:t>
            </a:r>
          </a:p>
        </p:txBody>
      </p:sp>
      <p:sp>
        <p:nvSpPr>
          <p:cNvPr id="15" name="直线连接符 14">
            <a:extLst xmlns:a="http://schemas.openxmlformats.org/drawingml/2006/main">
              <a:ext uri="{FF2B5EF4-FFF2-40B4-BE49-F238E27FC236}">
                <a16:creationId xmlns:a16="http://schemas.microsoft.com/office/drawing/2014/main" id="{E56005F7-2E94-4422-A947-2A6ED7F5DD9A}"/>
              </a:ext>
            </a:extLst>
          </p:cNvPr>
          <p:cNvSpPr>
            <a:spLocks xmlns:a="http://schemas.openxmlformats.org/drawingml/2006/main" noGrp="1"/>
          </p:cNvSpPr>
          <p:nvPr/>
        </p:nvSpPr>
        <p:spPr>
          <a:xfrm xmlns:a="http://schemas.openxmlformats.org/drawingml/2006/main">
            <a:off x="609600" y="3333750"/>
            <a:ext cx="10972800" cy="0"/>
          </a:xfrm>
          <a:prstGeom xmlns:a="http://schemas.openxmlformats.org/drawingml/2006/main" prst="line">
            <a:avLst/>
          </a:prstGeom>
          <a:noFill xmlns:a="http://schemas.openxmlformats.org/drawingml/2006/main"/>
          <a:ln xmlns:a="http://schemas.openxmlformats.org/drawingml/2006/main" w="9525">
            <a:solidFill>
              <a:srgbClr val="CCD5CF"/>
            </a:solidFill>
            <a:prstDash val="solid"/>
          </a:ln>
        </p:spPr>
      </p:sp>
      <p:sp>
        <p:nvSpPr>
          <p:cNvPr id="16" name="View state and timing&#10;caused regressions.">
            <a:extLst xmlns:a="http://schemas.openxmlformats.org/drawingml/2006/main">
              <a:ext uri="{FF2B5EF4-FFF2-40B4-BE49-F238E27FC236}">
                <a16:creationId xmlns:a16="http://schemas.microsoft.com/office/drawing/2014/main" id="{6403C151-B970-4695-AE78-75106D962FAE}"/>
              </a:ext>
            </a:extLst>
          </p:cNvPr>
          <p:cNvSpPr>
            <a:spLocks xmlns:a="http://schemas.openxmlformats.org/drawingml/2006/main" noGrp="1"/>
          </p:cNvSpPr>
          <p:nvPr/>
        </p:nvSpPr>
        <p:spPr>
          <a:xfrm xmlns:a="http://schemas.openxmlformats.org/drawingml/2006/main">
            <a:off x="762000" y="3476625"/>
            <a:ext cx="29622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950" b="1" i="0">
                <a:solidFill>
                  <a:srgbClr val="173F32"/>
                </a:solidFill>
                <a:latin typeface="Times New Roman"/>
                <a:ea typeface="Times New Roman"/>
                <a:cs typeface="Times New Roman"/>
              </a:defRPr>
            </a:pPr>
            <a:r>
              <a:rPr sz="1950" b="1" i="0" u="none">
                <a:solidFill>
                  <a:srgbClr val="173F32"/>
                </a:solidFill>
                <a:latin typeface="Times New Roman"/>
                <a:ea typeface="Times New Roman"/>
                <a:cs typeface="Times New Roman"/>
              </a:rPr>
              <a:t>Crop scaling and timing</a:t>
            </a:r>
          </a:p>
          <a:p xmlns:a="http://schemas.openxmlformats.org/drawingml/2006/main">
            <a:pPr algn="l">
              <a:spcBef>
                <a:spcPts val="0"/>
              </a:spcBef>
              <a:spcAft>
                <a:spcPts val="0"/>
              </a:spcAft>
              <a:defRPr sz="1950" b="1" i="0">
                <a:solidFill>
                  <a:srgbClr val="173F32"/>
                </a:solidFill>
                <a:latin typeface="Times New Roman"/>
                <a:ea typeface="Times New Roman"/>
                <a:cs typeface="Times New Roman"/>
              </a:defRPr>
            </a:pPr>
            <a:r>
              <a:rPr sz="1950" b="1" i="0" u="none">
                <a:solidFill>
                  <a:srgbClr val="173F32"/>
                </a:solidFill>
                <a:latin typeface="Times New Roman"/>
                <a:ea typeface="Times New Roman"/>
                <a:cs typeface="Times New Roman"/>
              </a:rPr>
              <a:t>caused bugs.</a:t>
            </a:r>
          </a:p>
        </p:txBody>
      </p:sp>
      <p:sp>
        <p:nvSpPr>
          <p:cNvPr id="17" name="Preserve framing when valid;&#10;refit crops and ">
            <a:extLst xmlns:a="http://schemas.openxmlformats.org/drawingml/2006/main">
              <a:ext uri="{FF2B5EF4-FFF2-40B4-BE49-F238E27FC236}">
                <a16:creationId xmlns:a16="http://schemas.microsoft.com/office/drawing/2014/main" id="{B59E007C-F6A1-48E6-892A-80DEC731EE09}"/>
              </a:ext>
            </a:extLst>
          </p:cNvPr>
          <p:cNvSpPr>
            <a:spLocks xmlns:a="http://schemas.openxmlformats.org/drawingml/2006/main" noGrp="1"/>
          </p:cNvSpPr>
          <p:nvPr/>
        </p:nvSpPr>
        <p:spPr>
          <a:xfrm xmlns:a="http://schemas.openxmlformats.org/drawingml/2006/main">
            <a:off x="4029075" y="3476625"/>
            <a:ext cx="34956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950" b="0" i="0">
                <a:solidFill>
                  <a:srgbClr val="293730"/>
                </a:solidFill>
                <a:latin typeface="Times New Roman"/>
                <a:ea typeface="Times New Roman"/>
                <a:cs typeface="Times New Roman"/>
              </a:defRPr>
            </a:pPr>
            <a:r>
              <a:rPr sz="1950" b="0" i="0" u="none">
                <a:solidFill>
                  <a:srgbClr val="293730"/>
                </a:solidFill>
                <a:latin typeface="Times New Roman"/>
                <a:ea typeface="Times New Roman"/>
                <a:cs typeface="Times New Roman"/>
              </a:rPr>
              <a:t>Check the view after cropping</a:t>
            </a:r>
          </a:p>
          <a:p xmlns:a="http://schemas.openxmlformats.org/drawingml/2006/main">
            <a:pPr algn="l">
              <a:spcBef>
                <a:spcPts val="0"/>
              </a:spcBef>
              <a:spcAft>
                <a:spcPts val="0"/>
              </a:spcAft>
              <a:defRPr sz="1950" b="0" i="0">
                <a:solidFill>
                  <a:srgbClr val="293730"/>
                </a:solidFill>
                <a:latin typeface="Times New Roman"/>
                <a:ea typeface="Times New Roman"/>
                <a:cs typeface="Times New Roman"/>
              </a:defRPr>
            </a:pPr>
            <a:r>
              <a:rPr sz="1950" b="0" i="0" u="none">
                <a:solidFill>
                  <a:srgbClr val="293730"/>
                </a:solidFill>
                <a:latin typeface="Times New Roman"/>
                <a:ea typeface="Times New Roman"/>
                <a:cs typeface="Times New Roman"/>
              </a:rPr>
              <a:t>and wait for UI changes in tests.</a:t>
            </a:r>
          </a:p>
        </p:txBody>
      </p:sp>
      <p:sp>
        <p:nvSpPr>
          <p:cNvPr id="18" name="PR #30 fixes crop fit;&#10;PR #34 fixes flaky tes">
            <a:extLst xmlns:a="http://schemas.openxmlformats.org/drawingml/2006/main">
              <a:ext uri="{FF2B5EF4-FFF2-40B4-BE49-F238E27FC236}">
                <a16:creationId xmlns:a16="http://schemas.microsoft.com/office/drawing/2014/main" id="{5409F88B-E5EB-4F01-BC6E-38772B49620B}"/>
              </a:ext>
            </a:extLst>
          </p:cNvPr>
          <p:cNvSpPr>
            <a:spLocks xmlns:a="http://schemas.openxmlformats.org/drawingml/2006/main" noGrp="1"/>
          </p:cNvSpPr>
          <p:nvPr/>
        </p:nvSpPr>
        <p:spPr>
          <a:xfrm xmlns:a="http://schemas.openxmlformats.org/drawingml/2006/main">
            <a:off x="7829550" y="3476625"/>
            <a:ext cx="36004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950" b="0" i="0">
                <a:solidFill>
                  <a:srgbClr val="293730"/>
                </a:solidFill>
                <a:latin typeface="Times New Roman"/>
                <a:ea typeface="Times New Roman"/>
                <a:cs typeface="Times New Roman"/>
              </a:defRPr>
            </a:pPr>
            <a:r>
              <a:rPr sz="1950" b="0" i="0" u="sng">
                <a:solidFill>
                  <a:srgbClr val="2469A0"/>
                </a:solidFill>
                <a:latin typeface="Times New Roman"/>
                <a:ea typeface="Times New Roman"/>
                <a:cs typeface="Times New Roman"/>
                <a:hlinkClick xmlns:r="http://schemas.openxmlformats.org/officeDocument/2006/relationships" r:id="R5b08a1d2dd424dd5"/>
              </a:rPr>
              <a:t>PR #30</a:t>
            </a:r>
            <a:r>
              <a:rPr sz="1950" b="0" i="0" u="none">
                <a:solidFill>
                  <a:srgbClr val="293730"/>
                </a:solidFill>
                <a:latin typeface="Times New Roman"/>
                <a:ea typeface="Times New Roman"/>
                <a:cs typeface="Times New Roman"/>
              </a:rPr>
              <a:t> fixed crop fit.</a:t>
            </a:r>
          </a:p>
          <a:p xmlns:a="http://schemas.openxmlformats.org/drawingml/2006/main">
            <a:pPr algn="l">
              <a:spcBef>
                <a:spcPts val="0"/>
              </a:spcBef>
              <a:spcAft>
                <a:spcPts val="0"/>
              </a:spcAft>
              <a:defRPr sz="1950" b="0" i="0">
                <a:solidFill>
                  <a:srgbClr val="293730"/>
                </a:solidFill>
                <a:latin typeface="Times New Roman"/>
                <a:ea typeface="Times New Roman"/>
                <a:cs typeface="Times New Roman"/>
              </a:defRPr>
            </a:pPr>
            <a:r>
              <a:rPr sz="1950" b="0" i="0" u="sng">
                <a:solidFill>
                  <a:srgbClr val="2469A0"/>
                </a:solidFill>
                <a:latin typeface="Times New Roman"/>
                <a:ea typeface="Times New Roman"/>
                <a:cs typeface="Times New Roman"/>
                <a:hlinkClick xmlns:r="http://schemas.openxmlformats.org/officeDocument/2006/relationships" r:id="R082ba75e461b4626"/>
              </a:rPr>
              <a:t>PR #34</a:t>
            </a:r>
            <a:r>
              <a:rPr sz="1950" b="0" i="0" u="none">
                <a:solidFill>
                  <a:srgbClr val="293730"/>
                </a:solidFill>
                <a:latin typeface="Times New Roman"/>
                <a:ea typeface="Times New Roman"/>
                <a:cs typeface="Times New Roman"/>
              </a:rPr>
              <a:t> fixed flaky tests.</a:t>
            </a:r>
          </a:p>
        </p:txBody>
      </p:sp>
      <p:sp>
        <p:nvSpPr>
          <p:cNvPr id="19" name="直线连接符 18">
            <a:extLst xmlns:a="http://schemas.openxmlformats.org/drawingml/2006/main">
              <a:ext uri="{FF2B5EF4-FFF2-40B4-BE49-F238E27FC236}">
                <a16:creationId xmlns:a16="http://schemas.microsoft.com/office/drawing/2014/main" id="{8CC95DCC-EF5D-4E51-A929-360CA9CAFA85}"/>
              </a:ext>
            </a:extLst>
          </p:cNvPr>
          <p:cNvSpPr>
            <a:spLocks xmlns:a="http://schemas.openxmlformats.org/drawingml/2006/main" noGrp="1"/>
          </p:cNvSpPr>
          <p:nvPr/>
        </p:nvSpPr>
        <p:spPr>
          <a:xfrm xmlns:a="http://schemas.openxmlformats.org/drawingml/2006/main">
            <a:off x="609600" y="4400550"/>
            <a:ext cx="10972800" cy="0"/>
          </a:xfrm>
          <a:prstGeom xmlns:a="http://schemas.openxmlformats.org/drawingml/2006/main" prst="line">
            <a:avLst/>
          </a:prstGeom>
          <a:noFill xmlns:a="http://schemas.openxmlformats.org/drawingml/2006/main"/>
          <a:ln xmlns:a="http://schemas.openxmlformats.org/drawingml/2006/main" w="9525">
            <a:solidFill>
              <a:srgbClr val="CCD5CF"/>
            </a:solidFill>
            <a:prstDash val="solid"/>
          </a:ln>
        </p:spPr>
      </p:sp>
      <p:sp>
        <p:nvSpPr>
          <p:cNvPr id="20" name="Tutor requested regular&#10;reflection and risk u">
            <a:extLst xmlns:a="http://schemas.openxmlformats.org/drawingml/2006/main">
              <a:ext uri="{FF2B5EF4-FFF2-40B4-BE49-F238E27FC236}">
                <a16:creationId xmlns:a16="http://schemas.microsoft.com/office/drawing/2014/main" id="{FA36A583-07E5-40B3-B21E-77A5627F1F11}"/>
              </a:ext>
            </a:extLst>
          </p:cNvPr>
          <p:cNvSpPr>
            <a:spLocks xmlns:a="http://schemas.openxmlformats.org/drawingml/2006/main" noGrp="1"/>
          </p:cNvSpPr>
          <p:nvPr/>
        </p:nvSpPr>
        <p:spPr>
          <a:xfrm xmlns:a="http://schemas.openxmlformats.org/drawingml/2006/main">
            <a:off x="762000" y="4543425"/>
            <a:ext cx="29622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950" b="1" i="0">
                <a:solidFill>
                  <a:srgbClr val="173F32"/>
                </a:solidFill>
                <a:latin typeface="Times New Roman"/>
                <a:ea typeface="Times New Roman"/>
                <a:cs typeface="Times New Roman"/>
              </a:defRPr>
            </a:pPr>
            <a:r>
              <a:rPr sz="1950" b="1" i="0" u="none">
                <a:solidFill>
                  <a:srgbClr val="173F32"/>
                </a:solidFill>
                <a:latin typeface="Times New Roman"/>
                <a:ea typeface="Times New Roman"/>
                <a:cs typeface="Times New Roman"/>
              </a:rPr>
              <a:t>Tutor asked for regular</a:t>
            </a:r>
          </a:p>
          <a:p xmlns:a="http://schemas.openxmlformats.org/drawingml/2006/main">
            <a:pPr algn="l">
              <a:spcBef>
                <a:spcPts val="0"/>
              </a:spcBef>
              <a:spcAft>
                <a:spcPts val="0"/>
              </a:spcAft>
              <a:defRPr sz="1950" b="1" i="0">
                <a:solidFill>
                  <a:srgbClr val="173F32"/>
                </a:solidFill>
                <a:latin typeface="Times New Roman"/>
                <a:ea typeface="Times New Roman"/>
                <a:cs typeface="Times New Roman"/>
              </a:defRPr>
            </a:pPr>
            <a:r>
              <a:rPr sz="1950" b="1" i="0" u="none">
                <a:solidFill>
                  <a:srgbClr val="173F32"/>
                </a:solidFill>
                <a:latin typeface="Times New Roman"/>
                <a:ea typeface="Times New Roman"/>
                <a:cs typeface="Times New Roman"/>
              </a:rPr>
              <a:t>reflection and risk updates.</a:t>
            </a:r>
          </a:p>
        </p:txBody>
      </p:sp>
      <p:sp>
        <p:nvSpPr>
          <p:cNvPr id="21" name="Record lessons, next actions&#10;and named contri">
            <a:extLst xmlns:a="http://schemas.openxmlformats.org/drawingml/2006/main">
              <a:ext uri="{FF2B5EF4-FFF2-40B4-BE49-F238E27FC236}">
                <a16:creationId xmlns:a16="http://schemas.microsoft.com/office/drawing/2014/main" id="{1BDBFBED-A603-4B9D-BC8F-114621925CAE}"/>
              </a:ext>
            </a:extLst>
          </p:cNvPr>
          <p:cNvSpPr>
            <a:spLocks xmlns:a="http://schemas.openxmlformats.org/drawingml/2006/main" noGrp="1"/>
          </p:cNvSpPr>
          <p:nvPr/>
        </p:nvSpPr>
        <p:spPr>
          <a:xfrm xmlns:a="http://schemas.openxmlformats.org/drawingml/2006/main">
            <a:off x="4029075" y="4543425"/>
            <a:ext cx="34956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950" b="0" i="0">
                <a:solidFill>
                  <a:srgbClr val="293730"/>
                </a:solidFill>
                <a:latin typeface="Times New Roman"/>
                <a:ea typeface="Times New Roman"/>
                <a:cs typeface="Times New Roman"/>
              </a:defRPr>
            </a:pPr>
            <a:r>
              <a:rPr sz="1950" b="0" i="0" u="none">
                <a:solidFill>
                  <a:srgbClr val="293730"/>
                </a:solidFill>
                <a:latin typeface="Times New Roman"/>
                <a:ea typeface="Times New Roman"/>
                <a:cs typeface="Times New Roman"/>
              </a:rPr>
              <a:t>Write down what went wrong</a:t>
            </a:r>
          </a:p>
          <a:p xmlns:a="http://schemas.openxmlformats.org/drawingml/2006/main">
            <a:pPr algn="l">
              <a:spcBef>
                <a:spcPts val="0"/>
              </a:spcBef>
              <a:spcAft>
                <a:spcPts val="0"/>
              </a:spcAft>
              <a:defRPr sz="1950" b="0" i="0">
                <a:solidFill>
                  <a:srgbClr val="293730"/>
                </a:solidFill>
                <a:latin typeface="Times New Roman"/>
                <a:ea typeface="Times New Roman"/>
                <a:cs typeface="Times New Roman"/>
              </a:defRPr>
            </a:pPr>
            <a:r>
              <a:rPr sz="1950" b="0" i="0" u="none">
                <a:solidFill>
                  <a:srgbClr val="293730"/>
                </a:solidFill>
                <a:latin typeface="Times New Roman"/>
                <a:ea typeface="Times New Roman"/>
                <a:cs typeface="Times New Roman"/>
              </a:rPr>
              <a:t>and what to do next.</a:t>
            </a:r>
          </a:p>
        </p:txBody>
      </p:sp>
      <p:sp>
        <p:nvSpPr>
          <p:cNvPr id="22" name="Two weekly reflection pages;&#10;LEAF-157 links t">
            <a:extLst xmlns:a="http://schemas.openxmlformats.org/drawingml/2006/main">
              <a:ext uri="{FF2B5EF4-FFF2-40B4-BE49-F238E27FC236}">
                <a16:creationId xmlns:a16="http://schemas.microsoft.com/office/drawing/2014/main" id="{8620013D-CCDA-4ADB-B523-394898A60327}"/>
              </a:ext>
            </a:extLst>
          </p:cNvPr>
          <p:cNvSpPr>
            <a:spLocks xmlns:a="http://schemas.openxmlformats.org/drawingml/2006/main" noGrp="1"/>
          </p:cNvSpPr>
          <p:nvPr/>
        </p:nvSpPr>
        <p:spPr>
          <a:xfrm xmlns:a="http://schemas.openxmlformats.org/drawingml/2006/main">
            <a:off x="7829550" y="4543425"/>
            <a:ext cx="36004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950" b="0" i="0">
                <a:solidFill>
                  <a:srgbClr val="293730"/>
                </a:solidFill>
                <a:latin typeface="Times New Roman"/>
                <a:ea typeface="Times New Roman"/>
                <a:cs typeface="Times New Roman"/>
              </a:defRPr>
            </a:pPr>
            <a:r>
              <a:rPr sz="1950" b="0" i="0" u="none">
                <a:solidFill>
                  <a:srgbClr val="293730"/>
                </a:solidFill>
                <a:latin typeface="Times New Roman"/>
                <a:ea typeface="Times New Roman"/>
                <a:cs typeface="Times New Roman"/>
              </a:rPr>
              <a:t>Weekly logs on 21 and 28 Aug;</a:t>
            </a:r>
          </a:p>
          <a:p xmlns:a="http://schemas.openxmlformats.org/drawingml/2006/main">
            <a:pPr algn="l">
              <a:spcBef>
                <a:spcPts val="0"/>
              </a:spcBef>
              <a:spcAft>
                <a:spcPts val="0"/>
              </a:spcAft>
              <a:defRPr sz="1950" b="0" i="0">
                <a:solidFill>
                  <a:srgbClr val="293730"/>
                </a:solidFill>
                <a:latin typeface="Times New Roman"/>
                <a:ea typeface="Times New Roman"/>
                <a:cs typeface="Times New Roman"/>
              </a:defRPr>
            </a:pPr>
            <a:r>
              <a:rPr sz="1950" b="0" i="0" u="sng">
                <a:solidFill>
                  <a:srgbClr val="2469A0"/>
                </a:solidFill>
                <a:latin typeface="Times New Roman"/>
                <a:ea typeface="Times New Roman"/>
                <a:cs typeface="Times New Roman"/>
                <a:hlinkClick xmlns:r="http://schemas.openxmlformats.org/officeDocument/2006/relationships" r:id="R018c85db44c5494b"/>
              </a:rPr>
              <a:t>LEAF-157</a:t>
            </a:r>
            <a:r>
              <a:rPr sz="1950" b="0" i="0" u="none">
                <a:solidFill>
                  <a:srgbClr val="293730"/>
                </a:solidFill>
                <a:latin typeface="Times New Roman"/>
                <a:ea typeface="Times New Roman"/>
                <a:cs typeface="Times New Roman"/>
              </a:rPr>
              <a:t> links the documents.</a:t>
            </a:r>
          </a:p>
        </p:txBody>
      </p:sp>
      <p:sp>
        <p:nvSpPr>
          <p:cNvPr id="23" name="直线连接符 22">
            <a:extLst xmlns:a="http://schemas.openxmlformats.org/drawingml/2006/main">
              <a:ext uri="{FF2B5EF4-FFF2-40B4-BE49-F238E27FC236}">
                <a16:creationId xmlns:a16="http://schemas.microsoft.com/office/drawing/2014/main" id="{0A9A89E9-FB45-472B-B532-7F88276F2847}"/>
              </a:ext>
            </a:extLst>
          </p:cNvPr>
          <p:cNvSpPr>
            <a:spLocks xmlns:a="http://schemas.openxmlformats.org/drawingml/2006/main" noGrp="1"/>
          </p:cNvSpPr>
          <p:nvPr/>
        </p:nvSpPr>
        <p:spPr>
          <a:xfrm xmlns:a="http://schemas.openxmlformats.org/drawingml/2006/main">
            <a:off x="609600" y="5467350"/>
            <a:ext cx="10972800" cy="0"/>
          </a:xfrm>
          <a:prstGeom xmlns:a="http://schemas.openxmlformats.org/drawingml/2006/main" prst="line">
            <a:avLst/>
          </a:prstGeom>
          <a:noFill xmlns:a="http://schemas.openxmlformats.org/drawingml/2006/main"/>
          <a:ln xmlns:a="http://schemas.openxmlformats.org/drawingml/2006/main" w="9525">
            <a:solidFill>
              <a:srgbClr val="CCD5CF"/>
            </a:solidFill>
            <a:prstDash val="solid"/>
          </a:ln>
        </p:spPr>
      </p:sp>
      <p:sp>
        <p:nvSpPr>
          <p:cNvPr id="24" name="直线连接符 23">
            <a:extLst xmlns:a="http://schemas.openxmlformats.org/drawingml/2006/main">
              <a:ext uri="{FF2B5EF4-FFF2-40B4-BE49-F238E27FC236}">
                <a16:creationId xmlns:a16="http://schemas.microsoft.com/office/drawing/2014/main" id="{DAB081E4-0A15-43AF-9F81-7506AC098DFA}"/>
              </a:ext>
            </a:extLst>
          </p:cNvPr>
          <p:cNvSpPr>
            <a:spLocks xmlns:a="http://schemas.openxmlformats.org/drawingml/2006/main" noGrp="1"/>
          </p:cNvSpPr>
          <p:nvPr/>
        </p:nvSpPr>
        <p:spPr>
          <a:xfrm xmlns:a="http://schemas.openxmlformats.org/drawingml/2006/main">
            <a:off x="609600" y="5648325"/>
            <a:ext cx="10972800" cy="0"/>
          </a:xfrm>
          <a:prstGeom xmlns:a="http://schemas.openxmlformats.org/drawingml/2006/main" prst="line">
            <a:avLst/>
          </a:prstGeom>
          <a:noFill xmlns:a="http://schemas.openxmlformats.org/drawingml/2006/main"/>
          <a:ln xmlns:a="http://schemas.openxmlformats.org/drawingml/2006/main" w="9525">
            <a:solidFill>
              <a:srgbClr val="CCD5CF"/>
            </a:solidFill>
            <a:prstDash val="solid"/>
          </a:ln>
        </p:spPr>
      </p:sp>
      <p:sp>
        <p:nvSpPr>
          <p:cNvPr id="25" name="Next improvement: close each action with a re">
            <a:extLst xmlns:a="http://schemas.openxmlformats.org/drawingml/2006/main">
              <a:ext uri="{FF2B5EF4-FFF2-40B4-BE49-F238E27FC236}">
                <a16:creationId xmlns:a16="http://schemas.microsoft.com/office/drawing/2014/main" id="{BF63437B-C67F-4A13-ABC7-34E32BE8609B}"/>
              </a:ext>
            </a:extLst>
          </p:cNvPr>
          <p:cNvSpPr>
            <a:spLocks xmlns:a="http://schemas.openxmlformats.org/drawingml/2006/main" noGrp="1"/>
          </p:cNvSpPr>
          <p:nvPr/>
        </p:nvSpPr>
        <p:spPr>
          <a:xfrm xmlns:a="http://schemas.openxmlformats.org/drawingml/2006/main">
            <a:off x="609600" y="5800725"/>
            <a:ext cx="10972800" cy="390525"/>
          </a:xfrm>
          <a:prstGeom xmlns:a="http://schemas.openxmlformats.org/drawingml/2006/main" prst="rect">
            <a:avLst/>
          </a:prstGeom>
          <a:solidFill xmlns:a="http://schemas.openxmlformats.org/drawingml/2006/main">
            <a:srgbClr val="EDF2EE"/>
          </a:solidFill>
          <a:ln xmlns:a="http://schemas.openxmlformats.org/drawingml/2006/main" w="0">
            <a:noFill/>
          </a:ln>
        </p:spPr>
        <p:txBody>
          <a:bodyPr xmlns:a="http://schemas.openxmlformats.org/drawingml/2006/main" wrap="square" lIns="133350" tIns="38100" rIns="133350" bIns="38100" anchor="ctr">
            <a:noAutofit/>
          </a:bodyPr>
          <a:lstStyle xmlns:a="http://schemas.openxmlformats.org/drawingml/2006/main"/>
          <a:p xmlns:a="http://schemas.openxmlformats.org/drawingml/2006/main">
            <a:pPr algn="l">
              <a:spcBef>
                <a:spcPts val="0"/>
              </a:spcBef>
              <a:spcAft>
                <a:spcPts val="0"/>
              </a:spcAft>
              <a:defRPr sz="1800" b="0" i="0">
                <a:solidFill>
                  <a:srgbClr val="173F32"/>
                </a:solidFill>
                <a:latin typeface="Times New Roman"/>
                <a:ea typeface="Times New Roman"/>
                <a:cs typeface="Times New Roman"/>
              </a:defRPr>
            </a:pPr>
            <a:r>
              <a:rPr sz="1800" b="0" i="0" u="none">
                <a:solidFill>
                  <a:srgbClr val="173F32"/>
                </a:solidFill>
                <a:latin typeface="Times New Roman"/>
                <a:ea typeface="Times New Roman"/>
                <a:cs typeface="Times New Roman"/>
              </a:rPr>
              <a:t>Next time, each action should include who owns it and a link to the result.</a:t>
            </a:r>
          </a:p>
        </p:txBody>
      </p:sp>
    </p:spTree>
    <p:extLst>
      <p:ext uri="{BB962C8B-B14F-4D97-AF65-F5344CB8AC3E}">
        <p14:creationId xmlns:p14="http://schemas.microsoft.com/office/powerpoint/2010/main" val="23072182"/>
      </p:ext>
    </p:extLst>
  </p:cSld>
</p:sld>
</file>

<file path=ppt/slides/slide13.xml><?xml version="1.0" encoding="utf-8"?>
<p:sld xmlns:p="http://schemas.openxmlformats.org/presentationml/2006/main">
  <p:cSld>
    <p:bg>
      <p:bgPr>
        <a:solidFill xmlns:a="http://schemas.openxmlformats.org/drawingml/2006/main">
          <a:srgbClr val="FBFBF8"/>
        </a:solidFill>
      </p:bgPr>
    </p:bg>
    <p:spTree>
      <p:nvGrpSpPr>
        <p:cNvPr id="1" name=""/>
        <p:cNvGrpSpPr/>
        <p:nvPr/>
      </p:nvGrpSpPr>
      <p:grpSpPr>
        <a:xfrm xmlns:a="http://schemas.openxmlformats.org/drawingml/2006/main"/>
      </p:grpSpPr>
      <p:sp>
        <p:nvSpPr>
          <p:cNvPr id="29" name="SPRINT 4 FEEDBACK → SPRINT 5 EVIDENCE">
            <a:extLst xmlns:a="http://schemas.openxmlformats.org/drawingml/2006/main">
              <a:ext uri="{FF2B5EF4-FFF2-40B4-BE49-F238E27FC236}">
                <a16:creationId xmlns:a16="http://schemas.microsoft.com/office/drawing/2014/main" id="{DD2633FC-0F1F-459F-BAAF-A85F57194434}"/>
              </a:ext>
            </a:extLst>
          </p:cNvPr>
          <p:cNvSpPr>
            <a:spLocks xmlns:a="http://schemas.openxmlformats.org/drawingml/2006/main" noGrp="1"/>
          </p:cNvSpPr>
          <p:nvPr/>
        </p:nvSpPr>
        <p:spPr>
          <a:xfrm xmlns:a="http://schemas.openxmlformats.org/drawingml/2006/main">
            <a:off x="609600" y="390525"/>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350" b="1" i="0">
                <a:solidFill>
                  <a:srgbClr val="173F32"/>
                </a:solidFill>
                <a:latin typeface="Times New Roman"/>
                <a:ea typeface="Times New Roman"/>
                <a:cs typeface="Times New Roman"/>
              </a:defRPr>
            </a:pPr>
            <a:r>
              <a:rPr sz="1350" b="1" i="0" u="none">
                <a:solidFill>
                  <a:srgbClr val="173F32"/>
                </a:solidFill>
                <a:latin typeface="Times New Roman"/>
                <a:ea typeface="Times New Roman"/>
                <a:cs typeface="Times New Roman"/>
              </a:rPr>
              <a:t>SPRINT 4 FEEDBACK → SPRINT 5 EVIDENCE</a:t>
            </a:r>
          </a:p>
        </p:txBody>
      </p:sp>
      <p:sp>
        <p:nvSpPr>
          <p:cNvPr id="2" name="What changed after Sprint 4 feedback">
            <a:extLst xmlns:a="http://schemas.openxmlformats.org/drawingml/2006/main">
              <a:ext uri="{FF2B5EF4-FFF2-40B4-BE49-F238E27FC236}">
                <a16:creationId xmlns:a16="http://schemas.microsoft.com/office/drawing/2014/main" id="{87DE9D67-2FF6-4217-85A9-0F380FF9D091}"/>
              </a:ext>
            </a:extLst>
          </p:cNvPr>
          <p:cNvSpPr>
            <a:spLocks xmlns:a="http://schemas.openxmlformats.org/drawingml/2006/main" noGrp="1"/>
          </p:cNvSpPr>
          <p:nvPr/>
        </p:nvSpPr>
        <p:spPr>
          <a:xfrm xmlns:a="http://schemas.openxmlformats.org/drawingml/2006/main">
            <a:off x="609600" y="8001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3300" b="1" i="0">
                <a:solidFill>
                  <a:srgbClr val="173F32"/>
                </a:solidFill>
                <a:latin typeface="Arial"/>
                <a:ea typeface="Arial"/>
                <a:cs typeface="Arial"/>
              </a:defRPr>
            </a:pPr>
            <a:r>
              <a:rPr sz="3300" b="1" i="0" u="none">
                <a:solidFill>
                  <a:srgbClr val="173F32"/>
                </a:solidFill>
                <a:latin typeface="Arial"/>
                <a:ea typeface="Arial"/>
                <a:cs typeface="Arial"/>
              </a:rPr>
              <a:t>How we used last sprint’s feedback</a:t>
            </a:r>
          </a:p>
        </p:txBody>
      </p:sp>
      <p:sp>
        <p:nvSpPr>
          <p:cNvPr id="3" name="直线连接符 2">
            <a:extLst xmlns:a="http://schemas.openxmlformats.org/drawingml/2006/main">
              <a:ext uri="{FF2B5EF4-FFF2-40B4-BE49-F238E27FC236}">
                <a16:creationId xmlns:a16="http://schemas.microsoft.com/office/drawing/2014/main" id="{EDEB7FC5-2867-4146-A798-E0E7AA225271}"/>
              </a:ext>
            </a:extLst>
          </p:cNvPr>
          <p:cNvSpPr>
            <a:spLocks xmlns:a="http://schemas.openxmlformats.org/drawingml/2006/main" noGrp="1"/>
          </p:cNvSpPr>
          <p:nvPr/>
        </p:nvSpPr>
        <p:spPr>
          <a:xfrm xmlns:a="http://schemas.openxmlformats.org/drawingml/2006/main">
            <a:off x="609600" y="6286500"/>
            <a:ext cx="10972800" cy="0"/>
          </a:xfrm>
          <a:prstGeom xmlns:a="http://schemas.openxmlformats.org/drawingml/2006/main" prst="line">
            <a:avLst/>
          </a:prstGeom>
          <a:noFill xmlns:a="http://schemas.openxmlformats.org/drawingml/2006/main"/>
          <a:ln xmlns:a="http://schemas.openxmlformats.org/drawingml/2006/main" w="9525">
            <a:solidFill>
              <a:srgbClr val="CCD5CF"/>
            </a:solidFill>
            <a:prstDash val="solid"/>
          </a:ln>
        </p:spPr>
      </p:sp>
      <p:sp>
        <p:nvSpPr>
          <p:cNvPr id="4" name="LEAF ANALYZER  /  SPRINT 5">
            <a:extLst xmlns:a="http://schemas.openxmlformats.org/drawingml/2006/main">
              <a:ext uri="{FF2B5EF4-FFF2-40B4-BE49-F238E27FC236}">
                <a16:creationId xmlns:a16="http://schemas.microsoft.com/office/drawing/2014/main" id="{3DD4BBEB-BFFB-4D68-B7E8-59DFA48AA1D4}"/>
              </a:ext>
            </a:extLst>
          </p:cNvPr>
          <p:cNvSpPr>
            <a:spLocks xmlns:a="http://schemas.openxmlformats.org/drawingml/2006/main" noGrp="1"/>
          </p:cNvSpPr>
          <p:nvPr/>
        </p:nvSpPr>
        <p:spPr>
          <a:xfrm xmlns:a="http://schemas.openxmlformats.org/drawingml/2006/main">
            <a:off x="8572500" y="400050"/>
            <a:ext cx="3009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spcBef>
                <a:spcPts val="0"/>
              </a:spcBef>
              <a:spcAft>
                <a:spcPts val="0"/>
              </a:spcAft>
              <a:defRPr sz="1200" b="0" i="0">
                <a:solidFill>
                  <a:srgbClr val="59665F"/>
                </a:solidFill>
                <a:latin typeface="Times New Roman"/>
                <a:ea typeface="Times New Roman"/>
                <a:cs typeface="Times New Roman"/>
              </a:defRPr>
            </a:pPr>
            <a:r>
              <a:rPr sz="1200" b="0" i="0" u="none">
                <a:solidFill>
                  <a:srgbClr val="59665F"/>
                </a:solidFill>
                <a:latin typeface="Times New Roman"/>
                <a:ea typeface="Times New Roman"/>
                <a:cs typeface="Times New Roman"/>
              </a:rPr>
              <a:t>LEAF ANALYZER  /  SPRINT 5</a:t>
            </a:r>
          </a:p>
        </p:txBody>
      </p:sp>
      <p:sp>
        <p:nvSpPr>
          <p:cNvPr id="5" name="Evidence summary • no acceptance or accuracy ">
            <a:extLst xmlns:a="http://schemas.openxmlformats.org/drawingml/2006/main">
              <a:ext uri="{FF2B5EF4-FFF2-40B4-BE49-F238E27FC236}">
                <a16:creationId xmlns:a16="http://schemas.microsoft.com/office/drawing/2014/main" id="{EBB42CBD-B77F-4207-BC51-645B8CEE992C}"/>
              </a:ext>
            </a:extLst>
          </p:cNvPr>
          <p:cNvSpPr>
            <a:spLocks xmlns:a="http://schemas.openxmlformats.org/drawingml/2006/main" noGrp="1"/>
          </p:cNvSpPr>
          <p:nvPr/>
        </p:nvSpPr>
        <p:spPr>
          <a:xfrm xmlns:a="http://schemas.openxmlformats.org/drawingml/2006/main">
            <a:off x="609600" y="6362700"/>
            <a:ext cx="1043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200" b="0" i="0">
                <a:solidFill>
                  <a:srgbClr val="59665F"/>
                </a:solidFill>
                <a:latin typeface="Times New Roman"/>
                <a:ea typeface="Times New Roman"/>
                <a:cs typeface="Times New Roman"/>
              </a:defRPr>
            </a:pPr>
            <a:r>
              <a:rPr sz="1200" b="0" i="0" u="none">
                <a:solidFill>
                  <a:srgbClr val="59665F"/>
                </a:solidFill>
                <a:latin typeface="Times New Roman"/>
                <a:ea typeface="Times New Roman"/>
                <a:cs typeface="Times New Roman"/>
              </a:rPr>
              <a:t>Sources: </a:t>
            </a:r>
            <a:r>
              <a:rPr sz="1200" b="0" i="0" u="sng">
                <a:solidFill>
                  <a:srgbClr val="2469A0"/>
                </a:solidFill>
                <a:latin typeface="Times New Roman"/>
                <a:ea typeface="Times New Roman"/>
                <a:cs typeface="Times New Roman"/>
                <a:hlinkClick xmlns:r="http://schemas.openxmlformats.org/officeDocument/2006/relationships" r:id="Rf95637f6daec4877"/>
              </a:rPr>
              <a:t>Tutor meeting</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3ef58d3caac44515"/>
              </a:rPr>
              <a:t>Week 4 reflection</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afbbbb4db9e2466f"/>
              </a:rPr>
              <a:t>Week 5 reflection</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f76f256da4b14d1a"/>
              </a:rPr>
              <a:t>Backlog</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7b9645df95af4c2c"/>
              </a:rPr>
              <a:t>Risk plan</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6a45e8ffcf61447e"/>
              </a:rPr>
              <a:t>LEAF-157</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5c82a868c87f4929"/>
              </a:rPr>
              <a:t>LEAF-150</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d4cd9319fedf4191"/>
              </a:rPr>
              <a:t>LEAF-152</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281930082dec40a4"/>
              </a:rPr>
              <a:t>PR #25</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934c0d4f83ee43ac"/>
              </a:rPr>
              <a:t>CI run</a:t>
            </a:r>
          </a:p>
        </p:txBody>
      </p:sp>
      <p:sp>
        <p:nvSpPr>
          <p:cNvPr id="6" name="13">
            <a:extLst xmlns:a="http://schemas.openxmlformats.org/drawingml/2006/main">
              <a:ext uri="{FF2B5EF4-FFF2-40B4-BE49-F238E27FC236}">
                <a16:creationId xmlns:a16="http://schemas.microsoft.com/office/drawing/2014/main" id="{2793A503-49B0-4183-8616-1E33BE0ADE8B}"/>
              </a:ext>
            </a:extLst>
          </p:cNvPr>
          <p:cNvSpPr>
            <a:spLocks xmlns:a="http://schemas.openxmlformats.org/drawingml/2006/main" noGrp="1"/>
          </p:cNvSpPr>
          <p:nvPr/>
        </p:nvSpPr>
        <p:spPr>
          <a:xfrm xmlns:a="http://schemas.openxmlformats.org/drawingml/2006/main">
            <a:off x="11239500" y="63722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spcBef>
                <a:spcPts val="0"/>
              </a:spcBef>
              <a:spcAft>
                <a:spcPts val="0"/>
              </a:spcAft>
              <a:defRPr sz="1425" b="0" i="0">
                <a:solidFill>
                  <a:srgbClr val="59665F"/>
                </a:solidFill>
                <a:latin typeface="Times New Roman"/>
                <a:ea typeface="Times New Roman"/>
                <a:cs typeface="Times New Roman"/>
              </a:defRPr>
            </a:pPr>
            <a:r>
              <a:rPr sz="1425" b="0" i="0" u="none">
                <a:solidFill>
                  <a:srgbClr val="59665F"/>
                </a:solidFill>
                <a:latin typeface="Times New Roman"/>
                <a:ea typeface="Times New Roman"/>
                <a:cs typeface="Times New Roman"/>
              </a:rPr>
              <a:t>13</a:t>
            </a:r>
          </a:p>
        </p:txBody>
      </p:sp>
      <p:sp>
        <p:nvSpPr>
          <p:cNvPr id="8" name="AREA">
            <a:extLst xmlns:a="http://schemas.openxmlformats.org/drawingml/2006/main">
              <a:ext uri="{FF2B5EF4-FFF2-40B4-BE49-F238E27FC236}">
                <a16:creationId xmlns:a16="http://schemas.microsoft.com/office/drawing/2014/main" id="{B2362500-2BAC-4E3E-A5DD-56D2E0D461CD}"/>
              </a:ext>
            </a:extLst>
          </p:cNvPr>
          <p:cNvSpPr>
            <a:spLocks xmlns:a="http://schemas.openxmlformats.org/drawingml/2006/main" noGrp="1"/>
          </p:cNvSpPr>
          <p:nvPr/>
        </p:nvSpPr>
        <p:spPr>
          <a:xfrm xmlns:a="http://schemas.openxmlformats.org/drawingml/2006/main">
            <a:off x="609600" y="1790700"/>
            <a:ext cx="2686050" cy="457200"/>
          </a:xfrm>
          <a:prstGeom xmlns:a="http://schemas.openxmlformats.org/drawingml/2006/main" prst="rect">
            <a:avLst/>
          </a:prstGeom>
          <a:solidFill xmlns:a="http://schemas.openxmlformats.org/drawingml/2006/main">
            <a:srgbClr val="173F32"/>
          </a:solidFill>
          <a:ln xmlns:a="http://schemas.openxmlformats.org/drawingml/2006/main" w="0">
            <a:noFill/>
          </a:ln>
        </p:spPr>
        <p:txBody>
          <a:bodyPr xmlns:a="http://schemas.openxmlformats.org/drawingml/2006/main" wrap="square" lIns="152400" tIns="76200" rIns="152400" bIns="76200" anchor="ctr">
            <a:noAutofit/>
          </a:bodyPr>
          <a:lstStyle xmlns:a="http://schemas.openxmlformats.org/drawingml/2006/main"/>
          <a:p xmlns:a="http://schemas.openxmlformats.org/drawingml/2006/main">
            <a:pPr algn="l">
              <a:spcBef>
                <a:spcPts val="0"/>
              </a:spcBef>
              <a:spcAft>
                <a:spcPts val="0"/>
              </a:spcAft>
              <a:defRPr sz="1650" b="1" i="0">
                <a:solidFill>
                  <a:srgbClr val="FFFFFF"/>
                </a:solidFill>
                <a:latin typeface="Times New Roman"/>
                <a:ea typeface="Times New Roman"/>
                <a:cs typeface="Times New Roman"/>
              </a:defRPr>
            </a:pPr>
            <a:r>
              <a:rPr sz="1650" b="1" i="0" u="none">
                <a:solidFill>
                  <a:srgbClr val="FFFFFF"/>
                </a:solidFill>
                <a:latin typeface="Times New Roman"/>
                <a:ea typeface="Times New Roman"/>
                <a:cs typeface="Times New Roman"/>
              </a:rPr>
              <a:t>FEEDBACK</a:t>
            </a:r>
          </a:p>
        </p:txBody>
      </p:sp>
      <p:sp>
        <p:nvSpPr>
          <p:cNvPr id="9" name="CHANGE + EVIDENCE">
            <a:extLst xmlns:a="http://schemas.openxmlformats.org/drawingml/2006/main">
              <a:ext uri="{FF2B5EF4-FFF2-40B4-BE49-F238E27FC236}">
                <a16:creationId xmlns:a16="http://schemas.microsoft.com/office/drawing/2014/main" id="{ACB7849E-BA41-469C-B45A-9D119B475401}"/>
              </a:ext>
            </a:extLst>
          </p:cNvPr>
          <p:cNvSpPr>
            <a:spLocks xmlns:a="http://schemas.openxmlformats.org/drawingml/2006/main" noGrp="1"/>
          </p:cNvSpPr>
          <p:nvPr/>
        </p:nvSpPr>
        <p:spPr>
          <a:xfrm xmlns:a="http://schemas.openxmlformats.org/drawingml/2006/main">
            <a:off x="3295650" y="1790700"/>
            <a:ext cx="4762500" cy="457200"/>
          </a:xfrm>
          <a:prstGeom xmlns:a="http://schemas.openxmlformats.org/drawingml/2006/main" prst="rect">
            <a:avLst/>
          </a:prstGeom>
          <a:solidFill xmlns:a="http://schemas.openxmlformats.org/drawingml/2006/main">
            <a:srgbClr val="173F32"/>
          </a:solidFill>
          <a:ln xmlns:a="http://schemas.openxmlformats.org/drawingml/2006/main" w="0">
            <a:noFill/>
          </a:ln>
        </p:spPr>
        <p:txBody>
          <a:bodyPr xmlns:a="http://schemas.openxmlformats.org/drawingml/2006/main" wrap="square" lIns="152400" tIns="76200" rIns="152400" bIns="76200" anchor="ctr">
            <a:noAutofit/>
          </a:bodyPr>
          <a:lstStyle xmlns:a="http://schemas.openxmlformats.org/drawingml/2006/main"/>
          <a:p xmlns:a="http://schemas.openxmlformats.org/drawingml/2006/main">
            <a:pPr algn="l">
              <a:spcBef>
                <a:spcPts val="0"/>
              </a:spcBef>
              <a:spcAft>
                <a:spcPts val="0"/>
              </a:spcAft>
              <a:defRPr sz="1650" b="1" i="0">
                <a:solidFill>
                  <a:srgbClr val="FFFFFF"/>
                </a:solidFill>
                <a:latin typeface="Times New Roman"/>
                <a:ea typeface="Times New Roman"/>
                <a:cs typeface="Times New Roman"/>
              </a:defRPr>
            </a:pPr>
            <a:r>
              <a:rPr sz="1650" b="1" i="0" u="none">
                <a:solidFill>
                  <a:srgbClr val="FFFFFF"/>
                </a:solidFill>
                <a:latin typeface="Times New Roman"/>
                <a:ea typeface="Times New Roman"/>
                <a:cs typeface="Times New Roman"/>
              </a:rPr>
              <a:t>WHAT WE CHANGED</a:t>
            </a:r>
          </a:p>
        </p:txBody>
      </p:sp>
      <p:sp>
        <p:nvSpPr>
          <p:cNvPr id="10" name="IMPACT / REMAINING STEP">
            <a:extLst xmlns:a="http://schemas.openxmlformats.org/drawingml/2006/main">
              <a:ext uri="{FF2B5EF4-FFF2-40B4-BE49-F238E27FC236}">
                <a16:creationId xmlns:a16="http://schemas.microsoft.com/office/drawing/2014/main" id="{6A6652F3-E48C-4F29-B62A-5B91BDE4A344}"/>
              </a:ext>
            </a:extLst>
          </p:cNvPr>
          <p:cNvSpPr>
            <a:spLocks xmlns:a="http://schemas.openxmlformats.org/drawingml/2006/main" noGrp="1"/>
          </p:cNvSpPr>
          <p:nvPr/>
        </p:nvSpPr>
        <p:spPr>
          <a:xfrm xmlns:a="http://schemas.openxmlformats.org/drawingml/2006/main">
            <a:off x="8058150" y="1790700"/>
            <a:ext cx="3524250" cy="457200"/>
          </a:xfrm>
          <a:prstGeom xmlns:a="http://schemas.openxmlformats.org/drawingml/2006/main" prst="rect">
            <a:avLst/>
          </a:prstGeom>
          <a:solidFill xmlns:a="http://schemas.openxmlformats.org/drawingml/2006/main">
            <a:srgbClr val="173F32"/>
          </a:solidFill>
          <a:ln xmlns:a="http://schemas.openxmlformats.org/drawingml/2006/main" w="0">
            <a:noFill/>
          </a:ln>
        </p:spPr>
        <p:txBody>
          <a:bodyPr xmlns:a="http://schemas.openxmlformats.org/drawingml/2006/main" wrap="square" lIns="152400" tIns="76200" rIns="152400" bIns="76200" anchor="ctr">
            <a:noAutofit/>
          </a:bodyPr>
          <a:lstStyle xmlns:a="http://schemas.openxmlformats.org/drawingml/2006/main"/>
          <a:p xmlns:a="http://schemas.openxmlformats.org/drawingml/2006/main">
            <a:pPr algn="l">
              <a:spcBef>
                <a:spcPts val="0"/>
              </a:spcBef>
              <a:spcAft>
                <a:spcPts val="0"/>
              </a:spcAft>
              <a:defRPr sz="1650" b="1" i="0">
                <a:solidFill>
                  <a:srgbClr val="FFFFFF"/>
                </a:solidFill>
                <a:latin typeface="Times New Roman"/>
                <a:ea typeface="Times New Roman"/>
                <a:cs typeface="Times New Roman"/>
              </a:defRPr>
            </a:pPr>
            <a:r>
              <a:rPr sz="1650" b="1" i="0" u="none">
                <a:solidFill>
                  <a:srgbClr val="FFFFFF"/>
                </a:solidFill>
                <a:latin typeface="Times New Roman"/>
                <a:ea typeface="Times New Roman"/>
                <a:cs typeface="Times New Roman"/>
              </a:rPr>
              <a:t>RESULT / NEXT STEP</a:t>
            </a:r>
          </a:p>
        </p:txBody>
      </p:sp>
      <p:sp>
        <p:nvSpPr>
          <p:cNvPr id="11" name="直线连接符 10">
            <a:extLst xmlns:a="http://schemas.openxmlformats.org/drawingml/2006/main">
              <a:ext uri="{FF2B5EF4-FFF2-40B4-BE49-F238E27FC236}">
                <a16:creationId xmlns:a16="http://schemas.microsoft.com/office/drawing/2014/main" id="{C58AA48C-7E54-4717-95EB-338C5C33A479}"/>
              </a:ext>
            </a:extLst>
          </p:cNvPr>
          <p:cNvSpPr>
            <a:spLocks xmlns:a="http://schemas.openxmlformats.org/drawingml/2006/main" noGrp="1"/>
          </p:cNvSpPr>
          <p:nvPr/>
        </p:nvSpPr>
        <p:spPr>
          <a:xfrm xmlns:a="http://schemas.openxmlformats.org/drawingml/2006/main">
            <a:off x="609600" y="2247900"/>
            <a:ext cx="10972800" cy="0"/>
          </a:xfrm>
          <a:prstGeom xmlns:a="http://schemas.openxmlformats.org/drawingml/2006/main" prst="line">
            <a:avLst/>
          </a:prstGeom>
          <a:noFill xmlns:a="http://schemas.openxmlformats.org/drawingml/2006/main"/>
          <a:ln xmlns:a="http://schemas.openxmlformats.org/drawingml/2006/main" w="9525">
            <a:solidFill>
              <a:srgbClr val="CCD5CF"/>
            </a:solidFill>
            <a:prstDash val="solid"/>
          </a:ln>
        </p:spPr>
      </p:sp>
      <p:sp>
        <p:nvSpPr>
          <p:cNvPr id="12" name="Stakeholder actions">
            <a:extLst xmlns:a="http://schemas.openxmlformats.org/drawingml/2006/main">
              <a:ext uri="{FF2B5EF4-FFF2-40B4-BE49-F238E27FC236}">
                <a16:creationId xmlns:a16="http://schemas.microsoft.com/office/drawing/2014/main" id="{FCC79BE5-FBF7-47D4-BFA2-A113BE637025}"/>
              </a:ext>
            </a:extLst>
          </p:cNvPr>
          <p:cNvSpPr>
            <a:spLocks xmlns:a="http://schemas.openxmlformats.org/drawingml/2006/main" noGrp="1"/>
          </p:cNvSpPr>
          <p:nvPr/>
        </p:nvSpPr>
        <p:spPr>
          <a:xfrm xmlns:a="http://schemas.openxmlformats.org/drawingml/2006/main">
            <a:off x="762000" y="2381250"/>
            <a:ext cx="2381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875" b="1" i="0">
                <a:solidFill>
                  <a:srgbClr val="173F32"/>
                </a:solidFill>
                <a:latin typeface="Times New Roman"/>
                <a:ea typeface="Times New Roman"/>
                <a:cs typeface="Times New Roman"/>
              </a:defRPr>
            </a:pPr>
            <a:r>
              <a:rPr sz="1875" b="1" i="0" u="none">
                <a:solidFill>
                  <a:srgbClr val="173F32"/>
                </a:solidFill>
                <a:latin typeface="Times New Roman"/>
                <a:ea typeface="Times New Roman"/>
                <a:cs typeface="Times New Roman"/>
              </a:rPr>
              <a:t>Track meeting actions</a:t>
            </a:r>
          </a:p>
        </p:txBody>
      </p:sp>
      <p:sp>
        <p:nvSpPr>
          <p:cNvPr id="13" name="Linked requirements, Jira and reports;&#10;LEAF-1">
            <a:extLst xmlns:a="http://schemas.openxmlformats.org/drawingml/2006/main">
              <a:ext uri="{FF2B5EF4-FFF2-40B4-BE49-F238E27FC236}">
                <a16:creationId xmlns:a16="http://schemas.microsoft.com/office/drawing/2014/main" id="{96311690-6750-4C61-B950-EC9E6401CF50}"/>
              </a:ext>
            </a:extLst>
          </p:cNvPr>
          <p:cNvSpPr>
            <a:spLocks xmlns:a="http://schemas.openxmlformats.org/drawingml/2006/main" noGrp="1"/>
          </p:cNvSpPr>
          <p:nvPr/>
        </p:nvSpPr>
        <p:spPr>
          <a:xfrm xmlns:a="http://schemas.openxmlformats.org/drawingml/2006/main">
            <a:off x="3448050" y="2381250"/>
            <a:ext cx="4457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875" b="0" i="0">
                <a:solidFill>
                  <a:srgbClr val="293730"/>
                </a:solidFill>
                <a:latin typeface="Times New Roman"/>
                <a:ea typeface="Times New Roman"/>
                <a:cs typeface="Times New Roman"/>
              </a:defRPr>
            </a:pPr>
            <a:r>
              <a:rPr sz="1875" b="0" i="0" u="none">
                <a:solidFill>
                  <a:srgbClr val="293730"/>
                </a:solidFill>
                <a:latin typeface="Times New Roman"/>
                <a:ea typeface="Times New Roman"/>
                <a:cs typeface="Times New Roman"/>
              </a:rPr>
              <a:t>Linked Jira tasks, meeting notes and reports.</a:t>
            </a:r>
          </a:p>
          <a:p xmlns:a="http://schemas.openxmlformats.org/drawingml/2006/main">
            <a:pPr algn="l">
              <a:spcBef>
                <a:spcPts val="0"/>
              </a:spcBef>
              <a:spcAft>
                <a:spcPts val="0"/>
              </a:spcAft>
              <a:defRPr sz="1875" b="0" i="0">
                <a:solidFill>
                  <a:srgbClr val="293730"/>
                </a:solidFill>
                <a:latin typeface="Times New Roman"/>
                <a:ea typeface="Times New Roman"/>
                <a:cs typeface="Times New Roman"/>
              </a:defRPr>
            </a:pPr>
            <a:r>
              <a:rPr sz="1875" b="0" i="0" u="sng">
                <a:solidFill>
                  <a:srgbClr val="2469A0"/>
                </a:solidFill>
                <a:latin typeface="Times New Roman"/>
                <a:ea typeface="Times New Roman"/>
                <a:cs typeface="Times New Roman"/>
                <a:hlinkClick xmlns:r="http://schemas.openxmlformats.org/officeDocument/2006/relationships" r:id="Rb1b7578545e4453a"/>
              </a:rPr>
              <a:t>LEAF-157</a:t>
            </a:r>
            <a:r>
              <a:rPr sz="1875" b="0" i="0" u="none">
                <a:solidFill>
                  <a:srgbClr val="293730"/>
                </a:solidFill>
                <a:latin typeface="Times New Roman"/>
                <a:ea typeface="Times New Roman"/>
                <a:cs typeface="Times New Roman"/>
              </a:rPr>
              <a:t> tracks the tutor’s action items.</a:t>
            </a:r>
          </a:p>
        </p:txBody>
      </p:sp>
      <p:sp>
        <p:nvSpPr>
          <p:cNvPr id="14" name="More traceable outcomes;&#10;client sign-off stil">
            <a:extLst xmlns:a="http://schemas.openxmlformats.org/drawingml/2006/main">
              <a:ext uri="{FF2B5EF4-FFF2-40B4-BE49-F238E27FC236}">
                <a16:creationId xmlns:a16="http://schemas.microsoft.com/office/drawing/2014/main" id="{64E3A7BA-2552-45DB-932B-2A2001570852}"/>
              </a:ext>
            </a:extLst>
          </p:cNvPr>
          <p:cNvSpPr>
            <a:spLocks xmlns:a="http://schemas.openxmlformats.org/drawingml/2006/main" noGrp="1"/>
          </p:cNvSpPr>
          <p:nvPr/>
        </p:nvSpPr>
        <p:spPr>
          <a:xfrm xmlns:a="http://schemas.openxmlformats.org/drawingml/2006/main">
            <a:off x="8210550" y="2381250"/>
            <a:ext cx="32194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875" b="0" i="0">
                <a:solidFill>
                  <a:srgbClr val="293730"/>
                </a:solidFill>
                <a:latin typeface="Times New Roman"/>
                <a:ea typeface="Times New Roman"/>
                <a:cs typeface="Times New Roman"/>
              </a:defRPr>
            </a:pPr>
            <a:r>
              <a:rPr sz="1875" b="0" i="0" u="none">
                <a:solidFill>
                  <a:srgbClr val="293730"/>
                </a:solidFill>
                <a:latin typeface="Times New Roman"/>
                <a:ea typeface="Times New Roman"/>
                <a:cs typeface="Times New Roman"/>
              </a:rPr>
              <a:t>Easier to follow progress.</a:t>
            </a:r>
          </a:p>
          <a:p xmlns:a="http://schemas.openxmlformats.org/drawingml/2006/main">
            <a:pPr algn="l">
              <a:spcBef>
                <a:spcPts val="0"/>
              </a:spcBef>
              <a:spcAft>
                <a:spcPts val="0"/>
              </a:spcAft>
              <a:defRPr sz="1875" b="0" i="0">
                <a:solidFill>
                  <a:srgbClr val="293730"/>
                </a:solidFill>
                <a:latin typeface="Times New Roman"/>
                <a:ea typeface="Times New Roman"/>
                <a:cs typeface="Times New Roman"/>
              </a:defRPr>
            </a:pPr>
            <a:r>
              <a:rPr sz="1875" b="0" i="0" u="none">
                <a:solidFill>
                  <a:srgbClr val="293730"/>
                </a:solidFill>
                <a:latin typeface="Times New Roman"/>
                <a:ea typeface="Times New Roman"/>
                <a:cs typeface="Times New Roman"/>
              </a:rPr>
              <a:t>Client review is still needed.</a:t>
            </a:r>
          </a:p>
        </p:txBody>
      </p:sp>
      <p:sp>
        <p:nvSpPr>
          <p:cNvPr id="15" name="直线连接符 14">
            <a:extLst xmlns:a="http://schemas.openxmlformats.org/drawingml/2006/main">
              <a:ext uri="{FF2B5EF4-FFF2-40B4-BE49-F238E27FC236}">
                <a16:creationId xmlns:a16="http://schemas.microsoft.com/office/drawing/2014/main" id="{972D4907-AFC0-4F8B-AEB3-2C391C620C50}"/>
              </a:ext>
            </a:extLst>
          </p:cNvPr>
          <p:cNvSpPr>
            <a:spLocks xmlns:a="http://schemas.openxmlformats.org/drawingml/2006/main" noGrp="1"/>
          </p:cNvSpPr>
          <p:nvPr/>
        </p:nvSpPr>
        <p:spPr>
          <a:xfrm xmlns:a="http://schemas.openxmlformats.org/drawingml/2006/main">
            <a:off x="609600" y="3095625"/>
            <a:ext cx="10972800" cy="0"/>
          </a:xfrm>
          <a:prstGeom xmlns:a="http://schemas.openxmlformats.org/drawingml/2006/main" prst="line">
            <a:avLst/>
          </a:prstGeom>
          <a:noFill xmlns:a="http://schemas.openxmlformats.org/drawingml/2006/main"/>
          <a:ln xmlns:a="http://schemas.openxmlformats.org/drawingml/2006/main" w="9525">
            <a:solidFill>
              <a:srgbClr val="CCD5CF"/>
            </a:solidFill>
            <a:prstDash val="solid"/>
          </a:ln>
        </p:spPr>
      </p:sp>
      <p:sp>
        <p:nvSpPr>
          <p:cNvPr id="16" name="Effort estimation">
            <a:extLst xmlns:a="http://schemas.openxmlformats.org/drawingml/2006/main">
              <a:ext uri="{FF2B5EF4-FFF2-40B4-BE49-F238E27FC236}">
                <a16:creationId xmlns:a16="http://schemas.microsoft.com/office/drawing/2014/main" id="{4DCF293E-0BFF-4462-AF65-8DB7155ABA3A}"/>
              </a:ext>
            </a:extLst>
          </p:cNvPr>
          <p:cNvSpPr>
            <a:spLocks xmlns:a="http://schemas.openxmlformats.org/drawingml/2006/main" noGrp="1"/>
          </p:cNvSpPr>
          <p:nvPr/>
        </p:nvSpPr>
        <p:spPr>
          <a:xfrm xmlns:a="http://schemas.openxmlformats.org/drawingml/2006/main">
            <a:off x="762000" y="3209925"/>
            <a:ext cx="2381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875" b="1" i="0">
                <a:solidFill>
                  <a:srgbClr val="173F32"/>
                </a:solidFill>
                <a:latin typeface="Times New Roman"/>
                <a:ea typeface="Times New Roman"/>
                <a:cs typeface="Times New Roman"/>
              </a:defRPr>
            </a:pPr>
            <a:r>
              <a:rPr sz="1875" b="1" i="0" u="none">
                <a:solidFill>
                  <a:srgbClr val="173F32"/>
                </a:solidFill>
                <a:latin typeface="Times New Roman"/>
                <a:ea typeface="Times New Roman"/>
                <a:cs typeface="Times New Roman"/>
              </a:rPr>
              <a:t>Improve estimates</a:t>
            </a:r>
          </a:p>
        </p:txBody>
      </p:sp>
      <p:sp>
        <p:nvSpPr>
          <p:cNvPr id="17" name="Estimates and worklogs now support&#10;selected t">
            <a:extLst xmlns:a="http://schemas.openxmlformats.org/drawingml/2006/main">
              <a:ext uri="{FF2B5EF4-FFF2-40B4-BE49-F238E27FC236}">
                <a16:creationId xmlns:a16="http://schemas.microsoft.com/office/drawing/2014/main" id="{B775F707-C045-45A4-9DAA-33B576680AF9}"/>
              </a:ext>
            </a:extLst>
          </p:cNvPr>
          <p:cNvSpPr>
            <a:spLocks xmlns:a="http://schemas.openxmlformats.org/drawingml/2006/main" noGrp="1"/>
          </p:cNvSpPr>
          <p:nvPr/>
        </p:nvSpPr>
        <p:spPr>
          <a:xfrm xmlns:a="http://schemas.openxmlformats.org/drawingml/2006/main">
            <a:off x="3448050" y="3209925"/>
            <a:ext cx="4457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875" b="0" i="0">
                <a:solidFill>
                  <a:srgbClr val="293730"/>
                </a:solidFill>
                <a:latin typeface="Times New Roman"/>
                <a:ea typeface="Times New Roman"/>
                <a:cs typeface="Times New Roman"/>
              </a:defRPr>
            </a:pPr>
            <a:r>
              <a:rPr sz="1875" b="0" i="0" u="none">
                <a:solidFill>
                  <a:srgbClr val="293730"/>
                </a:solidFill>
                <a:latin typeface="Times New Roman"/>
                <a:ea typeface="Times New Roman"/>
                <a:cs typeface="Times New Roman"/>
              </a:rPr>
              <a:t>Added estimates and worklogs</a:t>
            </a:r>
          </a:p>
          <a:p xmlns:a="http://schemas.openxmlformats.org/drawingml/2006/main">
            <a:pPr algn="l">
              <a:spcBef>
                <a:spcPts val="0"/>
              </a:spcBef>
              <a:spcAft>
                <a:spcPts val="0"/>
              </a:spcAft>
              <a:defRPr sz="1875" b="0" i="0">
                <a:solidFill>
                  <a:srgbClr val="293730"/>
                </a:solidFill>
                <a:latin typeface="Times New Roman"/>
                <a:ea typeface="Times New Roman"/>
                <a:cs typeface="Times New Roman"/>
              </a:defRPr>
            </a:pPr>
            <a:r>
              <a:rPr sz="1875" b="0" i="0" u="none">
                <a:solidFill>
                  <a:srgbClr val="293730"/>
                </a:solidFill>
                <a:latin typeface="Times New Roman"/>
                <a:ea typeface="Times New Roman"/>
                <a:cs typeface="Times New Roman"/>
              </a:rPr>
              <a:t>for selected tasks.</a:t>
            </a:r>
          </a:p>
        </p:txBody>
      </p:sp>
      <p:sp>
        <p:nvSpPr>
          <p:cNvPr id="18" name="Work is more visible;&#10;preserve starting basel">
            <a:extLst xmlns:a="http://schemas.openxmlformats.org/drawingml/2006/main">
              <a:ext uri="{FF2B5EF4-FFF2-40B4-BE49-F238E27FC236}">
                <a16:creationId xmlns:a16="http://schemas.microsoft.com/office/drawing/2014/main" id="{7D78C9F9-A789-4C9C-8130-276EA4EDCB88}"/>
              </a:ext>
            </a:extLst>
          </p:cNvPr>
          <p:cNvSpPr>
            <a:spLocks xmlns:a="http://schemas.openxmlformats.org/drawingml/2006/main" noGrp="1"/>
          </p:cNvSpPr>
          <p:nvPr/>
        </p:nvSpPr>
        <p:spPr>
          <a:xfrm xmlns:a="http://schemas.openxmlformats.org/drawingml/2006/main">
            <a:off x="8210550" y="3209925"/>
            <a:ext cx="32194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875" b="0" i="0">
                <a:solidFill>
                  <a:srgbClr val="293730"/>
                </a:solidFill>
                <a:latin typeface="Times New Roman"/>
                <a:ea typeface="Times New Roman"/>
                <a:cs typeface="Times New Roman"/>
              </a:defRPr>
            </a:pPr>
            <a:r>
              <a:rPr sz="1875" b="0" i="0" u="none">
                <a:solidFill>
                  <a:srgbClr val="293730"/>
                </a:solidFill>
                <a:latin typeface="Times New Roman"/>
                <a:ea typeface="Times New Roman"/>
                <a:cs typeface="Times New Roman"/>
              </a:rPr>
              <a:t>We can compare the time.</a:t>
            </a:r>
          </a:p>
          <a:p xmlns:a="http://schemas.openxmlformats.org/drawingml/2006/main">
            <a:pPr algn="l">
              <a:spcBef>
                <a:spcPts val="0"/>
              </a:spcBef>
              <a:spcAft>
                <a:spcPts val="0"/>
              </a:spcAft>
              <a:defRPr sz="1875" b="0" i="0">
                <a:solidFill>
                  <a:srgbClr val="293730"/>
                </a:solidFill>
                <a:latin typeface="Times New Roman"/>
                <a:ea typeface="Times New Roman"/>
                <a:cs typeface="Times New Roman"/>
              </a:defRPr>
            </a:pPr>
            <a:r>
              <a:rPr sz="1875" b="0" i="0" u="none">
                <a:solidFill>
                  <a:srgbClr val="293730"/>
                </a:solidFill>
                <a:latin typeface="Times New Roman"/>
                <a:ea typeface="Times New Roman"/>
                <a:cs typeface="Times New Roman"/>
              </a:rPr>
              <a:t>Keep the first estimate.</a:t>
            </a:r>
          </a:p>
        </p:txBody>
      </p:sp>
      <p:sp>
        <p:nvSpPr>
          <p:cNvPr id="19" name="直线连接符 18">
            <a:extLst xmlns:a="http://schemas.openxmlformats.org/drawingml/2006/main">
              <a:ext uri="{FF2B5EF4-FFF2-40B4-BE49-F238E27FC236}">
                <a16:creationId xmlns:a16="http://schemas.microsoft.com/office/drawing/2014/main" id="{074E0712-6F10-4C05-A69D-7F9B74788135}"/>
              </a:ext>
            </a:extLst>
          </p:cNvPr>
          <p:cNvSpPr>
            <a:spLocks xmlns:a="http://schemas.openxmlformats.org/drawingml/2006/main" noGrp="1"/>
          </p:cNvSpPr>
          <p:nvPr/>
        </p:nvSpPr>
        <p:spPr>
          <a:xfrm xmlns:a="http://schemas.openxmlformats.org/drawingml/2006/main">
            <a:off x="609600" y="3924300"/>
            <a:ext cx="10972800" cy="0"/>
          </a:xfrm>
          <a:prstGeom xmlns:a="http://schemas.openxmlformats.org/drawingml/2006/main" prst="line">
            <a:avLst/>
          </a:prstGeom>
          <a:noFill xmlns:a="http://schemas.openxmlformats.org/drawingml/2006/main"/>
          <a:ln xmlns:a="http://schemas.openxmlformats.org/drawingml/2006/main" w="9525">
            <a:solidFill>
              <a:srgbClr val="CCD5CF"/>
            </a:solidFill>
            <a:prstDash val="solid"/>
          </a:ln>
        </p:spPr>
      </p:sp>
      <p:sp>
        <p:nvSpPr>
          <p:cNvPr id="20" name="Testing and CI">
            <a:extLst xmlns:a="http://schemas.openxmlformats.org/drawingml/2006/main">
              <a:ext uri="{FF2B5EF4-FFF2-40B4-BE49-F238E27FC236}">
                <a16:creationId xmlns:a16="http://schemas.microsoft.com/office/drawing/2014/main" id="{A64BD286-30B2-4F3C-B1BD-92B47A819EDA}"/>
              </a:ext>
            </a:extLst>
          </p:cNvPr>
          <p:cNvSpPr>
            <a:spLocks xmlns:a="http://schemas.openxmlformats.org/drawingml/2006/main" noGrp="1"/>
          </p:cNvSpPr>
          <p:nvPr/>
        </p:nvSpPr>
        <p:spPr>
          <a:xfrm xmlns:a="http://schemas.openxmlformats.org/drawingml/2006/main">
            <a:off x="762000" y="4038600"/>
            <a:ext cx="2381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875" b="1" i="0">
                <a:solidFill>
                  <a:srgbClr val="173F32"/>
                </a:solidFill>
                <a:latin typeface="Times New Roman"/>
                <a:ea typeface="Times New Roman"/>
                <a:cs typeface="Times New Roman"/>
              </a:defRPr>
            </a:pPr>
            <a:r>
              <a:rPr sz="1875" b="1" i="0" u="none">
                <a:solidFill>
                  <a:srgbClr val="173F32"/>
                </a:solidFill>
                <a:latin typeface="Times New Roman"/>
                <a:ea typeface="Times New Roman"/>
                <a:cs typeface="Times New Roman"/>
              </a:rPr>
              <a:t>Add tests and CI</a:t>
            </a:r>
          </a:p>
        </p:txBody>
      </p:sp>
      <p:sp>
        <p:nvSpPr>
          <p:cNvPr id="21" name="Tracked pytest / Qt tests and Actions;&#10;PR #25">
            <a:extLst xmlns:a="http://schemas.openxmlformats.org/drawingml/2006/main">
              <a:ext uri="{FF2B5EF4-FFF2-40B4-BE49-F238E27FC236}">
                <a16:creationId xmlns:a16="http://schemas.microsoft.com/office/drawing/2014/main" id="{9C32AF0B-3C3F-4231-A68E-18E98BF8CBC9}"/>
              </a:ext>
            </a:extLst>
          </p:cNvPr>
          <p:cNvSpPr>
            <a:spLocks xmlns:a="http://schemas.openxmlformats.org/drawingml/2006/main" noGrp="1"/>
          </p:cNvSpPr>
          <p:nvPr/>
        </p:nvSpPr>
        <p:spPr>
          <a:xfrm xmlns:a="http://schemas.openxmlformats.org/drawingml/2006/main">
            <a:off x="3448050" y="4038600"/>
            <a:ext cx="4457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875" b="0" i="0">
                <a:solidFill>
                  <a:srgbClr val="293730"/>
                </a:solidFill>
                <a:latin typeface="Times New Roman"/>
                <a:ea typeface="Times New Roman"/>
                <a:cs typeface="Times New Roman"/>
              </a:defRPr>
            </a:pPr>
            <a:r>
              <a:rPr sz="1875" b="0" i="0" u="none">
                <a:solidFill>
                  <a:srgbClr val="293730"/>
                </a:solidFill>
                <a:latin typeface="Times New Roman"/>
                <a:ea typeface="Times New Roman"/>
                <a:cs typeface="Times New Roman"/>
              </a:rPr>
              <a:t>Added pytest / Qt tests and GitHub Actions.</a:t>
            </a:r>
          </a:p>
          <a:p xmlns:a="http://schemas.openxmlformats.org/drawingml/2006/main">
            <a:pPr algn="l">
              <a:spcBef>
                <a:spcPts val="0"/>
              </a:spcBef>
              <a:spcAft>
                <a:spcPts val="0"/>
              </a:spcAft>
              <a:defRPr sz="1875" b="0" i="0">
                <a:solidFill>
                  <a:srgbClr val="293730"/>
                </a:solidFill>
                <a:latin typeface="Times New Roman"/>
                <a:ea typeface="Times New Roman"/>
                <a:cs typeface="Times New Roman"/>
              </a:defRPr>
            </a:pPr>
            <a:r>
              <a:rPr sz="1875" b="0" i="0" u="sng">
                <a:solidFill>
                  <a:srgbClr val="2469A0"/>
                </a:solidFill>
                <a:latin typeface="Times New Roman"/>
                <a:ea typeface="Times New Roman"/>
                <a:cs typeface="Times New Roman"/>
                <a:hlinkClick xmlns:r="http://schemas.openxmlformats.org/officeDocument/2006/relationships" r:id="R9682561e87ef4721"/>
              </a:rPr>
              <a:t>PR #25</a:t>
            </a:r>
            <a:r>
              <a:rPr sz="1875" b="0" i="0" u="none">
                <a:solidFill>
                  <a:srgbClr val="293730"/>
                </a:solidFill>
                <a:latin typeface="Times New Roman"/>
                <a:ea typeface="Times New Roman"/>
                <a:cs typeface="Times New Roman"/>
              </a:rPr>
              <a:t> and later fixes show the work.</a:t>
            </a:r>
          </a:p>
        </p:txBody>
      </p:sp>
      <p:sp>
        <p:nvSpPr>
          <p:cNvPr id="22" name="Repeatable checks; extend&#10;SR, Windows and mod">
            <a:extLst xmlns:a="http://schemas.openxmlformats.org/drawingml/2006/main">
              <a:ext uri="{FF2B5EF4-FFF2-40B4-BE49-F238E27FC236}">
                <a16:creationId xmlns:a16="http://schemas.microsoft.com/office/drawing/2014/main" id="{1BCF6428-4F69-4E01-9E42-C5CC0A058992}"/>
              </a:ext>
            </a:extLst>
          </p:cNvPr>
          <p:cNvSpPr>
            <a:spLocks xmlns:a="http://schemas.openxmlformats.org/drawingml/2006/main" noGrp="1"/>
          </p:cNvSpPr>
          <p:nvPr/>
        </p:nvSpPr>
        <p:spPr>
          <a:xfrm xmlns:a="http://schemas.openxmlformats.org/drawingml/2006/main">
            <a:off x="8210550" y="4038600"/>
            <a:ext cx="32194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875" b="0" i="0">
                <a:solidFill>
                  <a:srgbClr val="293730"/>
                </a:solidFill>
                <a:latin typeface="Times New Roman"/>
                <a:ea typeface="Times New Roman"/>
                <a:cs typeface="Times New Roman"/>
              </a:defRPr>
            </a:pPr>
            <a:r>
              <a:rPr sz="1875" b="0" i="0" u="none">
                <a:solidFill>
                  <a:srgbClr val="293730"/>
                </a:solidFill>
                <a:latin typeface="Times New Roman"/>
                <a:ea typeface="Times New Roman"/>
                <a:cs typeface="Times New Roman"/>
              </a:rPr>
              <a:t>Checks run automatically.</a:t>
            </a:r>
          </a:p>
          <a:p xmlns:a="http://schemas.openxmlformats.org/drawingml/2006/main">
            <a:pPr algn="l">
              <a:spcBef>
                <a:spcPts val="0"/>
              </a:spcBef>
              <a:spcAft>
                <a:spcPts val="0"/>
              </a:spcAft>
              <a:defRPr sz="1875" b="0" i="0">
                <a:solidFill>
                  <a:srgbClr val="293730"/>
                </a:solidFill>
                <a:latin typeface="Times New Roman"/>
                <a:ea typeface="Times New Roman"/>
                <a:cs typeface="Times New Roman"/>
              </a:defRPr>
            </a:pPr>
            <a:r>
              <a:rPr sz="1875" b="0" i="0" u="none">
                <a:solidFill>
                  <a:srgbClr val="293730"/>
                </a:solidFill>
                <a:latin typeface="Times New Roman"/>
                <a:ea typeface="Times New Roman"/>
                <a:cs typeface="Times New Roman"/>
              </a:rPr>
              <a:t>Test more models and PCs.</a:t>
            </a:r>
          </a:p>
        </p:txBody>
      </p:sp>
      <p:sp>
        <p:nvSpPr>
          <p:cNvPr id="23" name="直线连接符 22">
            <a:extLst xmlns:a="http://schemas.openxmlformats.org/drawingml/2006/main">
              <a:ext uri="{FF2B5EF4-FFF2-40B4-BE49-F238E27FC236}">
                <a16:creationId xmlns:a16="http://schemas.microsoft.com/office/drawing/2014/main" id="{759D0509-283D-4D0F-A8D3-AB983A8C2821}"/>
              </a:ext>
            </a:extLst>
          </p:cNvPr>
          <p:cNvSpPr>
            <a:spLocks xmlns:a="http://schemas.openxmlformats.org/drawingml/2006/main" noGrp="1"/>
          </p:cNvSpPr>
          <p:nvPr/>
        </p:nvSpPr>
        <p:spPr>
          <a:xfrm xmlns:a="http://schemas.openxmlformats.org/drawingml/2006/main">
            <a:off x="609600" y="4752975"/>
            <a:ext cx="10972800" cy="0"/>
          </a:xfrm>
          <a:prstGeom xmlns:a="http://schemas.openxmlformats.org/drawingml/2006/main" prst="line">
            <a:avLst/>
          </a:prstGeom>
          <a:noFill xmlns:a="http://schemas.openxmlformats.org/drawingml/2006/main"/>
          <a:ln xmlns:a="http://schemas.openxmlformats.org/drawingml/2006/main" w="9525">
            <a:solidFill>
              <a:srgbClr val="CCD5CF"/>
            </a:solidFill>
            <a:prstDash val="solid"/>
          </a:ln>
        </p:spPr>
      </p:sp>
      <p:sp>
        <p:nvSpPr>
          <p:cNvPr id="24" name="Reflection log">
            <a:extLst xmlns:a="http://schemas.openxmlformats.org/drawingml/2006/main">
              <a:ext uri="{FF2B5EF4-FFF2-40B4-BE49-F238E27FC236}">
                <a16:creationId xmlns:a16="http://schemas.microsoft.com/office/drawing/2014/main" id="{DB1FE8EE-88EC-4AD4-9779-BF7E59A3845D}"/>
              </a:ext>
            </a:extLst>
          </p:cNvPr>
          <p:cNvSpPr>
            <a:spLocks xmlns:a="http://schemas.openxmlformats.org/drawingml/2006/main" noGrp="1"/>
          </p:cNvSpPr>
          <p:nvPr/>
        </p:nvSpPr>
        <p:spPr>
          <a:xfrm xmlns:a="http://schemas.openxmlformats.org/drawingml/2006/main">
            <a:off x="762000" y="4867275"/>
            <a:ext cx="2381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875" b="1" i="0">
                <a:solidFill>
                  <a:srgbClr val="173F32"/>
                </a:solidFill>
                <a:latin typeface="Times New Roman"/>
                <a:ea typeface="Times New Roman"/>
                <a:cs typeface="Times New Roman"/>
              </a:defRPr>
            </a:pPr>
            <a:r>
              <a:rPr sz="1875" b="1" i="0" u="none">
                <a:solidFill>
                  <a:srgbClr val="173F32"/>
                </a:solidFill>
                <a:latin typeface="Times New Roman"/>
                <a:ea typeface="Times New Roman"/>
                <a:cs typeface="Times New Roman"/>
              </a:rPr>
              <a:t>Keep a reflection log</a:t>
            </a:r>
          </a:p>
        </p:txBody>
      </p:sp>
      <p:sp>
        <p:nvSpPr>
          <p:cNvPr id="25" name="21 + 28 August team/individual logs;&#10;lessons ">
            <a:extLst xmlns:a="http://schemas.openxmlformats.org/drawingml/2006/main">
              <a:ext uri="{FF2B5EF4-FFF2-40B4-BE49-F238E27FC236}">
                <a16:creationId xmlns:a16="http://schemas.microsoft.com/office/drawing/2014/main" id="{5BCFA975-DC72-4BE8-B0F5-50D66B6B48E4}"/>
              </a:ext>
            </a:extLst>
          </p:cNvPr>
          <p:cNvSpPr>
            <a:spLocks xmlns:a="http://schemas.openxmlformats.org/drawingml/2006/main" noGrp="1"/>
          </p:cNvSpPr>
          <p:nvPr/>
        </p:nvSpPr>
        <p:spPr>
          <a:xfrm xmlns:a="http://schemas.openxmlformats.org/drawingml/2006/main">
            <a:off x="3448050" y="4867275"/>
            <a:ext cx="4457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875" b="0" i="0">
                <a:solidFill>
                  <a:srgbClr val="293730"/>
                </a:solidFill>
                <a:latin typeface="Times New Roman"/>
                <a:ea typeface="Times New Roman"/>
                <a:cs typeface="Times New Roman"/>
              </a:defRPr>
            </a:pPr>
            <a:r>
              <a:rPr sz="1875" b="0" i="0" u="none">
                <a:solidFill>
                  <a:srgbClr val="293730"/>
                </a:solidFill>
                <a:latin typeface="Times New Roman"/>
                <a:ea typeface="Times New Roman"/>
                <a:cs typeface="Times New Roman"/>
              </a:rPr>
              <a:t>Added team and individual reflections</a:t>
            </a:r>
          </a:p>
          <a:p xmlns:a="http://schemas.openxmlformats.org/drawingml/2006/main">
            <a:pPr algn="l">
              <a:spcBef>
                <a:spcPts val="0"/>
              </a:spcBef>
              <a:spcAft>
                <a:spcPts val="0"/>
              </a:spcAft>
              <a:defRPr sz="1875" b="0" i="0">
                <a:solidFill>
                  <a:srgbClr val="293730"/>
                </a:solidFill>
                <a:latin typeface="Times New Roman"/>
                <a:ea typeface="Times New Roman"/>
                <a:cs typeface="Times New Roman"/>
              </a:defRPr>
            </a:pPr>
            <a:r>
              <a:rPr sz="1875" b="0" i="0" u="none">
                <a:solidFill>
                  <a:srgbClr val="293730"/>
                </a:solidFill>
                <a:latin typeface="Times New Roman"/>
                <a:ea typeface="Times New Roman"/>
                <a:cs typeface="Times New Roman"/>
              </a:rPr>
              <a:t>on 21 and 28 August.</a:t>
            </a:r>
          </a:p>
        </p:txBody>
      </p:sp>
      <p:sp>
        <p:nvSpPr>
          <p:cNvPr id="26" name="Follow-up is documented;&#10;keep verifying actio">
            <a:extLst xmlns:a="http://schemas.openxmlformats.org/drawingml/2006/main">
              <a:ext uri="{FF2B5EF4-FFF2-40B4-BE49-F238E27FC236}">
                <a16:creationId xmlns:a16="http://schemas.microsoft.com/office/drawing/2014/main" id="{8A16FBF1-F1C0-42FD-A24C-B2C7C5A5FB72}"/>
              </a:ext>
            </a:extLst>
          </p:cNvPr>
          <p:cNvSpPr>
            <a:spLocks xmlns:a="http://schemas.openxmlformats.org/drawingml/2006/main" noGrp="1"/>
          </p:cNvSpPr>
          <p:nvPr/>
        </p:nvSpPr>
        <p:spPr>
          <a:xfrm xmlns:a="http://schemas.openxmlformats.org/drawingml/2006/main">
            <a:off x="8210550" y="4867275"/>
            <a:ext cx="32194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875" b="0" i="0">
                <a:solidFill>
                  <a:srgbClr val="293730"/>
                </a:solidFill>
                <a:latin typeface="Times New Roman"/>
                <a:ea typeface="Times New Roman"/>
                <a:cs typeface="Times New Roman"/>
              </a:defRPr>
            </a:pPr>
            <a:r>
              <a:rPr sz="1875" b="0" i="0" u="none">
                <a:solidFill>
                  <a:srgbClr val="293730"/>
                </a:solidFill>
                <a:latin typeface="Times New Roman"/>
                <a:ea typeface="Times New Roman"/>
                <a:cs typeface="Times New Roman"/>
              </a:rPr>
              <a:t>Problems have written actions.</a:t>
            </a:r>
          </a:p>
          <a:p xmlns:a="http://schemas.openxmlformats.org/drawingml/2006/main">
            <a:pPr algn="l">
              <a:spcBef>
                <a:spcPts val="0"/>
              </a:spcBef>
              <a:spcAft>
                <a:spcPts val="0"/>
              </a:spcAft>
              <a:defRPr sz="1875" b="0" i="0">
                <a:solidFill>
                  <a:srgbClr val="293730"/>
                </a:solidFill>
                <a:latin typeface="Times New Roman"/>
                <a:ea typeface="Times New Roman"/>
                <a:cs typeface="Times New Roman"/>
              </a:defRPr>
            </a:pPr>
            <a:r>
              <a:rPr sz="1875" b="0" i="0" u="none">
                <a:solidFill>
                  <a:srgbClr val="293730"/>
                </a:solidFill>
                <a:latin typeface="Times New Roman"/>
                <a:ea typeface="Times New Roman"/>
                <a:cs typeface="Times New Roman"/>
              </a:rPr>
              <a:t>Keep checking the results.</a:t>
            </a:r>
          </a:p>
        </p:txBody>
      </p:sp>
      <p:sp>
        <p:nvSpPr>
          <p:cNvPr id="27" name="直线连接符 26">
            <a:extLst xmlns:a="http://schemas.openxmlformats.org/drawingml/2006/main">
              <a:ext uri="{FF2B5EF4-FFF2-40B4-BE49-F238E27FC236}">
                <a16:creationId xmlns:a16="http://schemas.microsoft.com/office/drawing/2014/main" id="{B843BB56-685A-4E4B-B611-F87DA29949AF}"/>
              </a:ext>
            </a:extLst>
          </p:cNvPr>
          <p:cNvSpPr>
            <a:spLocks xmlns:a="http://schemas.openxmlformats.org/drawingml/2006/main" noGrp="1"/>
          </p:cNvSpPr>
          <p:nvPr/>
        </p:nvSpPr>
        <p:spPr>
          <a:xfrm xmlns:a="http://schemas.openxmlformats.org/drawingml/2006/main">
            <a:off x="609600" y="5581650"/>
            <a:ext cx="10972800" cy="0"/>
          </a:xfrm>
          <a:prstGeom xmlns:a="http://schemas.openxmlformats.org/drawingml/2006/main" prst="line">
            <a:avLst/>
          </a:prstGeom>
          <a:noFill xmlns:a="http://schemas.openxmlformats.org/drawingml/2006/main"/>
          <a:ln xmlns:a="http://schemas.openxmlformats.org/drawingml/2006/main" w="9525">
            <a:solidFill>
              <a:srgbClr val="CCD5CF"/>
            </a:solidFill>
            <a:prstDash val="solid"/>
          </a:ln>
        </p:spPr>
      </p:sp>
      <p:sp>
        <p:nvSpPr>
          <p:cNvPr id="28" name="The clearest gains are working integrations a">
            <a:extLst xmlns:a="http://schemas.openxmlformats.org/drawingml/2006/main">
              <a:ext uri="{FF2B5EF4-FFF2-40B4-BE49-F238E27FC236}">
                <a16:creationId xmlns:a16="http://schemas.microsoft.com/office/drawing/2014/main" id="{93B8EBF9-FD3C-411B-923E-883AD2934ABE}"/>
              </a:ext>
            </a:extLst>
          </p:cNvPr>
          <p:cNvSpPr>
            <a:spLocks xmlns:a="http://schemas.openxmlformats.org/drawingml/2006/main" noGrp="1"/>
          </p:cNvSpPr>
          <p:nvPr/>
        </p:nvSpPr>
        <p:spPr>
          <a:xfrm xmlns:a="http://schemas.openxmlformats.org/drawingml/2006/main">
            <a:off x="609600" y="5819775"/>
            <a:ext cx="10972800" cy="371475"/>
          </a:xfrm>
          <a:prstGeom xmlns:a="http://schemas.openxmlformats.org/drawingml/2006/main" prst="rect">
            <a:avLst/>
          </a:prstGeom>
          <a:solidFill xmlns:a="http://schemas.openxmlformats.org/drawingml/2006/main">
            <a:srgbClr val="EDF2EE"/>
          </a:solidFill>
          <a:ln xmlns:a="http://schemas.openxmlformats.org/drawingml/2006/main" w="0">
            <a:noFill/>
          </a:ln>
        </p:spPr>
        <p:txBody>
          <a:bodyPr xmlns:a="http://schemas.openxmlformats.org/drawingml/2006/main" wrap="square" lIns="133350" tIns="38100" rIns="133350" bIns="38100" anchor="ctr">
            <a:noAutofit/>
          </a:bodyPr>
          <a:lstStyle xmlns:a="http://schemas.openxmlformats.org/drawingml/2006/main"/>
          <a:p xmlns:a="http://schemas.openxmlformats.org/drawingml/2006/main">
            <a:pPr algn="l">
              <a:spcBef>
                <a:spcPts val="0"/>
              </a:spcBef>
              <a:spcAft>
                <a:spcPts val="0"/>
              </a:spcAft>
              <a:defRPr sz="1800" b="0" i="0">
                <a:solidFill>
                  <a:srgbClr val="173F32"/>
                </a:solidFill>
                <a:latin typeface="Times New Roman"/>
                <a:ea typeface="Times New Roman"/>
                <a:cs typeface="Times New Roman"/>
              </a:defRPr>
            </a:pPr>
            <a:r>
              <a:rPr sz="1800" b="0" i="0" u="none">
                <a:solidFill>
                  <a:srgbClr val="173F32"/>
                </a:solidFill>
                <a:latin typeface="Times New Roman"/>
                <a:ea typeface="Times New Roman"/>
                <a:cs typeface="Times New Roman"/>
              </a:rPr>
              <a:t>We made progress in all four areas. Testing and CI are the clearest improvements.</a:t>
            </a:r>
          </a:p>
        </p:txBody>
      </p:sp>
    </p:spTree>
    <p:extLst>
      <p:ext uri="{BB962C8B-B14F-4D97-AF65-F5344CB8AC3E}">
        <p14:creationId xmlns:p14="http://schemas.microsoft.com/office/powerpoint/2010/main" val="1735558795"/>
      </p:ext>
    </p:extLst>
  </p:cSld>
</p:sld>
</file>

<file path=ppt/slides/slide14.xml><?xml version="1.0" encoding="utf-8"?>
<p:sld xmlns:p="http://schemas.openxmlformats.org/presentationml/2006/main">
  <p:cSld>
    <p:bg>
      <p:bgPr>
        <a:solidFill xmlns:a="http://schemas.openxmlformats.org/drawingml/2006/main">
          <a:srgbClr val="FBFBF8"/>
        </a:solidFill>
      </p:bgPr>
    </p:bg>
    <p:spTree>
      <p:nvGrpSpPr>
        <p:cNvPr id="1" name=""/>
        <p:cNvGrpSpPr/>
        <p:nvPr/>
      </p:nvGrpSpPr>
      <p:grpSpPr>
        <a:xfrm xmlns:a="http://schemas.openxmlformats.org/drawingml/2006/main"/>
      </p:grpSpPr>
      <p:sp>
        <p:nvSpPr>
          <p:cNvPr id="33" name="SPRINT 6 GOALS AND PLAN">
            <a:extLst xmlns:a="http://schemas.openxmlformats.org/drawingml/2006/main">
              <a:ext uri="{FF2B5EF4-FFF2-40B4-BE49-F238E27FC236}">
                <a16:creationId xmlns:a16="http://schemas.microsoft.com/office/drawing/2014/main" id="{1A2C8A2B-610F-4A29-8DA8-6FCC50E46953}"/>
              </a:ext>
            </a:extLst>
          </p:cNvPr>
          <p:cNvSpPr>
            <a:spLocks xmlns:a="http://schemas.openxmlformats.org/drawingml/2006/main" noGrp="1"/>
          </p:cNvSpPr>
          <p:nvPr/>
        </p:nvSpPr>
        <p:spPr>
          <a:xfrm xmlns:a="http://schemas.openxmlformats.org/drawingml/2006/main">
            <a:off x="609600" y="390525"/>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350" b="1" i="0">
                <a:solidFill>
                  <a:srgbClr val="173F32"/>
                </a:solidFill>
                <a:latin typeface="Times New Roman"/>
                <a:ea typeface="Times New Roman"/>
                <a:cs typeface="Times New Roman"/>
              </a:defRPr>
            </a:pPr>
            <a:r>
              <a:rPr sz="1350" b="1" i="0" u="none">
                <a:solidFill>
                  <a:srgbClr val="173F32"/>
                </a:solidFill>
                <a:latin typeface="Times New Roman"/>
                <a:ea typeface="Times New Roman"/>
                <a:cs typeface="Times New Roman"/>
              </a:rPr>
              <a:t>SPRINT 6 GOALS AND PLAN</a:t>
            </a:r>
          </a:p>
        </p:txBody>
      </p:sp>
      <p:sp>
        <p:nvSpPr>
          <p:cNvPr id="2" name="Validate and finish the core workflow">
            <a:extLst xmlns:a="http://schemas.openxmlformats.org/drawingml/2006/main">
              <a:ext uri="{FF2B5EF4-FFF2-40B4-BE49-F238E27FC236}">
                <a16:creationId xmlns:a16="http://schemas.microsoft.com/office/drawing/2014/main" id="{E5AD6C75-F161-42D3-8698-8F0C7C319DEB}"/>
              </a:ext>
            </a:extLst>
          </p:cNvPr>
          <p:cNvSpPr>
            <a:spLocks xmlns:a="http://schemas.openxmlformats.org/drawingml/2006/main" noGrp="1"/>
          </p:cNvSpPr>
          <p:nvPr/>
        </p:nvSpPr>
        <p:spPr>
          <a:xfrm xmlns:a="http://schemas.openxmlformats.org/drawingml/2006/main">
            <a:off x="609600" y="8001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3300" b="1" i="0">
                <a:solidFill>
                  <a:srgbClr val="173F32"/>
                </a:solidFill>
                <a:latin typeface="Arial"/>
                <a:ea typeface="Arial"/>
                <a:cs typeface="Arial"/>
              </a:defRPr>
            </a:pPr>
            <a:r>
              <a:rPr sz="3300" b="1" i="0" u="none">
                <a:solidFill>
                  <a:srgbClr val="173F32"/>
                </a:solidFill>
                <a:latin typeface="Arial"/>
                <a:ea typeface="Arial"/>
                <a:cs typeface="Arial"/>
              </a:rPr>
              <a:t>Our plan for Sprint 6</a:t>
            </a:r>
          </a:p>
        </p:txBody>
      </p:sp>
      <p:sp>
        <p:nvSpPr>
          <p:cNvPr id="3" name="直线连接符 2">
            <a:extLst xmlns:a="http://schemas.openxmlformats.org/drawingml/2006/main">
              <a:ext uri="{FF2B5EF4-FFF2-40B4-BE49-F238E27FC236}">
                <a16:creationId xmlns:a16="http://schemas.microsoft.com/office/drawing/2014/main" id="{C20774A2-50A1-40D6-858F-515F85567F5E}"/>
              </a:ext>
            </a:extLst>
          </p:cNvPr>
          <p:cNvSpPr>
            <a:spLocks xmlns:a="http://schemas.openxmlformats.org/drawingml/2006/main" noGrp="1"/>
          </p:cNvSpPr>
          <p:nvPr/>
        </p:nvSpPr>
        <p:spPr>
          <a:xfrm xmlns:a="http://schemas.openxmlformats.org/drawingml/2006/main">
            <a:off x="609600" y="6286500"/>
            <a:ext cx="10972800" cy="0"/>
          </a:xfrm>
          <a:prstGeom xmlns:a="http://schemas.openxmlformats.org/drawingml/2006/main" prst="line">
            <a:avLst/>
          </a:prstGeom>
          <a:noFill xmlns:a="http://schemas.openxmlformats.org/drawingml/2006/main"/>
          <a:ln xmlns:a="http://schemas.openxmlformats.org/drawingml/2006/main" w="9525">
            <a:solidFill>
              <a:srgbClr val="CCD5CF"/>
            </a:solidFill>
            <a:prstDash val="solid"/>
          </a:ln>
        </p:spPr>
      </p:sp>
      <p:sp>
        <p:nvSpPr>
          <p:cNvPr id="4" name="LEAF ANALYZER  /  SPRINT 5">
            <a:extLst xmlns:a="http://schemas.openxmlformats.org/drawingml/2006/main">
              <a:ext uri="{FF2B5EF4-FFF2-40B4-BE49-F238E27FC236}">
                <a16:creationId xmlns:a16="http://schemas.microsoft.com/office/drawing/2014/main" id="{315FC933-F877-47FB-BD17-804F58DA5744}"/>
              </a:ext>
            </a:extLst>
          </p:cNvPr>
          <p:cNvSpPr>
            <a:spLocks xmlns:a="http://schemas.openxmlformats.org/drawingml/2006/main" noGrp="1"/>
          </p:cNvSpPr>
          <p:nvPr/>
        </p:nvSpPr>
        <p:spPr>
          <a:xfrm xmlns:a="http://schemas.openxmlformats.org/drawingml/2006/main">
            <a:off x="8572500" y="400050"/>
            <a:ext cx="3009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spcBef>
                <a:spcPts val="0"/>
              </a:spcBef>
              <a:spcAft>
                <a:spcPts val="0"/>
              </a:spcAft>
              <a:defRPr sz="1200" b="0" i="0">
                <a:solidFill>
                  <a:srgbClr val="59665F"/>
                </a:solidFill>
                <a:latin typeface="Times New Roman"/>
                <a:ea typeface="Times New Roman"/>
                <a:cs typeface="Times New Roman"/>
              </a:defRPr>
            </a:pPr>
            <a:r>
              <a:rPr sz="1200" b="0" i="0" u="none">
                <a:solidFill>
                  <a:srgbClr val="59665F"/>
                </a:solidFill>
                <a:latin typeface="Times New Roman"/>
                <a:ea typeface="Times New Roman"/>
                <a:cs typeface="Times New Roman"/>
              </a:rPr>
              <a:t>LEAF ANALYZER  /  SPRINT 5</a:t>
            </a:r>
          </a:p>
        </p:txBody>
      </p:sp>
      <p:sp>
        <p:nvSpPr>
          <p:cNvPr id="5" name="Proposed priorities • remaining Jira work + W">
            <a:extLst xmlns:a="http://schemas.openxmlformats.org/drawingml/2006/main">
              <a:ext uri="{FF2B5EF4-FFF2-40B4-BE49-F238E27FC236}">
                <a16:creationId xmlns:a16="http://schemas.microsoft.com/office/drawing/2014/main" id="{51ECC4FB-B373-47C3-81E0-971E76178C02}"/>
              </a:ext>
            </a:extLst>
          </p:cNvPr>
          <p:cNvSpPr>
            <a:spLocks xmlns:a="http://schemas.openxmlformats.org/drawingml/2006/main" noGrp="1"/>
          </p:cNvSpPr>
          <p:nvPr/>
        </p:nvSpPr>
        <p:spPr>
          <a:xfrm xmlns:a="http://schemas.openxmlformats.org/drawingml/2006/main">
            <a:off x="609600" y="6362700"/>
            <a:ext cx="1043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0"/>
              </a:spcAft>
              <a:defRPr sz="1200" b="0" i="0">
                <a:solidFill>
                  <a:srgbClr val="59665F"/>
                </a:solidFill>
                <a:latin typeface="Times New Roman"/>
                <a:ea typeface="Times New Roman"/>
                <a:cs typeface="Times New Roman"/>
              </a:defRPr>
            </a:pPr>
            <a:r>
              <a:rPr sz="1200" b="0" i="0" u="none">
                <a:solidFill>
                  <a:srgbClr val="59665F"/>
                </a:solidFill>
                <a:latin typeface="Times New Roman"/>
                <a:ea typeface="Times New Roman"/>
                <a:cs typeface="Times New Roman"/>
              </a:rPr>
              <a:t>Sources: </a:t>
            </a:r>
            <a:r>
              <a:rPr sz="1200" b="0" i="0" u="sng">
                <a:solidFill>
                  <a:srgbClr val="2469A0"/>
                </a:solidFill>
                <a:latin typeface="Times New Roman"/>
                <a:ea typeface="Times New Roman"/>
                <a:cs typeface="Times New Roman"/>
                <a:hlinkClick xmlns:r="http://schemas.openxmlformats.org/officeDocument/2006/relationships" r:id="R5880c06594a544b8"/>
              </a:rPr>
              <a:t>LEAF-105</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a50840d2d8474b11"/>
              </a:rPr>
              <a:t>LEAF-115</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afa74ab2248c4de3"/>
              </a:rPr>
              <a:t>LEAF-116</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9116f29805fd4b9a"/>
              </a:rPr>
              <a:t>LEAF-113</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457854c633d34eb0"/>
              </a:rPr>
              <a:t>LEAF-163</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c2d759d5250247b2"/>
              </a:rPr>
              <a:t>LEAF-164</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ff6f2369a9ea4510"/>
              </a:rPr>
              <a:t>PR #36</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4c2ae45470444f36"/>
              </a:rPr>
              <a:t>Week 5 report</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2d711f990ae44222"/>
              </a:rPr>
              <a:t>Week 5 reflection</a:t>
            </a:r>
            <a:r>
              <a:rPr sz="1200" b="0" i="0" u="none">
                <a:solidFill>
                  <a:srgbClr val="59665F"/>
                </a:solidFill>
                <a:latin typeface="Times New Roman"/>
                <a:ea typeface="Times New Roman"/>
                <a:cs typeface="Times New Roman"/>
              </a:rPr>
              <a:t>  ·  </a:t>
            </a:r>
            <a:r>
              <a:rPr sz="1200" b="0" i="0" u="sng">
                <a:solidFill>
                  <a:srgbClr val="2469A0"/>
                </a:solidFill>
                <a:latin typeface="Times New Roman"/>
                <a:ea typeface="Times New Roman"/>
                <a:cs typeface="Times New Roman"/>
                <a:hlinkClick xmlns:r="http://schemas.openxmlformats.org/officeDocument/2006/relationships" r:id="Rbc84da5421fa45ff"/>
              </a:rPr>
              <a:t>Risk plan</a:t>
            </a:r>
          </a:p>
        </p:txBody>
      </p:sp>
      <p:sp>
        <p:nvSpPr>
          <p:cNvPr id="6" name="14">
            <a:extLst xmlns:a="http://schemas.openxmlformats.org/drawingml/2006/main">
              <a:ext uri="{FF2B5EF4-FFF2-40B4-BE49-F238E27FC236}">
                <a16:creationId xmlns:a16="http://schemas.microsoft.com/office/drawing/2014/main" id="{48D24450-9B01-457E-B2D9-61BB695C77C1}"/>
              </a:ext>
            </a:extLst>
          </p:cNvPr>
          <p:cNvSpPr>
            <a:spLocks xmlns:a="http://schemas.openxmlformats.org/drawingml/2006/main" noGrp="1"/>
          </p:cNvSpPr>
          <p:nvPr/>
        </p:nvSpPr>
        <p:spPr>
          <a:xfrm xmlns:a="http://schemas.openxmlformats.org/drawingml/2006/main">
            <a:off x="11239500" y="63722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spcBef>
                <a:spcPts val="0"/>
              </a:spcBef>
              <a:spcAft>
                <a:spcPts val="0"/>
              </a:spcAft>
              <a:defRPr sz="1425" b="0" i="0">
                <a:solidFill>
                  <a:srgbClr val="59665F"/>
                </a:solidFill>
                <a:latin typeface="Times New Roman"/>
                <a:ea typeface="Times New Roman"/>
                <a:cs typeface="Times New Roman"/>
              </a:defRPr>
            </a:pPr>
            <a:r>
              <a:rPr sz="1425" b="0" i="0" u="none">
                <a:solidFill>
                  <a:srgbClr val="59665F"/>
                </a:solidFill>
                <a:latin typeface="Times New Roman"/>
                <a:ea typeface="Times New Roman"/>
                <a:cs typeface="Times New Roman"/>
              </a:rPr>
              <a:t>14</a:t>
            </a:r>
          </a:p>
        </p:txBody>
      </p:sp>
      <p:sp>
        <p:nvSpPr>
          <p:cNvPr id="8" name="GOAL">
            <a:extLst xmlns:a="http://schemas.openxmlformats.org/drawingml/2006/main">
              <a:ext uri="{FF2B5EF4-FFF2-40B4-BE49-F238E27FC236}">
                <a16:creationId xmlns:a16="http://schemas.microsoft.com/office/drawing/2014/main" id="{EF21C327-CE4C-466A-ACD0-F932980EC9E9}"/>
              </a:ext>
            </a:extLst>
          </p:cNvPr>
          <p:cNvSpPr>
            <a:spLocks xmlns:a="http://schemas.openxmlformats.org/drawingml/2006/main" noGrp="1"/>
          </p:cNvSpPr>
          <p:nvPr/>
        </p:nvSpPr>
        <p:spPr>
          <a:xfrm xmlns:a="http://schemas.openxmlformats.org/drawingml/2006/main">
            <a:off x="609600" y="1666875"/>
            <a:ext cx="3105150" cy="438150"/>
          </a:xfrm>
          <a:prstGeom xmlns:a="http://schemas.openxmlformats.org/drawingml/2006/main" prst="rect">
            <a:avLst/>
          </a:prstGeom>
          <a:solidFill xmlns:a="http://schemas.openxmlformats.org/drawingml/2006/main">
            <a:srgbClr val="173F32"/>
          </a:solidFill>
          <a:ln xmlns:a="http://schemas.openxmlformats.org/drawingml/2006/main" w="0">
            <a:noFill/>
          </a:ln>
        </p:spPr>
        <p:txBody>
          <a:bodyPr xmlns:a="http://schemas.openxmlformats.org/drawingml/2006/main" wrap="square" lIns="152400" tIns="76200" rIns="152400" bIns="76200" anchor="ctr">
            <a:noAutofit/>
          </a:bodyPr>
          <a:lstStyle xmlns:a="http://schemas.openxmlformats.org/drawingml/2006/main"/>
          <a:p xmlns:a="http://schemas.openxmlformats.org/drawingml/2006/main">
            <a:pPr algn="l">
              <a:spcBef>
                <a:spcPts val="0"/>
              </a:spcBef>
              <a:spcAft>
                <a:spcPts val="0"/>
              </a:spcAft>
              <a:defRPr sz="1650" b="1" i="0">
                <a:solidFill>
                  <a:srgbClr val="FFFFFF"/>
                </a:solidFill>
                <a:latin typeface="Times New Roman"/>
                <a:ea typeface="Times New Roman"/>
                <a:cs typeface="Times New Roman"/>
              </a:defRPr>
            </a:pPr>
            <a:r>
              <a:rPr sz="1650" b="1" i="0" u="none">
                <a:solidFill>
                  <a:srgbClr val="FFFFFF"/>
                </a:solidFill>
                <a:latin typeface="Times New Roman"/>
                <a:ea typeface="Times New Roman"/>
                <a:cs typeface="Times New Roman"/>
              </a:rPr>
              <a:t>GOAL</a:t>
            </a:r>
          </a:p>
        </p:txBody>
      </p:sp>
      <p:sp>
        <p:nvSpPr>
          <p:cNvPr id="9" name="WHY IT MATTERS">
            <a:extLst xmlns:a="http://schemas.openxmlformats.org/drawingml/2006/main">
              <a:ext uri="{FF2B5EF4-FFF2-40B4-BE49-F238E27FC236}">
                <a16:creationId xmlns:a16="http://schemas.microsoft.com/office/drawing/2014/main" id="{ED5C387E-4A13-42F7-A0CA-F29F6F60AF24}"/>
              </a:ext>
            </a:extLst>
          </p:cNvPr>
          <p:cNvSpPr>
            <a:spLocks xmlns:a="http://schemas.openxmlformats.org/drawingml/2006/main" noGrp="1"/>
          </p:cNvSpPr>
          <p:nvPr/>
        </p:nvSpPr>
        <p:spPr>
          <a:xfrm xmlns:a="http://schemas.openxmlformats.org/drawingml/2006/main">
            <a:off x="3714750" y="1666875"/>
            <a:ext cx="3190875" cy="438150"/>
          </a:xfrm>
          <a:prstGeom xmlns:a="http://schemas.openxmlformats.org/drawingml/2006/main" prst="rect">
            <a:avLst/>
          </a:prstGeom>
          <a:solidFill xmlns:a="http://schemas.openxmlformats.org/drawingml/2006/main">
            <a:srgbClr val="173F32"/>
          </a:solidFill>
          <a:ln xmlns:a="http://schemas.openxmlformats.org/drawingml/2006/main" w="0">
            <a:noFill/>
          </a:ln>
        </p:spPr>
        <p:txBody>
          <a:bodyPr xmlns:a="http://schemas.openxmlformats.org/drawingml/2006/main" wrap="square" lIns="152400" tIns="76200" rIns="152400" bIns="76200" anchor="ctr">
            <a:noAutofit/>
          </a:bodyPr>
          <a:lstStyle xmlns:a="http://schemas.openxmlformats.org/drawingml/2006/main"/>
          <a:p xmlns:a="http://schemas.openxmlformats.org/drawingml/2006/main">
            <a:pPr algn="l">
              <a:spcBef>
                <a:spcPts val="0"/>
              </a:spcBef>
              <a:spcAft>
                <a:spcPts val="0"/>
              </a:spcAft>
              <a:defRPr sz="1650" b="1" i="0">
                <a:solidFill>
                  <a:srgbClr val="FFFFFF"/>
                </a:solidFill>
                <a:latin typeface="Times New Roman"/>
                <a:ea typeface="Times New Roman"/>
                <a:cs typeface="Times New Roman"/>
              </a:defRPr>
            </a:pPr>
            <a:r>
              <a:rPr sz="1650" b="1" i="0" u="none">
                <a:solidFill>
                  <a:srgbClr val="FFFFFF"/>
                </a:solidFill>
                <a:latin typeface="Times New Roman"/>
                <a:ea typeface="Times New Roman"/>
                <a:cs typeface="Times New Roman"/>
              </a:rPr>
              <a:t>WHY</a:t>
            </a:r>
          </a:p>
        </p:txBody>
      </p:sp>
      <p:sp>
        <p:nvSpPr>
          <p:cNvPr id="10" name="PLANNED ACTION">
            <a:extLst xmlns:a="http://schemas.openxmlformats.org/drawingml/2006/main">
              <a:ext uri="{FF2B5EF4-FFF2-40B4-BE49-F238E27FC236}">
                <a16:creationId xmlns:a16="http://schemas.microsoft.com/office/drawing/2014/main" id="{D5A45024-9C88-4587-8B80-1F1E392B5D9F}"/>
              </a:ext>
            </a:extLst>
          </p:cNvPr>
          <p:cNvSpPr>
            <a:spLocks xmlns:a="http://schemas.openxmlformats.org/drawingml/2006/main" noGrp="1"/>
          </p:cNvSpPr>
          <p:nvPr/>
        </p:nvSpPr>
        <p:spPr>
          <a:xfrm xmlns:a="http://schemas.openxmlformats.org/drawingml/2006/main">
            <a:off x="6905625" y="1666875"/>
            <a:ext cx="4676775" cy="438150"/>
          </a:xfrm>
          <a:prstGeom xmlns:a="http://schemas.openxmlformats.org/drawingml/2006/main" prst="rect">
            <a:avLst/>
          </a:prstGeom>
          <a:solidFill xmlns:a="http://schemas.openxmlformats.org/drawingml/2006/main">
            <a:srgbClr val="173F32"/>
          </a:solidFill>
          <a:ln xmlns:a="http://schemas.openxmlformats.org/drawingml/2006/main" w="0">
            <a:noFill/>
          </a:ln>
        </p:spPr>
        <p:txBody>
          <a:bodyPr xmlns:a="http://schemas.openxmlformats.org/drawingml/2006/main" wrap="square" lIns="152400" tIns="76200" rIns="152400" bIns="76200" anchor="ctr">
            <a:noAutofit/>
          </a:bodyPr>
          <a:lstStyle xmlns:a="http://schemas.openxmlformats.org/drawingml/2006/main"/>
          <a:p xmlns:a="http://schemas.openxmlformats.org/drawingml/2006/main">
            <a:pPr algn="l">
              <a:spcBef>
                <a:spcPts val="0"/>
              </a:spcBef>
              <a:spcAft>
                <a:spcPts val="0"/>
              </a:spcAft>
              <a:defRPr sz="1650" b="1" i="0">
                <a:solidFill>
                  <a:srgbClr val="FFFFFF"/>
                </a:solidFill>
                <a:latin typeface="Times New Roman"/>
                <a:ea typeface="Times New Roman"/>
                <a:cs typeface="Times New Roman"/>
              </a:defRPr>
            </a:pPr>
            <a:r>
              <a:rPr sz="1650" b="1" i="0" u="none">
                <a:solidFill>
                  <a:srgbClr val="FFFFFF"/>
                </a:solidFill>
                <a:latin typeface="Times New Roman"/>
                <a:ea typeface="Times New Roman"/>
                <a:cs typeface="Times New Roman"/>
              </a:rPr>
              <a:t>NEXT ACTION</a:t>
            </a:r>
          </a:p>
        </p:txBody>
      </p:sp>
      <p:sp>
        <p:nvSpPr>
          <p:cNvPr id="11" name="直线连接符 10">
            <a:extLst xmlns:a="http://schemas.openxmlformats.org/drawingml/2006/main">
              <a:ext uri="{FF2B5EF4-FFF2-40B4-BE49-F238E27FC236}">
                <a16:creationId xmlns:a16="http://schemas.microsoft.com/office/drawing/2014/main" id="{1C1F4509-2F71-482D-8B70-595E931AEAC8}"/>
              </a:ext>
            </a:extLst>
          </p:cNvPr>
          <p:cNvSpPr>
            <a:spLocks xmlns:a="http://schemas.openxmlformats.org/drawingml/2006/main" noGrp="1"/>
          </p:cNvSpPr>
          <p:nvPr/>
        </p:nvSpPr>
        <p:spPr>
          <a:xfrm xmlns:a="http://schemas.openxmlformats.org/drawingml/2006/main">
            <a:off x="609600" y="2105025"/>
            <a:ext cx="10972800" cy="0"/>
          </a:xfrm>
          <a:prstGeom xmlns:a="http://schemas.openxmlformats.org/drawingml/2006/main" prst="line">
            <a:avLst/>
          </a:prstGeom>
          <a:noFill xmlns:a="http://schemas.openxmlformats.org/drawingml/2006/main"/>
          <a:ln xmlns:a="http://schemas.openxmlformats.org/drawingml/2006/main" w="9525">
            <a:solidFill>
              <a:srgbClr val="CCD5CF"/>
            </a:solidFill>
            <a:prstDash val="solid"/>
          </a:ln>
        </p:spPr>
      </p:sp>
      <p:sp>
        <p:nvSpPr>
          <p:cNvPr id="12" name="1  Finish calibration">
            <a:extLst xmlns:a="http://schemas.openxmlformats.org/drawingml/2006/main">
              <a:ext uri="{FF2B5EF4-FFF2-40B4-BE49-F238E27FC236}">
                <a16:creationId xmlns:a16="http://schemas.microsoft.com/office/drawing/2014/main" id="{0EF0FE91-E995-4121-9234-1EC78343C91F}"/>
              </a:ext>
            </a:extLst>
          </p:cNvPr>
          <p:cNvSpPr>
            <a:spLocks xmlns:a="http://schemas.openxmlformats.org/drawingml/2006/main" noGrp="1"/>
          </p:cNvSpPr>
          <p:nvPr/>
        </p:nvSpPr>
        <p:spPr>
          <a:xfrm xmlns:a="http://schemas.openxmlformats.org/drawingml/2006/main">
            <a:off x="762000" y="2209800"/>
            <a:ext cx="28003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950" b="1" i="0">
                <a:solidFill>
                  <a:srgbClr val="173F32"/>
                </a:solidFill>
                <a:latin typeface="Times New Roman"/>
                <a:ea typeface="Times New Roman"/>
                <a:cs typeface="Times New Roman"/>
              </a:defRPr>
            </a:pPr>
            <a:r>
              <a:rPr sz="1950" b="1" i="0" u="none">
                <a:solidFill>
                  <a:srgbClr val="173F32"/>
                </a:solidFill>
                <a:latin typeface="Times New Roman"/>
                <a:ea typeface="Times New Roman"/>
                <a:cs typeface="Times New Roman"/>
              </a:rPr>
              <a:t>1  Finish calibration</a:t>
            </a:r>
          </a:p>
        </p:txBody>
      </p:sp>
      <p:sp>
        <p:nvSpPr>
          <p:cNvPr id="13" name="Turn raw data into a&#10;calibrated workflow.">
            <a:extLst xmlns:a="http://schemas.openxmlformats.org/drawingml/2006/main">
              <a:ext uri="{FF2B5EF4-FFF2-40B4-BE49-F238E27FC236}">
                <a16:creationId xmlns:a16="http://schemas.microsoft.com/office/drawing/2014/main" id="{D455705C-D956-44D2-ADC5-27742873C2E4}"/>
              </a:ext>
            </a:extLst>
          </p:cNvPr>
          <p:cNvSpPr>
            <a:spLocks xmlns:a="http://schemas.openxmlformats.org/drawingml/2006/main" noGrp="1"/>
          </p:cNvSpPr>
          <p:nvPr/>
        </p:nvSpPr>
        <p:spPr>
          <a:xfrm xmlns:a="http://schemas.openxmlformats.org/drawingml/2006/main">
            <a:off x="3867150" y="2209800"/>
            <a:ext cx="28860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800" b="0" i="0">
                <a:solidFill>
                  <a:srgbClr val="293730"/>
                </a:solidFill>
                <a:latin typeface="Times New Roman"/>
                <a:ea typeface="Times New Roman"/>
                <a:cs typeface="Times New Roman"/>
              </a:defRPr>
            </a:pPr>
            <a:r>
              <a:rPr sz="1800" b="0" i="0" u="none">
                <a:solidFill>
                  <a:srgbClr val="293730"/>
                </a:solidFill>
                <a:latin typeface="Times New Roman"/>
                <a:ea typeface="Times New Roman"/>
                <a:cs typeface="Times New Roman"/>
              </a:rPr>
              <a:t>Use calibrated data</a:t>
            </a:r>
          </a:p>
          <a:p xmlns:a="http://schemas.openxmlformats.org/drawingml/2006/main">
            <a:pPr algn="l">
              <a:spcBef>
                <a:spcPts val="0"/>
              </a:spcBef>
              <a:spcAft>
                <a:spcPts val="0"/>
              </a:spcAft>
              <a:defRPr sz="1800" b="0" i="0">
                <a:solidFill>
                  <a:srgbClr val="293730"/>
                </a:solidFill>
                <a:latin typeface="Times New Roman"/>
                <a:ea typeface="Times New Roman"/>
                <a:cs typeface="Times New Roman"/>
              </a:defRPr>
            </a:pPr>
            <a:r>
              <a:rPr sz="1800" b="0" i="0" u="none">
                <a:solidFill>
                  <a:srgbClr val="293730"/>
                </a:solidFill>
                <a:latin typeface="Times New Roman"/>
                <a:ea typeface="Times New Roman"/>
                <a:cs typeface="Times New Roman"/>
              </a:rPr>
              <a:t>in the app.</a:t>
            </a:r>
          </a:p>
        </p:txBody>
      </p:sp>
      <p:sp>
        <p:nvSpPr>
          <p:cNvPr id="14" name="Jingyi: LEAF-115 algorithm;&#10;Guochen: LEAF-116">
            <a:extLst xmlns:a="http://schemas.openxmlformats.org/drawingml/2006/main">
              <a:ext uri="{FF2B5EF4-FFF2-40B4-BE49-F238E27FC236}">
                <a16:creationId xmlns:a16="http://schemas.microsoft.com/office/drawing/2014/main" id="{0050B5C8-5A8F-4433-A077-93AB8E7453CB}"/>
              </a:ext>
            </a:extLst>
          </p:cNvPr>
          <p:cNvSpPr>
            <a:spLocks xmlns:a="http://schemas.openxmlformats.org/drawingml/2006/main" noGrp="1"/>
          </p:cNvSpPr>
          <p:nvPr/>
        </p:nvSpPr>
        <p:spPr>
          <a:xfrm xmlns:a="http://schemas.openxmlformats.org/drawingml/2006/main">
            <a:off x="7058025" y="2209800"/>
            <a:ext cx="43719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800" b="0" i="0">
                <a:solidFill>
                  <a:srgbClr val="293730"/>
                </a:solidFill>
                <a:latin typeface="Times New Roman"/>
                <a:ea typeface="Times New Roman"/>
                <a:cs typeface="Times New Roman"/>
              </a:defRPr>
            </a:pPr>
            <a:r>
              <a:rPr sz="1800" b="0" i="0" u="none">
                <a:solidFill>
                  <a:srgbClr val="293730"/>
                </a:solidFill>
                <a:latin typeface="Times New Roman"/>
                <a:ea typeface="Times New Roman"/>
                <a:cs typeface="Times New Roman"/>
              </a:rPr>
              <a:t>Jingyi: algorithm, </a:t>
            </a:r>
            <a:r>
              <a:rPr sz="1800" b="0" i="0" u="sng">
                <a:solidFill>
                  <a:srgbClr val="2469A0"/>
                </a:solidFill>
                <a:latin typeface="Times New Roman"/>
                <a:ea typeface="Times New Roman"/>
                <a:cs typeface="Times New Roman"/>
                <a:hlinkClick xmlns:r="http://schemas.openxmlformats.org/officeDocument/2006/relationships" r:id="R221443c3704248d5"/>
              </a:rPr>
              <a:t>LEAF-115</a:t>
            </a:r>
            <a:r>
              <a:rPr sz="1800" b="0" i="0" u="none">
                <a:solidFill>
                  <a:srgbClr val="293730"/>
                </a:solidFill>
                <a:latin typeface="Times New Roman"/>
                <a:ea typeface="Times New Roman"/>
                <a:cs typeface="Times New Roman"/>
              </a:rPr>
              <a:t>.</a:t>
            </a:r>
          </a:p>
          <a:p xmlns:a="http://schemas.openxmlformats.org/drawingml/2006/main">
            <a:pPr algn="l">
              <a:spcBef>
                <a:spcPts val="0"/>
              </a:spcBef>
              <a:spcAft>
                <a:spcPts val="0"/>
              </a:spcAft>
              <a:defRPr sz="1800" b="0" i="0">
                <a:solidFill>
                  <a:srgbClr val="293730"/>
                </a:solidFill>
                <a:latin typeface="Times New Roman"/>
                <a:ea typeface="Times New Roman"/>
                <a:cs typeface="Times New Roman"/>
              </a:defRPr>
            </a:pPr>
            <a:r>
              <a:rPr sz="1800" b="0" i="0" u="none">
                <a:solidFill>
                  <a:srgbClr val="293730"/>
                </a:solidFill>
                <a:latin typeface="Times New Roman"/>
                <a:ea typeface="Times New Roman"/>
                <a:cs typeface="Times New Roman"/>
              </a:rPr>
              <a:t>Guochen: UI and checks, </a:t>
            </a:r>
            <a:r>
              <a:rPr sz="1800" b="0" i="0" u="sng">
                <a:solidFill>
                  <a:srgbClr val="2469A0"/>
                </a:solidFill>
                <a:latin typeface="Times New Roman"/>
                <a:ea typeface="Times New Roman"/>
                <a:cs typeface="Times New Roman"/>
                <a:hlinkClick xmlns:r="http://schemas.openxmlformats.org/officeDocument/2006/relationships" r:id="Rdc757acda5034490"/>
              </a:rPr>
              <a:t>LEAF-116</a:t>
            </a:r>
            <a:r>
              <a:rPr sz="1800" b="0" i="0" u="none">
                <a:solidFill>
                  <a:srgbClr val="293730"/>
                </a:solidFill>
                <a:latin typeface="Times New Roman"/>
                <a:ea typeface="Times New Roman"/>
                <a:cs typeface="Times New Roman"/>
              </a:rPr>
              <a:t>.</a:t>
            </a:r>
          </a:p>
        </p:txBody>
      </p:sp>
      <p:sp>
        <p:nvSpPr>
          <p:cNvPr id="15" name="直线连接符 14">
            <a:extLst xmlns:a="http://schemas.openxmlformats.org/drawingml/2006/main">
              <a:ext uri="{FF2B5EF4-FFF2-40B4-BE49-F238E27FC236}">
                <a16:creationId xmlns:a16="http://schemas.microsoft.com/office/drawing/2014/main" id="{53ACA583-DB29-47E0-8E50-F5FF8EE3D2F0}"/>
              </a:ext>
            </a:extLst>
          </p:cNvPr>
          <p:cNvSpPr>
            <a:spLocks xmlns:a="http://schemas.openxmlformats.org/drawingml/2006/main" noGrp="1"/>
          </p:cNvSpPr>
          <p:nvPr/>
        </p:nvSpPr>
        <p:spPr>
          <a:xfrm xmlns:a="http://schemas.openxmlformats.org/drawingml/2006/main">
            <a:off x="609600" y="2838450"/>
            <a:ext cx="10972800" cy="0"/>
          </a:xfrm>
          <a:prstGeom xmlns:a="http://schemas.openxmlformats.org/drawingml/2006/main" prst="line">
            <a:avLst/>
          </a:prstGeom>
          <a:noFill xmlns:a="http://schemas.openxmlformats.org/drawingml/2006/main"/>
          <a:ln xmlns:a="http://schemas.openxmlformats.org/drawingml/2006/main" w="9525">
            <a:solidFill>
              <a:srgbClr val="CCD5CF"/>
            </a:solidFill>
            <a:prstDash val="solid"/>
          </a:ln>
        </p:spPr>
      </p:sp>
      <p:sp>
        <p:nvSpPr>
          <p:cNvPr id="16" name="2  Validate classification">
            <a:extLst xmlns:a="http://schemas.openxmlformats.org/drawingml/2006/main">
              <a:ext uri="{FF2B5EF4-FFF2-40B4-BE49-F238E27FC236}">
                <a16:creationId xmlns:a16="http://schemas.microsoft.com/office/drawing/2014/main" id="{A40600C7-A2B0-4FA8-8E3B-2A03C8E10B40}"/>
              </a:ext>
            </a:extLst>
          </p:cNvPr>
          <p:cNvSpPr>
            <a:spLocks xmlns:a="http://schemas.openxmlformats.org/drawingml/2006/main" noGrp="1"/>
          </p:cNvSpPr>
          <p:nvPr/>
        </p:nvSpPr>
        <p:spPr>
          <a:xfrm xmlns:a="http://schemas.openxmlformats.org/drawingml/2006/main">
            <a:off x="762000" y="2924175"/>
            <a:ext cx="28003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950" b="1" i="0">
                <a:solidFill>
                  <a:srgbClr val="173F32"/>
                </a:solidFill>
                <a:latin typeface="Times New Roman"/>
                <a:ea typeface="Times New Roman"/>
                <a:cs typeface="Times New Roman"/>
              </a:defRPr>
            </a:pPr>
            <a:r>
              <a:rPr sz="1950" b="1" i="0" u="none">
                <a:solidFill>
                  <a:srgbClr val="173F32"/>
                </a:solidFill>
                <a:latin typeface="Times New Roman"/>
                <a:ea typeface="Times New Roman"/>
                <a:cs typeface="Times New Roman"/>
              </a:rPr>
              <a:t>2  Test classification</a:t>
            </a:r>
          </a:p>
        </p:txBody>
      </p:sp>
      <p:sp>
        <p:nvSpPr>
          <p:cNvPr id="17" name="Merged code needs explicit&#10;regression evidenc">
            <a:extLst xmlns:a="http://schemas.openxmlformats.org/drawingml/2006/main">
              <a:ext uri="{FF2B5EF4-FFF2-40B4-BE49-F238E27FC236}">
                <a16:creationId xmlns:a16="http://schemas.microsoft.com/office/drawing/2014/main" id="{D204807D-29DC-4C19-A5BF-9A680FE8B37C}"/>
              </a:ext>
            </a:extLst>
          </p:cNvPr>
          <p:cNvSpPr>
            <a:spLocks xmlns:a="http://schemas.openxmlformats.org/drawingml/2006/main" noGrp="1"/>
          </p:cNvSpPr>
          <p:nvPr/>
        </p:nvSpPr>
        <p:spPr>
          <a:xfrm xmlns:a="http://schemas.openxmlformats.org/drawingml/2006/main">
            <a:off x="3867150" y="2924175"/>
            <a:ext cx="28860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800" b="0" i="0">
                <a:solidFill>
                  <a:srgbClr val="293730"/>
                </a:solidFill>
                <a:latin typeface="Times New Roman"/>
                <a:ea typeface="Times New Roman"/>
                <a:cs typeface="Times New Roman"/>
              </a:defRPr>
            </a:pPr>
            <a:r>
              <a:rPr sz="1800" b="0" i="0" u="none">
                <a:solidFill>
                  <a:srgbClr val="293730"/>
                </a:solidFill>
                <a:latin typeface="Times New Roman"/>
                <a:ea typeface="Times New Roman"/>
                <a:cs typeface="Times New Roman"/>
              </a:rPr>
              <a:t>Make sure the new feature</a:t>
            </a:r>
          </a:p>
          <a:p xmlns:a="http://schemas.openxmlformats.org/drawingml/2006/main">
            <a:pPr algn="l">
              <a:spcBef>
                <a:spcPts val="0"/>
              </a:spcBef>
              <a:spcAft>
                <a:spcPts val="0"/>
              </a:spcAft>
              <a:defRPr sz="1800" b="0" i="0">
                <a:solidFill>
                  <a:srgbClr val="293730"/>
                </a:solidFill>
                <a:latin typeface="Times New Roman"/>
                <a:ea typeface="Times New Roman"/>
                <a:cs typeface="Times New Roman"/>
              </a:defRPr>
            </a:pPr>
            <a:r>
              <a:rPr sz="1800" b="0" i="0" u="none">
                <a:solidFill>
                  <a:srgbClr val="293730"/>
                </a:solidFill>
                <a:latin typeface="Times New Roman"/>
                <a:ea typeface="Times New Roman"/>
                <a:cs typeface="Times New Roman"/>
              </a:rPr>
              <a:t>keeps working.</a:t>
            </a:r>
          </a:p>
        </p:txBody>
      </p:sp>
      <p:sp>
        <p:nvSpPr>
          <p:cNvPr id="18" name="Track model/UI tests; check mask&#10;alignment af">
            <a:extLst xmlns:a="http://schemas.openxmlformats.org/drawingml/2006/main">
              <a:ext uri="{FF2B5EF4-FFF2-40B4-BE49-F238E27FC236}">
                <a16:creationId xmlns:a16="http://schemas.microsoft.com/office/drawing/2014/main" id="{295FE395-8BD8-4644-BEDD-0FF06E3E9A2C}"/>
              </a:ext>
            </a:extLst>
          </p:cNvPr>
          <p:cNvSpPr>
            <a:spLocks xmlns:a="http://schemas.openxmlformats.org/drawingml/2006/main" noGrp="1"/>
          </p:cNvSpPr>
          <p:nvPr/>
        </p:nvSpPr>
        <p:spPr>
          <a:xfrm xmlns:a="http://schemas.openxmlformats.org/drawingml/2006/main">
            <a:off x="7058025" y="2924175"/>
            <a:ext cx="43719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800" b="0" i="0">
                <a:solidFill>
                  <a:srgbClr val="293730"/>
                </a:solidFill>
                <a:latin typeface="Times New Roman"/>
                <a:ea typeface="Times New Roman"/>
                <a:cs typeface="Times New Roman"/>
              </a:defRPr>
            </a:pPr>
            <a:r>
              <a:rPr sz="1800" b="0" i="0" u="none">
                <a:solidFill>
                  <a:srgbClr val="293730"/>
                </a:solidFill>
                <a:latin typeface="Times New Roman"/>
                <a:ea typeface="Times New Roman"/>
                <a:cs typeface="Times New Roman"/>
              </a:rPr>
              <a:t>Add model and UI tests. Check masks</a:t>
            </a:r>
          </a:p>
          <a:p xmlns:a="http://schemas.openxmlformats.org/drawingml/2006/main">
            <a:pPr algn="l">
              <a:spcBef>
                <a:spcPts val="0"/>
              </a:spcBef>
              <a:spcAft>
                <a:spcPts val="0"/>
              </a:spcAft>
              <a:defRPr sz="1800" b="0" i="0">
                <a:solidFill>
                  <a:srgbClr val="293730"/>
                </a:solidFill>
                <a:latin typeface="Times New Roman"/>
                <a:ea typeface="Times New Roman"/>
                <a:cs typeface="Times New Roman"/>
              </a:defRPr>
            </a:pPr>
            <a:r>
              <a:rPr sz="1800" b="0" i="0" u="none">
                <a:solidFill>
                  <a:srgbClr val="293730"/>
                </a:solidFill>
                <a:latin typeface="Times New Roman"/>
                <a:ea typeface="Times New Roman"/>
                <a:cs typeface="Times New Roman"/>
              </a:rPr>
              <a:t>after SR, cropping and reloading.</a:t>
            </a:r>
          </a:p>
        </p:txBody>
      </p:sp>
      <p:sp>
        <p:nvSpPr>
          <p:cNvPr id="19" name="直线连接符 18">
            <a:extLst xmlns:a="http://schemas.openxmlformats.org/drawingml/2006/main">
              <a:ext uri="{FF2B5EF4-FFF2-40B4-BE49-F238E27FC236}">
                <a16:creationId xmlns:a16="http://schemas.microsoft.com/office/drawing/2014/main" id="{C16A6BCF-DDAE-4C26-92F9-237C4B1A2BAB}"/>
              </a:ext>
            </a:extLst>
          </p:cNvPr>
          <p:cNvSpPr>
            <a:spLocks xmlns:a="http://schemas.openxmlformats.org/drawingml/2006/main" noGrp="1"/>
          </p:cNvSpPr>
          <p:nvPr/>
        </p:nvSpPr>
        <p:spPr>
          <a:xfrm xmlns:a="http://schemas.openxmlformats.org/drawingml/2006/main">
            <a:off x="609600" y="3552825"/>
            <a:ext cx="10972800" cy="0"/>
          </a:xfrm>
          <a:prstGeom xmlns:a="http://schemas.openxmlformats.org/drawingml/2006/main" prst="line">
            <a:avLst/>
          </a:prstGeom>
          <a:noFill xmlns:a="http://schemas.openxmlformats.org/drawingml/2006/main"/>
          <a:ln xmlns:a="http://schemas.openxmlformats.org/drawingml/2006/main" w="9525">
            <a:solidFill>
              <a:srgbClr val="CCD5CF"/>
            </a:solidFill>
            <a:prstDash val="solid"/>
          </a:ln>
        </p:spPr>
      </p:sp>
      <p:sp>
        <p:nvSpPr>
          <p:cNvPr id="20" name="3  Verify scientific results">
            <a:extLst xmlns:a="http://schemas.openxmlformats.org/drawingml/2006/main">
              <a:ext uri="{FF2B5EF4-FFF2-40B4-BE49-F238E27FC236}">
                <a16:creationId xmlns:a16="http://schemas.microsoft.com/office/drawing/2014/main" id="{6DF87A4D-32B9-40CE-A6C5-7E5CCAE0549A}"/>
              </a:ext>
            </a:extLst>
          </p:cNvPr>
          <p:cNvSpPr>
            <a:spLocks xmlns:a="http://schemas.openxmlformats.org/drawingml/2006/main" noGrp="1"/>
          </p:cNvSpPr>
          <p:nvPr/>
        </p:nvSpPr>
        <p:spPr>
          <a:xfrm xmlns:a="http://schemas.openxmlformats.org/drawingml/2006/main">
            <a:off x="762000" y="3638550"/>
            <a:ext cx="28003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950" b="1" i="0">
                <a:solidFill>
                  <a:srgbClr val="173F32"/>
                </a:solidFill>
                <a:latin typeface="Times New Roman"/>
                <a:ea typeface="Times New Roman"/>
                <a:cs typeface="Times New Roman"/>
              </a:defRPr>
            </a:pPr>
            <a:r>
              <a:rPr sz="1950" b="1" i="0" u="none">
                <a:solidFill>
                  <a:srgbClr val="173F32"/>
                </a:solidFill>
                <a:latin typeface="Times New Roman"/>
                <a:ea typeface="Times New Roman"/>
                <a:cs typeface="Times New Roman"/>
              </a:rPr>
              <a:t>3  Check the results</a:t>
            </a:r>
          </a:p>
        </p:txBody>
      </p:sp>
      <p:sp>
        <p:nvSpPr>
          <p:cNvPr id="21" name="A rendered image is not&#10;proof of accuracy.">
            <a:extLst xmlns:a="http://schemas.openxmlformats.org/drawingml/2006/main">
              <a:ext uri="{FF2B5EF4-FFF2-40B4-BE49-F238E27FC236}">
                <a16:creationId xmlns:a16="http://schemas.microsoft.com/office/drawing/2014/main" id="{8C5F67FC-41A1-4FE7-9E73-92EAF0905D39}"/>
              </a:ext>
            </a:extLst>
          </p:cNvPr>
          <p:cNvSpPr>
            <a:spLocks xmlns:a="http://schemas.openxmlformats.org/drawingml/2006/main" noGrp="1"/>
          </p:cNvSpPr>
          <p:nvPr/>
        </p:nvSpPr>
        <p:spPr>
          <a:xfrm xmlns:a="http://schemas.openxmlformats.org/drawingml/2006/main">
            <a:off x="3867150" y="3638550"/>
            <a:ext cx="28860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800" b="0" i="0">
                <a:solidFill>
                  <a:srgbClr val="293730"/>
                </a:solidFill>
                <a:latin typeface="Times New Roman"/>
                <a:ea typeface="Times New Roman"/>
                <a:cs typeface="Times New Roman"/>
              </a:defRPr>
            </a:pPr>
            <a:r>
              <a:rPr sz="1800" b="0" i="0" u="none">
                <a:solidFill>
                  <a:srgbClr val="293730"/>
                </a:solidFill>
                <a:latin typeface="Times New Roman"/>
                <a:ea typeface="Times New Roman"/>
                <a:cs typeface="Times New Roman"/>
              </a:rPr>
              <a:t>A good-looking image</a:t>
            </a:r>
          </a:p>
          <a:p xmlns:a="http://schemas.openxmlformats.org/drawingml/2006/main">
            <a:pPr algn="l">
              <a:spcBef>
                <a:spcPts val="0"/>
              </a:spcBef>
              <a:spcAft>
                <a:spcPts val="0"/>
              </a:spcAft>
              <a:defRPr sz="1800" b="0" i="0">
                <a:solidFill>
                  <a:srgbClr val="293730"/>
                </a:solidFill>
                <a:latin typeface="Times New Roman"/>
                <a:ea typeface="Times New Roman"/>
                <a:cs typeface="Times New Roman"/>
              </a:defRPr>
            </a:pPr>
            <a:r>
              <a:rPr sz="1800" b="0" i="0" u="none">
                <a:solidFill>
                  <a:srgbClr val="293730"/>
                </a:solidFill>
                <a:latin typeface="Times New Roman"/>
                <a:ea typeface="Times New Roman"/>
                <a:cs typeface="Times New Roman"/>
              </a:rPr>
              <a:t>may still be wrong.</a:t>
            </a:r>
          </a:p>
        </p:txBody>
      </p:sp>
      <p:sp>
        <p:nvSpPr>
          <p:cNvPr id="22" name="LEAF-113 reference tests (1% target);&#10;confirm">
            <a:extLst xmlns:a="http://schemas.openxmlformats.org/drawingml/2006/main">
              <a:ext uri="{FF2B5EF4-FFF2-40B4-BE49-F238E27FC236}">
                <a16:creationId xmlns:a16="http://schemas.microsoft.com/office/drawing/2014/main" id="{4212DBE8-18C4-4DF5-AD58-5B2929654936}"/>
              </a:ext>
            </a:extLst>
          </p:cNvPr>
          <p:cNvSpPr>
            <a:spLocks xmlns:a="http://schemas.openxmlformats.org/drawingml/2006/main" noGrp="1"/>
          </p:cNvSpPr>
          <p:nvPr/>
        </p:nvSpPr>
        <p:spPr>
          <a:xfrm xmlns:a="http://schemas.openxmlformats.org/drawingml/2006/main">
            <a:off x="7058025" y="3638550"/>
            <a:ext cx="43719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800" b="0" i="0">
                <a:solidFill>
                  <a:srgbClr val="293730"/>
                </a:solidFill>
                <a:latin typeface="Times New Roman"/>
                <a:ea typeface="Times New Roman"/>
                <a:cs typeface="Times New Roman"/>
              </a:defRPr>
            </a:pPr>
            <a:r>
              <a:rPr sz="1800" b="0" i="0" u="none">
                <a:solidFill>
                  <a:srgbClr val="293730"/>
                </a:solidFill>
                <a:latin typeface="Times New Roman"/>
                <a:ea typeface="Times New Roman"/>
                <a:cs typeface="Times New Roman"/>
              </a:rPr>
              <a:t>Add </a:t>
            </a:r>
            <a:r>
              <a:rPr sz="1800" b="0" i="0" u="sng">
                <a:solidFill>
                  <a:srgbClr val="2469A0"/>
                </a:solidFill>
                <a:latin typeface="Times New Roman"/>
                <a:ea typeface="Times New Roman"/>
                <a:cs typeface="Times New Roman"/>
                <a:hlinkClick xmlns:r="http://schemas.openxmlformats.org/officeDocument/2006/relationships" r:id="Ra9a957393dd54bbe"/>
              </a:rPr>
              <a:t>LEAF-113</a:t>
            </a:r>
            <a:r>
              <a:rPr sz="1800" b="0" i="0" u="none">
                <a:solidFill>
                  <a:srgbClr val="293730"/>
                </a:solidFill>
                <a:latin typeface="Times New Roman"/>
                <a:ea typeface="Times New Roman"/>
                <a:cs typeface="Times New Roman"/>
              </a:rPr>
              <a:t> reference tests.</a:t>
            </a:r>
          </a:p>
          <a:p xmlns:a="http://schemas.openxmlformats.org/drawingml/2006/main">
            <a:pPr algn="l">
              <a:spcBef>
                <a:spcPts val="0"/>
              </a:spcBef>
              <a:spcAft>
                <a:spcPts val="0"/>
              </a:spcAft>
              <a:defRPr sz="1800" b="0" i="0">
                <a:solidFill>
                  <a:srgbClr val="293730"/>
                </a:solidFill>
                <a:latin typeface="Times New Roman"/>
                <a:ea typeface="Times New Roman"/>
                <a:cs typeface="Times New Roman"/>
              </a:defRPr>
            </a:pPr>
            <a:r>
              <a:rPr sz="1800" b="0" i="0" u="none">
                <a:solidFill>
                  <a:srgbClr val="293730"/>
                </a:solidFill>
                <a:latin typeface="Times New Roman"/>
                <a:ea typeface="Times New Roman"/>
                <a:cs typeface="Times New Roman"/>
              </a:rPr>
              <a:t>Check the SR model’s data needs.</a:t>
            </a:r>
          </a:p>
        </p:txBody>
      </p:sp>
      <p:sp>
        <p:nvSpPr>
          <p:cNvPr id="23" name="直线连接符 22">
            <a:extLst xmlns:a="http://schemas.openxmlformats.org/drawingml/2006/main">
              <a:ext uri="{FF2B5EF4-FFF2-40B4-BE49-F238E27FC236}">
                <a16:creationId xmlns:a16="http://schemas.microsoft.com/office/drawing/2014/main" id="{D1FEAC1D-EF38-49C3-9E94-35E6AA8C6109}"/>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CD5CF"/>
            </a:solidFill>
            <a:prstDash val="solid"/>
          </a:ln>
        </p:spPr>
      </p:sp>
      <p:sp>
        <p:nvSpPr>
          <p:cNvPr id="24" name="4  Test target hardware">
            <a:extLst xmlns:a="http://schemas.openxmlformats.org/drawingml/2006/main">
              <a:ext uri="{FF2B5EF4-FFF2-40B4-BE49-F238E27FC236}">
                <a16:creationId xmlns:a16="http://schemas.microsoft.com/office/drawing/2014/main" id="{B9B9A178-3CBD-446C-A927-711C2A578EFC}"/>
              </a:ext>
            </a:extLst>
          </p:cNvPr>
          <p:cNvSpPr>
            <a:spLocks xmlns:a="http://schemas.openxmlformats.org/drawingml/2006/main" noGrp="1"/>
          </p:cNvSpPr>
          <p:nvPr/>
        </p:nvSpPr>
        <p:spPr>
          <a:xfrm xmlns:a="http://schemas.openxmlformats.org/drawingml/2006/main">
            <a:off x="762000" y="4352925"/>
            <a:ext cx="28003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950" b="1" i="0">
                <a:solidFill>
                  <a:srgbClr val="173F32"/>
                </a:solidFill>
                <a:latin typeface="Times New Roman"/>
                <a:ea typeface="Times New Roman"/>
                <a:cs typeface="Times New Roman"/>
              </a:defRPr>
            </a:pPr>
            <a:r>
              <a:rPr sz="1950" b="1" i="0" u="none">
                <a:solidFill>
                  <a:srgbClr val="173F32"/>
                </a:solidFill>
                <a:latin typeface="Times New Roman"/>
                <a:ea typeface="Times New Roman"/>
                <a:cs typeface="Times New Roman"/>
              </a:rPr>
              <a:t>4  Test on real PCs</a:t>
            </a:r>
          </a:p>
        </p:txBody>
      </p:sp>
      <p:sp>
        <p:nvSpPr>
          <p:cNvPr id="25" name="Avoid memory, disk and&#10;Windows graphics failu">
            <a:extLst xmlns:a="http://schemas.openxmlformats.org/drawingml/2006/main">
              <a:ext uri="{FF2B5EF4-FFF2-40B4-BE49-F238E27FC236}">
                <a16:creationId xmlns:a16="http://schemas.microsoft.com/office/drawing/2014/main" id="{40112CDD-4C7A-4C0A-B222-EBE246EDFFB7}"/>
              </a:ext>
            </a:extLst>
          </p:cNvPr>
          <p:cNvSpPr>
            <a:spLocks xmlns:a="http://schemas.openxmlformats.org/drawingml/2006/main" noGrp="1"/>
          </p:cNvSpPr>
          <p:nvPr/>
        </p:nvSpPr>
        <p:spPr>
          <a:xfrm xmlns:a="http://schemas.openxmlformats.org/drawingml/2006/main">
            <a:off x="3867150" y="4352925"/>
            <a:ext cx="28860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800" b="0" i="0">
                <a:solidFill>
                  <a:srgbClr val="293730"/>
                </a:solidFill>
                <a:latin typeface="Times New Roman"/>
                <a:ea typeface="Times New Roman"/>
                <a:cs typeface="Times New Roman"/>
              </a:defRPr>
            </a:pPr>
            <a:r>
              <a:rPr sz="1800" b="0" i="0" u="none">
                <a:solidFill>
                  <a:srgbClr val="293730"/>
                </a:solidFill>
                <a:latin typeface="Times New Roman"/>
                <a:ea typeface="Times New Roman"/>
                <a:cs typeface="Times New Roman"/>
              </a:rPr>
              <a:t>Find memory, disk</a:t>
            </a:r>
          </a:p>
          <a:p xmlns:a="http://schemas.openxmlformats.org/drawingml/2006/main">
            <a:pPr algn="l">
              <a:spcBef>
                <a:spcPts val="0"/>
              </a:spcBef>
              <a:spcAft>
                <a:spcPts val="0"/>
              </a:spcAft>
              <a:defRPr sz="1800" b="0" i="0">
                <a:solidFill>
                  <a:srgbClr val="293730"/>
                </a:solidFill>
                <a:latin typeface="Times New Roman"/>
                <a:ea typeface="Times New Roman"/>
                <a:cs typeface="Times New Roman"/>
              </a:defRPr>
            </a:pPr>
            <a:r>
              <a:rPr sz="1800" b="0" i="0" u="none">
                <a:solidFill>
                  <a:srgbClr val="293730"/>
                </a:solidFill>
                <a:latin typeface="Times New Roman"/>
                <a:ea typeface="Times New Roman"/>
                <a:cs typeface="Times New Roman"/>
              </a:rPr>
              <a:t>and graphics problems.</a:t>
            </a:r>
          </a:p>
        </p:txBody>
      </p:sp>
      <p:sp>
        <p:nvSpPr>
          <p:cNvPr id="26" name="SR-enabled CPU suite; Windows/GL&#10;smoke test; ">
            <a:extLst xmlns:a="http://schemas.openxmlformats.org/drawingml/2006/main">
              <a:ext uri="{FF2B5EF4-FFF2-40B4-BE49-F238E27FC236}">
                <a16:creationId xmlns:a16="http://schemas.microsoft.com/office/drawing/2014/main" id="{9A701490-5890-4296-9459-0E3088B9EA62}"/>
              </a:ext>
            </a:extLst>
          </p:cNvPr>
          <p:cNvSpPr>
            <a:spLocks xmlns:a="http://schemas.openxmlformats.org/drawingml/2006/main" noGrp="1"/>
          </p:cNvSpPr>
          <p:nvPr/>
        </p:nvSpPr>
        <p:spPr>
          <a:xfrm xmlns:a="http://schemas.openxmlformats.org/drawingml/2006/main">
            <a:off x="7058025" y="4352925"/>
            <a:ext cx="43719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800" b="0" i="0">
                <a:solidFill>
                  <a:srgbClr val="293730"/>
                </a:solidFill>
                <a:latin typeface="Times New Roman"/>
                <a:ea typeface="Times New Roman"/>
                <a:cs typeface="Times New Roman"/>
              </a:defRPr>
            </a:pPr>
            <a:r>
              <a:rPr sz="1800" b="0" i="0" u="none">
                <a:solidFill>
                  <a:srgbClr val="293730"/>
                </a:solidFill>
                <a:latin typeface="Times New Roman"/>
                <a:ea typeface="Times New Roman"/>
                <a:cs typeface="Times New Roman"/>
              </a:rPr>
              <a:t>Run SR and Windows/3D tests.</a:t>
            </a:r>
          </a:p>
          <a:p xmlns:a="http://schemas.openxmlformats.org/drawingml/2006/main">
            <a:pPr algn="l">
              <a:spcBef>
                <a:spcPts val="0"/>
              </a:spcBef>
              <a:spcAft>
                <a:spcPts val="0"/>
              </a:spcAft>
              <a:defRPr sz="1800" b="0" i="0">
                <a:solidFill>
                  <a:srgbClr val="293730"/>
                </a:solidFill>
                <a:latin typeface="Times New Roman"/>
                <a:ea typeface="Times New Roman"/>
                <a:cs typeface="Times New Roman"/>
              </a:defRPr>
            </a:pPr>
            <a:r>
              <a:rPr sz="1800" b="0" i="0" u="none">
                <a:solidFill>
                  <a:srgbClr val="293730"/>
                </a:solidFill>
                <a:latin typeface="Times New Roman"/>
                <a:ea typeface="Times New Roman"/>
                <a:cs typeface="Times New Roman"/>
              </a:rPr>
              <a:t>Measure time and memory use.</a:t>
            </a:r>
          </a:p>
        </p:txBody>
      </p:sp>
      <p:sp>
        <p:nvSpPr>
          <p:cNvPr id="27" name="直线连接符 26">
            <a:extLst xmlns:a="http://schemas.openxmlformats.org/drawingml/2006/main">
              <a:ext uri="{FF2B5EF4-FFF2-40B4-BE49-F238E27FC236}">
                <a16:creationId xmlns:a16="http://schemas.microsoft.com/office/drawing/2014/main" id="{FD21C9AF-9D52-40BA-AE8C-AE1EB066969A}"/>
              </a:ext>
            </a:extLst>
          </p:cNvPr>
          <p:cNvSpPr>
            <a:spLocks xmlns:a="http://schemas.openxmlformats.org/drawingml/2006/main" noGrp="1"/>
          </p:cNvSpPr>
          <p:nvPr/>
        </p:nvSpPr>
        <p:spPr>
          <a:xfrm xmlns:a="http://schemas.openxmlformats.org/drawingml/2006/main">
            <a:off x="609600" y="4981575"/>
            <a:ext cx="10972800" cy="0"/>
          </a:xfrm>
          <a:prstGeom xmlns:a="http://schemas.openxmlformats.org/drawingml/2006/main" prst="line">
            <a:avLst/>
          </a:prstGeom>
          <a:noFill xmlns:a="http://schemas.openxmlformats.org/drawingml/2006/main"/>
          <a:ln xmlns:a="http://schemas.openxmlformats.org/drawingml/2006/main" w="9525">
            <a:solidFill>
              <a:srgbClr val="CCD5CF"/>
            </a:solidFill>
            <a:prstDash val="solid"/>
          </a:ln>
        </p:spPr>
      </p:sp>
      <p:sp>
        <p:nvSpPr>
          <p:cNvPr id="28" name="5  Close the feedback loop">
            <a:extLst xmlns:a="http://schemas.openxmlformats.org/drawingml/2006/main">
              <a:ext uri="{FF2B5EF4-FFF2-40B4-BE49-F238E27FC236}">
                <a16:creationId xmlns:a16="http://schemas.microsoft.com/office/drawing/2014/main" id="{C255DEC3-7563-4D1A-9B17-B189F5E99AA0}"/>
              </a:ext>
            </a:extLst>
          </p:cNvPr>
          <p:cNvSpPr>
            <a:spLocks xmlns:a="http://schemas.openxmlformats.org/drawingml/2006/main" noGrp="1"/>
          </p:cNvSpPr>
          <p:nvPr/>
        </p:nvSpPr>
        <p:spPr>
          <a:xfrm xmlns:a="http://schemas.openxmlformats.org/drawingml/2006/main">
            <a:off x="762000" y="5067300"/>
            <a:ext cx="28003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950" b="1" i="0">
                <a:solidFill>
                  <a:srgbClr val="173F32"/>
                </a:solidFill>
                <a:latin typeface="Times New Roman"/>
                <a:ea typeface="Times New Roman"/>
                <a:cs typeface="Times New Roman"/>
              </a:defRPr>
            </a:pPr>
            <a:r>
              <a:rPr sz="1950" b="1" i="0" u="none">
                <a:solidFill>
                  <a:srgbClr val="173F32"/>
                </a:solidFill>
                <a:latin typeface="Times New Roman"/>
                <a:ea typeface="Times New Roman"/>
                <a:cs typeface="Times New Roman"/>
              </a:rPr>
              <a:t>5  Review with the client</a:t>
            </a:r>
          </a:p>
        </p:txBody>
      </p:sp>
      <p:sp>
        <p:nvSpPr>
          <p:cNvPr id="29" name="Make progress and&#10;acceptance auditable.">
            <a:extLst xmlns:a="http://schemas.openxmlformats.org/drawingml/2006/main">
              <a:ext uri="{FF2B5EF4-FFF2-40B4-BE49-F238E27FC236}">
                <a16:creationId xmlns:a16="http://schemas.microsoft.com/office/drawing/2014/main" id="{2A7353AB-8824-439E-970D-F450DA0A3FAC}"/>
              </a:ext>
            </a:extLst>
          </p:cNvPr>
          <p:cNvSpPr>
            <a:spLocks xmlns:a="http://schemas.openxmlformats.org/drawingml/2006/main" noGrp="1"/>
          </p:cNvSpPr>
          <p:nvPr/>
        </p:nvSpPr>
        <p:spPr>
          <a:xfrm xmlns:a="http://schemas.openxmlformats.org/drawingml/2006/main">
            <a:off x="3867150" y="5067300"/>
            <a:ext cx="28860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800" b="0" i="0">
                <a:solidFill>
                  <a:srgbClr val="293730"/>
                </a:solidFill>
                <a:latin typeface="Times New Roman"/>
                <a:ea typeface="Times New Roman"/>
                <a:cs typeface="Times New Roman"/>
              </a:defRPr>
            </a:pPr>
            <a:r>
              <a:rPr sz="1800" b="0" i="0" u="none">
                <a:solidFill>
                  <a:srgbClr val="293730"/>
                </a:solidFill>
                <a:latin typeface="Times New Roman"/>
                <a:ea typeface="Times New Roman"/>
                <a:cs typeface="Times New Roman"/>
              </a:rPr>
              <a:t>Check that the changes</a:t>
            </a:r>
          </a:p>
          <a:p xmlns:a="http://schemas.openxmlformats.org/drawingml/2006/main">
            <a:pPr algn="l">
              <a:spcBef>
                <a:spcPts val="0"/>
              </a:spcBef>
              <a:spcAft>
                <a:spcPts val="0"/>
              </a:spcAft>
              <a:defRPr sz="1800" b="0" i="0">
                <a:solidFill>
                  <a:srgbClr val="293730"/>
                </a:solidFill>
                <a:latin typeface="Times New Roman"/>
                <a:ea typeface="Times New Roman"/>
                <a:cs typeface="Times New Roman"/>
              </a:defRPr>
            </a:pPr>
            <a:r>
              <a:rPr sz="1800" b="0" i="0" u="none">
                <a:solidFill>
                  <a:srgbClr val="293730"/>
                </a:solidFill>
                <a:latin typeface="Times New Roman"/>
                <a:ea typeface="Times New Roman"/>
                <a:cs typeface="Times New Roman"/>
              </a:rPr>
              <a:t>meet their needs.</a:t>
            </a:r>
          </a:p>
        </p:txBody>
      </p:sp>
      <p:sp>
        <p:nvSpPr>
          <p:cNvPr id="30" name="Client demo + action outcomes; freeze&#10;estimat">
            <a:extLst xmlns:a="http://schemas.openxmlformats.org/drawingml/2006/main">
              <a:ext uri="{FF2B5EF4-FFF2-40B4-BE49-F238E27FC236}">
                <a16:creationId xmlns:a16="http://schemas.microsoft.com/office/drawing/2014/main" id="{40AFA6E8-C1C9-4A68-883F-8C02E159B4BB}"/>
              </a:ext>
            </a:extLst>
          </p:cNvPr>
          <p:cNvSpPr>
            <a:spLocks xmlns:a="http://schemas.openxmlformats.org/drawingml/2006/main" noGrp="1"/>
          </p:cNvSpPr>
          <p:nvPr/>
        </p:nvSpPr>
        <p:spPr>
          <a:xfrm xmlns:a="http://schemas.openxmlformats.org/drawingml/2006/main">
            <a:off x="7058025" y="5067300"/>
            <a:ext cx="43719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spcBef>
                <a:spcPts val="0"/>
              </a:spcBef>
              <a:spcAft>
                <a:spcPts val="0"/>
              </a:spcAft>
              <a:defRPr sz="1800" b="0" i="0">
                <a:solidFill>
                  <a:srgbClr val="293730"/>
                </a:solidFill>
                <a:latin typeface="Times New Roman"/>
                <a:ea typeface="Times New Roman"/>
                <a:cs typeface="Times New Roman"/>
              </a:defRPr>
            </a:pPr>
            <a:r>
              <a:rPr sz="1800" b="0" i="0" u="none">
                <a:solidFill>
                  <a:srgbClr val="293730"/>
                </a:solidFill>
                <a:latin typeface="Times New Roman"/>
                <a:ea typeface="Times New Roman"/>
                <a:cs typeface="Times New Roman"/>
              </a:rPr>
              <a:t>Demo the app and record actions.</a:t>
            </a:r>
          </a:p>
          <a:p xmlns:a="http://schemas.openxmlformats.org/drawingml/2006/main">
            <a:pPr algn="l">
              <a:spcBef>
                <a:spcPts val="0"/>
              </a:spcBef>
              <a:spcAft>
                <a:spcPts val="0"/>
              </a:spcAft>
              <a:defRPr sz="1800" b="0" i="0">
                <a:solidFill>
                  <a:srgbClr val="293730"/>
                </a:solidFill>
                <a:latin typeface="Times New Roman"/>
                <a:ea typeface="Times New Roman"/>
                <a:cs typeface="Times New Roman"/>
              </a:defRPr>
            </a:pPr>
            <a:r>
              <a:rPr sz="1800" b="0" i="0" u="none">
                <a:solidFill>
                  <a:srgbClr val="293730"/>
                </a:solidFill>
                <a:latin typeface="Times New Roman"/>
                <a:ea typeface="Times New Roman"/>
                <a:cs typeface="Times New Roman"/>
              </a:rPr>
              <a:t>Agree priorities and first estimates.</a:t>
            </a:r>
          </a:p>
        </p:txBody>
      </p:sp>
      <p:sp>
        <p:nvSpPr>
          <p:cNvPr id="31" name="直线连接符 30">
            <a:extLst xmlns:a="http://schemas.openxmlformats.org/drawingml/2006/main">
              <a:ext uri="{FF2B5EF4-FFF2-40B4-BE49-F238E27FC236}">
                <a16:creationId xmlns:a16="http://schemas.microsoft.com/office/drawing/2014/main" id="{B8C9155E-E4C0-424C-BE4B-3B8531589A2F}"/>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CCD5CF"/>
            </a:solidFill>
            <a:prstDash val="solid"/>
          </a:ln>
        </p:spPr>
      </p:sp>
      <p:sp>
        <p:nvSpPr>
          <p:cNvPr id="32" name="Next discussion: confirm priority order, vali">
            <a:extLst xmlns:a="http://schemas.openxmlformats.org/drawingml/2006/main">
              <a:ext uri="{FF2B5EF4-FFF2-40B4-BE49-F238E27FC236}">
                <a16:creationId xmlns:a16="http://schemas.microsoft.com/office/drawing/2014/main" id="{30046C73-8ACE-4932-A1DC-3C2F97A60392}"/>
              </a:ext>
            </a:extLst>
          </p:cNvPr>
          <p:cNvSpPr>
            <a:spLocks xmlns:a="http://schemas.openxmlformats.org/drawingml/2006/main" noGrp="1"/>
          </p:cNvSpPr>
          <p:nvPr/>
        </p:nvSpPr>
        <p:spPr>
          <a:xfrm xmlns:a="http://schemas.openxmlformats.org/drawingml/2006/main">
            <a:off x="609600" y="5857875"/>
            <a:ext cx="10972800" cy="333375"/>
          </a:xfrm>
          <a:prstGeom xmlns:a="http://schemas.openxmlformats.org/drawingml/2006/main" prst="rect">
            <a:avLst/>
          </a:prstGeom>
          <a:solidFill xmlns:a="http://schemas.openxmlformats.org/drawingml/2006/main">
            <a:srgbClr val="EDF2EE"/>
          </a:solidFill>
          <a:ln xmlns:a="http://schemas.openxmlformats.org/drawingml/2006/main" w="0">
            <a:noFill/>
          </a:ln>
        </p:spPr>
        <p:txBody>
          <a:bodyPr xmlns:a="http://schemas.openxmlformats.org/drawingml/2006/main" wrap="square" lIns="133350" tIns="38100" rIns="133350" bIns="38100" anchor="ctr">
            <a:noAutofit/>
          </a:bodyPr>
          <a:lstStyle xmlns:a="http://schemas.openxmlformats.org/drawingml/2006/main"/>
          <a:p xmlns:a="http://schemas.openxmlformats.org/drawingml/2006/main">
            <a:pPr algn="l">
              <a:spcBef>
                <a:spcPts val="0"/>
              </a:spcBef>
              <a:spcAft>
                <a:spcPts val="0"/>
              </a:spcAft>
              <a:defRPr sz="1725" b="0" i="0">
                <a:solidFill>
                  <a:srgbClr val="173F32"/>
                </a:solidFill>
                <a:latin typeface="Times New Roman"/>
                <a:ea typeface="Times New Roman"/>
                <a:cs typeface="Times New Roman"/>
              </a:defRPr>
            </a:pPr>
            <a:r>
              <a:rPr sz="1725" b="0" i="0" u="none">
                <a:solidFill>
                  <a:srgbClr val="173F32"/>
                </a:solidFill>
                <a:latin typeface="Times New Roman"/>
                <a:ea typeface="Times New Roman"/>
                <a:cs typeface="Times New Roman"/>
              </a:rPr>
              <a:t>These are proposed goals. We will confirm priorities, owners and time before the sprint starts.</a:t>
            </a:r>
          </a:p>
        </p:txBody>
      </p:sp>
    </p:spTree>
    <p:extLst>
      <p:ext uri="{BB962C8B-B14F-4D97-AF65-F5344CB8AC3E}">
        <p14:creationId xmlns:p14="http://schemas.microsoft.com/office/powerpoint/2010/main" val="186617012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2026-08-28T08:04:44.7300000Z</dcterms:created>
  <dcterms:modified xsi:type="dcterms:W3CDTF">2026-08-28T08:04:44.7300000Z</dcterms:modified>
</coreProperties>
</file>