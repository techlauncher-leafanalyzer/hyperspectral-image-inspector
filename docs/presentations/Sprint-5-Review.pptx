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7ab6847efeb4b99" /><Relationship Type="http://schemas.openxmlformats.org/officeDocument/2006/relationships/extended-properties" Target="/docProps/app.xml" Id="Rff4c42d3031e45a5" /><Relationship Type="http://schemas.openxmlformats.org/officeDocument/2006/relationships/officeDocument" Target="/ppt/presentation.xml" Id="R8ca2e36742714fda" /></Relationships>
</file>

<file path=ppt/presentation.xml><?xml version="1.0" encoding="utf-8"?>
<p:presentation xmlns:p="http://schemas.openxmlformats.org/presentationml/2006/main">
  <p:sldMasterIdLst>
    <p:sldMasterId xmlns:r="http://schemas.openxmlformats.org/officeDocument/2006/relationships" id="2147483648" r:id="R58a4d5b5c78d484e"/>
  </p:sldMasterIdLst>
  <p:notesMasterIdLst>
    <p:notesMasterId xmlns:r="http://schemas.openxmlformats.org/officeDocument/2006/relationships" r:id="Rcd1d9b2fbf6744d1"/>
  </p:notesMasterIdLst>
  <p:sldIdLst>
    <p:sldId xmlns:r="http://schemas.openxmlformats.org/officeDocument/2006/relationships" id="256" r:id="R1ae08337787e485e"/>
    <p:sldId xmlns:r="http://schemas.openxmlformats.org/officeDocument/2006/relationships" id="257" r:id="Rf8d98cf859e8498a"/>
    <p:sldId xmlns:r="http://schemas.openxmlformats.org/officeDocument/2006/relationships" id="258" r:id="Re7f5d23b2fc74cdd"/>
    <p:sldId xmlns:r="http://schemas.openxmlformats.org/officeDocument/2006/relationships" id="259" r:id="Rc18939d3fbec4b77"/>
    <p:sldId xmlns:r="http://schemas.openxmlformats.org/officeDocument/2006/relationships" id="260" r:id="Rbd3cfda8660a414b"/>
    <p:sldId xmlns:r="http://schemas.openxmlformats.org/officeDocument/2006/relationships" id="261" r:id="Rf2f698cc1af24d01"/>
    <p:sldId xmlns:r="http://schemas.openxmlformats.org/officeDocument/2006/relationships" id="262" r:id="R1c90e74390d14157"/>
    <p:sldId xmlns:r="http://schemas.openxmlformats.org/officeDocument/2006/relationships" id="263" r:id="Rbac8cc938a6c4119"/>
    <p:sldId xmlns:r="http://schemas.openxmlformats.org/officeDocument/2006/relationships" id="264" r:id="R88650892daad440a"/>
    <p:sldId xmlns:r="http://schemas.openxmlformats.org/officeDocument/2006/relationships" id="265" r:id="Rcc4eee44a6b04aee"/>
    <p:sldId xmlns:r="http://schemas.openxmlformats.org/officeDocument/2006/relationships" id="266" r:id="R56a61877b69c4793"/>
    <p:sldId xmlns:r="http://schemas.openxmlformats.org/officeDocument/2006/relationships" id="267" r:id="Rbc4a132833764399"/>
    <p:sldId xmlns:r="http://schemas.openxmlformats.org/officeDocument/2006/relationships" id="268" r:id="R9c68227e6495432d"/>
    <p:sldId xmlns:r="http://schemas.openxmlformats.org/officeDocument/2006/relationships" id="269" r:id="Rebf99bc268a14e3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41a86bd6d8d7462f" /><Relationship Type="http://schemas.openxmlformats.org/officeDocument/2006/relationships/slideMaster" Target="/ppt/slideMasters/slideMaster1.xml" Id="R58a4d5b5c78d484e" /><Relationship Type="http://schemas.openxmlformats.org/officeDocument/2006/relationships/notesMaster" Target="/ppt/notesMasters/notesMaster1.xml" Id="Rcd1d9b2fbf6744d1" /><Relationship Type="http://schemas.openxmlformats.org/officeDocument/2006/relationships/presProps" Target="/ppt/presProps.xml" Id="Red05e770530244de" /><Relationship Type="http://schemas.openxmlformats.org/officeDocument/2006/relationships/viewProps" Target="/ppt/viewProps.xml" Id="R3d598473b7a741d3" /><Relationship Type="http://schemas.openxmlformats.org/officeDocument/2006/relationships/tableStyles" Target="/ppt/tableStyles.xml" Id="Ra0d97a0d9d924b34" /><Relationship Type="http://schemas.openxmlformats.org/officeDocument/2006/relationships/slide" Target="/ppt/slides/slide1.xml" Id="R1ae08337787e485e" /><Relationship Type="http://schemas.openxmlformats.org/officeDocument/2006/relationships/slide" Target="/ppt/slides/slide2.xml" Id="Rf8d98cf859e8498a" /><Relationship Type="http://schemas.openxmlformats.org/officeDocument/2006/relationships/slide" Target="/ppt/slides/slide3.xml" Id="Re7f5d23b2fc74cdd" /><Relationship Type="http://schemas.openxmlformats.org/officeDocument/2006/relationships/slide" Target="/ppt/slides/slide4.xml" Id="Rc18939d3fbec4b77" /><Relationship Type="http://schemas.openxmlformats.org/officeDocument/2006/relationships/slide" Target="/ppt/slides/slide5.xml" Id="Rbd3cfda8660a414b" /><Relationship Type="http://schemas.openxmlformats.org/officeDocument/2006/relationships/slide" Target="/ppt/slides/slide6.xml" Id="Rf2f698cc1af24d01" /><Relationship Type="http://schemas.openxmlformats.org/officeDocument/2006/relationships/slide" Target="/ppt/slides/slide7.xml" Id="R1c90e74390d14157" /><Relationship Type="http://schemas.openxmlformats.org/officeDocument/2006/relationships/slide" Target="/ppt/slides/slide8.xml" Id="Rbac8cc938a6c4119" /><Relationship Type="http://schemas.openxmlformats.org/officeDocument/2006/relationships/slide" Target="/ppt/slides/slide9.xml" Id="R88650892daad440a" /><Relationship Type="http://schemas.openxmlformats.org/officeDocument/2006/relationships/slide" Target="/ppt/slides/slide10.xml" Id="Rcc4eee44a6b04aee" /><Relationship Type="http://schemas.openxmlformats.org/officeDocument/2006/relationships/slide" Target="/ppt/slides/slide11.xml" Id="R56a61877b69c4793" /><Relationship Type="http://schemas.openxmlformats.org/officeDocument/2006/relationships/slide" Target="/ppt/slides/slide12.xml" Id="Rbc4a132833764399" /><Relationship Type="http://schemas.openxmlformats.org/officeDocument/2006/relationships/slide" Target="/ppt/slides/slide13.xml" Id="R9c68227e6495432d" /><Relationship Type="http://schemas.openxmlformats.org/officeDocument/2006/relationships/slide" Target="/ppt/slides/slide14.xml" Id="Rebf99bc268a14e3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57513b38c674b4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notesSlides/_rels/notesSlide1.xml.rels>&#65279;<?xml version="1.0" encoding="utf-8"?><Relationships xmlns="http://schemas.openxmlformats.org/package/2006/relationships"><Relationship Type="http://schemas.openxmlformats.org/officeDocument/2006/relationships/slide" Target="/ppt/slides/slide1.xml" Id="Rc60aa11d0801441f" /><Relationship Type="http://schemas.openxmlformats.org/officeDocument/2006/relationships/notesMaster" Target="/ppt/notesMasters/notesMaster1.xml" Id="Rb6791fe160af4ec8" /></Relationships>
</file>

<file path=ppt/notesSlides/_rels/notesSlide2.xml.rels>&#65279;<?xml version="1.0" encoding="utf-8"?><Relationships xmlns="http://schemas.openxmlformats.org/package/2006/relationships"><Relationship Type="http://schemas.openxmlformats.org/officeDocument/2006/relationships/slide" Target="/ppt/slides/slide2.xml" Id="Rd6634c3fee9d4dbb" /><Relationship Type="http://schemas.openxmlformats.org/officeDocument/2006/relationships/notesMaster" Target="/ppt/notesMasters/notesMaster1.xml" Id="R8db0613d3d2d4b70" /></Relationships>
</file>

<file path=ppt/notesSlides/_rels/notesSlide3.xml.rels>&#65279;<?xml version="1.0" encoding="utf-8"?><Relationships xmlns="http://schemas.openxmlformats.org/package/2006/relationships"><Relationship Type="http://schemas.openxmlformats.org/officeDocument/2006/relationships/slide" Target="/ppt/slides/slide3.xml" Id="R3590058917b443d4" /><Relationship Type="http://schemas.openxmlformats.org/officeDocument/2006/relationships/notesMaster" Target="/ppt/notesMasters/notesMaster1.xml" Id="R8b8d217753414e29" /></Relationships>
</file>

<file path=ppt/notesSlides/_rels/notesSlide4.xml.rels>&#65279;<?xml version="1.0" encoding="utf-8"?><Relationships xmlns="http://schemas.openxmlformats.org/package/2006/relationships"><Relationship Type="http://schemas.openxmlformats.org/officeDocument/2006/relationships/slide" Target="/ppt/slides/slide4.xml" Id="R8dbe84c9abb14a7a" /><Relationship Type="http://schemas.openxmlformats.org/officeDocument/2006/relationships/notesMaster" Target="/ppt/notesMasters/notesMaster1.xml" Id="R1a280a19a7764514" /></Relationships>
</file>

<file path=ppt/notesSlides/_rels/notesSlide5.xml.rels>&#65279;<?xml version="1.0" encoding="utf-8"?><Relationships xmlns="http://schemas.openxmlformats.org/package/2006/relationships"><Relationship Type="http://schemas.openxmlformats.org/officeDocument/2006/relationships/slide" Target="/ppt/slides/slide5.xml" Id="R7f9b3eda54b14b07" /><Relationship Type="http://schemas.openxmlformats.org/officeDocument/2006/relationships/notesMaster" Target="/ppt/notesMasters/notesMaster1.xml" Id="Re6fbffade4c9443e" /></Relationships>
</file>

<file path=ppt/notesSlides/_rels/notesSlide6.xml.rels>&#65279;<?xml version="1.0" encoding="utf-8"?><Relationships xmlns="http://schemas.openxmlformats.org/package/2006/relationships"><Relationship Type="http://schemas.openxmlformats.org/officeDocument/2006/relationships/slide" Target="/ppt/slides/slide6.xml" Id="Ra15949a48efa4bbe" /><Relationship Type="http://schemas.openxmlformats.org/officeDocument/2006/relationships/notesMaster" Target="/ppt/notesMasters/notesMaster1.xml" Id="R9abf786ea5e24c00" /></Relationships>
</file>

<file path=ppt/notesSlides/_rels/notesSlide7.xml.rels>&#65279;<?xml version="1.0" encoding="utf-8"?><Relationships xmlns="http://schemas.openxmlformats.org/package/2006/relationships"><Relationship Type="http://schemas.openxmlformats.org/officeDocument/2006/relationships/slide" Target="/ppt/slides/slide7.xml" Id="Rd7dd1a515d5a42c4" /><Relationship Type="http://schemas.openxmlformats.org/officeDocument/2006/relationships/notesMaster" Target="/ppt/notesMasters/notesMaster1.xml" Id="R034615e918c3485e" /></Relationships>
</file>

<file path=ppt/notesSlides/_rels/notesSlide8.xml.rels>&#65279;<?xml version="1.0" encoding="utf-8"?><Relationships xmlns="http://schemas.openxmlformats.org/package/2006/relationships"><Relationship Type="http://schemas.openxmlformats.org/officeDocument/2006/relationships/slide" Target="/ppt/slides/slide8.xml" Id="Rf4fa924dcf1b49f1" /><Relationship Type="http://schemas.openxmlformats.org/officeDocument/2006/relationships/notesMaster" Target="/ppt/notesMasters/notesMaster1.xml" Id="Rf94026cd59f440b5" /></Relationships>
</file>

<file path=ppt/notesSlides/_rels/notesSlide9.xml.rels>&#65279;<?xml version="1.0" encoding="utf-8"?><Relationships xmlns="http://schemas.openxmlformats.org/package/2006/relationships"><Relationship Type="http://schemas.openxmlformats.org/officeDocument/2006/relationships/slide" Target="/ppt/slides/slide9.xml" Id="R1fb66d3944cf4c28" /><Relationship Type="http://schemas.openxmlformats.org/officeDocument/2006/relationships/notesMaster" Target="/ppt/notesMasters/notesMaster1.xml" Id="R4713fa80a01248f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43e00b51c504503" /><Relationship Type="http://schemas.openxmlformats.org/officeDocument/2006/relationships/notesMaster" Target="/ppt/notesMasters/notesMaster1.xml" Id="Ref9524c6550f47f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ee0ca8a18df4261" /><Relationship Type="http://schemas.openxmlformats.org/officeDocument/2006/relationships/notesMaster" Target="/ppt/notesMasters/notesMaster1.xml" Id="Ref86d6badc1f416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cc1d917533b4a55" /><Relationship Type="http://schemas.openxmlformats.org/officeDocument/2006/relationships/notesMaster" Target="/ppt/notesMasters/notesMaster1.xml" Id="R88e05cddf4b246d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675911d2ac54b2f" /><Relationship Type="http://schemas.openxmlformats.org/officeDocument/2006/relationships/notesMaster" Target="/ppt/notesMasters/notesMaster1.xml" Id="R886f2369fe3f45b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7639e3579714d26" /><Relationship Type="http://schemas.openxmlformats.org/officeDocument/2006/relationships/notesMaster" Target="/ppt/notesMasters/notesMaster1.xml" Id="Rf7038f578c764b0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our Sprint 5 review. We will show the main features we finished, how we used last sprint’s feedback, and what we want to do next. The evidence is from Jira, GitHub and our weekly reports and reflections. This is our progress as of 28 August. Sprint 5 is still active, so we are not saying that every task is finished.</a:t>
            </a:r>
          </a:p>
          <a:p xmlns:a="http://schemas.openxmlformats.org/drawingml/2006/main">
            <a:r>
              <a:t/>
            </a:r>
            <a:endParaRPr/>
          </a:p>
          <a:p xmlns:a="http://schemas.openxmlformats.org/drawingml/2006/main">
            <a:r>
              <a:t>[Sources]</a:t>
            </a:r>
          </a:p>
          <a:p xmlns:a="http://schemas.openxmlformats.org/drawingml/2006/main">
            <a:r>
              <a:t>- https://leaf2qr.atlassian.net/browse/LEAF-150 (Sprint field: Sprint 5, started 21 August; scheduled end 4 September AEST)</a:t>
            </a:r>
          </a:p>
          <a:p xmlns:a="http://schemas.openxmlformats.org/drawingml/2006/main">
            <a:r>
              <a:t>- https://leaf2qr.atlassian.net/wiki/spaces/L/pages/18284545</a:t>
            </a:r>
          </a:p>
          <a:p xmlns:a="http://schemas.openxmlformats.org/drawingml/2006/main">
            <a:r>
              <a:t>- https://github.com/Techlauncher-LeafAnalyzer/Hyperspectral-Image-Inspector/commit/ac7161342dbb661c9f5efbfd9de5a554ee4c6141</a:t>
            </a:r>
          </a:p>
          <a:p xmlns:a="http://schemas.openxmlformats.org/drawingml/2006/main">
            <a:r>
              <a:t>- Sprint 4 feedback: supplied by the team in the presentation brief.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connected RGB and six vegetation index views to the interface. We can inspect pixel values, plot a spectrum and save the view. Hypercube and real super resolution are also connected. Classification was merged on 28 August. Some of the model code and basic cropping existed before this sprint. This sprint added integration work and fixes. We still need to check scientific accuracy and get the client’s review.</a:t>
            </a:r>
          </a:p>
          <a:p xmlns:a="http://schemas.openxmlformats.org/drawingml/2006/main">
            <a:r>
              <a:t/>
            </a:r>
            <a:endParaRPr/>
          </a:p>
          <a:p xmlns:a="http://schemas.openxmlformats.org/drawingml/2006/main">
            <a:r>
              <a:t>[Sources]</a:t>
            </a:r>
          </a:p>
          <a:p xmlns:a="http://schemas.openxmlformats.org/drawingml/2006/main">
            <a:r>
              <a:t>- https://github.com/Techlauncher-LeafAnalyzer/Hyperspectral-Image-Inspector/pull/24</a:t>
            </a:r>
          </a:p>
          <a:p xmlns:a="http://schemas.openxmlformats.org/drawingml/2006/main">
            <a:r>
              <a:t>- https://github.com/Techlauncher-LeafAnalyzer/Hyperspectral-Image-Inspector/pull/29</a:t>
            </a:r>
          </a:p>
          <a:p xmlns:a="http://schemas.openxmlformats.org/drawingml/2006/main">
            <a:r>
              <a:t>- https://github.com/Techlauncher-LeafAnalyzer/Hyperspectral-Image-Inspector/pull/33</a:t>
            </a:r>
          </a:p>
          <a:p xmlns:a="http://schemas.openxmlformats.org/drawingml/2006/main">
            <a:r>
              <a:t>- https://github.com/Techlauncher-LeafAnalyzer/Hyperspectral-Image-Inspector/pull/34</a:t>
            </a:r>
          </a:p>
          <a:p xmlns:a="http://schemas.openxmlformats.org/drawingml/2006/main">
            <a:r>
              <a:t>- https://github.com/Techlauncher-LeafAnalyzer/Hyperspectral-Image-Inspector/pull/36</a:t>
            </a:r>
          </a:p>
          <a:p xmlns:a="http://schemas.openxmlformats.org/drawingml/2006/main">
            <a:r>
              <a:t>- https://leaf2qr.atlassian.net/wiki/spaces/L/pages/18284545</a:t>
            </a:r>
          </a:p>
          <a:p xmlns:a="http://schemas.openxmlformats.org/drawingml/2006/main">
            <a:r>
              <a:t>- https://leaf2qr.atlassian.net/wiki/spaces/L/pages/19726337</a:t>
            </a:r>
          </a:p>
          <a:p xmlns:a="http://schemas.openxmlformats.org/drawingml/2006/main">
            <a:r>
              <a:t>- Screenshots: real project UI or browser captures taken 28 August 2026; cropped only for placement. Actual application with the real tray capture loaded in RGB view.</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real screenshots of the app, using a local hyperspectral capture. Hypercube lets us rotate and zoom the cube and save the view. Super resolution uses the existing 480-band model and doubles the image width and height. We can compare the original and processed image. The SR screenshot uses a small crop to keep the demo manageable. These pictures show that the features run; they do not prove that the output is scientifically accurate.</a:t>
            </a:r>
          </a:p>
          <a:p xmlns:a="http://schemas.openxmlformats.org/drawingml/2006/main">
            <a:r>
              <a:t/>
            </a:r>
            <a:endParaRPr/>
          </a:p>
          <a:p xmlns:a="http://schemas.openxmlformats.org/drawingml/2006/main">
            <a:r>
              <a:t>[Sources]</a:t>
            </a:r>
          </a:p>
          <a:p xmlns:a="http://schemas.openxmlformats.org/drawingml/2006/main">
            <a:r>
              <a:t>- https://github.com/Techlauncher-LeafAnalyzer/Hyperspectral-Image-Inspector/pull/18</a:t>
            </a:r>
          </a:p>
          <a:p xmlns:a="http://schemas.openxmlformats.org/drawingml/2006/main">
            <a:r>
              <a:t>- https://github.com/Techlauncher-LeafAnalyzer/Hyperspectral-Image-Inspector/pull/24</a:t>
            </a:r>
          </a:p>
          <a:p xmlns:a="http://schemas.openxmlformats.org/drawingml/2006/main">
            <a:r>
              <a:t>- https://github.com/Techlauncher-LeafAnalyzer/Hyperspectral-Image-Inspector/pull/29</a:t>
            </a:r>
          </a:p>
          <a:p xmlns:a="http://schemas.openxmlformats.org/drawingml/2006/main">
            <a:r>
              <a:t>- https://github.com/Techlauncher-LeafAnalyzer/Hyperspectral-Image-Inspector/pull/30</a:t>
            </a:r>
          </a:p>
          <a:p xmlns:a="http://schemas.openxmlformats.org/drawingml/2006/main">
            <a:r>
              <a:t>- https://github.com/Techlauncher-LeafAnalyzer/Hyperspectral-Image-Inspector/pull/31</a:t>
            </a:r>
          </a:p>
          <a:p xmlns:a="http://schemas.openxmlformats.org/drawingml/2006/main">
            <a:r>
              <a:t>- https://github.com/Techlauncher-LeafAnalyzer/Hyperspectral-Image-Inspector/pull/32</a:t>
            </a:r>
          </a:p>
          <a:p xmlns:a="http://schemas.openxmlformats.org/drawingml/2006/main">
            <a:r>
              <a:t>- https://github.com/Techlauncher-LeafAnalyzer/Hyperspectral-Image-Inspector/pull/33</a:t>
            </a:r>
          </a:p>
          <a:p xmlns:a="http://schemas.openxmlformats.org/drawingml/2006/main">
            <a:r>
              <a:t>- https://github.com/Techlauncher-LeafAnalyzer/Hyperspectral-Image-Inspector/pull/34</a:t>
            </a:r>
          </a:p>
          <a:p xmlns:a="http://schemas.openxmlformats.org/drawingml/2006/main">
            <a:r>
              <a:t>- https://github.com/Techlauncher-LeafAnalyzer/Hyperspectral-Image-Inspector/pull/36</a:t>
            </a:r>
          </a:p>
          <a:p xmlns:a="http://schemas.openxmlformats.org/drawingml/2006/main">
            <a:r>
              <a:t>- https://github.com/Techlauncher-LeafAnalyzer/Hyperspectral-Image-Inspector/blob/ac7161342dbb661c9f5efbfd9de5a554ee4c6141/docs/model_classification_api.md</a:t>
            </a:r>
          </a:p>
          <a:p xmlns:a="http://schemas.openxmlformats.org/drawingml/2006/main">
            <a:r>
              <a:t>- https://github.com/Techlauncher-LeafAnalyzer/Hyperspectral-Image-Inspector/blob/ac7161342dbb661c9f5efbfd9de5a554ee4c6141/docs/super-resolution.md</a:t>
            </a:r>
          </a:p>
          <a:p xmlns:a="http://schemas.openxmlformats.org/drawingml/2006/main">
            <a:r>
              <a:t>- Screenshots: real project UI or browser captures taken 28 August 2026; cropped only for placement. Actual interactive Hypercube view of the real tray capture. Actual super-resolution result from a crop of the real 480-band capture.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Last sprint, we were asked to track meeting actions more clearly. The client had asked for a better interface and more reliable super resolution using all the bands. We linked that work to Jira tasks and reported progress in the backlog and Week 5 report. The menu, statistics window and colour values also make the app easier to use. These needs came from earlier client records. We have not found a new client sign-off for the finished changes.</a:t>
            </a:r>
          </a:p>
          <a:p xmlns:a="http://schemas.openxmlformats.org/drawingml/2006/main">
            <a:r>
              <a:t/>
            </a:r>
            <a:endParaRPr/>
          </a:p>
          <a:p xmlns:a="http://schemas.openxmlformats.org/drawingml/2006/main">
            <a:r>
              <a:t>[Sources]</a:t>
            </a:r>
          </a:p>
          <a:p xmlns:a="http://schemas.openxmlformats.org/drawingml/2006/main">
            <a:r>
              <a:t>- https://leaf2qr.atlassian.net/wiki/spaces/L/pages/16580683</a:t>
            </a:r>
          </a:p>
          <a:p xmlns:a="http://schemas.openxmlformats.org/drawingml/2006/main">
            <a:r>
              <a:t>- https://leaf2qr.atlassian.net/wiki/spaces/L/pages/16416770</a:t>
            </a:r>
          </a:p>
          <a:p xmlns:a="http://schemas.openxmlformats.org/drawingml/2006/main">
            <a:r>
              <a:t>- https://leaf2qr.atlassian.net/wiki/spaces/L/pages/15630342</a:t>
            </a:r>
          </a:p>
          <a:p xmlns:a="http://schemas.openxmlformats.org/drawingml/2006/main">
            <a:r>
              <a:t>- https://leaf2qr.atlassian.net/browse/LEAF-152</a:t>
            </a:r>
          </a:p>
          <a:p xmlns:a="http://schemas.openxmlformats.org/drawingml/2006/main">
            <a:r>
              <a:t>- https://leaf2qr.atlassian.net/browse/LEAF-158</a:t>
            </a:r>
          </a:p>
          <a:p xmlns:a="http://schemas.openxmlformats.org/drawingml/2006/main">
            <a:r>
              <a:t>- https://leaf2qr.atlassian.net/browse/LEAF-149</a:t>
            </a:r>
          </a:p>
          <a:p xmlns:a="http://schemas.openxmlformats.org/drawingml/2006/main">
            <a:r>
              <a:t>- https://leaf2qr.atlassian.net/browse/LEAF-154</a:t>
            </a:r>
          </a:p>
          <a:p xmlns:a="http://schemas.openxmlformats.org/drawingml/2006/main">
            <a:r>
              <a:t>- https://leaf2qr.atlassian.net/browse/LEAF-155</a:t>
            </a:r>
          </a:p>
          <a:p xmlns:a="http://schemas.openxmlformats.org/drawingml/2006/main">
            <a:r>
              <a:t>- https://leaf2qr.atlassian.net/wiki/spaces/L/pages/18284545</a:t>
            </a:r>
          </a:p>
          <a:p xmlns:a="http://schemas.openxmlformats.org/drawingml/2006/main">
            <a:r>
              <a:t>- https://leaf2qr.atlassian.net/wiki/spaces/L/pages/19726337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tutor asked us to log our time, reflect each week and update the risk plan. Guochen’s Jira task, LEAF-157, has a checklist and links to the project documents. The Week 5 report records the progress. This makes it easier for the tutor to open the task and find the related work. The written follow-up is there, but we should still record the final outcome of each action.</a:t>
            </a:r>
          </a:p>
          <a:p xmlns:a="http://schemas.openxmlformats.org/drawingml/2006/main">
            <a:r>
              <a:t/>
            </a:r>
            <a:endParaRPr/>
          </a:p>
          <a:p xmlns:a="http://schemas.openxmlformats.org/drawingml/2006/main">
            <a:r>
              <a:t>[Sources]</a:t>
            </a:r>
          </a:p>
          <a:p xmlns:a="http://schemas.openxmlformats.org/drawingml/2006/main">
            <a:r>
              <a:t>- https://leaf2qr.atlassian.net/wiki/spaces/L/pages/18645003</a:t>
            </a:r>
          </a:p>
          <a:p xmlns:a="http://schemas.openxmlformats.org/drawingml/2006/main">
            <a:r>
              <a:t>- https://leaf2qr.atlassian.net/browse/LEAF-157</a:t>
            </a:r>
          </a:p>
          <a:p xmlns:a="http://schemas.openxmlformats.org/drawingml/2006/main">
            <a:r>
              <a:t>- https://leaf2qr.atlassian.net/wiki/spaces/L/pages/19726337</a:t>
            </a:r>
          </a:p>
          <a:p xmlns:a="http://schemas.openxmlformats.org/drawingml/2006/main">
            <a:r>
              <a:t>- https://leaf2qr.atlassian.net/wiki/spaces/L/pages/19726345</a:t>
            </a:r>
          </a:p>
          <a:p xmlns:a="http://schemas.openxmlformats.org/drawingml/2006/main">
            <a:r>
              <a:t>- https://leaf2qr.atlassian.net/wiki/spaces/L/pages/6193171</a:t>
            </a:r>
          </a:p>
          <a:p xmlns:a="http://schemas.openxmlformats.org/drawingml/2006/main">
            <a:r>
              <a:t>- https://leaf2qr.atlassian.net/wiki/spaces/L/pages/18284545</a:t>
            </a:r>
          </a:p>
          <a:p xmlns:a="http://schemas.openxmlformats.org/drawingml/2006/main">
            <a:r>
              <a:t>- Sprint 4 stakeholder feedback supplied in the brief.</a:t>
            </a:r>
          </a:p>
          <a:p xmlns:a="http://schemas.openxmlformats.org/drawingml/2006/main">
            <a:r>
              <a:t>- Screenshots: real project UI or browser captures taken 28 August 2026; cropped only for placement. Actual LEAF-157 Jira task with its documentation checklist and owner.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person had assigned tasks in Jira. Ryan worked mainly on the UI and integration fixes. Guochen worked on SR, UI changes and reporting. Jingyi worked on models and supervised classification. Pengyun worked on Hypercube components and classification. Hypercube needed another pass before the model and interface worked together. It moved back to In Progress on 21 August, then the working version was merged on 28 August. We need to plan time for this kind of integration.</a:t>
            </a:r>
          </a:p>
          <a:p xmlns:a="http://schemas.openxmlformats.org/drawingml/2006/main">
            <a:r>
              <a:t/>
            </a:r>
            <a:endParaRPr/>
          </a:p>
          <a:p xmlns:a="http://schemas.openxmlformats.org/drawingml/2006/main">
            <a:r>
              <a:t>[Sources]</a:t>
            </a:r>
          </a:p>
          <a:p xmlns:a="http://schemas.openxmlformats.org/drawingml/2006/main">
            <a:r>
              <a:t>- https://leaf2qr.atlassian.net/wiki/spaces/L/pages/18284545</a:t>
            </a:r>
          </a:p>
          <a:p xmlns:a="http://schemas.openxmlformats.org/drawingml/2006/main">
            <a:r>
              <a:t>- https://leaf2qr.atlassian.net/wiki/spaces/L/pages/18448410</a:t>
            </a:r>
          </a:p>
          <a:p xmlns:a="http://schemas.openxmlformats.org/drawingml/2006/main">
            <a:r>
              <a:t>- https://leaf2qr.atlassian.net/wiki/spaces/L/pages/19726345</a:t>
            </a:r>
          </a:p>
          <a:p xmlns:a="http://schemas.openxmlformats.org/drawingml/2006/main">
            <a:r>
              <a:t>- https://leaf2qr.atlassian.net/browse/LEAF-150 (status history)</a:t>
            </a:r>
          </a:p>
          <a:p xmlns:a="http://schemas.openxmlformats.org/drawingml/2006/main">
            <a:r>
              <a:t>- https://github.com/Techlauncher-LeafAnalyzer/Hyperspectral-Image-Inspector/pull/28</a:t>
            </a:r>
          </a:p>
          <a:p xmlns:a="http://schemas.openxmlformats.org/drawingml/2006/main">
            <a:r>
              <a:t>- https://github.com/Techlauncher-LeafAnalyzer/Hyperspectral-Image-Inspector/pull/29</a:t>
            </a:r>
          </a:p>
          <a:p xmlns:a="http://schemas.openxmlformats.org/drawingml/2006/main">
            <a:r>
              <a:t>- https://github.com/Techlauncher-LeafAnalyzer/Hyperspectral-Image-Inspector/pull/36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can now compare estimates with logged time for some tasks. Hypercube shows five hours estimated and six logged. SR shows five and seven. The menu task matched its estimate, and two smaller UI fixes took less time than estimated. There is a limit to this comparison: SR’s estimate changed from three to five hours, and Hypercube was estimated during review. Next sprint, we should keep the first estimate, record changes and include integration and testing time.</a:t>
            </a:r>
          </a:p>
          <a:p xmlns:a="http://schemas.openxmlformats.org/drawingml/2006/main">
            <a:r>
              <a:t/>
            </a:r>
            <a:endParaRPr/>
          </a:p>
          <a:p xmlns:a="http://schemas.openxmlformats.org/drawingml/2006/main">
            <a:r>
              <a:t>[Sources]</a:t>
            </a:r>
          </a:p>
          <a:p xmlns:a="http://schemas.openxmlformats.org/drawingml/2006/main">
            <a:r>
              <a:t>- https://leaf2qr.atlassian.net/browse/LEAF-150 (estimate, worklog and history)</a:t>
            </a:r>
          </a:p>
          <a:p xmlns:a="http://schemas.openxmlformats.org/drawingml/2006/main">
            <a:r>
              <a:t>- https://leaf2qr.atlassian.net/browse/LEAF-152 (estimate, worklogs and history)</a:t>
            </a:r>
          </a:p>
          <a:p xmlns:a="http://schemas.openxmlformats.org/drawingml/2006/main">
            <a:r>
              <a:t>- https://leaf2qr.atlassian.net/browse/LEAF-149</a:t>
            </a:r>
          </a:p>
          <a:p xmlns:a="http://schemas.openxmlformats.org/drawingml/2006/main">
            <a:r>
              <a:t>- https://leaf2qr.atlassian.net/browse/LEAF-153</a:t>
            </a:r>
          </a:p>
          <a:p xmlns:a="http://schemas.openxmlformats.org/drawingml/2006/main">
            <a:r>
              <a:t>- https://leaf2qr.atlassian.net/browse/LEAF-155</a:t>
            </a:r>
          </a:p>
          <a:p xmlns:a="http://schemas.openxmlformats.org/drawingml/2006/main">
            <a:r>
              <a:t>- Jira query: project = LEAF AND sprint = "Sprint 5"; 45 returned issues; snapshot 28 August 2026.</a:t>
            </a:r>
          </a:p>
          <a:p xmlns:a="http://schemas.openxmlformats.org/drawingml/2006/main">
            <a:r>
              <a:t>- Differences computed as logged actual minus the current original-estimate field; not an independently recorded retrospective metric.</a:t>
            </a:r>
          </a:p>
          <a:p xmlns:a="http://schemas.openxmlformats.org/drawingml/2006/main">
            <a:r>
              <a:t>- Screenshots: real project UI or browser captures taken 28 August 2026; cropped only for placement. Actual LEAF-152 Jira time tracking showing 5h estimate and 7h logged.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updated the risk plan on 21 and 28 August. Large files may use too much memory or disk space. The app runs long tasks in the background, and SR processes smaller tiles. We also need to check whether the scientific results are correct and whether the app works on the client’s Windows PC. Ubuntu CI does not answer those questions. Next, we need real measurements, reference tests and a named person for each risk.</a:t>
            </a:r>
          </a:p>
          <a:p xmlns:a="http://schemas.openxmlformats.org/drawingml/2006/main">
            <a:r>
              <a:t/>
            </a:r>
            <a:endParaRPr/>
          </a:p>
          <a:p xmlns:a="http://schemas.openxmlformats.org/drawingml/2006/main">
            <a:r>
              <a:t>[Sources]</a:t>
            </a:r>
          </a:p>
          <a:p xmlns:a="http://schemas.openxmlformats.org/drawingml/2006/main">
            <a:r>
              <a:t>- https://leaf2qr.atlassian.net/wiki/spaces/L/pages/6193171 (R2, R3, R4, R11; next-review actions)</a:t>
            </a:r>
          </a:p>
          <a:p xmlns:a="http://schemas.openxmlformats.org/drawingml/2006/main">
            <a:r>
              <a:t>- https://github.com/Techlauncher-LeafAnalyzer/Hyperspectral-Image-Inspector/blob/ac7161342dbb661c9f5efbfd9de5a554ee4c6141/docs/super-resolution.md</a:t>
            </a:r>
          </a:p>
          <a:p xmlns:a="http://schemas.openxmlformats.org/drawingml/2006/main">
            <a:r>
              <a:t>- https://leaf2qr.atlassian.net/wiki/spaces/L/pages/19726345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Last sprint’s feedback asked for unit and integration tests. LEAF-147 and PR 25 added the test setup, and later work added more checks. The suite covers loading, cropping, undoing, switching views and saving. It also checks SR and Hypercube behaviour. These tests help us catch old bugs when the code changes. We still need more dedicated classification tests and checks against known scientific results. We also reran the full local suite in pytorch_env for this review: all 125 tests passed.</a:t>
            </a:r>
          </a:p>
          <a:p xmlns:a="http://schemas.openxmlformats.org/drawingml/2006/main">
            <a:r>
              <a:t/>
            </a:r>
            <a:endParaRPr/>
          </a:p>
          <a:p xmlns:a="http://schemas.openxmlformats.org/drawingml/2006/main">
            <a:r>
              <a:t>[Sources]</a:t>
            </a:r>
          </a:p>
          <a:p xmlns:a="http://schemas.openxmlformats.org/drawingml/2006/main">
            <a:r>
              <a:t>- https://github.com/Techlauncher-LeafAnalyzer/Hyperspectral-Image-Inspector/pull/25</a:t>
            </a:r>
          </a:p>
          <a:p xmlns:a="http://schemas.openxmlformats.org/drawingml/2006/main">
            <a:r>
              <a:t>- https://github.com/Techlauncher-LeafAnalyzer/Hyperspectral-Image-Inspector/blob/ac7161342dbb661c9f5efbfd9de5a554ee4c6141/ui_tests/conftest.py</a:t>
            </a:r>
          </a:p>
          <a:p xmlns:a="http://schemas.openxmlformats.org/drawingml/2006/main">
            <a:r>
              <a:t>- https://github.com/Techlauncher-LeafAnalyzer/Hyperspectral-Image-Inspector/blob/ac7161342dbb661c9f5efbfd9de5a554ee4c6141/ui_tests/ui/test_crop.py</a:t>
            </a:r>
          </a:p>
          <a:p xmlns:a="http://schemas.openxmlformats.org/drawingml/2006/main">
            <a:r>
              <a:t>- https://github.com/Techlauncher-LeafAnalyzer/Hyperspectral-Image-Inspector/blob/ac7161342dbb661c9f5efbfd9de5a554ee4c6141/ui_tests/ui/test_super_resolution.py</a:t>
            </a:r>
          </a:p>
          <a:p xmlns:a="http://schemas.openxmlformats.org/drawingml/2006/main">
            <a:r>
              <a:t>- https://github.com/Techlauncher-LeafAnalyzer/Hyperspectral-Image-Inspector/blob/ac7161342dbb661c9f5efbfd9de5a554ee4c6141/ui_tests/core/test_super_resolution_model.py</a:t>
            </a:r>
          </a:p>
          <a:p xmlns:a="http://schemas.openxmlformats.org/drawingml/2006/main">
            <a:r>
              <a:t>- https://github.com/Techlauncher-LeafAnalyzer/Hyperspectral-Image-Inspector/pull/36</a:t>
            </a:r>
          </a:p>
          <a:p xmlns:a="http://schemas.openxmlformats.org/drawingml/2006/main">
            <a:r>
              <a:t>- https://leaf2qr.atlassian.net/browse/LEAF-113</a:t>
            </a:r>
          </a:p>
          <a:p xmlns:a="http://schemas.openxmlformats.org/drawingml/2006/main">
            <a:r>
              <a:t>- Local verification 28 August: .venv/bin/python -m pytest -q -rs at ecdac34; 114 passed, 11 skipped (PyTorch unavailable).</a:t>
            </a:r>
          </a:p>
          <a:p xmlns:a="http://schemas.openxmlformats.org/drawingml/2006/main">
            <a:r>
              <a:t>- Local verification on 28 August 2026: conda pytorch_env; QT_QPA_PLATFORM=offscreen python -m pytest -q; 125 passed in 10.14s.</a:t>
            </a:r>
          </a:p>
          <a:p xmlns:a="http://schemas.openxmlformats.org/drawingml/2006/main">
            <a:r>
              <a:t>- https://github.com/Techlauncher-LeafAnalyzer/Hyperspectral-Image-Inspector/tree/ac7161342dbb661c9f5efbfd9de5a554ee4c6141/ui_tests/ui</a:t>
            </a:r>
          </a:p>
          <a:p xmlns:a="http://schemas.openxmlformats.org/drawingml/2006/main">
            <a:r>
              <a:t>- Screenshots: real project UI or browser captures taken 28 August 2026; cropped only for placement. Actual GitHub test directory with crop, load, save, SR, Hypercube and mode tests.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GitHub Actions runs our tests for pull requests and pushes to main. The main run after the classification merge passed: 105 tests passed and 20 were skipped. Eleven skipped tests need PyTorch, and nine need real sample files that are not in the repository. So a green check is useful, but it does not mean every feature was tested. We have CI now; automatic deployment is not set up.</a:t>
            </a:r>
          </a:p>
          <a:p xmlns:a="http://schemas.openxmlformats.org/drawingml/2006/main">
            <a:r>
              <a:t/>
            </a:r>
            <a:endParaRPr/>
          </a:p>
          <a:p xmlns:a="http://schemas.openxmlformats.org/drawingml/2006/main">
            <a:r>
              <a:t>[Sources]</a:t>
            </a:r>
          </a:p>
          <a:p xmlns:a="http://schemas.openxmlformats.org/drawingml/2006/main">
            <a:r>
              <a:t>- https://github.com/Techlauncher-LeafAnalyzer/Hyperspectral-Image-Inspector/pull/25</a:t>
            </a:r>
          </a:p>
          <a:p xmlns:a="http://schemas.openxmlformats.org/drawingml/2006/main">
            <a:r>
              <a:t>- https://github.com/Techlauncher-LeafAnalyzer/Hyperspectral-Image-Inspector/blob/ac7161342dbb661c9f5efbfd9de5a554ee4c6141/.github/workflows/ui-tests.yml</a:t>
            </a:r>
          </a:p>
          <a:p xmlns:a="http://schemas.openxmlformats.org/drawingml/2006/main">
            <a:r>
              <a:t>- https://github.com/Techlauncher-LeafAnalyzer/Hyperspectral-Image-Inspector/actions/runs/33145582110</a:t>
            </a:r>
          </a:p>
          <a:p xmlns:a="http://schemas.openxmlformats.org/drawingml/2006/main">
            <a:r>
              <a:t>- https://github.com/Techlauncher-LeafAnalyzer/Hyperspectral-Image-Inspector/blob/ac7161342dbb661c9f5efbfd9de5a554ee4c6141/requirements-dev.txt</a:t>
            </a:r>
          </a:p>
          <a:p xmlns:a="http://schemas.openxmlformats.org/drawingml/2006/main">
            <a:r>
              <a:t>- Latest CI log: collected 125 items; 105 passed, 20 skipped in 8.08s.</a:t>
            </a:r>
          </a:p>
          <a:p xmlns:a="http://schemas.openxmlformats.org/drawingml/2006/main">
            <a:r>
              <a:t>- Temporary checkout verification at ac71613 on 28 August: 105 passed, 20 skipped; no PyTorch and no real samples.</a:t>
            </a:r>
          </a:p>
          <a:p xmlns:a="http://schemas.openxmlformats.org/drawingml/2006/main">
            <a:r>
              <a:t>- Screenshots: real project UI or browser captures taken 28 August 2026; cropped only for placement. Actual successful GitHub Actions UI Tests run at ac71613 on 28 August.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one example of code review changing our work. Ryan asked us to move the classification worker out of the main window. The code was moved into a separate controller, then the review was approved and PR 36 was merged. The main CI run also passed. Earlier reports said this PR was still open because they were written before the merge. The PR did not add dedicated classification test files, so that still needs attention.</a:t>
            </a:r>
          </a:p>
          <a:p xmlns:a="http://schemas.openxmlformats.org/drawingml/2006/main">
            <a:r>
              <a:t/>
            </a:r>
            <a:endParaRPr/>
          </a:p>
          <a:p xmlns:a="http://schemas.openxmlformats.org/drawingml/2006/main">
            <a:r>
              <a:t>[Sources]</a:t>
            </a:r>
          </a:p>
          <a:p xmlns:a="http://schemas.openxmlformats.org/drawingml/2006/main">
            <a:r>
              <a:t>- https://github.com/Techlauncher-LeafAnalyzer/Hyperspectral-Image-Inspector/pull/36</a:t>
            </a:r>
          </a:p>
          <a:p xmlns:a="http://schemas.openxmlformats.org/drawingml/2006/main">
            <a:r>
              <a:t>- https://github.com/Techlauncher-LeafAnalyzer/Hyperspectral-Image-Inspector/pull/36#pullrequestreview-5048104584</a:t>
            </a:r>
          </a:p>
          <a:p xmlns:a="http://schemas.openxmlformats.org/drawingml/2006/main">
            <a:r>
              <a:t>- https://github.com/Techlauncher-LeafAnalyzer/Hyperspectral-Image-Inspector/pull/36#pullrequestreview-5048223876</a:t>
            </a:r>
          </a:p>
          <a:p xmlns:a="http://schemas.openxmlformats.org/drawingml/2006/main">
            <a:r>
              <a:t>- https://github.com/Techlauncher-LeafAnalyzer/Hyperspectral-Image-Inspector/commit/c285154ac5a1699da66058b6511dbbbc006d60b0</a:t>
            </a:r>
          </a:p>
          <a:p xmlns:a="http://schemas.openxmlformats.org/drawingml/2006/main">
            <a:r>
              <a:t>- https://github.com/Techlauncher-LeafAnalyzer/Hyperspectral-Image-Inspector/actions/runs/33145582110</a:t>
            </a:r>
          </a:p>
          <a:p xmlns:a="http://schemas.openxmlformats.org/drawingml/2006/main">
            <a:r>
              <a:t>- https://leaf2qr.atlassian.net/wiki/spaces/L/pages/19726337</a:t>
            </a:r>
          </a:p>
          <a:p xmlns:a="http://schemas.openxmlformats.org/drawingml/2006/main">
            <a:r>
              <a:t>- https://leaf2qr.atlassian.net/wiki/spaces/L/pages/19726345</a:t>
            </a:r>
          </a:p>
          <a:p xmlns:a="http://schemas.openxmlformats.org/drawingml/2006/main">
            <a:r>
              <a:t>- Asset: actual GitHub browser screenshot captured 28 August 2026; cropped only for layout.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have weekly reflection pages for 21 and 28 August, with team notes and each person’s reflection. They record problems such as unfinished Hypercube integration, crop scaling and flaky tests. Later pull requests show the fixes. The tutor’s feedback also led to regular reflection and risk updates. This is a useful start. We should keep adding an owner and a result link to each action, rather than only marking it done.</a:t>
            </a:r>
          </a:p>
          <a:p xmlns:a="http://schemas.openxmlformats.org/drawingml/2006/main">
            <a:r>
              <a:t/>
            </a:r>
            <a:endParaRPr/>
          </a:p>
          <a:p xmlns:a="http://schemas.openxmlformats.org/drawingml/2006/main">
            <a:r>
              <a:t>[Sources]</a:t>
            </a:r>
          </a:p>
          <a:p xmlns:a="http://schemas.openxmlformats.org/drawingml/2006/main">
            <a:r>
              <a:t>- https://leaf2qr.atlassian.net/wiki/spaces/L/pages/18448410</a:t>
            </a:r>
          </a:p>
          <a:p xmlns:a="http://schemas.openxmlformats.org/drawingml/2006/main">
            <a:r>
              <a:t>- https://leaf2qr.atlassian.net/wiki/spaces/L/pages/19726345</a:t>
            </a:r>
          </a:p>
          <a:p xmlns:a="http://schemas.openxmlformats.org/drawingml/2006/main">
            <a:r>
              <a:t>- https://leaf2qr.atlassian.net/wiki/spaces/L/pages/18645003</a:t>
            </a:r>
          </a:p>
          <a:p xmlns:a="http://schemas.openxmlformats.org/drawingml/2006/main">
            <a:r>
              <a:t>- https://leaf2qr.atlassian.net/browse/LEAF-157</a:t>
            </a:r>
          </a:p>
          <a:p xmlns:a="http://schemas.openxmlformats.org/drawingml/2006/main">
            <a:r>
              <a:t>- https://github.com/Techlauncher-LeafAnalyzer/Hyperspectral-Image-Inspector/pull/29</a:t>
            </a:r>
          </a:p>
          <a:p xmlns:a="http://schemas.openxmlformats.org/drawingml/2006/main">
            <a:r>
              <a:t>- https://github.com/Techlauncher-LeafAnalyzer/Hyperspectral-Image-Inspector/pull/30</a:t>
            </a:r>
          </a:p>
          <a:p xmlns:a="http://schemas.openxmlformats.org/drawingml/2006/main">
            <a:r>
              <a:t>- https://github.com/Techlauncher-LeafAnalyzer/Hyperspectral-Image-Inspector/pull/34</a:t>
            </a:r>
          </a:p>
          <a:p xmlns:a="http://schemas.openxmlformats.org/drawingml/2006/main">
            <a:r>
              <a:t>- https://leaf2qr.atlassian.net/wiki/spaces/L/pages/6193171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brings the four areas together. We linked meeting actions to tasks and reports, added time records, introduced automated tests and CI, and kept weekly reflection logs. Testing and CI have the clearest evidence because the code and run history are available. The other areas improved too, but we still need client review, better first estimates and clearer action outcomes. We should keep working on these next sprint.</a:t>
            </a:r>
          </a:p>
          <a:p xmlns:a="http://schemas.openxmlformats.org/drawingml/2006/main">
            <a:r>
              <a:t/>
            </a:r>
            <a:endParaRPr/>
          </a:p>
          <a:p xmlns:a="http://schemas.openxmlformats.org/drawingml/2006/main">
            <a:r>
              <a:t>[Sources]</a:t>
            </a:r>
          </a:p>
          <a:p xmlns:a="http://schemas.openxmlformats.org/drawingml/2006/main">
            <a:r>
              <a:t>- Sprint 4 feedback and HD criteria: supplied by the team in the presentation brief.</a:t>
            </a:r>
          </a:p>
          <a:p xmlns:a="http://schemas.openxmlformats.org/drawingml/2006/main">
            <a:r>
              <a:t>- https://leaf2qr.atlassian.net/wiki/spaces/L/pages/18645003</a:t>
            </a:r>
          </a:p>
          <a:p xmlns:a="http://schemas.openxmlformats.org/drawingml/2006/main">
            <a:r>
              <a:t>- https://leaf2qr.atlassian.net/wiki/spaces/L/pages/18448410</a:t>
            </a:r>
          </a:p>
          <a:p xmlns:a="http://schemas.openxmlformats.org/drawingml/2006/main">
            <a:r>
              <a:t>- https://leaf2qr.atlassian.net/wiki/spaces/L/pages/19726345</a:t>
            </a:r>
          </a:p>
          <a:p xmlns:a="http://schemas.openxmlformats.org/drawingml/2006/main">
            <a:r>
              <a:t>- https://leaf2qr.atlassian.net/wiki/spaces/L/pages/18284545</a:t>
            </a:r>
          </a:p>
          <a:p xmlns:a="http://schemas.openxmlformats.org/drawingml/2006/main">
            <a:r>
              <a:t>- https://leaf2qr.atlassian.net/wiki/spaces/L/pages/6193171</a:t>
            </a:r>
          </a:p>
          <a:p xmlns:a="http://schemas.openxmlformats.org/drawingml/2006/main">
            <a:r>
              <a:t>- https://leaf2qr.atlassian.net/browse/LEAF-157</a:t>
            </a:r>
          </a:p>
          <a:p xmlns:a="http://schemas.openxmlformats.org/drawingml/2006/main">
            <a:r>
              <a:t>- https://leaf2qr.atlassian.net/browse/LEAF-150</a:t>
            </a:r>
          </a:p>
          <a:p xmlns:a="http://schemas.openxmlformats.org/drawingml/2006/main">
            <a:r>
              <a:t>- https://leaf2qr.atlassian.net/browse/LEAF-152</a:t>
            </a:r>
          </a:p>
          <a:p xmlns:a="http://schemas.openxmlformats.org/drawingml/2006/main">
            <a:r>
              <a:t>- https://github.com/Techlauncher-LeafAnalyzer/Hyperspectral-Image-Inspector/pull/25</a:t>
            </a:r>
          </a:p>
          <a:p xmlns:a="http://schemas.openxmlformats.org/drawingml/2006/main">
            <a:r>
              <a:t>- https://github.com/Techlauncher-LeafAnalyzer/Hyperspectral-Image-Inspector/actions/runs/33145582110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Sprint 6, we propose five goals. Finish calibration, add classification tests, check results against reference data, test on the target hardware, and show the app to the client. The existing calibration tasks name Jingyi for the algorithm and Guochen for the UI. The other priorities come from remaining work and the Week 5 report. Before we start, we should confirm the order, owners and estimates with the team and client.</a:t>
            </a:r>
          </a:p>
          <a:p xmlns:a="http://schemas.openxmlformats.org/drawingml/2006/main">
            <a:r>
              <a:t/>
            </a:r>
            <a:endParaRPr/>
          </a:p>
          <a:p xmlns:a="http://schemas.openxmlformats.org/drawingml/2006/main">
            <a:r>
              <a:t>[Sources]</a:t>
            </a:r>
          </a:p>
          <a:p xmlns:a="http://schemas.openxmlformats.org/drawingml/2006/main">
            <a:r>
              <a:t>- https://leaf2qr.atlassian.net/browse/LEAF-105</a:t>
            </a:r>
          </a:p>
          <a:p xmlns:a="http://schemas.openxmlformats.org/drawingml/2006/main">
            <a:r>
              <a:t>- https://leaf2qr.atlassian.net/browse/LEAF-115</a:t>
            </a:r>
          </a:p>
          <a:p xmlns:a="http://schemas.openxmlformats.org/drawingml/2006/main">
            <a:r>
              <a:t>- https://leaf2qr.atlassian.net/browse/LEAF-116</a:t>
            </a:r>
          </a:p>
          <a:p xmlns:a="http://schemas.openxmlformats.org/drawingml/2006/main">
            <a:r>
              <a:t>- https://leaf2qr.atlassian.net/browse/LEAF-113</a:t>
            </a:r>
          </a:p>
          <a:p xmlns:a="http://schemas.openxmlformats.org/drawingml/2006/main">
            <a:r>
              <a:t>- https://leaf2qr.atlassian.net/browse/LEAF-163</a:t>
            </a:r>
          </a:p>
          <a:p xmlns:a="http://schemas.openxmlformats.org/drawingml/2006/main">
            <a:r>
              <a:t>- https://leaf2qr.atlassian.net/browse/LEAF-164</a:t>
            </a:r>
          </a:p>
          <a:p xmlns:a="http://schemas.openxmlformats.org/drawingml/2006/main">
            <a:r>
              <a:t>- https://github.com/Techlauncher-LeafAnalyzer/Hyperspectral-Image-Inspector/pull/36</a:t>
            </a:r>
          </a:p>
          <a:p xmlns:a="http://schemas.openxmlformats.org/drawingml/2006/main">
            <a:r>
              <a:t>- https://leaf2qr.atlassian.net/wiki/spaces/L/pages/19726337</a:t>
            </a:r>
          </a:p>
          <a:p xmlns:a="http://schemas.openxmlformats.org/drawingml/2006/main">
            <a:r>
              <a:t>- https://leaf2qr.atlassian.net/wiki/spaces/L/pages/19726345</a:t>
            </a:r>
          </a:p>
          <a:p xmlns:a="http://schemas.openxmlformats.org/drawingml/2006/main">
            <a:r>
              <a:t>- https://leaf2qr.atlassian.net/wiki/spaces/L/pages/6193171</a:t>
            </a:r>
          </a:p>
          <a:p xmlns:a="http://schemas.openxmlformats.org/drawingml/2006/main">
            <a:r>
              <a:t>- Proposed process changes derived from the estimate-history audit; not claimed as prior team commitments.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eca2222569d46c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35f5ef4a30b4b59" /><Relationship Type="http://schemas.openxmlformats.org/officeDocument/2006/relationships/slideLayout" Target="/ppt/slideLayouts/slideLayout1.xml" Id="Re5e46054f534411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5e46054f534411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767c0fbdca64e40" /><Relationship Type="http://schemas.openxmlformats.org/officeDocument/2006/relationships/hyperlink" Target="https://leaf2qr.atlassian.net/browse/LEAF-150" TargetMode="External" Id="Rec78f6b6cc964565" /><Relationship Type="http://schemas.openxmlformats.org/officeDocument/2006/relationships/hyperlink" Target="https://leaf2qr.atlassian.net/wiki/spaces/L/pages/18284545" TargetMode="External" Id="Rf993a5f55a66444a" /><Relationship Type="http://schemas.openxmlformats.org/officeDocument/2006/relationships/hyperlink" Target="https://github.com/Techlauncher-LeafAnalyzer/Hyperspectral-Image-Inspector/commit/ac7161342dbb661c9f5efbfd9de5a554ee4c6141" TargetMode="External" Id="R48be90034ee34e64" /><Relationship Type="http://schemas.openxmlformats.org/officeDocument/2006/relationships/notesSlide" Target="/ppt/notesSlides/notesSlide1.xml" Id="Rc334ea45dba242b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81d34d8495d464d" /><Relationship Type="http://schemas.openxmlformats.org/officeDocument/2006/relationships/hyperlink" Target="https://github.com/Techlauncher-LeafAnalyzer/Hyperspectral-Image-Inspector/pull/24" TargetMode="External" Id="R10326d017aa34e28" /><Relationship Type="http://schemas.openxmlformats.org/officeDocument/2006/relationships/hyperlink" Target="https://github.com/Techlauncher-LeafAnalyzer/Hyperspectral-Image-Inspector/pull/29" TargetMode="External" Id="R386be8810e5d42bd" /><Relationship Type="http://schemas.openxmlformats.org/officeDocument/2006/relationships/hyperlink" Target="https://github.com/Techlauncher-LeafAnalyzer/Hyperspectral-Image-Inspector/pull/33" TargetMode="External" Id="Rb017053444234ba3" /><Relationship Type="http://schemas.openxmlformats.org/officeDocument/2006/relationships/hyperlink" Target="https://github.com/Techlauncher-LeafAnalyzer/Hyperspectral-Image-Inspector/pull/34" TargetMode="External" Id="R37a65525488e4c23" /><Relationship Type="http://schemas.openxmlformats.org/officeDocument/2006/relationships/hyperlink" Target="https://github.com/Techlauncher-LeafAnalyzer/Hyperspectral-Image-Inspector/pull/36" TargetMode="External" Id="R0ba80ed9af8f47d5" /><Relationship Type="http://schemas.openxmlformats.org/officeDocument/2006/relationships/hyperlink" Target="https://leaf2qr.atlassian.net/wiki/spaces/L/pages/18284545" TargetMode="External" Id="Rc4756e052a164af3" /><Relationship Type="http://schemas.openxmlformats.org/officeDocument/2006/relationships/hyperlink" Target="https://leaf2qr.atlassian.net/wiki/spaces/L/pages/19726337" TargetMode="External" Id="R04f6fded7d5949bd" /><Relationship Type="http://schemas.openxmlformats.org/officeDocument/2006/relationships/image" Target="/ppt/media/image.png" Id="Ra6ae42edb2784be2" /><Relationship Type="http://schemas.openxmlformats.org/officeDocument/2006/relationships/notesSlide" Target="/ppt/notesSlides/notesSlide2.xml" Id="Rd8bc087510b242b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6527637b2774d57" /><Relationship Type="http://schemas.openxmlformats.org/officeDocument/2006/relationships/hyperlink" Target="https://github.com/Techlauncher-LeafAnalyzer/Hyperspectral-Image-Inspector/pull/18" TargetMode="External" Id="R1f62a0e89b1b4a79" /><Relationship Type="http://schemas.openxmlformats.org/officeDocument/2006/relationships/hyperlink" Target="https://github.com/Techlauncher-LeafAnalyzer/Hyperspectral-Image-Inspector/pull/24" TargetMode="External" Id="R93e759fc47eb4321" /><Relationship Type="http://schemas.openxmlformats.org/officeDocument/2006/relationships/hyperlink" Target="https://github.com/Techlauncher-LeafAnalyzer/Hyperspectral-Image-Inspector/pull/29" TargetMode="External" Id="Rd032f2ebf1f44091" /><Relationship Type="http://schemas.openxmlformats.org/officeDocument/2006/relationships/hyperlink" Target="https://github.com/Techlauncher-LeafAnalyzer/Hyperspectral-Image-Inspector/pull/30" TargetMode="External" Id="R7c796d46267641a6" /><Relationship Type="http://schemas.openxmlformats.org/officeDocument/2006/relationships/hyperlink" Target="https://github.com/Techlauncher-LeafAnalyzer/Hyperspectral-Image-Inspector/pull/31" TargetMode="External" Id="Rd8893bb9d32a4067" /><Relationship Type="http://schemas.openxmlformats.org/officeDocument/2006/relationships/hyperlink" Target="https://github.com/Techlauncher-LeafAnalyzer/Hyperspectral-Image-Inspector/pull/32" TargetMode="External" Id="R17fda71f82024a92" /><Relationship Type="http://schemas.openxmlformats.org/officeDocument/2006/relationships/hyperlink" Target="https://github.com/Techlauncher-LeafAnalyzer/Hyperspectral-Image-Inspector/pull/33" TargetMode="External" Id="Rcccf08ae6c1e42b9" /><Relationship Type="http://schemas.openxmlformats.org/officeDocument/2006/relationships/hyperlink" Target="https://github.com/Techlauncher-LeafAnalyzer/Hyperspectral-Image-Inspector/pull/34" TargetMode="External" Id="Rbcc6832099d94928" /><Relationship Type="http://schemas.openxmlformats.org/officeDocument/2006/relationships/hyperlink" Target="https://github.com/Techlauncher-LeafAnalyzer/Hyperspectral-Image-Inspector/pull/36" TargetMode="External" Id="R6fd3d9422a83438a" /><Relationship Type="http://schemas.openxmlformats.org/officeDocument/2006/relationships/hyperlink" Target="https://github.com/Techlauncher-LeafAnalyzer/Hyperspectral-Image-Inspector/blob/ac7161342dbb661c9f5efbfd9de5a554ee4c6141/docs/model_classification_api.md" TargetMode="External" Id="R90e79a08d7c2475a" /><Relationship Type="http://schemas.openxmlformats.org/officeDocument/2006/relationships/hyperlink" Target="https://github.com/Techlauncher-LeafAnalyzer/Hyperspectral-Image-Inspector/blob/ac7161342dbb661c9f5efbfd9de5a554ee4c6141/docs/super-resolution.md" TargetMode="External" Id="R161314a03d594f54" /><Relationship Type="http://schemas.openxmlformats.org/officeDocument/2006/relationships/image" Target="/ppt/media/image2.png" Id="Rfb4d47a4422c40a0" /><Relationship Type="http://schemas.openxmlformats.org/officeDocument/2006/relationships/image" Target="/ppt/media/image3.png" Id="R8c67bd9498014c72" /><Relationship Type="http://schemas.openxmlformats.org/officeDocument/2006/relationships/notesSlide" Target="/ppt/notesSlides/notesSlide3.xml" Id="R84956faba95f49f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cc2d33e741c4c5a" /><Relationship Type="http://schemas.openxmlformats.org/officeDocument/2006/relationships/hyperlink" Target="https://leaf2qr.atlassian.net/wiki/spaces/L/pages/16580683" TargetMode="External" Id="R2dc26d70afd64a7f" /><Relationship Type="http://schemas.openxmlformats.org/officeDocument/2006/relationships/hyperlink" Target="https://leaf2qr.atlassian.net/wiki/spaces/L/pages/16416770" TargetMode="External" Id="Rca6e6388ca39444b" /><Relationship Type="http://schemas.openxmlformats.org/officeDocument/2006/relationships/hyperlink" Target="https://leaf2qr.atlassian.net/wiki/spaces/L/pages/15630342" TargetMode="External" Id="R108000f2cf8044b0" /><Relationship Type="http://schemas.openxmlformats.org/officeDocument/2006/relationships/hyperlink" Target="https://leaf2qr.atlassian.net/browse/LEAF-152" TargetMode="External" Id="Ra334150aac094463" /><Relationship Type="http://schemas.openxmlformats.org/officeDocument/2006/relationships/hyperlink" Target="https://leaf2qr.atlassian.net/browse/LEAF-158" TargetMode="External" Id="Rd025cdd41dca4686" /><Relationship Type="http://schemas.openxmlformats.org/officeDocument/2006/relationships/hyperlink" Target="https://leaf2qr.atlassian.net/browse/LEAF-149" TargetMode="External" Id="R7a623b7263e64642" /><Relationship Type="http://schemas.openxmlformats.org/officeDocument/2006/relationships/hyperlink" Target="https://leaf2qr.atlassian.net/browse/LEAF-154" TargetMode="External" Id="R81a61fc9b4bd41d8" /><Relationship Type="http://schemas.openxmlformats.org/officeDocument/2006/relationships/hyperlink" Target="https://leaf2qr.atlassian.net/browse/LEAF-155" TargetMode="External" Id="R88041370493740f6" /><Relationship Type="http://schemas.openxmlformats.org/officeDocument/2006/relationships/hyperlink" Target="https://leaf2qr.atlassian.net/wiki/spaces/L/pages/18284545" TargetMode="External" Id="R36905611ebd548c5" /><Relationship Type="http://schemas.openxmlformats.org/officeDocument/2006/relationships/hyperlink" Target="https://leaf2qr.atlassian.net/wiki/spaces/L/pages/19726337" TargetMode="External" Id="Rfc2272dd14c64abc" /><Relationship Type="http://schemas.openxmlformats.org/officeDocument/2006/relationships/hyperlink" Target="https://leaf2qr.atlassian.net/browse/LEAF-152" TargetMode="External" Id="R1c45430c1e6546d2" /><Relationship Type="http://schemas.openxmlformats.org/officeDocument/2006/relationships/hyperlink" Target="https://leaf2qr.atlassian.net/browse/LEAF-158" TargetMode="External" Id="R696645f9c7ad4bf3" /><Relationship Type="http://schemas.openxmlformats.org/officeDocument/2006/relationships/hyperlink" Target="https://leaf2qr.atlassian.net/browse/LEAF-149" TargetMode="External" Id="Rcf6b895b0631454e" /><Relationship Type="http://schemas.openxmlformats.org/officeDocument/2006/relationships/hyperlink" Target="https://leaf2qr.atlassian.net/browse/LEAF-154" TargetMode="External" Id="R25d43dc2333242f7" /><Relationship Type="http://schemas.openxmlformats.org/officeDocument/2006/relationships/notesSlide" Target="/ppt/notesSlides/notesSlide4.xml" Id="Rac27a2b067424c9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982453874a84b6e" /><Relationship Type="http://schemas.openxmlformats.org/officeDocument/2006/relationships/hyperlink" Target="https://leaf2qr.atlassian.net/wiki/spaces/L/pages/18645003" TargetMode="External" Id="R3b414728231a43be" /><Relationship Type="http://schemas.openxmlformats.org/officeDocument/2006/relationships/hyperlink" Target="https://leaf2qr.atlassian.net/browse/LEAF-157" TargetMode="External" Id="Rb4f202feb5934b49" /><Relationship Type="http://schemas.openxmlformats.org/officeDocument/2006/relationships/hyperlink" Target="https://leaf2qr.atlassian.net/wiki/spaces/L/pages/19726337" TargetMode="External" Id="R18b0c777272544db" /><Relationship Type="http://schemas.openxmlformats.org/officeDocument/2006/relationships/hyperlink" Target="https://leaf2qr.atlassian.net/wiki/spaces/L/pages/19726345" TargetMode="External" Id="R3470f18b2bec4792" /><Relationship Type="http://schemas.openxmlformats.org/officeDocument/2006/relationships/hyperlink" Target="https://leaf2qr.atlassian.net/wiki/spaces/L/pages/6193171" TargetMode="External" Id="R25ee189086934f20" /><Relationship Type="http://schemas.openxmlformats.org/officeDocument/2006/relationships/hyperlink" Target="https://leaf2qr.atlassian.net/wiki/spaces/L/pages/18284545" TargetMode="External" Id="R703bfafca61f4da2" /><Relationship Type="http://schemas.openxmlformats.org/officeDocument/2006/relationships/hyperlink" Target="https://leaf2qr.atlassian.net/browse/LEAF-157" TargetMode="External" Id="R7c43579cae4b43a3" /><Relationship Type="http://schemas.openxmlformats.org/officeDocument/2006/relationships/image" Target="/ppt/media/image4.png" Id="R6164f40e294041e3" /><Relationship Type="http://schemas.openxmlformats.org/officeDocument/2006/relationships/notesSlide" Target="/ppt/notesSlides/notesSlide5.xml" Id="Rf23143c6f3c1428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a5db2ebac87427e" /><Relationship Type="http://schemas.openxmlformats.org/officeDocument/2006/relationships/hyperlink" Target="https://leaf2qr.atlassian.net/wiki/spaces/L/pages/18284545" TargetMode="External" Id="Rb31fd9b7c913475e" /><Relationship Type="http://schemas.openxmlformats.org/officeDocument/2006/relationships/hyperlink" Target="https://leaf2qr.atlassian.net/wiki/spaces/L/pages/18448410" TargetMode="External" Id="R54983aee824e4874" /><Relationship Type="http://schemas.openxmlformats.org/officeDocument/2006/relationships/hyperlink" Target="https://leaf2qr.atlassian.net/wiki/spaces/L/pages/19726345" TargetMode="External" Id="R53c39aa51d384350" /><Relationship Type="http://schemas.openxmlformats.org/officeDocument/2006/relationships/hyperlink" Target="https://leaf2qr.atlassian.net/browse/LEAF-150" TargetMode="External" Id="R66e53f2710bb4379" /><Relationship Type="http://schemas.openxmlformats.org/officeDocument/2006/relationships/hyperlink" Target="https://github.com/Techlauncher-LeafAnalyzer/Hyperspectral-Image-Inspector/pull/28" TargetMode="External" Id="R6353a070a451417e" /><Relationship Type="http://schemas.openxmlformats.org/officeDocument/2006/relationships/hyperlink" Target="https://github.com/Techlauncher-LeafAnalyzer/Hyperspectral-Image-Inspector/pull/29" TargetMode="External" Id="R513e66a4bbba482b" /><Relationship Type="http://schemas.openxmlformats.org/officeDocument/2006/relationships/hyperlink" Target="https://github.com/Techlauncher-LeafAnalyzer/Hyperspectral-Image-Inspector/pull/36" TargetMode="External" Id="R372c82618b10493b" /><Relationship Type="http://schemas.openxmlformats.org/officeDocument/2006/relationships/hyperlink" Target="https://leaf2qr.atlassian.net/browse/LEAF-146" TargetMode="External" Id="Re77ed44815df4c2d" /><Relationship Type="http://schemas.openxmlformats.org/officeDocument/2006/relationships/hyperlink" Target="https://leaf2qr.atlassian.net/browse/LEAF-153" TargetMode="External" Id="R49a1b6437e7d4378" /><Relationship Type="http://schemas.openxmlformats.org/officeDocument/2006/relationships/hyperlink" Target="https://leaf2qr.atlassian.net/browse/LEAF-149" TargetMode="External" Id="Recaab1d474684bc5" /><Relationship Type="http://schemas.openxmlformats.org/officeDocument/2006/relationships/hyperlink" Target="https://leaf2qr.atlassian.net/browse/LEAF-125" TargetMode="External" Id="Rfebdd9ffcb9a4069" /><Relationship Type="http://schemas.openxmlformats.org/officeDocument/2006/relationships/hyperlink" Target="https://leaf2qr.atlassian.net/browse/LEAF-160" TargetMode="External" Id="R7682d06d3a80413e" /><Relationship Type="http://schemas.openxmlformats.org/officeDocument/2006/relationships/hyperlink" Target="https://leaf2qr.atlassian.net/browse/LEAF-132" TargetMode="External" Id="R07a24551d5e84f73" /><Relationship Type="http://schemas.openxmlformats.org/officeDocument/2006/relationships/hyperlink" Target="https://leaf2qr.atlassian.net/browse/LEAF-159" TargetMode="External" Id="R15d48f6907954b8e" /><Relationship Type="http://schemas.openxmlformats.org/officeDocument/2006/relationships/hyperlink" Target="https://github.com/Techlauncher-LeafAnalyzer/Hyperspectral-Image-Inspector/pull/29" TargetMode="External" Id="Rc31e3d174287453a" /><Relationship Type="http://schemas.openxmlformats.org/officeDocument/2006/relationships/notesSlide" Target="/ppt/notesSlides/notesSlide6.xml" Id="Rd9dc1bcd1cdd470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ee378de60bd4af3" /><Relationship Type="http://schemas.openxmlformats.org/officeDocument/2006/relationships/hyperlink" Target="https://leaf2qr.atlassian.net/browse/LEAF-150" TargetMode="External" Id="R6c3ffbd68b9042dd" /><Relationship Type="http://schemas.openxmlformats.org/officeDocument/2006/relationships/hyperlink" Target="https://leaf2qr.atlassian.net/browse/LEAF-152" TargetMode="External" Id="R723cd4f0ddc44c31" /><Relationship Type="http://schemas.openxmlformats.org/officeDocument/2006/relationships/hyperlink" Target="https://leaf2qr.atlassian.net/browse/LEAF-149" TargetMode="External" Id="Rc2e7d407e3ba4799" /><Relationship Type="http://schemas.openxmlformats.org/officeDocument/2006/relationships/hyperlink" Target="https://leaf2qr.atlassian.net/browse/LEAF-153" TargetMode="External" Id="Ra0a72f433be34075" /><Relationship Type="http://schemas.openxmlformats.org/officeDocument/2006/relationships/hyperlink" Target="https://leaf2qr.atlassian.net/browse/LEAF-155" TargetMode="External" Id="Raa85d2cea9a34a49" /><Relationship Type="http://schemas.openxmlformats.org/officeDocument/2006/relationships/hyperlink" Target="https://leaf2qr.atlassian.net/browse/LEAF-150" TargetMode="External" Id="Rdc08194b18714616" /><Relationship Type="http://schemas.openxmlformats.org/officeDocument/2006/relationships/hyperlink" Target="https://leaf2qr.atlassian.net/browse/LEAF-152" TargetMode="External" Id="Re061c412b8764ebf" /><Relationship Type="http://schemas.openxmlformats.org/officeDocument/2006/relationships/hyperlink" Target="https://leaf2qr.atlassian.net/browse/LEAF-149" TargetMode="External" Id="R5e5b40545ebe475c" /><Relationship Type="http://schemas.openxmlformats.org/officeDocument/2006/relationships/hyperlink" Target="https://leaf2qr.atlassian.net/browse/LEAF-153" TargetMode="External" Id="R87578a9485c24a02" /><Relationship Type="http://schemas.openxmlformats.org/officeDocument/2006/relationships/hyperlink" Target="https://leaf2qr.atlassian.net/browse/LEAF-155" TargetMode="External" Id="Re688f38a7cef4053" /><Relationship Type="http://schemas.openxmlformats.org/officeDocument/2006/relationships/image" Target="/ppt/media/image5.png" Id="Ref97d85b7e4c4422" /><Relationship Type="http://schemas.openxmlformats.org/officeDocument/2006/relationships/notesSlide" Target="/ppt/notesSlides/notesSlide7.xml" Id="Rba82817469ac4e7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e480635b661408a" /><Relationship Type="http://schemas.openxmlformats.org/officeDocument/2006/relationships/hyperlink" Target="https://leaf2qr.atlassian.net/wiki/spaces/L/pages/6193171" TargetMode="External" Id="Rba9c839e6e2b4b01" /><Relationship Type="http://schemas.openxmlformats.org/officeDocument/2006/relationships/hyperlink" Target="https://github.com/Techlauncher-LeafAnalyzer/Hyperspectral-Image-Inspector/blob/ac7161342dbb661c9f5efbfd9de5a554ee4c6141/docs/super-resolution.md" TargetMode="External" Id="Rdc0fc14c4cdb400e" /><Relationship Type="http://schemas.openxmlformats.org/officeDocument/2006/relationships/hyperlink" Target="https://leaf2qr.atlassian.net/wiki/spaces/L/pages/19726345" TargetMode="External" Id="Rf7cfd6f19a054aec" /><Relationship Type="http://schemas.openxmlformats.org/officeDocument/2006/relationships/notesSlide" Target="/ppt/notesSlides/notesSlide8.xml" Id="Rdb86a6165c034bc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ea5764e621d4b1f" /><Relationship Type="http://schemas.openxmlformats.org/officeDocument/2006/relationships/hyperlink" Target="https://github.com/Techlauncher-LeafAnalyzer/Hyperspectral-Image-Inspector/pull/25" TargetMode="External" Id="Rc64aefaaaf3748bd" /><Relationship Type="http://schemas.openxmlformats.org/officeDocument/2006/relationships/hyperlink" Target="https://github.com/Techlauncher-LeafAnalyzer/Hyperspectral-Image-Inspector/blob/ac7161342dbb661c9f5efbfd9de5a554ee4c6141/ui_tests/conftest.py" TargetMode="External" Id="R2cd8718589b54752" /><Relationship Type="http://schemas.openxmlformats.org/officeDocument/2006/relationships/hyperlink" Target="https://github.com/Techlauncher-LeafAnalyzer/Hyperspectral-Image-Inspector/blob/ac7161342dbb661c9f5efbfd9de5a554ee4c6141/ui_tests/ui/test_crop.py" TargetMode="External" Id="Rbc3384b887f4448a" /><Relationship Type="http://schemas.openxmlformats.org/officeDocument/2006/relationships/hyperlink" Target="https://github.com/Techlauncher-LeafAnalyzer/Hyperspectral-Image-Inspector/blob/ac7161342dbb661c9f5efbfd9de5a554ee4c6141/ui_tests/ui/test_super_resolution.py" TargetMode="External" Id="Ra66c68d148ab4078" /><Relationship Type="http://schemas.openxmlformats.org/officeDocument/2006/relationships/hyperlink" Target="https://github.com/Techlauncher-LeafAnalyzer/Hyperspectral-Image-Inspector/blob/ac7161342dbb661c9f5efbfd9de5a554ee4c6141/ui_tests/core/test_super_resolution_model.py" TargetMode="External" Id="Rf40a621f4c7540b4" /><Relationship Type="http://schemas.openxmlformats.org/officeDocument/2006/relationships/hyperlink" Target="https://github.com/Techlauncher-LeafAnalyzer/Hyperspectral-Image-Inspector/pull/36" TargetMode="External" Id="R4cf68f0e5a284969" /><Relationship Type="http://schemas.openxmlformats.org/officeDocument/2006/relationships/hyperlink" Target="https://leaf2qr.atlassian.net/browse/LEAF-113" TargetMode="External" Id="Rd24eefbc968048a8" /><Relationship Type="http://schemas.openxmlformats.org/officeDocument/2006/relationships/hyperlink" Target="https://github.com/Techlauncher-LeafAnalyzer/Hyperspectral-Image-Inspector/tree/ac7161342dbb661c9f5efbfd9de5a554ee4c6141/ui_tests/ui" TargetMode="External" Id="Rd95928fc3934457f" /><Relationship Type="http://schemas.openxmlformats.org/officeDocument/2006/relationships/image" Target="/ppt/media/image6.png" Id="Rcf642f10d8ef4a48" /><Relationship Type="http://schemas.openxmlformats.org/officeDocument/2006/relationships/notesSlide" Target="/ppt/notesSlides/notesSlide9.xml" Id="Rc426ab12a479465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71e3b0d8e7c4fe6" /><Relationship Type="http://schemas.openxmlformats.org/officeDocument/2006/relationships/hyperlink" Target="https://github.com/Techlauncher-LeafAnalyzer/Hyperspectral-Image-Inspector/pull/25" TargetMode="External" Id="Rca0fbc5f14614cbf" /><Relationship Type="http://schemas.openxmlformats.org/officeDocument/2006/relationships/hyperlink" Target="https://github.com/Techlauncher-LeafAnalyzer/Hyperspectral-Image-Inspector/blob/ac7161342dbb661c9f5efbfd9de5a554ee4c6141/.github/workflows/ui-tests.yml" TargetMode="External" Id="R72595d10e9854e82" /><Relationship Type="http://schemas.openxmlformats.org/officeDocument/2006/relationships/hyperlink" Target="https://github.com/Techlauncher-LeafAnalyzer/Hyperspectral-Image-Inspector/actions/runs/33145582110" TargetMode="External" Id="R7696d596d2c34f7c" /><Relationship Type="http://schemas.openxmlformats.org/officeDocument/2006/relationships/hyperlink" Target="https://github.com/Techlauncher-LeafAnalyzer/Hyperspectral-Image-Inspector/blob/ac7161342dbb661c9f5efbfd9de5a554ee4c6141/requirements-dev.txt" TargetMode="External" Id="R4426f929a24c4ecb" /><Relationship Type="http://schemas.openxmlformats.org/officeDocument/2006/relationships/image" Target="/ppt/media/image7.png" Id="R522b98bc58bb481a" /><Relationship Type="http://schemas.openxmlformats.org/officeDocument/2006/relationships/notesSlide" Target="/ppt/notesSlides/notesSlide10.xml" Id="R3b62973c480d4c1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d007116ad6b40d3" /><Relationship Type="http://schemas.openxmlformats.org/officeDocument/2006/relationships/hyperlink" Target="https://github.com/Techlauncher-LeafAnalyzer/Hyperspectral-Image-Inspector/pull/36" TargetMode="External" Id="Rcdcbbf0cb98846e0" /><Relationship Type="http://schemas.openxmlformats.org/officeDocument/2006/relationships/hyperlink" Target="https://github.com/Techlauncher-LeafAnalyzer/Hyperspectral-Image-Inspector/pull/36#pullrequestreview-5048104584" TargetMode="External" Id="R1bbebcbd87e44677" /><Relationship Type="http://schemas.openxmlformats.org/officeDocument/2006/relationships/hyperlink" Target="https://github.com/Techlauncher-LeafAnalyzer/Hyperspectral-Image-Inspector/pull/36#pullrequestreview-5048223876" TargetMode="External" Id="R109cf2d814b24a4a" /><Relationship Type="http://schemas.openxmlformats.org/officeDocument/2006/relationships/hyperlink" Target="https://github.com/Techlauncher-LeafAnalyzer/Hyperspectral-Image-Inspector/commit/c285154ac5a1699da66058b6511dbbbc006d60b0" TargetMode="External" Id="R4340eff07c874dc9" /><Relationship Type="http://schemas.openxmlformats.org/officeDocument/2006/relationships/hyperlink" Target="https://github.com/Techlauncher-LeafAnalyzer/Hyperspectral-Image-Inspector/actions/runs/33145582110" TargetMode="External" Id="Rdc3d89a7bb714bd7" /><Relationship Type="http://schemas.openxmlformats.org/officeDocument/2006/relationships/hyperlink" Target="https://leaf2qr.atlassian.net/wiki/spaces/L/pages/19726337" TargetMode="External" Id="Rb7ea99ed24014f71" /><Relationship Type="http://schemas.openxmlformats.org/officeDocument/2006/relationships/hyperlink" Target="https://leaf2qr.atlassian.net/wiki/spaces/L/pages/19726345" TargetMode="External" Id="R53156d61e183458b" /><Relationship Type="http://schemas.openxmlformats.org/officeDocument/2006/relationships/hyperlink" Target="https://github.com/Techlauncher-LeafAnalyzer/Hyperspectral-Image-Inspector/pull/36" TargetMode="External" Id="R7b56316d1cc74452" /><Relationship Type="http://schemas.openxmlformats.org/officeDocument/2006/relationships/image" Target="/ppt/media/image8.png" Id="Radae8c388a4d4da5" /><Relationship Type="http://schemas.openxmlformats.org/officeDocument/2006/relationships/hyperlink" Target="https://github.com/Techlauncher-LeafAnalyzer/Hyperspectral-Image-Inspector/pull/36" TargetMode="External" Id="R6f882b7d169a4ae7" /><Relationship Type="http://schemas.openxmlformats.org/officeDocument/2006/relationships/notesSlide" Target="/ppt/notesSlides/notesSlide11.xml" Id="Rae8fe7ef207847d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327c83d3f7246ef" /><Relationship Type="http://schemas.openxmlformats.org/officeDocument/2006/relationships/hyperlink" Target="https://leaf2qr.atlassian.net/wiki/spaces/L/pages/18448410" TargetMode="External" Id="R3b54f06311f04173" /><Relationship Type="http://schemas.openxmlformats.org/officeDocument/2006/relationships/hyperlink" Target="https://leaf2qr.atlassian.net/wiki/spaces/L/pages/19726345" TargetMode="External" Id="R0c00d19e40a9423b" /><Relationship Type="http://schemas.openxmlformats.org/officeDocument/2006/relationships/hyperlink" Target="https://leaf2qr.atlassian.net/wiki/spaces/L/pages/18645003" TargetMode="External" Id="Rf62af871cc3042fd" /><Relationship Type="http://schemas.openxmlformats.org/officeDocument/2006/relationships/hyperlink" Target="https://leaf2qr.atlassian.net/browse/LEAF-157" TargetMode="External" Id="R676ec172981542f6" /><Relationship Type="http://schemas.openxmlformats.org/officeDocument/2006/relationships/hyperlink" Target="https://github.com/Techlauncher-LeafAnalyzer/Hyperspectral-Image-Inspector/pull/29" TargetMode="External" Id="R1d59dddc53b2492d" /><Relationship Type="http://schemas.openxmlformats.org/officeDocument/2006/relationships/hyperlink" Target="https://github.com/Techlauncher-LeafAnalyzer/Hyperspectral-Image-Inspector/pull/30" TargetMode="External" Id="Rb6113af612934cff" /><Relationship Type="http://schemas.openxmlformats.org/officeDocument/2006/relationships/hyperlink" Target="https://github.com/Techlauncher-LeafAnalyzer/Hyperspectral-Image-Inspector/pull/34" TargetMode="External" Id="R0451aaa269934d7f" /><Relationship Type="http://schemas.openxmlformats.org/officeDocument/2006/relationships/hyperlink" Target="https://leaf2qr.atlassian.net/wiki/spaces/L/pages/6193171" TargetMode="External" Id="Rfe04028cfa2940c4" /><Relationship Type="http://schemas.openxmlformats.org/officeDocument/2006/relationships/hyperlink" Target="https://github.com/Techlauncher-LeafAnalyzer/Hyperspectral-Image-Inspector/pull/29" TargetMode="External" Id="R432e18af385e430b" /><Relationship Type="http://schemas.openxmlformats.org/officeDocument/2006/relationships/hyperlink" Target="https://github.com/Techlauncher-LeafAnalyzer/Hyperspectral-Image-Inspector/pull/30" TargetMode="External" Id="R496a755e250e45f1" /><Relationship Type="http://schemas.openxmlformats.org/officeDocument/2006/relationships/hyperlink" Target="https://github.com/Techlauncher-LeafAnalyzer/Hyperspectral-Image-Inspector/pull/34" TargetMode="External" Id="R99d3097861c24b6f" /><Relationship Type="http://schemas.openxmlformats.org/officeDocument/2006/relationships/hyperlink" Target="https://leaf2qr.atlassian.net/browse/LEAF-157" TargetMode="External" Id="R24940b6391424b47" /><Relationship Type="http://schemas.openxmlformats.org/officeDocument/2006/relationships/notesSlide" Target="/ppt/notesSlides/notesSlide12.xml" Id="Rd6750e60ed5b44a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f9b1bda81364fd3" /><Relationship Type="http://schemas.openxmlformats.org/officeDocument/2006/relationships/hyperlink" Target="https://leaf2qr.atlassian.net/wiki/spaces/L/pages/18645003" TargetMode="External" Id="Rc7cbc4600a854d09" /><Relationship Type="http://schemas.openxmlformats.org/officeDocument/2006/relationships/hyperlink" Target="https://leaf2qr.atlassian.net/wiki/spaces/L/pages/18448410" TargetMode="External" Id="Rc7493bccaab845d6" /><Relationship Type="http://schemas.openxmlformats.org/officeDocument/2006/relationships/hyperlink" Target="https://leaf2qr.atlassian.net/wiki/spaces/L/pages/19726345" TargetMode="External" Id="Rab8daa361a4d4429" /><Relationship Type="http://schemas.openxmlformats.org/officeDocument/2006/relationships/hyperlink" Target="https://leaf2qr.atlassian.net/wiki/spaces/L/pages/18284545" TargetMode="External" Id="R54a4f9255d5c46fc" /><Relationship Type="http://schemas.openxmlformats.org/officeDocument/2006/relationships/hyperlink" Target="https://leaf2qr.atlassian.net/wiki/spaces/L/pages/6193171" TargetMode="External" Id="Rd3b3cda3ec9f4cad" /><Relationship Type="http://schemas.openxmlformats.org/officeDocument/2006/relationships/hyperlink" Target="https://leaf2qr.atlassian.net/browse/LEAF-157" TargetMode="External" Id="R1b7fd8e821ae45ab" /><Relationship Type="http://schemas.openxmlformats.org/officeDocument/2006/relationships/hyperlink" Target="https://leaf2qr.atlassian.net/browse/LEAF-150" TargetMode="External" Id="Rf5899c0056d4450c" /><Relationship Type="http://schemas.openxmlformats.org/officeDocument/2006/relationships/hyperlink" Target="https://leaf2qr.atlassian.net/browse/LEAF-152" TargetMode="External" Id="Rb2274d056c3d460b" /><Relationship Type="http://schemas.openxmlformats.org/officeDocument/2006/relationships/hyperlink" Target="https://github.com/Techlauncher-LeafAnalyzer/Hyperspectral-Image-Inspector/pull/25" TargetMode="External" Id="R2bb0a86031f64c15" /><Relationship Type="http://schemas.openxmlformats.org/officeDocument/2006/relationships/hyperlink" Target="https://github.com/Techlauncher-LeafAnalyzer/Hyperspectral-Image-Inspector/actions/runs/33145582110" TargetMode="External" Id="R00dace4b1a004ea1" /><Relationship Type="http://schemas.openxmlformats.org/officeDocument/2006/relationships/hyperlink" Target="https://leaf2qr.atlassian.net/browse/LEAF-157" TargetMode="External" Id="Rb98508ff5e984f07" /><Relationship Type="http://schemas.openxmlformats.org/officeDocument/2006/relationships/hyperlink" Target="https://github.com/Techlauncher-LeafAnalyzer/Hyperspectral-Image-Inspector/pull/25" TargetMode="External" Id="Rcd99ca0eae6d4390" /><Relationship Type="http://schemas.openxmlformats.org/officeDocument/2006/relationships/notesSlide" Target="/ppt/notesSlides/notesSlide13.xml" Id="Re6d7718569fd493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82fd2e220f5401b" /><Relationship Type="http://schemas.openxmlformats.org/officeDocument/2006/relationships/hyperlink" Target="https://leaf2qr.atlassian.net/browse/LEAF-105" TargetMode="External" Id="R9838ccbd2559468a" /><Relationship Type="http://schemas.openxmlformats.org/officeDocument/2006/relationships/hyperlink" Target="https://leaf2qr.atlassian.net/browse/LEAF-115" TargetMode="External" Id="R55e6e3271bb1412e" /><Relationship Type="http://schemas.openxmlformats.org/officeDocument/2006/relationships/hyperlink" Target="https://leaf2qr.atlassian.net/browse/LEAF-116" TargetMode="External" Id="R36f5437cad8d4512" /><Relationship Type="http://schemas.openxmlformats.org/officeDocument/2006/relationships/hyperlink" Target="https://leaf2qr.atlassian.net/browse/LEAF-113" TargetMode="External" Id="R9c79b92f82fc44b3" /><Relationship Type="http://schemas.openxmlformats.org/officeDocument/2006/relationships/hyperlink" Target="https://leaf2qr.atlassian.net/browse/LEAF-163" TargetMode="External" Id="R0d60f21a276b41b6" /><Relationship Type="http://schemas.openxmlformats.org/officeDocument/2006/relationships/hyperlink" Target="https://leaf2qr.atlassian.net/browse/LEAF-164" TargetMode="External" Id="R3e5c1ae753874290" /><Relationship Type="http://schemas.openxmlformats.org/officeDocument/2006/relationships/hyperlink" Target="https://github.com/Techlauncher-LeafAnalyzer/Hyperspectral-Image-Inspector/pull/36" TargetMode="External" Id="R9b284973830f463c" /><Relationship Type="http://schemas.openxmlformats.org/officeDocument/2006/relationships/hyperlink" Target="https://leaf2qr.atlassian.net/wiki/spaces/L/pages/19726337" TargetMode="External" Id="Rd42bbaf2757c49ef" /><Relationship Type="http://schemas.openxmlformats.org/officeDocument/2006/relationships/hyperlink" Target="https://leaf2qr.atlassian.net/wiki/spaces/L/pages/19726345" TargetMode="External" Id="Re699d514169542bd" /><Relationship Type="http://schemas.openxmlformats.org/officeDocument/2006/relationships/hyperlink" Target="https://leaf2qr.atlassian.net/wiki/spaces/L/pages/6193171" TargetMode="External" Id="R12357750a48a4bee" /><Relationship Type="http://schemas.openxmlformats.org/officeDocument/2006/relationships/hyperlink" Target="https://leaf2qr.atlassian.net/browse/LEAF-115" TargetMode="External" Id="R9c5438e04e154616" /><Relationship Type="http://schemas.openxmlformats.org/officeDocument/2006/relationships/hyperlink" Target="https://leaf2qr.atlassian.net/browse/LEAF-116" TargetMode="External" Id="Rdb328e1bf59548c2" /><Relationship Type="http://schemas.openxmlformats.org/officeDocument/2006/relationships/hyperlink" Target="https://leaf2qr.atlassian.net/browse/LEAF-113" TargetMode="External" Id="R5fd2087394c24999" /><Relationship Type="http://schemas.openxmlformats.org/officeDocument/2006/relationships/notesSlide" Target="/ppt/notesSlides/notesSlide14.xml" Id="R4b1b1bdff8a4440c" /></Relationships>
</file>

<file path=ppt/slides/slide1.xml><?xml version="1.0" encoding="utf-8"?>
<p:sld xmlns:p="http://schemas.openxmlformats.org/presentationml/2006/main">
  <p:cSld>
    <p:bg>
      <p:bgPr>
        <a:solidFill xmlns:a="http://schemas.openxmlformats.org/drawingml/2006/main">
          <a:srgbClr val="173B31"/>
        </a:solidFill>
      </p:bgPr>
    </p:bg>
    <p:spTree>
      <p:nvGrpSpPr>
        <p:cNvPr id="1" name=""/>
        <p:cNvGrpSpPr/>
        <p:nvPr/>
      </p:nvGrpSpPr>
      <p:grpSpPr>
        <a:xfrm xmlns:a="http://schemas.openxmlformats.org/drawingml/2006/main"/>
      </p:grpSpPr>
      <p:sp>
        <p:nvSpPr>
          <p:cNvPr id="10" name="TECHLAUNCHER  /  LEAF ANALYZER">
            <a:extLst xmlns:a="http://schemas.openxmlformats.org/drawingml/2006/main">
              <a:ext uri="{FF2B5EF4-FFF2-40B4-BE49-F238E27FC236}">
                <a16:creationId xmlns:a16="http://schemas.microsoft.com/office/drawing/2014/main" id="{213F2B68-8154-4E34-9146-F2C1E03DB152}"/>
              </a:ext>
            </a:extLst>
          </p:cNvPr>
          <p:cNvSpPr>
            <a:spLocks xmlns:a="http://schemas.openxmlformats.org/drawingml/2006/main" noGrp="1"/>
          </p:cNvSpPr>
          <p:nvPr/>
        </p:nvSpPr>
        <p:spPr>
          <a:xfrm xmlns:a="http://schemas.openxmlformats.org/drawingml/2006/main">
            <a:off x="609600" y="581025"/>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C4D9CB"/>
                </a:solidFill>
                <a:latin typeface="Arial"/>
                <a:ea typeface="Arial"/>
                <a:cs typeface="Arial"/>
              </a:defRPr>
            </a:pPr>
            <a:r>
              <a:rPr sz="1725" b="1">
                <a:solidFill>
                  <a:srgbClr val="C4D9CB"/>
                </a:solidFill>
                <a:latin typeface="Arial"/>
                <a:ea typeface="Arial"/>
                <a:cs typeface="Arial"/>
              </a:rPr>
              <a:t>TECHLAUNCHER  /  LEAF ANALYZER</a:t>
            </a:r>
          </a:p>
        </p:txBody>
      </p:sp>
      <p:sp>
        <p:nvSpPr>
          <p:cNvPr id="2" name="Sprint 5&#10;Review">
            <a:extLst xmlns:a="http://schemas.openxmlformats.org/drawingml/2006/main">
              <a:ext uri="{FF2B5EF4-FFF2-40B4-BE49-F238E27FC236}">
                <a16:creationId xmlns:a16="http://schemas.microsoft.com/office/drawing/2014/main" id="{0B29E12D-B3AE-4BBD-916F-780442D9D363}"/>
              </a:ext>
            </a:extLst>
          </p:cNvPr>
          <p:cNvSpPr>
            <a:spLocks xmlns:a="http://schemas.openxmlformats.org/drawingml/2006/main" noGrp="1"/>
          </p:cNvSpPr>
          <p:nvPr/>
        </p:nvSpPr>
        <p:spPr>
          <a:xfrm xmlns:a="http://schemas.openxmlformats.org/drawingml/2006/main">
            <a:off x="609600" y="1714500"/>
            <a:ext cx="9810750"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6600" b="1">
                <a:solidFill>
                  <a:srgbClr val="FFFFFF"/>
                </a:solidFill>
                <a:latin typeface="Arial"/>
                <a:ea typeface="Arial"/>
                <a:cs typeface="Arial"/>
              </a:defRPr>
            </a:pPr>
            <a:r>
              <a:rPr sz="6600" b="1">
                <a:solidFill>
                  <a:srgbClr val="FFFFFF"/>
                </a:solidFill>
                <a:latin typeface="Arial"/>
                <a:ea typeface="Arial"/>
                <a:cs typeface="Arial"/>
              </a:rPr>
              <a:t>Sprint 5</a:t>
            </a:r>
          </a:p>
          <a:p xmlns:a="http://schemas.openxmlformats.org/drawingml/2006/main">
            <a:pPr algn="l">
              <a:buNone/>
              <a:defRPr sz="6600" b="1">
                <a:solidFill>
                  <a:srgbClr val="FFFFFF"/>
                </a:solidFill>
                <a:latin typeface="Arial"/>
                <a:ea typeface="Arial"/>
                <a:cs typeface="Arial"/>
              </a:defRPr>
            </a:pPr>
            <a:r>
              <a:rPr sz="6600" b="1">
                <a:solidFill>
                  <a:srgbClr val="FFFFFF"/>
                </a:solidFill>
                <a:latin typeface="Arial"/>
                <a:ea typeface="Arial"/>
                <a:cs typeface="Arial"/>
              </a:rPr>
              <a:t>Review</a:t>
            </a:r>
          </a:p>
        </p:txBody>
      </p:sp>
      <p:sp>
        <p:nvSpPr>
          <p:cNvPr id="3" name="直线连接符 2">
            <a:extLst xmlns:a="http://schemas.openxmlformats.org/drawingml/2006/main">
              <a:ext uri="{FF2B5EF4-FFF2-40B4-BE49-F238E27FC236}">
                <a16:creationId xmlns:a16="http://schemas.microsoft.com/office/drawing/2014/main" id="{CB8FC899-AB65-4B22-9FFF-DF26A34D41A0}"/>
              </a:ext>
            </a:extLst>
          </p:cNvPr>
          <p:cNvSpPr>
            <a:spLocks xmlns:a="http://schemas.openxmlformats.org/drawingml/2006/main" noGrp="1"/>
          </p:cNvSpPr>
          <p:nvPr/>
        </p:nvSpPr>
        <p:spPr>
          <a:xfrm xmlns:a="http://schemas.openxmlformats.org/drawingml/2006/main">
            <a:off x="609600" y="4314825"/>
            <a:ext cx="10972800" cy="0"/>
          </a:xfrm>
          <a:prstGeom xmlns:a="http://schemas.openxmlformats.org/drawingml/2006/main" prst="line">
            <a:avLst/>
          </a:prstGeom>
          <a:noFill xmlns:a="http://schemas.openxmlformats.org/drawingml/2006/main"/>
          <a:ln xmlns:a="http://schemas.openxmlformats.org/drawingml/2006/main" w="14288">
            <a:solidFill>
              <a:srgbClr val="416252"/>
            </a:solidFill>
          </a:ln>
        </p:spPr>
      </p:sp>
      <p:sp>
        <p:nvSpPr>
          <p:cNvPr id="4" name="Hyperspectral Image Inspector">
            <a:extLst xmlns:a="http://schemas.openxmlformats.org/drawingml/2006/main">
              <a:ext uri="{FF2B5EF4-FFF2-40B4-BE49-F238E27FC236}">
                <a16:creationId xmlns:a16="http://schemas.microsoft.com/office/drawing/2014/main" id="{27816016-E163-478F-89ED-DD8D1AAE57A5}"/>
              </a:ext>
            </a:extLst>
          </p:cNvPr>
          <p:cNvSpPr>
            <a:spLocks xmlns:a="http://schemas.openxmlformats.org/drawingml/2006/main" noGrp="1"/>
          </p:cNvSpPr>
          <p:nvPr/>
        </p:nvSpPr>
        <p:spPr>
          <a:xfrm xmlns:a="http://schemas.openxmlformats.org/drawingml/2006/main">
            <a:off x="609600" y="4591050"/>
            <a:ext cx="10763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0">
                <a:solidFill>
                  <a:srgbClr val="FFFFFF"/>
                </a:solidFill>
                <a:latin typeface="Arial"/>
                <a:ea typeface="Arial"/>
                <a:cs typeface="Arial"/>
              </a:defRPr>
            </a:pPr>
            <a:r>
              <a:rPr sz="2550" b="0">
                <a:solidFill>
                  <a:srgbClr val="FFFFFF"/>
                </a:solidFill>
                <a:latin typeface="Arial"/>
                <a:ea typeface="Arial"/>
                <a:cs typeface="Arial"/>
              </a:rPr>
              <a:t>Hyperspectral Image Inspector</a:t>
            </a:r>
          </a:p>
        </p:txBody>
      </p:sp>
      <p:sp>
        <p:nvSpPr>
          <p:cNvPr id="5" name="Working features. Stronger checks. Clearer fo">
            <a:extLst xmlns:a="http://schemas.openxmlformats.org/drawingml/2006/main">
              <a:ext uri="{FF2B5EF4-FFF2-40B4-BE49-F238E27FC236}">
                <a16:creationId xmlns:a16="http://schemas.microsoft.com/office/drawing/2014/main" id="{90605EE6-B728-4A85-9791-344A487B15AC}"/>
              </a:ext>
            </a:extLst>
          </p:cNvPr>
          <p:cNvSpPr>
            <a:spLocks xmlns:a="http://schemas.openxmlformats.org/drawingml/2006/main" noGrp="1"/>
          </p:cNvSpPr>
          <p:nvPr/>
        </p:nvSpPr>
        <p:spPr>
          <a:xfrm xmlns:a="http://schemas.openxmlformats.org/drawingml/2006/main">
            <a:off x="609600" y="52482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a:solidFill>
                  <a:srgbClr val="C4D9CB"/>
                </a:solidFill>
                <a:latin typeface="Arial"/>
                <a:ea typeface="Arial"/>
                <a:cs typeface="Arial"/>
              </a:defRPr>
            </a:pPr>
            <a:r>
              <a:rPr sz="2100" b="0">
                <a:solidFill>
                  <a:srgbClr val="C4D9CB"/>
                </a:solidFill>
                <a:latin typeface="Arial"/>
                <a:ea typeface="Arial"/>
                <a:cs typeface="Arial"/>
              </a:rPr>
              <a:t>What we built and what we learned</a:t>
            </a:r>
          </a:p>
        </p:txBody>
      </p:sp>
      <p:sp>
        <p:nvSpPr>
          <p:cNvPr id="6" name="直线连接符 5">
            <a:extLst xmlns:a="http://schemas.openxmlformats.org/drawingml/2006/main">
              <a:ext uri="{FF2B5EF4-FFF2-40B4-BE49-F238E27FC236}">
                <a16:creationId xmlns:a16="http://schemas.microsoft.com/office/drawing/2014/main" id="{C70573C7-6CC4-4D46-A13C-AD5370D866BD}"/>
              </a:ext>
            </a:extLst>
          </p:cNvPr>
          <p:cNvSpPr>
            <a:spLocks xmlns:a="http://schemas.openxmlformats.org/drawingml/2006/main" noGrp="1"/>
          </p:cNvSpPr>
          <p:nvPr/>
        </p:nvSpPr>
        <p:spPr>
          <a:xfrm xmlns:a="http://schemas.openxmlformats.org/drawingml/2006/main">
            <a:off x="609600" y="6238875"/>
            <a:ext cx="10972800" cy="0"/>
          </a:xfrm>
          <a:prstGeom xmlns:a="http://schemas.openxmlformats.org/drawingml/2006/main" prst="line">
            <a:avLst/>
          </a:prstGeom>
          <a:noFill xmlns:a="http://schemas.openxmlformats.org/drawingml/2006/main"/>
          <a:ln xmlns:a="http://schemas.openxmlformats.org/drawingml/2006/main" w="14288">
            <a:solidFill>
              <a:srgbClr val="416252"/>
            </a:solidFill>
          </a:ln>
        </p:spPr>
      </p:sp>
      <p:sp>
        <p:nvSpPr>
          <p:cNvPr id="7" name="LEAF ANALYZER  /  SPRINT 5">
            <a:extLst xmlns:a="http://schemas.openxmlformats.org/drawingml/2006/main">
              <a:ext uri="{FF2B5EF4-FFF2-40B4-BE49-F238E27FC236}">
                <a16:creationId xmlns:a16="http://schemas.microsoft.com/office/drawing/2014/main" id="{45729951-2911-4AFC-B5F4-E56EACBE7CCA}"/>
              </a:ext>
            </a:extLst>
          </p:cNvPr>
          <p:cNvSpPr>
            <a:spLocks xmlns:a="http://schemas.openxmlformats.org/drawingml/2006/main" noGrp="1"/>
          </p:cNvSpPr>
          <p:nvPr/>
        </p:nvSpPr>
        <p:spPr>
          <a:xfrm xmlns:a="http://schemas.openxmlformats.org/drawingml/2006/main">
            <a:off x="609600" y="6410325"/>
            <a:ext cx="323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C4D9CB"/>
                </a:solidFill>
                <a:latin typeface="Arial"/>
                <a:ea typeface="Arial"/>
                <a:cs typeface="Arial"/>
              </a:defRPr>
            </a:pPr>
            <a:r>
              <a:rPr sz="1350" b="0">
                <a:solidFill>
                  <a:srgbClr val="C4D9CB"/>
                </a:solidFill>
                <a:latin typeface="Arial"/>
                <a:ea typeface="Arial"/>
                <a:cs typeface="Arial"/>
              </a:rPr>
              <a:t>LEAF ANALYZER  /  SPRINT 5</a:t>
            </a:r>
          </a:p>
        </p:txBody>
      </p:sp>
      <p:sp>
        <p:nvSpPr>
          <p:cNvPr id="8" name="Evidence through 28 August 2026">
            <a:extLst xmlns:a="http://schemas.openxmlformats.org/drawingml/2006/main">
              <a:ext uri="{FF2B5EF4-FFF2-40B4-BE49-F238E27FC236}">
                <a16:creationId xmlns:a16="http://schemas.microsoft.com/office/drawing/2014/main" id="{7E4DDC68-B0AE-480A-B024-9B682245E2EA}"/>
              </a:ext>
            </a:extLst>
          </p:cNvPr>
          <p:cNvSpPr>
            <a:spLocks xmlns:a="http://schemas.openxmlformats.org/drawingml/2006/main" noGrp="1"/>
          </p:cNvSpPr>
          <p:nvPr/>
        </p:nvSpPr>
        <p:spPr>
          <a:xfrm xmlns:a="http://schemas.openxmlformats.org/drawingml/2006/main">
            <a:off x="3952875" y="6305550"/>
            <a:ext cx="708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00" b="0">
                <a:solidFill>
                  <a:srgbClr val="C4D9CB"/>
                </a:solidFill>
                <a:latin typeface="Arial"/>
                <a:ea typeface="Arial"/>
                <a:cs typeface="Arial"/>
              </a:defRPr>
            </a:pPr>
            <a:r>
              <a:rPr sz="1200">
                <a:solidFill>
                  <a:srgbClr val="C4D9CB"/>
                </a:solidFill>
                <a:latin typeface="Arial"/>
                <a:ea typeface="Arial"/>
                <a:cs typeface="Arial"/>
              </a:rPr>
              <a:t>Sources: </a:t>
            </a:r>
            <a:r>
              <a:rPr sz="1200" u="sng">
                <a:solidFill>
                  <a:srgbClr val="C4D9CB"/>
                </a:solidFill>
                <a:latin typeface="Arial"/>
                <a:ea typeface="Arial"/>
                <a:cs typeface="Arial"/>
                <a:hlinkClick xmlns:r="http://schemas.openxmlformats.org/officeDocument/2006/relationships" r:id="Rec78f6b6cc964565"/>
              </a:rPr>
              <a:t>LEAF-150</a:t>
            </a:r>
            <a:r>
              <a:rPr sz="1200" b="0">
                <a:solidFill>
                  <a:srgbClr val="C4D9CB"/>
                </a:solidFill>
                <a:latin typeface="Arial"/>
                <a:ea typeface="Arial"/>
                <a:cs typeface="Arial"/>
              </a:rPr>
              <a:t>  ·  </a:t>
            </a:r>
            <a:r>
              <a:rPr sz="1200" u="sng">
                <a:solidFill>
                  <a:srgbClr val="C4D9CB"/>
                </a:solidFill>
                <a:latin typeface="Arial"/>
                <a:ea typeface="Arial"/>
                <a:cs typeface="Arial"/>
                <a:hlinkClick xmlns:r="http://schemas.openxmlformats.org/officeDocument/2006/relationships" r:id="Rf993a5f55a66444a"/>
              </a:rPr>
              <a:t>Backlog</a:t>
            </a:r>
            <a:r>
              <a:rPr sz="1200" b="0">
                <a:solidFill>
                  <a:srgbClr val="C4D9CB"/>
                </a:solidFill>
                <a:latin typeface="Arial"/>
                <a:ea typeface="Arial"/>
                <a:cs typeface="Arial"/>
              </a:rPr>
              <a:t>  ·  </a:t>
            </a:r>
            <a:r>
              <a:rPr sz="1200" u="sng">
                <a:solidFill>
                  <a:srgbClr val="C4D9CB"/>
                </a:solidFill>
                <a:latin typeface="Arial"/>
                <a:ea typeface="Arial"/>
                <a:cs typeface="Arial"/>
                <a:hlinkClick xmlns:r="http://schemas.openxmlformats.org/officeDocument/2006/relationships" r:id="R48be90034ee34e64"/>
              </a:rPr>
              <a:t>Commit ac71613</a:t>
            </a:r>
          </a:p>
        </p:txBody>
      </p:sp>
      <p:sp>
        <p:nvSpPr>
          <p:cNvPr id="9" name="01">
            <a:extLst xmlns:a="http://schemas.openxmlformats.org/drawingml/2006/main">
              <a:ext uri="{FF2B5EF4-FFF2-40B4-BE49-F238E27FC236}">
                <a16:creationId xmlns:a16="http://schemas.microsoft.com/office/drawing/2014/main" id="{E85B00E6-7724-40CA-B68D-6DDE51F97D72}"/>
              </a:ext>
            </a:extLst>
          </p:cNvPr>
          <p:cNvSpPr>
            <a:spLocks xmlns:a="http://schemas.openxmlformats.org/drawingml/2006/main" noGrp="1"/>
          </p:cNvSpPr>
          <p:nvPr/>
        </p:nvSpPr>
        <p:spPr>
          <a:xfrm xmlns:a="http://schemas.openxmlformats.org/drawingml/2006/main">
            <a:off x="11239500" y="63817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C4D9CB"/>
                </a:solidFill>
                <a:latin typeface="Arial"/>
                <a:ea typeface="Arial"/>
                <a:cs typeface="Arial"/>
              </a:defRPr>
            </a:pPr>
            <a:r>
              <a:rPr sz="1575" b="0">
                <a:solidFill>
                  <a:srgbClr val="C4D9CB"/>
                </a:solidFill>
                <a:latin typeface="Arial"/>
                <a:ea typeface="Arial"/>
                <a:cs typeface="Arial"/>
              </a:rPr>
              <a:t>01</a:t>
            </a:r>
          </a:p>
        </p:txBody>
      </p:sp>
    </p:spTree>
    <p:extLst>
      <p:ext uri="{BB962C8B-B14F-4D97-AF65-F5344CB8AC3E}">
        <p14:creationId xmlns:p14="http://schemas.microsoft.com/office/powerpoint/2010/main" val="882422061"/>
      </p:ext>
    </p:extLst>
  </p:cSld>
</p:sld>
</file>

<file path=ppt/slides/slide2.xml><?xml version="1.0" encoding="utf-8"?>
<p:sld xmlns:p="http://schemas.openxmlformats.org/presentationml/2006/main">
  <p:cSld>
    <p:bg>
      <p:bgPr>
        <a:solidFill xmlns:a="http://schemas.openxmlformats.org/drawingml/2006/main">
          <a:srgbClr val="F4F5F0"/>
        </a:solidFill>
      </p:bgPr>
    </p:bg>
    <p:spTree>
      <p:nvGrpSpPr>
        <p:cNvPr id="1" name=""/>
        <p:cNvGrpSpPr/>
        <p:nvPr/>
      </p:nvGrpSpPr>
      <p:grpSpPr>
        <a:xfrm xmlns:a="http://schemas.openxmlformats.org/drawingml/2006/main"/>
      </p:grpSpPr>
      <p:sp>
        <p:nvSpPr>
          <p:cNvPr id="19" name="SPRINT 5 OVERVIEW">
            <a:extLst xmlns:a="http://schemas.openxmlformats.org/drawingml/2006/main">
              <a:ext uri="{FF2B5EF4-FFF2-40B4-BE49-F238E27FC236}">
                <a16:creationId xmlns:a16="http://schemas.microsoft.com/office/drawing/2014/main" id="{742DCAC5-8CDB-4C75-849B-690EC599F429}"/>
              </a:ext>
            </a:extLst>
          </p:cNvPr>
          <p:cNvSpPr>
            <a:spLocks xmlns:a="http://schemas.openxmlformats.org/drawingml/2006/main" noGrp="1"/>
          </p:cNvSpPr>
          <p:nvPr/>
        </p:nvSpPr>
        <p:spPr>
          <a:xfrm xmlns:a="http://schemas.openxmlformats.org/drawingml/2006/main">
            <a:off x="609600" y="4000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1">
                <a:solidFill>
                  <a:srgbClr val="287553"/>
                </a:solidFill>
                <a:latin typeface="Arial"/>
                <a:ea typeface="Arial"/>
                <a:cs typeface="Arial"/>
              </a:defRPr>
            </a:pPr>
            <a:r>
              <a:rPr sz="1500" b="1">
                <a:solidFill>
                  <a:srgbClr val="287553"/>
                </a:solidFill>
                <a:latin typeface="Arial"/>
                <a:ea typeface="Arial"/>
                <a:cs typeface="Arial"/>
              </a:rPr>
              <a:t>SPRINT 5 OVERVIEW</a:t>
            </a:r>
          </a:p>
        </p:txBody>
      </p:sp>
      <p:sp>
        <p:nvSpPr>
          <p:cNvPr id="2" name="More of the analysis workflow now works">
            <a:extLst xmlns:a="http://schemas.openxmlformats.org/drawingml/2006/main">
              <a:ext uri="{FF2B5EF4-FFF2-40B4-BE49-F238E27FC236}">
                <a16:creationId xmlns:a16="http://schemas.microsoft.com/office/drawing/2014/main" id="{50CAB585-FF82-4424-BC51-80AF7707E3CC}"/>
              </a:ext>
            </a:extLst>
          </p:cNvPr>
          <p:cNvSpPr>
            <a:spLocks xmlns:a="http://schemas.openxmlformats.org/drawingml/2006/main" noGrp="1"/>
          </p:cNvSpPr>
          <p:nvPr/>
        </p:nvSpPr>
        <p:spPr>
          <a:xfrm xmlns:a="http://schemas.openxmlformats.org/drawingml/2006/main">
            <a:off x="609600" y="86677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600" b="1">
                <a:solidFill>
                  <a:srgbClr val="173B31"/>
                </a:solidFill>
                <a:latin typeface="Arial"/>
                <a:ea typeface="Arial"/>
                <a:cs typeface="Arial"/>
              </a:defRPr>
            </a:pPr>
            <a:r>
              <a:rPr sz="3600" b="1">
                <a:solidFill>
                  <a:srgbClr val="173B31"/>
                </a:solidFill>
                <a:latin typeface="Arial"/>
                <a:ea typeface="Arial"/>
                <a:cs typeface="Arial"/>
              </a:rPr>
              <a:t>Visualization and SR now work</a:t>
            </a:r>
          </a:p>
        </p:txBody>
      </p:sp>
      <p:sp>
        <p:nvSpPr>
          <p:cNvPr id="3" name="直线连接符 2">
            <a:extLst xmlns:a="http://schemas.openxmlformats.org/drawingml/2006/main">
              <a:ext uri="{FF2B5EF4-FFF2-40B4-BE49-F238E27FC236}">
                <a16:creationId xmlns:a16="http://schemas.microsoft.com/office/drawing/2014/main" id="{071F811A-4164-40D4-9108-C6A852641838}"/>
              </a:ext>
            </a:extLst>
          </p:cNvPr>
          <p:cNvSpPr>
            <a:spLocks xmlns:a="http://schemas.openxmlformats.org/drawingml/2006/main" noGrp="1"/>
          </p:cNvSpPr>
          <p:nvPr/>
        </p:nvSpPr>
        <p:spPr>
          <a:xfrm xmlns:a="http://schemas.openxmlformats.org/drawingml/2006/main">
            <a:off x="609600" y="6238875"/>
            <a:ext cx="10972800" cy="0"/>
          </a:xfrm>
          <a:prstGeom xmlns:a="http://schemas.openxmlformats.org/drawingml/2006/main" prst="line">
            <a:avLst/>
          </a:prstGeom>
          <a:noFill xmlns:a="http://schemas.openxmlformats.org/drawingml/2006/main"/>
          <a:ln xmlns:a="http://schemas.openxmlformats.org/drawingml/2006/main" w="14288">
            <a:solidFill>
              <a:srgbClr val="C8D4CB"/>
            </a:solidFill>
          </a:ln>
        </p:spPr>
      </p:sp>
      <p:sp>
        <p:nvSpPr>
          <p:cNvPr id="4" name="LEAF ANALYZER  /  SPRINT 5">
            <a:extLst xmlns:a="http://schemas.openxmlformats.org/drawingml/2006/main">
              <a:ext uri="{FF2B5EF4-FFF2-40B4-BE49-F238E27FC236}">
                <a16:creationId xmlns:a16="http://schemas.microsoft.com/office/drawing/2014/main" id="{8788CDBC-62BC-47B2-B71E-1D8792FA8CCC}"/>
              </a:ext>
            </a:extLst>
          </p:cNvPr>
          <p:cNvSpPr>
            <a:spLocks xmlns:a="http://schemas.openxmlformats.org/drawingml/2006/main" noGrp="1"/>
          </p:cNvSpPr>
          <p:nvPr/>
        </p:nvSpPr>
        <p:spPr>
          <a:xfrm xmlns:a="http://schemas.openxmlformats.org/drawingml/2006/main">
            <a:off x="609600" y="6410325"/>
            <a:ext cx="323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586C63"/>
                </a:solidFill>
                <a:latin typeface="Arial"/>
                <a:ea typeface="Arial"/>
                <a:cs typeface="Arial"/>
              </a:defRPr>
            </a:pPr>
            <a:r>
              <a:rPr sz="1350" b="0">
                <a:solidFill>
                  <a:srgbClr val="586C63"/>
                </a:solidFill>
                <a:latin typeface="Arial"/>
                <a:ea typeface="Arial"/>
                <a:cs typeface="Arial"/>
              </a:rPr>
              <a:t>LEAF ANALYZER  /  SPRINT 5</a:t>
            </a:r>
          </a:p>
        </p:txBody>
      </p:sp>
      <p:sp>
        <p:nvSpPr>
          <p:cNvPr id="5" name="PRs #24–27, #29–36 • Sprint 5 backlog">
            <a:extLst xmlns:a="http://schemas.openxmlformats.org/drawingml/2006/main">
              <a:ext uri="{FF2B5EF4-FFF2-40B4-BE49-F238E27FC236}">
                <a16:creationId xmlns:a16="http://schemas.microsoft.com/office/drawing/2014/main" id="{8BF5AC4C-ED02-4B5A-AD86-9DD78DF16C86}"/>
              </a:ext>
            </a:extLst>
          </p:cNvPr>
          <p:cNvSpPr>
            <a:spLocks xmlns:a="http://schemas.openxmlformats.org/drawingml/2006/main" noGrp="1"/>
          </p:cNvSpPr>
          <p:nvPr/>
        </p:nvSpPr>
        <p:spPr>
          <a:xfrm xmlns:a="http://schemas.openxmlformats.org/drawingml/2006/main">
            <a:off x="3952875" y="6305550"/>
            <a:ext cx="708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200">
                <a:solidFill>
                  <a:srgbClr val="287553"/>
                </a:solidFill>
                <a:latin typeface="Arial"/>
                <a:ea typeface="Arial"/>
                <a:cs typeface="Arial"/>
              </a:defRPr>
            </a:pPr>
            <a:r>
              <a:rPr sz="1200">
                <a:solidFill>
                  <a:srgbClr val="287553"/>
                </a:solidFill>
                <a:latin typeface="Arial"/>
                <a:ea typeface="Arial"/>
                <a:cs typeface="Arial"/>
              </a:rPr>
              <a:t>Sources: </a:t>
            </a:r>
            <a:r>
              <a:rPr sz="1200" u="sng">
                <a:solidFill>
                  <a:srgbClr val="287553"/>
                </a:solidFill>
                <a:latin typeface="Arial"/>
                <a:ea typeface="Arial"/>
                <a:cs typeface="Arial"/>
                <a:hlinkClick xmlns:r="http://schemas.openxmlformats.org/officeDocument/2006/relationships" r:id="R10326d017aa34e28"/>
              </a:rPr>
              <a:t>PR #24</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386be8810e5d42bd"/>
              </a:rPr>
              <a:t>PR #29</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b017053444234ba3"/>
              </a:rPr>
              <a:t>PR #33</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37a65525488e4c23"/>
              </a:rPr>
              <a:t>PR #34</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0ba80ed9af8f47d5"/>
              </a:rPr>
              <a:t>PR #36</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c4756e052a164af3"/>
              </a:rPr>
              <a:t>Backlog</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04f6fded7d5949bd"/>
              </a:rPr>
              <a:t>Week 5 report</a:t>
            </a:r>
          </a:p>
        </p:txBody>
      </p:sp>
      <p:sp>
        <p:nvSpPr>
          <p:cNvPr id="6" name="02">
            <a:extLst xmlns:a="http://schemas.openxmlformats.org/drawingml/2006/main">
              <a:ext uri="{FF2B5EF4-FFF2-40B4-BE49-F238E27FC236}">
                <a16:creationId xmlns:a16="http://schemas.microsoft.com/office/drawing/2014/main" id="{4C2FA047-CFEC-4DC9-A22B-C3F544239DE2}"/>
              </a:ext>
            </a:extLst>
          </p:cNvPr>
          <p:cNvSpPr>
            <a:spLocks xmlns:a="http://schemas.openxmlformats.org/drawingml/2006/main" noGrp="1"/>
          </p:cNvSpPr>
          <p:nvPr/>
        </p:nvSpPr>
        <p:spPr>
          <a:xfrm xmlns:a="http://schemas.openxmlformats.org/drawingml/2006/main">
            <a:off x="11239500" y="63817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586C63"/>
                </a:solidFill>
                <a:latin typeface="Arial"/>
                <a:ea typeface="Arial"/>
                <a:cs typeface="Arial"/>
              </a:defRPr>
            </a:pPr>
            <a:r>
              <a:rPr sz="1575" b="0">
                <a:solidFill>
                  <a:srgbClr val="586C63"/>
                </a:solidFill>
                <a:latin typeface="Arial"/>
                <a:ea typeface="Arial"/>
                <a:cs typeface="Arial"/>
              </a:rPr>
              <a:t>02</a:t>
            </a:r>
          </a:p>
        </p:txBody>
      </p:sp>
      <p:sp>
        <p:nvSpPr>
          <p:cNvPr id="7" name="7">
            <a:extLst xmlns:a="http://schemas.openxmlformats.org/drawingml/2006/main">
              <a:ext uri="{FF2B5EF4-FFF2-40B4-BE49-F238E27FC236}">
                <a16:creationId xmlns:a16="http://schemas.microsoft.com/office/drawing/2014/main" id="{2EA3A30F-3DB0-4B21-BAB2-3BB987F948A3}"/>
              </a:ext>
            </a:extLst>
          </p:cNvPr>
          <p:cNvSpPr>
            <a:spLocks xmlns:a="http://schemas.openxmlformats.org/drawingml/2006/main" noGrp="1"/>
          </p:cNvSpPr>
          <p:nvPr/>
        </p:nvSpPr>
        <p:spPr>
          <a:xfrm xmlns:a="http://schemas.openxmlformats.org/drawingml/2006/main">
            <a:off x="609600" y="1809750"/>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287553"/>
                </a:solidFill>
                <a:latin typeface="Arial"/>
                <a:ea typeface="Arial"/>
                <a:cs typeface="Arial"/>
              </a:defRPr>
            </a:pPr>
            <a:r>
              <a:rPr sz="2400" b="1">
                <a:solidFill>
                  <a:srgbClr val="287553"/>
                </a:solidFill>
                <a:latin typeface="Arial"/>
                <a:ea typeface="Arial"/>
                <a:cs typeface="Arial"/>
              </a:rPr>
              <a:t>7 image views</a:t>
            </a:r>
          </a:p>
        </p:txBody>
      </p:sp>
      <p:sp>
        <p:nvSpPr>
          <p:cNvPr id="8" name="2D modes connected">
            <a:extLst xmlns:a="http://schemas.openxmlformats.org/drawingml/2006/main">
              <a:ext uri="{FF2B5EF4-FFF2-40B4-BE49-F238E27FC236}">
                <a16:creationId xmlns:a16="http://schemas.microsoft.com/office/drawing/2014/main" id="{D78AE304-9C60-4D0F-AECA-0061022168A9}"/>
              </a:ext>
            </a:extLst>
          </p:cNvPr>
          <p:cNvSpPr>
            <a:spLocks xmlns:a="http://schemas.openxmlformats.org/drawingml/2006/main" noGrp="1"/>
          </p:cNvSpPr>
          <p:nvPr/>
        </p:nvSpPr>
        <p:spPr>
          <a:xfrm xmlns:a="http://schemas.openxmlformats.org/drawingml/2006/main">
            <a:off x="609600" y="236220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173B31"/>
                </a:solidFill>
                <a:latin typeface="Arial"/>
                <a:ea typeface="Arial"/>
                <a:cs typeface="Arial"/>
              </a:defRPr>
            </a:pPr>
            <a:r>
              <a:rPr sz="1875" b="1">
                <a:solidFill>
                  <a:srgbClr val="173B31"/>
                </a:solidFill>
                <a:latin typeface="Arial"/>
                <a:ea typeface="Arial"/>
                <a:cs typeface="Arial"/>
              </a:rPr>
              <a:t>RGB + six vegetation indices</a:t>
            </a:r>
            <a:endParaRPr sz="2400" b="1">
              <a:solidFill>
                <a:srgbClr val="173B31"/>
              </a:solidFill>
              <a:latin typeface="Arial"/>
              <a:ea typeface="Arial"/>
              <a:cs typeface="Arial"/>
            </a:endParaRPr>
          </a:p>
        </p:txBody>
      </p:sp>
      <p:sp>
        <p:nvSpPr>
          <p:cNvPr id="9" name="RGB plus six vegetation indices; pixel values">
            <a:extLst xmlns:a="http://schemas.openxmlformats.org/drawingml/2006/main">
              <a:ext uri="{FF2B5EF4-FFF2-40B4-BE49-F238E27FC236}">
                <a16:creationId xmlns:a16="http://schemas.microsoft.com/office/drawing/2014/main" id="{77BEF343-89E6-4C07-9393-4345CE0A8577}"/>
              </a:ext>
            </a:extLst>
          </p:cNvPr>
          <p:cNvSpPr>
            <a:spLocks xmlns:a="http://schemas.openxmlformats.org/drawingml/2006/main" noGrp="1"/>
          </p:cNvSpPr>
          <p:nvPr/>
        </p:nvSpPr>
        <p:spPr>
          <a:xfrm xmlns:a="http://schemas.openxmlformats.org/drawingml/2006/main">
            <a:off x="609600" y="3095625"/>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586C63"/>
                </a:solidFill>
                <a:latin typeface="Arial"/>
                <a:ea typeface="Arial"/>
                <a:cs typeface="Arial"/>
              </a:defRPr>
            </a:pPr>
            <a:r>
              <a:rPr sz="1875" b="0">
                <a:solidFill>
                  <a:srgbClr val="586C63"/>
                </a:solidFill>
                <a:latin typeface="Arial"/>
                <a:ea typeface="Arial"/>
                <a:cs typeface="Arial"/>
              </a:rPr>
              <a:t>Inspect pixels and spectra.</a:t>
            </a:r>
          </a:p>
          <a:p xmlns:a="http://schemas.openxmlformats.org/drawingml/2006/main">
            <a:pPr algn="l">
              <a:buNone/>
              <a:defRPr sz="1875" b="0">
                <a:solidFill>
                  <a:srgbClr val="586C63"/>
                </a:solidFill>
                <a:latin typeface="Arial"/>
                <a:ea typeface="Arial"/>
                <a:cs typeface="Arial"/>
              </a:defRPr>
            </a:pPr>
            <a:r>
              <a:rPr sz="1875" b="0">
                <a:solidFill>
                  <a:srgbClr val="586C63"/>
                </a:solidFill>
                <a:latin typeface="Arial"/>
                <a:ea typeface="Arial"/>
                <a:cs typeface="Arial"/>
              </a:rPr>
              <a:t>Save the current view.</a:t>
            </a:r>
          </a:p>
        </p:txBody>
      </p:sp>
      <p:sp>
        <p:nvSpPr>
          <p:cNvPr id="14" name="Real SR inference">
            <a:extLst xmlns:a="http://schemas.openxmlformats.org/drawingml/2006/main">
              <a:ext uri="{FF2B5EF4-FFF2-40B4-BE49-F238E27FC236}">
                <a16:creationId xmlns:a16="http://schemas.microsoft.com/office/drawing/2014/main" id="{59435005-2408-400C-A67E-5B24508EE204}"/>
              </a:ext>
            </a:extLst>
          </p:cNvPr>
          <p:cNvSpPr>
            <a:spLocks xmlns:a="http://schemas.openxmlformats.org/drawingml/2006/main" noGrp="1"/>
          </p:cNvSpPr>
          <p:nvPr/>
        </p:nvSpPr>
        <p:spPr>
          <a:xfrm xmlns:a="http://schemas.openxmlformats.org/drawingml/2006/main">
            <a:off x="609600" y="421005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73B31"/>
                </a:solidFill>
                <a:latin typeface="Arial"/>
                <a:ea typeface="Arial"/>
                <a:cs typeface="Arial"/>
              </a:defRPr>
            </a:pPr>
            <a:r>
              <a:rPr sz="2400" b="1">
                <a:solidFill>
                  <a:srgbClr val="173B31"/>
                </a:solidFill>
                <a:latin typeface="Arial"/>
                <a:ea typeface="Arial"/>
                <a:cs typeface="Arial"/>
              </a:rPr>
              <a:t>Also finished</a:t>
            </a:r>
            <a:endParaRPr sz="2400" b="1">
              <a:solidFill>
                <a:srgbClr val="173B31"/>
              </a:solidFill>
              <a:latin typeface="Arial"/>
              <a:ea typeface="Arial"/>
              <a:cs typeface="Arial"/>
            </a:endParaRPr>
          </a:p>
        </p:txBody>
      </p:sp>
      <p:sp>
        <p:nvSpPr>
          <p:cNvPr id="15" name="480-band inference with progress, cancel and ">
            <a:extLst xmlns:a="http://schemas.openxmlformats.org/drawingml/2006/main">
              <a:ext uri="{FF2B5EF4-FFF2-40B4-BE49-F238E27FC236}">
                <a16:creationId xmlns:a16="http://schemas.microsoft.com/office/drawing/2014/main" id="{54FF80F0-AD0F-41A1-8561-314D45115AEC}"/>
              </a:ext>
            </a:extLst>
          </p:cNvPr>
          <p:cNvSpPr>
            <a:spLocks xmlns:a="http://schemas.openxmlformats.org/drawingml/2006/main" noGrp="1"/>
          </p:cNvSpPr>
          <p:nvPr/>
        </p:nvSpPr>
        <p:spPr>
          <a:xfrm xmlns:a="http://schemas.openxmlformats.org/drawingml/2006/main">
            <a:off x="609600" y="4752975"/>
            <a:ext cx="314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586C63"/>
                </a:solidFill>
                <a:latin typeface="Arial"/>
                <a:ea typeface="Arial"/>
                <a:cs typeface="Arial"/>
              </a:defRPr>
            </a:pPr>
            <a:r>
              <a:rPr sz="1875" b="0">
                <a:solidFill>
                  <a:srgbClr val="586C63"/>
                </a:solidFill>
                <a:latin typeface="Arial"/>
                <a:ea typeface="Arial"/>
                <a:cs typeface="Arial"/>
              </a:rPr>
              <a:t>3D Hypercube, 2× SR</a:t>
            </a:r>
          </a:p>
          <a:p xmlns:a="http://schemas.openxmlformats.org/drawingml/2006/main">
            <a:pPr algn="l">
              <a:buNone/>
              <a:defRPr sz="1875" b="0">
                <a:solidFill>
                  <a:srgbClr val="586C63"/>
                </a:solidFill>
                <a:latin typeface="Arial"/>
                <a:ea typeface="Arial"/>
                <a:cs typeface="Arial"/>
              </a:defRPr>
            </a:pPr>
            <a:r>
              <a:rPr sz="1875" b="0">
                <a:solidFill>
                  <a:srgbClr val="586C63"/>
                </a:solidFill>
                <a:latin typeface="Arial"/>
                <a:ea typeface="Arial"/>
                <a:cs typeface="Arial"/>
              </a:rPr>
              <a:t>and classification.</a:t>
            </a:r>
          </a:p>
        </p:txBody>
      </p:sp>
      <p:sp>
        <p:nvSpPr>
          <p:cNvPr id="18" name="Calibration, scientific accuracy and target-p">
            <a:extLst xmlns:a="http://schemas.openxmlformats.org/drawingml/2006/main">
              <a:ext uri="{FF2B5EF4-FFF2-40B4-BE49-F238E27FC236}">
                <a16:creationId xmlns:a16="http://schemas.microsoft.com/office/drawing/2014/main" id="{AE9C2CDC-AAB3-42C8-9703-A9FE5853708B}"/>
              </a:ext>
            </a:extLst>
          </p:cNvPr>
          <p:cNvSpPr>
            <a:spLocks xmlns:a="http://schemas.openxmlformats.org/drawingml/2006/main" noGrp="1"/>
          </p:cNvSpPr>
          <p:nvPr/>
        </p:nvSpPr>
        <p:spPr>
          <a:xfrm xmlns:a="http://schemas.openxmlformats.org/drawingml/2006/main">
            <a:off x="609600" y="57626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586C63"/>
                </a:solidFill>
                <a:latin typeface="Arial"/>
                <a:ea typeface="Arial"/>
                <a:cs typeface="Arial"/>
              </a:defRPr>
            </a:pPr>
            <a:r>
              <a:rPr sz="1800" b="0">
                <a:solidFill>
                  <a:srgbClr val="586C63"/>
                </a:solidFill>
                <a:latin typeface="Arial"/>
                <a:ea typeface="Arial"/>
                <a:cs typeface="Arial"/>
              </a:rPr>
              <a:t>We also fixed crop scaling and added tests and GitHub checks.</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a6ae42edb2784be2"/>
          <a:stretch xmlns:a="http://schemas.openxmlformats.org/drawingml/2006/main"/>
        </p:blipFill>
        <p:spPr>
          <a:xfrm xmlns:a="http://schemas.openxmlformats.org/drawingml/2006/main">
            <a:off x="4775835" y="1743075"/>
            <a:ext cx="6126480" cy="3829050"/>
          </a:xfrm>
          <a:prstGeom xmlns:a="http://schemas.openxmlformats.org/drawingml/2006/main" prst="rect">
            <a:avLst/>
          </a:prstGeom>
        </p:spPr>
      </p:pic>
    </p:spTree>
    <p:extLst>
      <p:ext uri="{BB962C8B-B14F-4D97-AF65-F5344CB8AC3E}">
        <p14:creationId xmlns:p14="http://schemas.microsoft.com/office/powerpoint/2010/main" val="1053261282"/>
      </p:ext>
    </p:extLst>
  </p:cSld>
</p:sld>
</file>

<file path=ppt/slides/slide3.xml><?xml version="1.0" encoding="utf-8"?>
<p:sld xmlns:p="http://schemas.openxmlformats.org/presentationml/2006/main">
  <p:cSld>
    <p:bg>
      <p:bgPr>
        <a:solidFill xmlns:a="http://schemas.openxmlformats.org/drawingml/2006/main">
          <a:srgbClr val="F4F5F0"/>
        </a:solidFill>
      </p:bgPr>
    </p:bg>
    <p:spTree>
      <p:nvGrpSpPr>
        <p:cNvPr id="1" name=""/>
        <p:cNvGrpSpPr/>
        <p:nvPr/>
      </p:nvGrpSpPr>
      <p:grpSpPr>
        <a:xfrm xmlns:a="http://schemas.openxmlformats.org/drawingml/2006/main"/>
      </p:grpSpPr>
      <p:sp>
        <p:nvSpPr>
          <p:cNvPr id="29" name="WHAT WE DELIVERED">
            <a:extLst xmlns:a="http://schemas.openxmlformats.org/drawingml/2006/main">
              <a:ext uri="{FF2B5EF4-FFF2-40B4-BE49-F238E27FC236}">
                <a16:creationId xmlns:a16="http://schemas.microsoft.com/office/drawing/2014/main" id="{9B8D79A1-EB82-4B24-AA2A-E6EB77B7C71F}"/>
              </a:ext>
            </a:extLst>
          </p:cNvPr>
          <p:cNvSpPr>
            <a:spLocks xmlns:a="http://schemas.openxmlformats.org/drawingml/2006/main" noGrp="1"/>
          </p:cNvSpPr>
          <p:nvPr/>
        </p:nvSpPr>
        <p:spPr>
          <a:xfrm xmlns:a="http://schemas.openxmlformats.org/drawingml/2006/main">
            <a:off x="609600" y="4000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1">
                <a:solidFill>
                  <a:srgbClr val="287553"/>
                </a:solidFill>
                <a:latin typeface="Arial"/>
                <a:ea typeface="Arial"/>
                <a:cs typeface="Arial"/>
              </a:defRPr>
            </a:pPr>
            <a:r>
              <a:rPr sz="1500" b="1">
                <a:solidFill>
                  <a:srgbClr val="287553"/>
                </a:solidFill>
                <a:latin typeface="Arial"/>
                <a:ea typeface="Arial"/>
                <a:cs typeface="Arial"/>
              </a:rPr>
              <a:t>WHAT WE DELIVERED</a:t>
            </a:r>
          </a:p>
        </p:txBody>
      </p:sp>
      <p:sp>
        <p:nvSpPr>
          <p:cNvPr id="2" name="Useful features, with clear limits">
            <a:extLst xmlns:a="http://schemas.openxmlformats.org/drawingml/2006/main">
              <a:ext uri="{FF2B5EF4-FFF2-40B4-BE49-F238E27FC236}">
                <a16:creationId xmlns:a16="http://schemas.microsoft.com/office/drawing/2014/main" id="{0E554521-997A-40D5-ADB9-82AD90378556}"/>
              </a:ext>
            </a:extLst>
          </p:cNvPr>
          <p:cNvSpPr>
            <a:spLocks xmlns:a="http://schemas.openxmlformats.org/drawingml/2006/main" noGrp="1"/>
          </p:cNvSpPr>
          <p:nvPr/>
        </p:nvSpPr>
        <p:spPr>
          <a:xfrm xmlns:a="http://schemas.openxmlformats.org/drawingml/2006/main">
            <a:off x="609600" y="86677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600" b="1">
                <a:solidFill>
                  <a:srgbClr val="173B31"/>
                </a:solidFill>
                <a:latin typeface="Arial"/>
                <a:ea typeface="Arial"/>
                <a:cs typeface="Arial"/>
              </a:defRPr>
            </a:pPr>
            <a:r>
              <a:rPr sz="3600" b="1">
                <a:solidFill>
                  <a:srgbClr val="173B31"/>
                </a:solidFill>
                <a:latin typeface="Arial"/>
                <a:ea typeface="Arial"/>
                <a:cs typeface="Arial"/>
              </a:rPr>
              <a:t>Hypercube and SR in the app</a:t>
            </a:r>
          </a:p>
        </p:txBody>
      </p:sp>
      <p:sp>
        <p:nvSpPr>
          <p:cNvPr id="3" name="直线连接符 2">
            <a:extLst xmlns:a="http://schemas.openxmlformats.org/drawingml/2006/main">
              <a:ext uri="{FF2B5EF4-FFF2-40B4-BE49-F238E27FC236}">
                <a16:creationId xmlns:a16="http://schemas.microsoft.com/office/drawing/2014/main" id="{B59B69C2-C88C-49F6-A066-7F31D5DC4D19}"/>
              </a:ext>
            </a:extLst>
          </p:cNvPr>
          <p:cNvSpPr>
            <a:spLocks xmlns:a="http://schemas.openxmlformats.org/drawingml/2006/main" noGrp="1"/>
          </p:cNvSpPr>
          <p:nvPr/>
        </p:nvSpPr>
        <p:spPr>
          <a:xfrm xmlns:a="http://schemas.openxmlformats.org/drawingml/2006/main">
            <a:off x="609600" y="6238875"/>
            <a:ext cx="10972800" cy="0"/>
          </a:xfrm>
          <a:prstGeom xmlns:a="http://schemas.openxmlformats.org/drawingml/2006/main" prst="line">
            <a:avLst/>
          </a:prstGeom>
          <a:noFill xmlns:a="http://schemas.openxmlformats.org/drawingml/2006/main"/>
          <a:ln xmlns:a="http://schemas.openxmlformats.org/drawingml/2006/main" w="14288">
            <a:solidFill>
              <a:srgbClr val="C8D4CB"/>
            </a:solidFill>
          </a:ln>
        </p:spPr>
      </p:sp>
      <p:sp>
        <p:nvSpPr>
          <p:cNvPr id="4" name="LEAF ANALYZER  /  SPRINT 5">
            <a:extLst xmlns:a="http://schemas.openxmlformats.org/drawingml/2006/main">
              <a:ext uri="{FF2B5EF4-FFF2-40B4-BE49-F238E27FC236}">
                <a16:creationId xmlns:a16="http://schemas.microsoft.com/office/drawing/2014/main" id="{F2160B15-4A32-475C-89A3-BC490F0F9152}"/>
              </a:ext>
            </a:extLst>
          </p:cNvPr>
          <p:cNvSpPr>
            <a:spLocks xmlns:a="http://schemas.openxmlformats.org/drawingml/2006/main" noGrp="1"/>
          </p:cNvSpPr>
          <p:nvPr/>
        </p:nvSpPr>
        <p:spPr>
          <a:xfrm xmlns:a="http://schemas.openxmlformats.org/drawingml/2006/main">
            <a:off x="609600" y="6410325"/>
            <a:ext cx="323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586C63"/>
                </a:solidFill>
                <a:latin typeface="Arial"/>
                <a:ea typeface="Arial"/>
                <a:cs typeface="Arial"/>
              </a:defRPr>
            </a:pPr>
            <a:r>
              <a:rPr sz="1350" b="0">
                <a:solidFill>
                  <a:srgbClr val="586C63"/>
                </a:solidFill>
                <a:latin typeface="Arial"/>
                <a:ea typeface="Arial"/>
                <a:cs typeface="Arial"/>
              </a:rPr>
              <a:t>LEAF ANALYZER  /  SPRINT 5</a:t>
            </a:r>
          </a:p>
        </p:txBody>
      </p:sp>
      <p:sp>
        <p:nvSpPr>
          <p:cNvPr id="5" name="Merged code and tests • PRs #24, #29–34, #36">
            <a:extLst xmlns:a="http://schemas.openxmlformats.org/drawingml/2006/main">
              <a:ext uri="{FF2B5EF4-FFF2-40B4-BE49-F238E27FC236}">
                <a16:creationId xmlns:a16="http://schemas.microsoft.com/office/drawing/2014/main" id="{930B309F-33A2-467D-9BAA-05C94C69FC44}"/>
              </a:ext>
            </a:extLst>
          </p:cNvPr>
          <p:cNvSpPr>
            <a:spLocks xmlns:a="http://schemas.openxmlformats.org/drawingml/2006/main" noGrp="1"/>
          </p:cNvSpPr>
          <p:nvPr/>
        </p:nvSpPr>
        <p:spPr>
          <a:xfrm xmlns:a="http://schemas.openxmlformats.org/drawingml/2006/main">
            <a:off x="3952875" y="6305550"/>
            <a:ext cx="708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200">
                <a:solidFill>
                  <a:srgbClr val="287553"/>
                </a:solidFill>
                <a:latin typeface="Arial"/>
                <a:ea typeface="Arial"/>
                <a:cs typeface="Arial"/>
              </a:defRPr>
            </a:pPr>
            <a:r>
              <a:rPr sz="1200">
                <a:solidFill>
                  <a:srgbClr val="287553"/>
                </a:solidFill>
                <a:latin typeface="Arial"/>
                <a:ea typeface="Arial"/>
                <a:cs typeface="Arial"/>
              </a:rPr>
              <a:t>Sources: </a:t>
            </a:r>
            <a:r>
              <a:rPr sz="1200" u="sng">
                <a:solidFill>
                  <a:srgbClr val="287553"/>
                </a:solidFill>
                <a:latin typeface="Arial"/>
                <a:ea typeface="Arial"/>
                <a:cs typeface="Arial"/>
                <a:hlinkClick xmlns:r="http://schemas.openxmlformats.org/officeDocument/2006/relationships" r:id="R1f62a0e89b1b4a79"/>
              </a:rPr>
              <a:t>PR #18</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93e759fc47eb4321"/>
              </a:rPr>
              <a:t>PR #24</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d032f2ebf1f44091"/>
              </a:rPr>
              <a:t>PR #29</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7c796d46267641a6"/>
              </a:rPr>
              <a:t>PR #30</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d8893bb9d32a4067"/>
              </a:rPr>
              <a:t>PR #31</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17fda71f82024a92"/>
              </a:rPr>
              <a:t>PR #32</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cccf08ae6c1e42b9"/>
              </a:rPr>
              <a:t>PR #33</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bcc6832099d94928"/>
              </a:rPr>
              <a:t>PR #34</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6fd3d9422a83438a"/>
              </a:rPr>
              <a:t>PR #36</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90e79a08d7c2475a"/>
              </a:rPr>
              <a:t>Classification API</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161314a03d594f54"/>
              </a:rPr>
              <a:t>SR setup</a:t>
            </a:r>
          </a:p>
        </p:txBody>
      </p:sp>
      <p:sp>
        <p:nvSpPr>
          <p:cNvPr id="6" name="03">
            <a:extLst xmlns:a="http://schemas.openxmlformats.org/drawingml/2006/main">
              <a:ext uri="{FF2B5EF4-FFF2-40B4-BE49-F238E27FC236}">
                <a16:creationId xmlns:a16="http://schemas.microsoft.com/office/drawing/2014/main" id="{08EEB19E-9F60-42B2-BE90-C742734CDC6E}"/>
              </a:ext>
            </a:extLst>
          </p:cNvPr>
          <p:cNvSpPr>
            <a:spLocks xmlns:a="http://schemas.openxmlformats.org/drawingml/2006/main" noGrp="1"/>
          </p:cNvSpPr>
          <p:nvPr/>
        </p:nvSpPr>
        <p:spPr>
          <a:xfrm xmlns:a="http://schemas.openxmlformats.org/drawingml/2006/main">
            <a:off x="11239500" y="63817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586C63"/>
                </a:solidFill>
                <a:latin typeface="Arial"/>
                <a:ea typeface="Arial"/>
                <a:cs typeface="Arial"/>
              </a:defRPr>
            </a:pPr>
            <a:r>
              <a:rPr sz="1575" b="0">
                <a:solidFill>
                  <a:srgbClr val="586C63"/>
                </a:solidFill>
                <a:latin typeface="Arial"/>
                <a:ea typeface="Arial"/>
                <a:cs typeface="Arial"/>
              </a:rPr>
              <a:t>03</a:t>
            </a:r>
          </a:p>
        </p:txBody>
      </p:sp>
      <p:sp>
        <p:nvSpPr>
          <p:cNvPr id="8" name="DELIVERED">
            <a:extLst xmlns:a="http://schemas.openxmlformats.org/drawingml/2006/main">
              <a:ext uri="{FF2B5EF4-FFF2-40B4-BE49-F238E27FC236}">
                <a16:creationId xmlns:a16="http://schemas.microsoft.com/office/drawing/2014/main" id="{8D846A83-7CA0-4D72-BF04-FA9F2DA65DD0}"/>
              </a:ext>
            </a:extLst>
          </p:cNvPr>
          <p:cNvSpPr>
            <a:spLocks xmlns:a="http://schemas.openxmlformats.org/drawingml/2006/main" noGrp="1"/>
          </p:cNvSpPr>
          <p:nvPr/>
        </p:nvSpPr>
        <p:spPr>
          <a:xfrm xmlns:a="http://schemas.openxmlformats.org/drawingml/2006/main">
            <a:off x="609600" y="171450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173B31"/>
                </a:solidFill>
                <a:latin typeface="Arial"/>
                <a:ea typeface="Arial"/>
                <a:cs typeface="Arial"/>
              </a:defRPr>
            </a:pPr>
            <a:r>
              <a:rPr sz="2250" b="1">
                <a:solidFill>
                  <a:srgbClr val="173B31"/>
                </a:solidFill>
                <a:latin typeface="Arial"/>
                <a:ea typeface="Arial"/>
                <a:cs typeface="Arial"/>
              </a:rPr>
              <a:t>3D Hypercube</a:t>
            </a:r>
          </a:p>
        </p:txBody>
      </p:sp>
      <p:sp>
        <p:nvSpPr>
          <p:cNvPr id="9" name="VALUE IN THE WORKFLOW">
            <a:extLst xmlns:a="http://schemas.openxmlformats.org/drawingml/2006/main">
              <a:ext uri="{FF2B5EF4-FFF2-40B4-BE49-F238E27FC236}">
                <a16:creationId xmlns:a16="http://schemas.microsoft.com/office/drawing/2014/main" id="{BE0E39F9-296B-43AE-B198-70879032DA11}"/>
              </a:ext>
            </a:extLst>
          </p:cNvPr>
          <p:cNvSpPr>
            <a:spLocks xmlns:a="http://schemas.openxmlformats.org/drawingml/2006/main" noGrp="1"/>
          </p:cNvSpPr>
          <p:nvPr/>
        </p:nvSpPr>
        <p:spPr>
          <a:xfrm xmlns:a="http://schemas.openxmlformats.org/drawingml/2006/main">
            <a:off x="6334125" y="171450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173B31"/>
                </a:solidFill>
                <a:latin typeface="Arial"/>
                <a:ea typeface="Arial"/>
                <a:cs typeface="Arial"/>
              </a:defRPr>
            </a:pPr>
            <a:r>
              <a:rPr sz="2250" b="1">
                <a:solidFill>
                  <a:srgbClr val="173B31"/>
                </a:solidFill>
                <a:latin typeface="Arial"/>
                <a:ea typeface="Arial"/>
                <a:cs typeface="Arial"/>
              </a:rPr>
              <a:t>Super Resolution</a:t>
            </a:r>
          </a:p>
        </p:txBody>
      </p:sp>
      <p:sp>
        <p:nvSpPr>
          <p:cNvPr id="13" name="Switch modes, inspect spectra and&#10;save the se">
            <a:extLst xmlns:a="http://schemas.openxmlformats.org/drawingml/2006/main">
              <a:ext uri="{FF2B5EF4-FFF2-40B4-BE49-F238E27FC236}">
                <a16:creationId xmlns:a16="http://schemas.microsoft.com/office/drawing/2014/main" id="{FADEE80B-97C2-43EA-AF44-308029F5C336}"/>
              </a:ext>
            </a:extLst>
          </p:cNvPr>
          <p:cNvSpPr>
            <a:spLocks xmlns:a="http://schemas.openxmlformats.org/drawingml/2006/main" noGrp="1"/>
          </p:cNvSpPr>
          <p:nvPr/>
        </p:nvSpPr>
        <p:spPr>
          <a:xfrm xmlns:a="http://schemas.openxmlformats.org/drawingml/2006/main">
            <a:off x="609600" y="5010150"/>
            <a:ext cx="5238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586C63"/>
                </a:solidFill>
                <a:latin typeface="Arial"/>
                <a:ea typeface="Arial"/>
                <a:cs typeface="Arial"/>
              </a:defRPr>
            </a:pPr>
            <a:r>
              <a:rPr sz="1800" b="0">
                <a:solidFill>
                  <a:srgbClr val="586C63"/>
                </a:solidFill>
                <a:latin typeface="Arial"/>
                <a:ea typeface="Arial"/>
                <a:cs typeface="Arial"/>
              </a:rPr>
              <a:t>Rotate, zoom and save the view.</a:t>
            </a:r>
          </a:p>
        </p:txBody>
      </p:sp>
      <p:sp>
        <p:nvSpPr>
          <p:cNvPr id="17" name="Explore spatial/spectral structure;&#10;compare o">
            <a:extLst xmlns:a="http://schemas.openxmlformats.org/drawingml/2006/main">
              <a:ext uri="{FF2B5EF4-FFF2-40B4-BE49-F238E27FC236}">
                <a16:creationId xmlns:a16="http://schemas.microsoft.com/office/drawing/2014/main" id="{8474476F-CD80-49F5-B963-7101B94943B1}"/>
              </a:ext>
            </a:extLst>
          </p:cNvPr>
          <p:cNvSpPr>
            <a:spLocks xmlns:a="http://schemas.openxmlformats.org/drawingml/2006/main" noGrp="1"/>
          </p:cNvSpPr>
          <p:nvPr/>
        </p:nvSpPr>
        <p:spPr>
          <a:xfrm xmlns:a="http://schemas.openxmlformats.org/drawingml/2006/main">
            <a:off x="6334125" y="5010150"/>
            <a:ext cx="5238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586C63"/>
                </a:solidFill>
                <a:latin typeface="Arial"/>
                <a:ea typeface="Arial"/>
                <a:cs typeface="Arial"/>
              </a:defRPr>
            </a:pPr>
            <a:r>
              <a:rPr sz="1800" b="0">
                <a:solidFill>
                  <a:srgbClr val="586C63"/>
                </a:solidFill>
                <a:latin typeface="Arial"/>
                <a:ea typeface="Arial"/>
                <a:cs typeface="Arial"/>
              </a:rPr>
              <a:t>SR demo: 192 × 192 → 384 × 384.</a:t>
            </a:r>
          </a:p>
          <a:p xmlns:a="http://schemas.openxmlformats.org/drawingml/2006/main">
            <a:pPr algn="l">
              <a:buNone/>
              <a:defRPr sz="1800" b="0">
                <a:solidFill>
                  <a:srgbClr val="586C63"/>
                </a:solidFill>
                <a:latin typeface="Arial"/>
                <a:ea typeface="Arial"/>
                <a:cs typeface="Arial"/>
              </a:defRPr>
            </a:pPr>
            <a:r>
              <a:rPr sz="1800" b="0">
                <a:solidFill>
                  <a:srgbClr val="586C63"/>
                </a:solidFill>
                <a:latin typeface="Arial"/>
                <a:ea typeface="Arial"/>
                <a:cs typeface="Arial"/>
              </a:rPr>
              <a:t>All 480 bands are kept.</a:t>
            </a:r>
          </a:p>
        </p:txBody>
      </p:sp>
      <p:sp>
        <p:nvSpPr>
          <p:cNvPr id="28" name="Limits: fixed 480-band / 2× SR; scientific qu">
            <a:extLst xmlns:a="http://schemas.openxmlformats.org/drawingml/2006/main">
              <a:ext uri="{FF2B5EF4-FFF2-40B4-BE49-F238E27FC236}">
                <a16:creationId xmlns:a16="http://schemas.microsoft.com/office/drawing/2014/main" id="{313908C3-45C6-41F4-ABE0-1450ADBFE0D0}"/>
              </a:ext>
            </a:extLst>
          </p:cNvPr>
          <p:cNvSpPr>
            <a:spLocks xmlns:a="http://schemas.openxmlformats.org/drawingml/2006/main" noGrp="1"/>
          </p:cNvSpPr>
          <p:nvPr/>
        </p:nvSpPr>
        <p:spPr>
          <a:xfrm xmlns:a="http://schemas.openxmlformats.org/drawingml/2006/main">
            <a:off x="609600" y="58007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93651E"/>
                </a:solidFill>
                <a:latin typeface="Arial"/>
                <a:ea typeface="Arial"/>
                <a:cs typeface="Arial"/>
              </a:defRPr>
            </a:pPr>
            <a:r>
              <a:rPr sz="1650" b="0">
                <a:solidFill>
                  <a:srgbClr val="93651E"/>
                </a:solidFill>
                <a:latin typeface="Arial"/>
                <a:ea typeface="Arial"/>
                <a:cs typeface="Arial"/>
              </a:rPr>
              <a:t>These screenshots show the features running. They do not prove scientific accuracy.</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fb4d47a4422c40a0"/>
          <a:stretch xmlns:a="http://schemas.openxmlformats.org/drawingml/2006/main"/>
        </p:blipFill>
        <p:spPr>
          <a:xfrm xmlns:a="http://schemas.openxmlformats.org/drawingml/2006/main">
            <a:off x="1095375" y="2181225"/>
            <a:ext cx="4267200" cy="2667000"/>
          </a:xfrm>
          <a:prstGeom xmlns:a="http://schemas.openxmlformats.org/drawingml/2006/main" prst="rect">
            <a:avLst/>
          </a:prstGeom>
        </p:spPr>
      </p:pic>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8c67bd9498014c72"/>
          <a:stretch xmlns:a="http://schemas.openxmlformats.org/drawingml/2006/main"/>
        </p:blipFill>
        <p:spPr>
          <a:xfrm xmlns:a="http://schemas.openxmlformats.org/drawingml/2006/main">
            <a:off x="6819900" y="2181225"/>
            <a:ext cx="4267200" cy="2667000"/>
          </a:xfrm>
          <a:prstGeom xmlns:a="http://schemas.openxmlformats.org/drawingml/2006/main" prst="rect">
            <a:avLst/>
          </a:prstGeom>
        </p:spPr>
      </p:pic>
    </p:spTree>
    <p:extLst>
      <p:ext uri="{BB962C8B-B14F-4D97-AF65-F5344CB8AC3E}">
        <p14:creationId xmlns:p14="http://schemas.microsoft.com/office/powerpoint/2010/main" val="1012557931"/>
      </p:ext>
    </p:extLst>
  </p:cSld>
</p:sld>
</file>

<file path=ppt/slides/slide4.xml><?xml version="1.0" encoding="utf-8"?>
<p:sld xmlns:p="http://schemas.openxmlformats.org/presentationml/2006/main">
  <p:cSld>
    <p:bg>
      <p:bgPr>
        <a:solidFill xmlns:a="http://schemas.openxmlformats.org/drawingml/2006/main">
          <a:srgbClr val="F4F5F0"/>
        </a:solidFill>
      </p:bgPr>
    </p:bg>
    <p:spTree>
      <p:nvGrpSpPr>
        <p:cNvPr id="1" name=""/>
        <p:cNvGrpSpPr/>
        <p:nvPr/>
      </p:nvGrpSpPr>
      <p:grpSpPr>
        <a:xfrm xmlns:a="http://schemas.openxmlformats.org/drawingml/2006/main"/>
      </p:grpSpPr>
      <p:sp>
        <p:nvSpPr>
          <p:cNvPr id="20" name="STAKEHOLDER ENGAGEMENT">
            <a:extLst xmlns:a="http://schemas.openxmlformats.org/drawingml/2006/main">
              <a:ext uri="{FF2B5EF4-FFF2-40B4-BE49-F238E27FC236}">
                <a16:creationId xmlns:a16="http://schemas.microsoft.com/office/drawing/2014/main" id="{35B7BA32-BCE1-4F0D-A85F-151A309CF47E}"/>
              </a:ext>
            </a:extLst>
          </p:cNvPr>
          <p:cNvSpPr>
            <a:spLocks xmlns:a="http://schemas.openxmlformats.org/drawingml/2006/main" noGrp="1"/>
          </p:cNvSpPr>
          <p:nvPr/>
        </p:nvSpPr>
        <p:spPr>
          <a:xfrm xmlns:a="http://schemas.openxmlformats.org/drawingml/2006/main">
            <a:off x="609600" y="4000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1">
                <a:solidFill>
                  <a:srgbClr val="287553"/>
                </a:solidFill>
                <a:latin typeface="Arial"/>
                <a:ea typeface="Arial"/>
                <a:cs typeface="Arial"/>
              </a:defRPr>
            </a:pPr>
            <a:r>
              <a:rPr sz="1500" b="1">
                <a:solidFill>
                  <a:srgbClr val="287553"/>
                </a:solidFill>
                <a:latin typeface="Arial"/>
                <a:ea typeface="Arial"/>
                <a:cs typeface="Arial"/>
              </a:rPr>
              <a:t>STAKEHOLDER ENGAGEMENT</a:t>
            </a:r>
          </a:p>
        </p:txBody>
      </p:sp>
      <p:sp>
        <p:nvSpPr>
          <p:cNvPr id="2" name="Client needs are traceable to code">
            <a:extLst xmlns:a="http://schemas.openxmlformats.org/drawingml/2006/main">
              <a:ext uri="{FF2B5EF4-FFF2-40B4-BE49-F238E27FC236}">
                <a16:creationId xmlns:a16="http://schemas.microsoft.com/office/drawing/2014/main" id="{13058B7F-3613-484A-A494-5F3444F6BB2E}"/>
              </a:ext>
            </a:extLst>
          </p:cNvPr>
          <p:cNvSpPr>
            <a:spLocks xmlns:a="http://schemas.openxmlformats.org/drawingml/2006/main" noGrp="1"/>
          </p:cNvSpPr>
          <p:nvPr/>
        </p:nvSpPr>
        <p:spPr>
          <a:xfrm xmlns:a="http://schemas.openxmlformats.org/drawingml/2006/main">
            <a:off x="609600" y="86677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600" b="1">
                <a:solidFill>
                  <a:srgbClr val="173B31"/>
                </a:solidFill>
                <a:latin typeface="Arial"/>
                <a:ea typeface="Arial"/>
                <a:cs typeface="Arial"/>
              </a:defRPr>
            </a:pPr>
            <a:r>
              <a:rPr sz="3600" b="1">
                <a:solidFill>
                  <a:srgbClr val="173B31"/>
                </a:solidFill>
                <a:latin typeface="Arial"/>
                <a:ea typeface="Arial"/>
                <a:cs typeface="Arial"/>
              </a:rPr>
              <a:t>Client feedback guided our work</a:t>
            </a:r>
          </a:p>
        </p:txBody>
      </p:sp>
      <p:sp>
        <p:nvSpPr>
          <p:cNvPr id="3" name="直线连接符 2">
            <a:extLst xmlns:a="http://schemas.openxmlformats.org/drawingml/2006/main">
              <a:ext uri="{FF2B5EF4-FFF2-40B4-BE49-F238E27FC236}">
                <a16:creationId xmlns:a16="http://schemas.microsoft.com/office/drawing/2014/main" id="{187F34BC-282A-46AD-A0EA-17B1B0B75D3D}"/>
              </a:ext>
            </a:extLst>
          </p:cNvPr>
          <p:cNvSpPr>
            <a:spLocks xmlns:a="http://schemas.openxmlformats.org/drawingml/2006/main" noGrp="1"/>
          </p:cNvSpPr>
          <p:nvPr/>
        </p:nvSpPr>
        <p:spPr>
          <a:xfrm xmlns:a="http://schemas.openxmlformats.org/drawingml/2006/main">
            <a:off x="609600" y="6238875"/>
            <a:ext cx="10972800" cy="0"/>
          </a:xfrm>
          <a:prstGeom xmlns:a="http://schemas.openxmlformats.org/drawingml/2006/main" prst="line">
            <a:avLst/>
          </a:prstGeom>
          <a:noFill xmlns:a="http://schemas.openxmlformats.org/drawingml/2006/main"/>
          <a:ln xmlns:a="http://schemas.openxmlformats.org/drawingml/2006/main" w="14288">
            <a:solidFill>
              <a:srgbClr val="C8D4CB"/>
            </a:solidFill>
          </a:ln>
        </p:spPr>
      </p:sp>
      <p:sp>
        <p:nvSpPr>
          <p:cNvPr id="4" name="LEAF ANALYZER  /  SPRINT 5">
            <a:extLst xmlns:a="http://schemas.openxmlformats.org/drawingml/2006/main">
              <a:ext uri="{FF2B5EF4-FFF2-40B4-BE49-F238E27FC236}">
                <a16:creationId xmlns:a16="http://schemas.microsoft.com/office/drawing/2014/main" id="{BFB7B212-E01F-464F-A9ED-7FE86D9A4E54}"/>
              </a:ext>
            </a:extLst>
          </p:cNvPr>
          <p:cNvSpPr>
            <a:spLocks xmlns:a="http://schemas.openxmlformats.org/drawingml/2006/main" noGrp="1"/>
          </p:cNvSpPr>
          <p:nvPr/>
        </p:nvSpPr>
        <p:spPr>
          <a:xfrm xmlns:a="http://schemas.openxmlformats.org/drawingml/2006/main">
            <a:off x="609600" y="6410325"/>
            <a:ext cx="323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586C63"/>
                </a:solidFill>
                <a:latin typeface="Arial"/>
                <a:ea typeface="Arial"/>
                <a:cs typeface="Arial"/>
              </a:defRPr>
            </a:pPr>
            <a:r>
              <a:rPr sz="1350" b="0">
                <a:solidFill>
                  <a:srgbClr val="586C63"/>
                </a:solidFill>
                <a:latin typeface="Arial"/>
                <a:ea typeface="Arial"/>
                <a:cs typeface="Arial"/>
              </a:rPr>
              <a:t>LEAF ANALYZER  /  SPRINT 5</a:t>
            </a:r>
          </a:p>
        </p:txBody>
      </p:sp>
      <p:sp>
        <p:nvSpPr>
          <p:cNvPr id="5" name="Client meeting 7 Aug • planning document • We">
            <a:extLst xmlns:a="http://schemas.openxmlformats.org/drawingml/2006/main">
              <a:ext uri="{FF2B5EF4-FFF2-40B4-BE49-F238E27FC236}">
                <a16:creationId xmlns:a16="http://schemas.microsoft.com/office/drawing/2014/main" id="{395F314C-735E-4E2F-8C2F-BD0E66080BD1}"/>
              </a:ext>
            </a:extLst>
          </p:cNvPr>
          <p:cNvSpPr>
            <a:spLocks xmlns:a="http://schemas.openxmlformats.org/drawingml/2006/main" noGrp="1"/>
          </p:cNvSpPr>
          <p:nvPr/>
        </p:nvSpPr>
        <p:spPr>
          <a:xfrm xmlns:a="http://schemas.openxmlformats.org/drawingml/2006/main">
            <a:off x="3952875" y="6305550"/>
            <a:ext cx="708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200">
                <a:solidFill>
                  <a:srgbClr val="287553"/>
                </a:solidFill>
                <a:latin typeface="Arial"/>
                <a:ea typeface="Arial"/>
                <a:cs typeface="Arial"/>
              </a:defRPr>
            </a:pPr>
            <a:r>
              <a:rPr sz="1200">
                <a:solidFill>
                  <a:srgbClr val="287553"/>
                </a:solidFill>
                <a:latin typeface="Arial"/>
                <a:ea typeface="Arial"/>
                <a:cs typeface="Arial"/>
              </a:rPr>
              <a:t>Sources: </a:t>
            </a:r>
            <a:r>
              <a:rPr sz="1200" u="sng">
                <a:solidFill>
                  <a:srgbClr val="287553"/>
                </a:solidFill>
                <a:latin typeface="Arial"/>
                <a:ea typeface="Arial"/>
                <a:cs typeface="Arial"/>
                <a:hlinkClick xmlns:r="http://schemas.openxmlformats.org/officeDocument/2006/relationships" r:id="R2dc26d70afd64a7f"/>
              </a:rPr>
              <a:t>Client meeting</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ca6e6388ca39444b"/>
              </a:rPr>
              <a:t>Requirements</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108000f2cf8044b0"/>
              </a:rPr>
              <a:t>Client meeting 7</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a334150aac094463"/>
              </a:rPr>
              <a:t>LEAF-152</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d025cdd41dca4686"/>
              </a:rPr>
              <a:t>LEAF-158</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7a623b7263e64642"/>
              </a:rPr>
              <a:t>LEAF-149</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81a61fc9b4bd41d8"/>
              </a:rPr>
              <a:t>LEAF-154</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88041370493740f6"/>
              </a:rPr>
              <a:t>LEAF-155</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36905611ebd548c5"/>
              </a:rPr>
              <a:t>Backlog</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fc2272dd14c64abc"/>
              </a:rPr>
              <a:t>Week 5 report</a:t>
            </a:r>
          </a:p>
        </p:txBody>
      </p:sp>
      <p:sp>
        <p:nvSpPr>
          <p:cNvPr id="6" name="04">
            <a:extLst xmlns:a="http://schemas.openxmlformats.org/drawingml/2006/main">
              <a:ext uri="{FF2B5EF4-FFF2-40B4-BE49-F238E27FC236}">
                <a16:creationId xmlns:a16="http://schemas.microsoft.com/office/drawing/2014/main" id="{7DDAE6D1-B3FB-4770-9415-F43ABB1D41AD}"/>
              </a:ext>
            </a:extLst>
          </p:cNvPr>
          <p:cNvSpPr>
            <a:spLocks xmlns:a="http://schemas.openxmlformats.org/drawingml/2006/main" noGrp="1"/>
          </p:cNvSpPr>
          <p:nvPr/>
        </p:nvSpPr>
        <p:spPr>
          <a:xfrm xmlns:a="http://schemas.openxmlformats.org/drawingml/2006/main">
            <a:off x="11239500" y="63817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586C63"/>
                </a:solidFill>
                <a:latin typeface="Arial"/>
                <a:ea typeface="Arial"/>
                <a:cs typeface="Arial"/>
              </a:defRPr>
            </a:pPr>
            <a:r>
              <a:rPr sz="1575" b="0">
                <a:solidFill>
                  <a:srgbClr val="586C63"/>
                </a:solidFill>
                <a:latin typeface="Arial"/>
                <a:ea typeface="Arial"/>
                <a:cs typeface="Arial"/>
              </a:rPr>
              <a:t>04</a:t>
            </a:r>
          </a:p>
        </p:txBody>
      </p:sp>
      <p:sp>
        <p:nvSpPr>
          <p:cNvPr id="7" name="Sprint 4 feedback: formally track meeting act">
            <a:extLst xmlns:a="http://schemas.openxmlformats.org/drawingml/2006/main">
              <a:ext uri="{FF2B5EF4-FFF2-40B4-BE49-F238E27FC236}">
                <a16:creationId xmlns:a16="http://schemas.microsoft.com/office/drawing/2014/main" id="{405D531A-4717-4087-A135-531668F2999D}"/>
              </a:ext>
            </a:extLst>
          </p:cNvPr>
          <p:cNvSpPr>
            <a:spLocks xmlns:a="http://schemas.openxmlformats.org/drawingml/2006/main" noGrp="1"/>
          </p:cNvSpPr>
          <p:nvPr/>
        </p:nvSpPr>
        <p:spPr>
          <a:xfrm xmlns:a="http://schemas.openxmlformats.org/drawingml/2006/main">
            <a:off x="609600" y="17049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586C63"/>
                </a:solidFill>
                <a:latin typeface="Arial"/>
                <a:ea typeface="Arial"/>
                <a:cs typeface="Arial"/>
              </a:defRPr>
            </a:pPr>
            <a:r>
              <a:rPr sz="1875" b="0">
                <a:solidFill>
                  <a:srgbClr val="586C63"/>
                </a:solidFill>
                <a:latin typeface="Arial"/>
                <a:ea typeface="Arial"/>
                <a:cs typeface="Arial"/>
              </a:rPr>
              <a:t>Last sprint: write down meeting actions and report what happened.</a:t>
            </a:r>
          </a:p>
        </p:txBody>
      </p:sp>
      <p:sp>
        <p:nvSpPr>
          <p:cNvPr id="8" name="RECORDED NEED">
            <a:extLst xmlns:a="http://schemas.openxmlformats.org/drawingml/2006/main">
              <a:ext uri="{FF2B5EF4-FFF2-40B4-BE49-F238E27FC236}">
                <a16:creationId xmlns:a16="http://schemas.microsoft.com/office/drawing/2014/main" id="{28720B28-C014-46EA-827F-24CA574AC033}"/>
              </a:ext>
            </a:extLst>
          </p:cNvPr>
          <p:cNvSpPr>
            <a:spLocks xmlns:a="http://schemas.openxmlformats.org/drawingml/2006/main" noGrp="1"/>
          </p:cNvSpPr>
          <p:nvPr/>
        </p:nvSpPr>
        <p:spPr>
          <a:xfrm xmlns:a="http://schemas.openxmlformats.org/drawingml/2006/main">
            <a:off x="609600" y="2390775"/>
            <a:ext cx="328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1">
                <a:solidFill>
                  <a:srgbClr val="287553"/>
                </a:solidFill>
                <a:latin typeface="Arial"/>
                <a:ea typeface="Arial"/>
                <a:cs typeface="Arial"/>
              </a:defRPr>
            </a:pPr>
            <a:r>
              <a:rPr sz="1575" b="1">
                <a:solidFill>
                  <a:srgbClr val="287553"/>
                </a:solidFill>
                <a:latin typeface="Arial"/>
                <a:ea typeface="Arial"/>
                <a:cs typeface="Arial"/>
              </a:rPr>
              <a:t>CLIENT ASKED FOR</a:t>
            </a:r>
          </a:p>
        </p:txBody>
      </p:sp>
      <p:sp>
        <p:nvSpPr>
          <p:cNvPr id="9" name="TRACKED ACTION">
            <a:extLst xmlns:a="http://schemas.openxmlformats.org/drawingml/2006/main">
              <a:ext uri="{FF2B5EF4-FFF2-40B4-BE49-F238E27FC236}">
                <a16:creationId xmlns:a16="http://schemas.microsoft.com/office/drawing/2014/main" id="{B65FBD5B-66C6-49E0-8AB4-9168A1F3DF4B}"/>
              </a:ext>
            </a:extLst>
          </p:cNvPr>
          <p:cNvSpPr>
            <a:spLocks xmlns:a="http://schemas.openxmlformats.org/drawingml/2006/main" noGrp="1"/>
          </p:cNvSpPr>
          <p:nvPr/>
        </p:nvSpPr>
        <p:spPr>
          <a:xfrm xmlns:a="http://schemas.openxmlformats.org/drawingml/2006/main">
            <a:off x="4171950" y="2390775"/>
            <a:ext cx="328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1">
                <a:solidFill>
                  <a:srgbClr val="287553"/>
                </a:solidFill>
                <a:latin typeface="Arial"/>
                <a:ea typeface="Arial"/>
                <a:cs typeface="Arial"/>
              </a:defRPr>
            </a:pPr>
            <a:r>
              <a:rPr sz="1575" b="1">
                <a:solidFill>
                  <a:srgbClr val="287553"/>
                </a:solidFill>
                <a:latin typeface="Arial"/>
                <a:ea typeface="Arial"/>
                <a:cs typeface="Arial"/>
              </a:rPr>
              <a:t>OUR TASKS</a:t>
            </a:r>
          </a:p>
        </p:txBody>
      </p:sp>
      <p:sp>
        <p:nvSpPr>
          <p:cNvPr id="10" name="IMPLEMENTED OUTCOME">
            <a:extLst xmlns:a="http://schemas.openxmlformats.org/drawingml/2006/main">
              <a:ext uri="{FF2B5EF4-FFF2-40B4-BE49-F238E27FC236}">
                <a16:creationId xmlns:a16="http://schemas.microsoft.com/office/drawing/2014/main" id="{10723389-5955-4DB6-972D-61856A3B702F}"/>
              </a:ext>
            </a:extLst>
          </p:cNvPr>
          <p:cNvSpPr>
            <a:spLocks xmlns:a="http://schemas.openxmlformats.org/drawingml/2006/main" noGrp="1"/>
          </p:cNvSpPr>
          <p:nvPr/>
        </p:nvSpPr>
        <p:spPr>
          <a:xfrm xmlns:a="http://schemas.openxmlformats.org/drawingml/2006/main">
            <a:off x="7848600" y="2390775"/>
            <a:ext cx="328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1">
                <a:solidFill>
                  <a:srgbClr val="287553"/>
                </a:solidFill>
                <a:latin typeface="Arial"/>
                <a:ea typeface="Arial"/>
                <a:cs typeface="Arial"/>
              </a:defRPr>
            </a:pPr>
            <a:r>
              <a:rPr sz="1575" b="1">
                <a:solidFill>
                  <a:srgbClr val="287553"/>
                </a:solidFill>
                <a:latin typeface="Arial"/>
                <a:ea typeface="Arial"/>
                <a:cs typeface="Arial"/>
              </a:rPr>
              <a:t>WHAT WE CHANGED</a:t>
            </a:r>
          </a:p>
        </p:txBody>
      </p:sp>
      <p:sp>
        <p:nvSpPr>
          <p:cNvPr id="11" name="直线连接符 10">
            <a:extLst xmlns:a="http://schemas.openxmlformats.org/drawingml/2006/main">
              <a:ext uri="{FF2B5EF4-FFF2-40B4-BE49-F238E27FC236}">
                <a16:creationId xmlns:a16="http://schemas.microsoft.com/office/drawing/2014/main" id="{62888804-220B-4166-9596-F277F0107134}"/>
              </a:ext>
            </a:extLst>
          </p:cNvPr>
          <p:cNvSpPr>
            <a:spLocks xmlns:a="http://schemas.openxmlformats.org/drawingml/2006/main" noGrp="1"/>
          </p:cNvSpPr>
          <p:nvPr/>
        </p:nvSpPr>
        <p:spPr>
          <a:xfrm xmlns:a="http://schemas.openxmlformats.org/drawingml/2006/main">
            <a:off x="609600" y="2828925"/>
            <a:ext cx="10972800" cy="0"/>
          </a:xfrm>
          <a:prstGeom xmlns:a="http://schemas.openxmlformats.org/drawingml/2006/main" prst="line">
            <a:avLst/>
          </a:prstGeom>
          <a:noFill xmlns:a="http://schemas.openxmlformats.org/drawingml/2006/main"/>
          <a:ln xmlns:a="http://schemas.openxmlformats.org/drawingml/2006/main" w="14288">
            <a:solidFill>
              <a:srgbClr val="C8D4CB"/>
            </a:solidFill>
          </a:ln>
        </p:spPr>
      </p:sp>
      <p:sp>
        <p:nvSpPr>
          <p:cNvPr id="12" name="Frequent SR crashes;&#10;use every spectral band.">
            <a:extLst xmlns:a="http://schemas.openxmlformats.org/drawingml/2006/main">
              <a:ext uri="{FF2B5EF4-FFF2-40B4-BE49-F238E27FC236}">
                <a16:creationId xmlns:a16="http://schemas.microsoft.com/office/drawing/2014/main" id="{52116F32-1C17-40D0-9CE2-8C0B6A087BE9}"/>
              </a:ext>
            </a:extLst>
          </p:cNvPr>
          <p:cNvSpPr>
            <a:spLocks xmlns:a="http://schemas.openxmlformats.org/drawingml/2006/main" noGrp="1"/>
          </p:cNvSpPr>
          <p:nvPr/>
        </p:nvSpPr>
        <p:spPr>
          <a:xfrm xmlns:a="http://schemas.openxmlformats.org/drawingml/2006/main">
            <a:off x="609600" y="3057525"/>
            <a:ext cx="333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173B31"/>
                </a:solidFill>
                <a:latin typeface="Arial"/>
                <a:ea typeface="Arial"/>
                <a:cs typeface="Arial"/>
              </a:defRPr>
            </a:pPr>
            <a:r>
              <a:rPr sz="1875" b="1">
                <a:solidFill>
                  <a:srgbClr val="173B31"/>
                </a:solidFill>
                <a:latin typeface="Arial"/>
                <a:ea typeface="Arial"/>
                <a:cs typeface="Arial"/>
              </a:rPr>
              <a:t>SR that is more reliable</a:t>
            </a:r>
          </a:p>
          <a:p xmlns:a="http://schemas.openxmlformats.org/drawingml/2006/main">
            <a:pPr algn="l">
              <a:buNone/>
              <a:defRPr sz="1875" b="1">
                <a:solidFill>
                  <a:srgbClr val="173B31"/>
                </a:solidFill>
                <a:latin typeface="Arial"/>
                <a:ea typeface="Arial"/>
                <a:cs typeface="Arial"/>
              </a:defRPr>
            </a:pPr>
            <a:r>
              <a:rPr sz="1875" b="1">
                <a:solidFill>
                  <a:srgbClr val="173B31"/>
                </a:solidFill>
                <a:latin typeface="Arial"/>
                <a:ea typeface="Arial"/>
                <a:cs typeface="Arial"/>
              </a:rPr>
              <a:t>and uses all the bands.</a:t>
            </a:r>
          </a:p>
        </p:txBody>
      </p:sp>
      <p:sp>
        <p:nvSpPr>
          <p:cNvPr id="13" name="Guochen · LEAF-152&#10;Ryan · LEAF-158">
            <a:extLst xmlns:a="http://schemas.openxmlformats.org/drawingml/2006/main">
              <a:ext uri="{FF2B5EF4-FFF2-40B4-BE49-F238E27FC236}">
                <a16:creationId xmlns:a16="http://schemas.microsoft.com/office/drawing/2014/main" id="{5C0B15E3-F6F5-4E39-AE89-1EF7624D5E04}"/>
              </a:ext>
            </a:extLst>
          </p:cNvPr>
          <p:cNvSpPr>
            <a:spLocks xmlns:a="http://schemas.openxmlformats.org/drawingml/2006/main" noGrp="1"/>
          </p:cNvSpPr>
          <p:nvPr/>
        </p:nvSpPr>
        <p:spPr>
          <a:xfrm xmlns:a="http://schemas.openxmlformats.org/drawingml/2006/main">
            <a:off x="4171950" y="3057525"/>
            <a:ext cx="333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586C63"/>
                </a:solidFill>
                <a:latin typeface="Arial"/>
                <a:ea typeface="Arial"/>
                <a:cs typeface="Arial"/>
              </a:defRPr>
            </a:pPr>
            <a:r>
              <a:rPr sz="1875" b="0">
                <a:solidFill>
                  <a:srgbClr val="586C63"/>
                </a:solidFill>
                <a:latin typeface="Arial"/>
                <a:ea typeface="Arial"/>
                <a:cs typeface="Arial"/>
              </a:rPr>
              <a:t>Guochen · </a:t>
            </a:r>
            <a:r>
              <a:rPr sz="1875" b="0">
                <a:solidFill>
                  <a:srgbClr val="586C63"/>
                </a:solidFill>
                <a:latin typeface="Arial"/>
                <a:ea typeface="Arial"/>
                <a:cs typeface="Arial"/>
                <a:hlinkClick xmlns:r="http://schemas.openxmlformats.org/officeDocument/2006/relationships" r:id="R1c45430c1e6546d2"/>
              </a:rPr>
              <a:t>LEAF-152</a:t>
            </a:r>
          </a:p>
          <a:p xmlns:a="http://schemas.openxmlformats.org/drawingml/2006/main">
            <a:pPr algn="l">
              <a:buNone/>
              <a:defRPr sz="1875" b="0">
                <a:solidFill>
                  <a:srgbClr val="586C63"/>
                </a:solidFill>
                <a:latin typeface="Arial"/>
                <a:ea typeface="Arial"/>
                <a:cs typeface="Arial"/>
              </a:defRPr>
            </a:pPr>
            <a:r>
              <a:rPr sz="1875" b="0">
                <a:solidFill>
                  <a:srgbClr val="586C63"/>
                </a:solidFill>
                <a:latin typeface="Arial"/>
                <a:ea typeface="Arial"/>
                <a:cs typeface="Arial"/>
              </a:rPr>
              <a:t>Ryan · </a:t>
            </a:r>
            <a:r>
              <a:rPr sz="1875" b="0">
                <a:solidFill>
                  <a:srgbClr val="586C63"/>
                </a:solidFill>
                <a:latin typeface="Arial"/>
                <a:ea typeface="Arial"/>
                <a:cs typeface="Arial"/>
                <a:hlinkClick xmlns:r="http://schemas.openxmlformats.org/officeDocument/2006/relationships" r:id="R696645f9c7ad4bf3"/>
              </a:rPr>
              <a:t>LEAF-158</a:t>
            </a:r>
          </a:p>
        </p:txBody>
      </p:sp>
      <p:sp>
        <p:nvSpPr>
          <p:cNvPr id="14" name="Real inference, cancellation,&#10;recovery and sh">
            <a:extLst xmlns:a="http://schemas.openxmlformats.org/drawingml/2006/main">
              <a:ext uri="{FF2B5EF4-FFF2-40B4-BE49-F238E27FC236}">
                <a16:creationId xmlns:a16="http://schemas.microsoft.com/office/drawing/2014/main" id="{57400CEB-176E-4712-8F3E-9DF1D3977E52}"/>
              </a:ext>
            </a:extLst>
          </p:cNvPr>
          <p:cNvSpPr>
            <a:spLocks xmlns:a="http://schemas.openxmlformats.org/drawingml/2006/main" noGrp="1"/>
          </p:cNvSpPr>
          <p:nvPr/>
        </p:nvSpPr>
        <p:spPr>
          <a:xfrm xmlns:a="http://schemas.openxmlformats.org/drawingml/2006/main">
            <a:off x="7848600" y="3057525"/>
            <a:ext cx="333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586C63"/>
                </a:solidFill>
                <a:latin typeface="Arial"/>
                <a:ea typeface="Arial"/>
                <a:cs typeface="Arial"/>
              </a:defRPr>
            </a:pPr>
            <a:r>
              <a:rPr sz="1875" b="0">
                <a:solidFill>
                  <a:srgbClr val="586C63"/>
                </a:solidFill>
                <a:latin typeface="Arial"/>
                <a:ea typeface="Arial"/>
                <a:cs typeface="Arial"/>
              </a:rPr>
              <a:t>Real model output, a cancel</a:t>
            </a:r>
          </a:p>
          <a:p xmlns:a="http://schemas.openxmlformats.org/drawingml/2006/main">
            <a:pPr algn="l">
              <a:buNone/>
              <a:defRPr sz="1875" b="0">
                <a:solidFill>
                  <a:srgbClr val="586C63"/>
                </a:solidFill>
                <a:latin typeface="Arial"/>
                <a:ea typeface="Arial"/>
                <a:cs typeface="Arial"/>
              </a:defRPr>
            </a:pPr>
            <a:r>
              <a:rPr sz="1875" b="0">
                <a:solidFill>
                  <a:srgbClr val="586C63"/>
                </a:solidFill>
                <a:latin typeface="Arial"/>
                <a:ea typeface="Arial"/>
                <a:cs typeface="Arial"/>
              </a:rPr>
              <a:t>button and safer error handling.</a:t>
            </a:r>
          </a:p>
        </p:txBody>
      </p:sp>
      <p:sp>
        <p:nvSpPr>
          <p:cNvPr id="15" name="直线连接符 14">
            <a:extLst xmlns:a="http://schemas.openxmlformats.org/drawingml/2006/main">
              <a:ext uri="{FF2B5EF4-FFF2-40B4-BE49-F238E27FC236}">
                <a16:creationId xmlns:a16="http://schemas.microsoft.com/office/drawing/2014/main" id="{51C2A0A0-57EB-47CD-AD1A-BCD1002B15F0}"/>
              </a:ext>
            </a:extLst>
          </p:cNvPr>
          <p:cNvSpPr>
            <a:spLocks xmlns:a="http://schemas.openxmlformats.org/drawingml/2006/main" noGrp="1"/>
          </p:cNvSpPr>
          <p:nvPr/>
        </p:nvSpPr>
        <p:spPr>
          <a:xfrm xmlns:a="http://schemas.openxmlformats.org/drawingml/2006/main">
            <a:off x="609600" y="4010025"/>
            <a:ext cx="10972800" cy="0"/>
          </a:xfrm>
          <a:prstGeom xmlns:a="http://schemas.openxmlformats.org/drawingml/2006/main" prst="line">
            <a:avLst/>
          </a:prstGeom>
          <a:noFill xmlns:a="http://schemas.openxmlformats.org/drawingml/2006/main"/>
          <a:ln xmlns:a="http://schemas.openxmlformats.org/drawingml/2006/main" w="14288">
            <a:solidFill>
              <a:srgbClr val="C8D4CB"/>
            </a:solidFill>
          </a:ln>
        </p:spPr>
      </p:sp>
      <p:sp>
        <p:nvSpPr>
          <p:cNvPr id="16" name="A more professional,&#10;usable analysis interfac">
            <a:extLst xmlns:a="http://schemas.openxmlformats.org/drawingml/2006/main">
              <a:ext uri="{FF2B5EF4-FFF2-40B4-BE49-F238E27FC236}">
                <a16:creationId xmlns:a16="http://schemas.microsoft.com/office/drawing/2014/main" id="{A5B4BC66-B229-4B7B-B45E-7A086B9541DC}"/>
              </a:ext>
            </a:extLst>
          </p:cNvPr>
          <p:cNvSpPr>
            <a:spLocks xmlns:a="http://schemas.openxmlformats.org/drawingml/2006/main" noGrp="1"/>
          </p:cNvSpPr>
          <p:nvPr/>
        </p:nvSpPr>
        <p:spPr>
          <a:xfrm xmlns:a="http://schemas.openxmlformats.org/drawingml/2006/main">
            <a:off x="609600" y="4210050"/>
            <a:ext cx="333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173B31"/>
                </a:solidFill>
                <a:latin typeface="Arial"/>
                <a:ea typeface="Arial"/>
                <a:cs typeface="Arial"/>
              </a:defRPr>
            </a:pPr>
            <a:r>
              <a:rPr sz="1875" b="1">
                <a:solidFill>
                  <a:srgbClr val="173B31"/>
                </a:solidFill>
                <a:latin typeface="Arial"/>
                <a:ea typeface="Arial"/>
                <a:cs typeface="Arial"/>
              </a:rPr>
              <a:t>An easier interface</a:t>
            </a:r>
          </a:p>
          <a:p xmlns:a="http://schemas.openxmlformats.org/drawingml/2006/main">
            <a:pPr algn="l">
              <a:buNone/>
              <a:defRPr sz="1875" b="1">
                <a:solidFill>
                  <a:srgbClr val="173B31"/>
                </a:solidFill>
                <a:latin typeface="Arial"/>
                <a:ea typeface="Arial"/>
                <a:cs typeface="Arial"/>
              </a:defRPr>
            </a:pPr>
            <a:r>
              <a:rPr sz="1875" b="1">
                <a:solidFill>
                  <a:srgbClr val="173B31"/>
                </a:solidFill>
                <a:latin typeface="Arial"/>
                <a:ea typeface="Arial"/>
                <a:cs typeface="Arial"/>
              </a:rPr>
              <a:t>for image analysis.</a:t>
            </a:r>
          </a:p>
        </p:txBody>
      </p:sp>
      <p:sp>
        <p:nvSpPr>
          <p:cNvPr id="17" name="Guochen · LEAF-149&#10;Ryan · LEAF-154 / 155">
            <a:extLst xmlns:a="http://schemas.openxmlformats.org/drawingml/2006/main">
              <a:ext uri="{FF2B5EF4-FFF2-40B4-BE49-F238E27FC236}">
                <a16:creationId xmlns:a16="http://schemas.microsoft.com/office/drawing/2014/main" id="{5AD7B12E-B142-4795-A135-12FB792A040D}"/>
              </a:ext>
            </a:extLst>
          </p:cNvPr>
          <p:cNvSpPr>
            <a:spLocks xmlns:a="http://schemas.openxmlformats.org/drawingml/2006/main" noGrp="1"/>
          </p:cNvSpPr>
          <p:nvPr/>
        </p:nvSpPr>
        <p:spPr>
          <a:xfrm xmlns:a="http://schemas.openxmlformats.org/drawingml/2006/main">
            <a:off x="4171950" y="4210050"/>
            <a:ext cx="333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586C63"/>
                </a:solidFill>
                <a:latin typeface="Arial"/>
                <a:ea typeface="Arial"/>
                <a:cs typeface="Arial"/>
              </a:defRPr>
            </a:pPr>
            <a:r>
              <a:rPr sz="1875" b="0">
                <a:solidFill>
                  <a:srgbClr val="586C63"/>
                </a:solidFill>
                <a:latin typeface="Arial"/>
                <a:ea typeface="Arial"/>
                <a:cs typeface="Arial"/>
              </a:rPr>
              <a:t>Guochen · </a:t>
            </a:r>
            <a:r>
              <a:rPr sz="1875" b="0">
                <a:solidFill>
                  <a:srgbClr val="586C63"/>
                </a:solidFill>
                <a:latin typeface="Arial"/>
                <a:ea typeface="Arial"/>
                <a:cs typeface="Arial"/>
                <a:hlinkClick xmlns:r="http://schemas.openxmlformats.org/officeDocument/2006/relationships" r:id="Rcf6b895b0631454e"/>
              </a:rPr>
              <a:t>LEAF-149</a:t>
            </a:r>
          </a:p>
          <a:p xmlns:a="http://schemas.openxmlformats.org/drawingml/2006/main">
            <a:pPr algn="l">
              <a:buNone/>
              <a:defRPr sz="1875" b="0">
                <a:solidFill>
                  <a:srgbClr val="586C63"/>
                </a:solidFill>
                <a:latin typeface="Arial"/>
                <a:ea typeface="Arial"/>
                <a:cs typeface="Arial"/>
              </a:defRPr>
            </a:pPr>
            <a:r>
              <a:rPr sz="1875" b="0">
                <a:solidFill>
                  <a:srgbClr val="586C63"/>
                </a:solidFill>
                <a:latin typeface="Arial"/>
                <a:ea typeface="Arial"/>
                <a:cs typeface="Arial"/>
              </a:rPr>
              <a:t>Ryan · </a:t>
            </a:r>
            <a:r>
              <a:rPr sz="1875" b="0">
                <a:solidFill>
                  <a:srgbClr val="586C63"/>
                </a:solidFill>
                <a:latin typeface="Arial"/>
                <a:ea typeface="Arial"/>
                <a:cs typeface="Arial"/>
                <a:hlinkClick xmlns:r="http://schemas.openxmlformats.org/officeDocument/2006/relationships" r:id="R25d43dc2333242f7"/>
              </a:rPr>
              <a:t>LEAF-154</a:t>
            </a:r>
            <a:r>
              <a:rPr sz="1875" b="0">
                <a:solidFill>
                  <a:srgbClr val="586C63"/>
                </a:solidFill>
                <a:latin typeface="Arial"/>
                <a:ea typeface="Arial"/>
                <a:cs typeface="Arial"/>
              </a:rPr>
              <a:t> / 155</a:t>
            </a:r>
          </a:p>
        </p:txBody>
      </p:sp>
      <p:sp>
        <p:nvSpPr>
          <p:cNvPr id="18" name="Clearer menus, persistent&#10;statistics and colo">
            <a:extLst xmlns:a="http://schemas.openxmlformats.org/drawingml/2006/main">
              <a:ext uri="{FF2B5EF4-FFF2-40B4-BE49-F238E27FC236}">
                <a16:creationId xmlns:a16="http://schemas.microsoft.com/office/drawing/2014/main" id="{C2174424-D525-4ECC-8A6B-134750C48288}"/>
              </a:ext>
            </a:extLst>
          </p:cNvPr>
          <p:cNvSpPr>
            <a:spLocks xmlns:a="http://schemas.openxmlformats.org/drawingml/2006/main" noGrp="1"/>
          </p:cNvSpPr>
          <p:nvPr/>
        </p:nvSpPr>
        <p:spPr>
          <a:xfrm xmlns:a="http://schemas.openxmlformats.org/drawingml/2006/main">
            <a:off x="7848600" y="4210050"/>
            <a:ext cx="333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586C63"/>
                </a:solidFill>
                <a:latin typeface="Arial"/>
                <a:ea typeface="Arial"/>
                <a:cs typeface="Arial"/>
              </a:defRPr>
            </a:pPr>
            <a:r>
              <a:rPr sz="1875" b="0">
                <a:solidFill>
                  <a:srgbClr val="586C63"/>
                </a:solidFill>
                <a:latin typeface="Arial"/>
                <a:ea typeface="Arial"/>
                <a:cs typeface="Arial"/>
              </a:rPr>
              <a:t>Clearer menus, colour values</a:t>
            </a:r>
          </a:p>
          <a:p xmlns:a="http://schemas.openxmlformats.org/drawingml/2006/main">
            <a:pPr algn="l">
              <a:buNone/>
              <a:defRPr sz="1875" b="0">
                <a:solidFill>
                  <a:srgbClr val="586C63"/>
                </a:solidFill>
                <a:latin typeface="Arial"/>
                <a:ea typeface="Arial"/>
                <a:cs typeface="Arial"/>
              </a:defRPr>
            </a:pPr>
            <a:r>
              <a:rPr sz="1875" b="0">
                <a:solidFill>
                  <a:srgbClr val="586C63"/>
                </a:solidFill>
                <a:latin typeface="Arial"/>
                <a:ea typeface="Arial"/>
                <a:cs typeface="Arial"/>
              </a:rPr>
              <a:t>and a statistics window.</a:t>
            </a:r>
          </a:p>
        </p:txBody>
      </p:sp>
      <p:sp>
        <p:nvSpPr>
          <p:cNvPr id="19" name="Follow-up is recorded in the backlog and 28 A">
            <a:extLst xmlns:a="http://schemas.openxmlformats.org/drawingml/2006/main">
              <a:ext uri="{FF2B5EF4-FFF2-40B4-BE49-F238E27FC236}">
                <a16:creationId xmlns:a16="http://schemas.microsoft.com/office/drawing/2014/main" id="{5945B449-77FC-4CA1-817D-3A97DBE97C5D}"/>
              </a:ext>
            </a:extLst>
          </p:cNvPr>
          <p:cNvSpPr>
            <a:spLocks xmlns:a="http://schemas.openxmlformats.org/drawingml/2006/main" noGrp="1"/>
          </p:cNvSpPr>
          <p:nvPr/>
        </p:nvSpPr>
        <p:spPr>
          <a:xfrm xmlns:a="http://schemas.openxmlformats.org/drawingml/2006/main">
            <a:off x="609600" y="5362575"/>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287553"/>
                </a:solidFill>
                <a:latin typeface="Arial"/>
                <a:ea typeface="Arial"/>
                <a:cs typeface="Arial"/>
              </a:defRPr>
            </a:pPr>
            <a:r>
              <a:rPr sz="1875" b="1">
                <a:solidFill>
                  <a:srgbClr val="287553"/>
                </a:solidFill>
                <a:latin typeface="Arial"/>
                <a:ea typeface="Arial"/>
                <a:cs typeface="Arial"/>
              </a:rPr>
              <a:t>The backlog and Week 5 report show the progress. We still need the client to review the results.</a:t>
            </a:r>
          </a:p>
        </p:txBody>
      </p:sp>
    </p:spTree>
    <p:extLst>
      <p:ext uri="{BB962C8B-B14F-4D97-AF65-F5344CB8AC3E}">
        <p14:creationId xmlns:p14="http://schemas.microsoft.com/office/powerpoint/2010/main" val="16050692"/>
      </p:ext>
    </p:extLst>
  </p:cSld>
</p:sld>
</file>

<file path=ppt/slides/slide5.xml><?xml version="1.0" encoding="utf-8"?>
<p:sld xmlns:p="http://schemas.openxmlformats.org/presentationml/2006/main">
  <p:cSld>
    <p:bg>
      <p:bgPr>
        <a:solidFill xmlns:a="http://schemas.openxmlformats.org/drawingml/2006/main">
          <a:srgbClr val="F4F5F0"/>
        </a:solidFill>
      </p:bgPr>
    </p:bg>
    <p:spTree>
      <p:nvGrpSpPr>
        <p:cNvPr id="1" name=""/>
        <p:cNvGrpSpPr/>
        <p:nvPr/>
      </p:nvGrpSpPr>
      <p:grpSpPr>
        <a:xfrm xmlns:a="http://schemas.openxmlformats.org/drawingml/2006/main"/>
      </p:grpSpPr>
      <p:sp>
        <p:nvSpPr>
          <p:cNvPr id="27" name="STAKEHOLDER ENGAGEMENT">
            <a:extLst xmlns:a="http://schemas.openxmlformats.org/drawingml/2006/main">
              <a:ext uri="{FF2B5EF4-FFF2-40B4-BE49-F238E27FC236}">
                <a16:creationId xmlns:a16="http://schemas.microsoft.com/office/drawing/2014/main" id="{F4FF75FB-2A65-44B6-BC72-A7FDAC738EAC}"/>
              </a:ext>
            </a:extLst>
          </p:cNvPr>
          <p:cNvSpPr>
            <a:spLocks xmlns:a="http://schemas.openxmlformats.org/drawingml/2006/main" noGrp="1"/>
          </p:cNvSpPr>
          <p:nvPr/>
        </p:nvSpPr>
        <p:spPr>
          <a:xfrm xmlns:a="http://schemas.openxmlformats.org/drawingml/2006/main">
            <a:off x="609600" y="4000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1">
                <a:solidFill>
                  <a:srgbClr val="287553"/>
                </a:solidFill>
                <a:latin typeface="Arial"/>
                <a:ea typeface="Arial"/>
                <a:cs typeface="Arial"/>
              </a:defRPr>
            </a:pPr>
            <a:r>
              <a:rPr sz="1500" b="1">
                <a:solidFill>
                  <a:srgbClr val="287553"/>
                </a:solidFill>
                <a:latin typeface="Arial"/>
                <a:ea typeface="Arial"/>
                <a:cs typeface="Arial"/>
              </a:rPr>
              <a:t>STAKEHOLDER ENGAGEMENT</a:t>
            </a:r>
          </a:p>
        </p:txBody>
      </p:sp>
      <p:sp>
        <p:nvSpPr>
          <p:cNvPr id="2" name="Tutor actions have a written follow-up">
            <a:extLst xmlns:a="http://schemas.openxmlformats.org/drawingml/2006/main">
              <a:ext uri="{FF2B5EF4-FFF2-40B4-BE49-F238E27FC236}">
                <a16:creationId xmlns:a16="http://schemas.microsoft.com/office/drawing/2014/main" id="{4921659D-6A5C-49CA-8814-9D28A504C1E4}"/>
              </a:ext>
            </a:extLst>
          </p:cNvPr>
          <p:cNvSpPr>
            <a:spLocks xmlns:a="http://schemas.openxmlformats.org/drawingml/2006/main" noGrp="1"/>
          </p:cNvSpPr>
          <p:nvPr/>
        </p:nvSpPr>
        <p:spPr>
          <a:xfrm xmlns:a="http://schemas.openxmlformats.org/drawingml/2006/main">
            <a:off x="609600" y="86677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600" b="1">
                <a:solidFill>
                  <a:srgbClr val="173B31"/>
                </a:solidFill>
                <a:latin typeface="Arial"/>
                <a:ea typeface="Arial"/>
                <a:cs typeface="Arial"/>
              </a:defRPr>
            </a:pPr>
            <a:r>
              <a:rPr sz="3600" b="1">
                <a:solidFill>
                  <a:srgbClr val="173B31"/>
                </a:solidFill>
                <a:latin typeface="Arial"/>
                <a:ea typeface="Arial"/>
                <a:cs typeface="Arial"/>
              </a:rPr>
              <a:t>We recorded the tutor’s action items</a:t>
            </a:r>
          </a:p>
        </p:txBody>
      </p:sp>
      <p:sp>
        <p:nvSpPr>
          <p:cNvPr id="3" name="直线连接符 2">
            <a:extLst xmlns:a="http://schemas.openxmlformats.org/drawingml/2006/main">
              <a:ext uri="{FF2B5EF4-FFF2-40B4-BE49-F238E27FC236}">
                <a16:creationId xmlns:a16="http://schemas.microsoft.com/office/drawing/2014/main" id="{C5A90913-5C2E-4672-9D0E-68EC5A455A77}"/>
              </a:ext>
            </a:extLst>
          </p:cNvPr>
          <p:cNvSpPr>
            <a:spLocks xmlns:a="http://schemas.openxmlformats.org/drawingml/2006/main" noGrp="1"/>
          </p:cNvSpPr>
          <p:nvPr/>
        </p:nvSpPr>
        <p:spPr>
          <a:xfrm xmlns:a="http://schemas.openxmlformats.org/drawingml/2006/main">
            <a:off x="609600" y="6238875"/>
            <a:ext cx="10972800" cy="0"/>
          </a:xfrm>
          <a:prstGeom xmlns:a="http://schemas.openxmlformats.org/drawingml/2006/main" prst="line">
            <a:avLst/>
          </a:prstGeom>
          <a:noFill xmlns:a="http://schemas.openxmlformats.org/drawingml/2006/main"/>
          <a:ln xmlns:a="http://schemas.openxmlformats.org/drawingml/2006/main" w="14288">
            <a:solidFill>
              <a:srgbClr val="C8D4CB"/>
            </a:solidFill>
          </a:ln>
        </p:spPr>
      </p:sp>
      <p:sp>
        <p:nvSpPr>
          <p:cNvPr id="4" name="LEAF ANALYZER  /  SPRINT 5">
            <a:extLst xmlns:a="http://schemas.openxmlformats.org/drawingml/2006/main">
              <a:ext uri="{FF2B5EF4-FFF2-40B4-BE49-F238E27FC236}">
                <a16:creationId xmlns:a16="http://schemas.microsoft.com/office/drawing/2014/main" id="{FDDD53AB-A135-4D87-9E2A-D4BC8AA06552}"/>
              </a:ext>
            </a:extLst>
          </p:cNvPr>
          <p:cNvSpPr>
            <a:spLocks xmlns:a="http://schemas.openxmlformats.org/drawingml/2006/main" noGrp="1"/>
          </p:cNvSpPr>
          <p:nvPr/>
        </p:nvSpPr>
        <p:spPr>
          <a:xfrm xmlns:a="http://schemas.openxmlformats.org/drawingml/2006/main">
            <a:off x="609600" y="6410325"/>
            <a:ext cx="323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586C63"/>
                </a:solidFill>
                <a:latin typeface="Arial"/>
                <a:ea typeface="Arial"/>
                <a:cs typeface="Arial"/>
              </a:defRPr>
            </a:pPr>
            <a:r>
              <a:rPr sz="1350" b="0">
                <a:solidFill>
                  <a:srgbClr val="586C63"/>
                </a:solidFill>
                <a:latin typeface="Arial"/>
                <a:ea typeface="Arial"/>
                <a:cs typeface="Arial"/>
              </a:rPr>
              <a:t>LEAF ANALYZER  /  SPRINT 5</a:t>
            </a:r>
          </a:p>
        </p:txBody>
      </p:sp>
      <p:sp>
        <p:nvSpPr>
          <p:cNvPr id="5" name="Tutor Meeting 21/08 • LEAF-157 • reports and ">
            <a:extLst xmlns:a="http://schemas.openxmlformats.org/drawingml/2006/main">
              <a:ext uri="{FF2B5EF4-FFF2-40B4-BE49-F238E27FC236}">
                <a16:creationId xmlns:a16="http://schemas.microsoft.com/office/drawing/2014/main" id="{47801640-D8B9-444E-8412-A5793D6FED84}"/>
              </a:ext>
            </a:extLst>
          </p:cNvPr>
          <p:cNvSpPr>
            <a:spLocks xmlns:a="http://schemas.openxmlformats.org/drawingml/2006/main" noGrp="1"/>
          </p:cNvSpPr>
          <p:nvPr/>
        </p:nvSpPr>
        <p:spPr>
          <a:xfrm xmlns:a="http://schemas.openxmlformats.org/drawingml/2006/main">
            <a:off x="3952875" y="6305550"/>
            <a:ext cx="708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200">
                <a:solidFill>
                  <a:srgbClr val="287553"/>
                </a:solidFill>
                <a:latin typeface="Arial"/>
                <a:ea typeface="Arial"/>
                <a:cs typeface="Arial"/>
              </a:defRPr>
            </a:pPr>
            <a:r>
              <a:rPr sz="1200">
                <a:solidFill>
                  <a:srgbClr val="287553"/>
                </a:solidFill>
                <a:latin typeface="Arial"/>
                <a:ea typeface="Arial"/>
                <a:cs typeface="Arial"/>
              </a:rPr>
              <a:t>Sources: </a:t>
            </a:r>
            <a:r>
              <a:rPr sz="1200" u="sng">
                <a:solidFill>
                  <a:srgbClr val="287553"/>
                </a:solidFill>
                <a:latin typeface="Arial"/>
                <a:ea typeface="Arial"/>
                <a:cs typeface="Arial"/>
                <a:hlinkClick xmlns:r="http://schemas.openxmlformats.org/officeDocument/2006/relationships" r:id="R3b414728231a43be"/>
              </a:rPr>
              <a:t>Tutor meeting</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b4f202feb5934b49"/>
              </a:rPr>
              <a:t>LEAF-157</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18b0c777272544db"/>
              </a:rPr>
              <a:t>Week 5 report</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3470f18b2bec4792"/>
              </a:rPr>
              <a:t>Week 5 reflection</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25ee189086934f20"/>
              </a:rPr>
              <a:t>Risk plan</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703bfafca61f4da2"/>
              </a:rPr>
              <a:t>Backlog</a:t>
            </a:r>
          </a:p>
        </p:txBody>
      </p:sp>
      <p:sp>
        <p:nvSpPr>
          <p:cNvPr id="6" name="05">
            <a:extLst xmlns:a="http://schemas.openxmlformats.org/drawingml/2006/main">
              <a:ext uri="{FF2B5EF4-FFF2-40B4-BE49-F238E27FC236}">
                <a16:creationId xmlns:a16="http://schemas.microsoft.com/office/drawing/2014/main" id="{A6A35694-11F8-4923-B2FD-E628EA175A8A}"/>
              </a:ext>
            </a:extLst>
          </p:cNvPr>
          <p:cNvSpPr>
            <a:spLocks xmlns:a="http://schemas.openxmlformats.org/drawingml/2006/main" noGrp="1"/>
          </p:cNvSpPr>
          <p:nvPr/>
        </p:nvSpPr>
        <p:spPr>
          <a:xfrm xmlns:a="http://schemas.openxmlformats.org/drawingml/2006/main">
            <a:off x="11239500" y="63817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586C63"/>
                </a:solidFill>
                <a:latin typeface="Arial"/>
                <a:ea typeface="Arial"/>
                <a:cs typeface="Arial"/>
              </a:defRPr>
            </a:pPr>
            <a:r>
              <a:rPr sz="1575" b="0">
                <a:solidFill>
                  <a:srgbClr val="586C63"/>
                </a:solidFill>
                <a:latin typeface="Arial"/>
                <a:ea typeface="Arial"/>
                <a:cs typeface="Arial"/>
              </a:rPr>
              <a:t>05</a:t>
            </a:r>
          </a:p>
        </p:txBody>
      </p:sp>
      <p:sp>
        <p:nvSpPr>
          <p:cNvPr id="7" name="21 August: record effort, reflect weekly and ">
            <a:extLst xmlns:a="http://schemas.openxmlformats.org/drawingml/2006/main">
              <a:ext uri="{FF2B5EF4-FFF2-40B4-BE49-F238E27FC236}">
                <a16:creationId xmlns:a16="http://schemas.microsoft.com/office/drawing/2014/main" id="{F3E765B8-0235-4EC4-B462-AEE30A1F126A}"/>
              </a:ext>
            </a:extLst>
          </p:cNvPr>
          <p:cNvSpPr>
            <a:spLocks xmlns:a="http://schemas.openxmlformats.org/drawingml/2006/main" noGrp="1"/>
          </p:cNvSpPr>
          <p:nvPr/>
        </p:nvSpPr>
        <p:spPr>
          <a:xfrm xmlns:a="http://schemas.openxmlformats.org/drawingml/2006/main">
            <a:off x="609600" y="171450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586C63"/>
                </a:solidFill>
                <a:latin typeface="Arial"/>
                <a:ea typeface="Arial"/>
                <a:cs typeface="Arial"/>
              </a:defRPr>
            </a:pPr>
            <a:r>
              <a:rPr sz="1950" b="0">
                <a:solidFill>
                  <a:srgbClr val="586C63"/>
                </a:solidFill>
                <a:latin typeface="Arial"/>
                <a:ea typeface="Arial"/>
                <a:cs typeface="Arial"/>
              </a:rPr>
              <a:t>21 August: log our time, reflect each week and keep the risk plan up to date.</a:t>
            </a:r>
          </a:p>
        </p:txBody>
      </p:sp>
      <p:sp>
        <p:nvSpPr>
          <p:cNvPr id="12" name="Feedback">
            <a:extLst xmlns:a="http://schemas.openxmlformats.org/drawingml/2006/main">
              <a:ext uri="{FF2B5EF4-FFF2-40B4-BE49-F238E27FC236}">
                <a16:creationId xmlns:a16="http://schemas.microsoft.com/office/drawing/2014/main" id="{CEEA4FD6-AAB1-4774-A0C2-0EDF8C48C9DE}"/>
              </a:ext>
            </a:extLst>
          </p:cNvPr>
          <p:cNvSpPr>
            <a:spLocks xmlns:a="http://schemas.openxmlformats.org/drawingml/2006/main" noGrp="1"/>
          </p:cNvSpPr>
          <p:nvPr/>
        </p:nvSpPr>
        <p:spPr>
          <a:xfrm xmlns:a="http://schemas.openxmlformats.org/drawingml/2006/main">
            <a:off x="609600" y="24193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173B31"/>
                </a:solidFill>
                <a:latin typeface="Arial"/>
                <a:ea typeface="Arial"/>
                <a:cs typeface="Arial"/>
              </a:defRPr>
            </a:pPr>
            <a:r>
              <a:rPr sz="2250" b="1">
                <a:solidFill>
                  <a:srgbClr val="173B31"/>
                </a:solidFill>
                <a:latin typeface="Arial"/>
                <a:ea typeface="Arial"/>
                <a:cs typeface="Arial"/>
              </a:rPr>
              <a:t>1. Write it down</a:t>
            </a:r>
          </a:p>
        </p:txBody>
      </p:sp>
      <p:sp>
        <p:nvSpPr>
          <p:cNvPr id="13" name="Tutor meeting notes">
            <a:extLst xmlns:a="http://schemas.openxmlformats.org/drawingml/2006/main">
              <a:ext uri="{FF2B5EF4-FFF2-40B4-BE49-F238E27FC236}">
                <a16:creationId xmlns:a16="http://schemas.microsoft.com/office/drawing/2014/main" id="{AF88D70D-B55D-4EB1-A8A5-FFEDD5F6A350}"/>
              </a:ext>
            </a:extLst>
          </p:cNvPr>
          <p:cNvSpPr>
            <a:spLocks xmlns:a="http://schemas.openxmlformats.org/drawingml/2006/main" noGrp="1"/>
          </p:cNvSpPr>
          <p:nvPr/>
        </p:nvSpPr>
        <p:spPr>
          <a:xfrm xmlns:a="http://schemas.openxmlformats.org/drawingml/2006/main">
            <a:off x="609600" y="284797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586C63"/>
                </a:solidFill>
                <a:latin typeface="Arial"/>
                <a:ea typeface="Arial"/>
                <a:cs typeface="Arial"/>
              </a:defRPr>
            </a:pPr>
            <a:r>
              <a:rPr sz="1800" b="0">
                <a:solidFill>
                  <a:srgbClr val="586C63"/>
                </a:solidFill>
                <a:latin typeface="Arial"/>
                <a:ea typeface="Arial"/>
                <a:cs typeface="Arial"/>
              </a:rPr>
              <a:t>Tutor meeting notes</a:t>
            </a:r>
          </a:p>
        </p:txBody>
      </p:sp>
      <p:sp>
        <p:nvSpPr>
          <p:cNvPr id="16" name="LEAF-157 · Guochen">
            <a:extLst xmlns:a="http://schemas.openxmlformats.org/drawingml/2006/main">
              <a:ext uri="{FF2B5EF4-FFF2-40B4-BE49-F238E27FC236}">
                <a16:creationId xmlns:a16="http://schemas.microsoft.com/office/drawing/2014/main" id="{57A41F6C-DE8C-4087-A05F-5C986C18E6A8}"/>
              </a:ext>
            </a:extLst>
          </p:cNvPr>
          <p:cNvSpPr>
            <a:spLocks xmlns:a="http://schemas.openxmlformats.org/drawingml/2006/main" noGrp="1"/>
          </p:cNvSpPr>
          <p:nvPr/>
        </p:nvSpPr>
        <p:spPr>
          <a:xfrm xmlns:a="http://schemas.openxmlformats.org/drawingml/2006/main">
            <a:off x="609600" y="34099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173B31"/>
                </a:solidFill>
                <a:latin typeface="Arial"/>
                <a:ea typeface="Arial"/>
                <a:cs typeface="Arial"/>
              </a:defRPr>
            </a:pPr>
            <a:r>
              <a:rPr sz="2250" b="1">
                <a:solidFill>
                  <a:srgbClr val="173B31"/>
                </a:solidFill>
                <a:latin typeface="Arial"/>
                <a:ea typeface="Arial"/>
                <a:cs typeface="Arial"/>
              </a:rPr>
              <a:t>2. Assign a task</a:t>
            </a:r>
          </a:p>
        </p:txBody>
      </p:sp>
      <p:sp>
        <p:nvSpPr>
          <p:cNvPr id="19" name="Linked documents">
            <a:extLst xmlns:a="http://schemas.openxmlformats.org/drawingml/2006/main">
              <a:ext uri="{FF2B5EF4-FFF2-40B4-BE49-F238E27FC236}">
                <a16:creationId xmlns:a16="http://schemas.microsoft.com/office/drawing/2014/main" id="{8D88BAA2-0CC1-4F60-8228-EA0BB6474404}"/>
              </a:ext>
            </a:extLst>
          </p:cNvPr>
          <p:cNvSpPr>
            <a:spLocks xmlns:a="http://schemas.openxmlformats.org/drawingml/2006/main" noGrp="1"/>
          </p:cNvSpPr>
          <p:nvPr/>
        </p:nvSpPr>
        <p:spPr>
          <a:xfrm xmlns:a="http://schemas.openxmlformats.org/drawingml/2006/main">
            <a:off x="609600" y="383857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586C63"/>
                </a:solidFill>
                <a:latin typeface="Arial"/>
                <a:ea typeface="Arial"/>
                <a:cs typeface="Arial"/>
              </a:defRPr>
            </a:pPr>
            <a:r>
              <a:rPr sz="1800" b="0">
                <a:solidFill>
                  <a:srgbClr val="586C63"/>
                </a:solidFill>
                <a:latin typeface="Arial"/>
                <a:ea typeface="Arial"/>
                <a:cs typeface="Arial"/>
                <a:hlinkClick xmlns:r="http://schemas.openxmlformats.org/officeDocument/2006/relationships" r:id="R7c43579cae4b43a3"/>
              </a:rPr>
              <a:t>LEAF-157</a:t>
            </a:r>
            <a:r>
              <a:rPr sz="1800" b="0">
                <a:solidFill>
                  <a:srgbClr val="586C63"/>
                </a:solidFill>
                <a:latin typeface="Arial"/>
                <a:ea typeface="Arial"/>
                <a:cs typeface="Arial"/>
              </a:rPr>
              <a:t> · Guochen</a:t>
            </a:r>
          </a:p>
        </p:txBody>
      </p:sp>
      <p:sp>
        <p:nvSpPr>
          <p:cNvPr id="21" name="Report back">
            <a:extLst xmlns:a="http://schemas.openxmlformats.org/drawingml/2006/main">
              <a:ext uri="{FF2B5EF4-FFF2-40B4-BE49-F238E27FC236}">
                <a16:creationId xmlns:a16="http://schemas.microsoft.com/office/drawing/2014/main" id="{C8AA44DF-6AEA-4577-8E1D-2E7363A3F612}"/>
              </a:ext>
            </a:extLst>
          </p:cNvPr>
          <p:cNvSpPr>
            <a:spLocks xmlns:a="http://schemas.openxmlformats.org/drawingml/2006/main" noGrp="1"/>
          </p:cNvSpPr>
          <p:nvPr/>
        </p:nvSpPr>
        <p:spPr>
          <a:xfrm xmlns:a="http://schemas.openxmlformats.org/drawingml/2006/main">
            <a:off x="609600" y="44005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173B31"/>
                </a:solidFill>
                <a:latin typeface="Arial"/>
                <a:ea typeface="Arial"/>
                <a:cs typeface="Arial"/>
              </a:defRPr>
            </a:pPr>
            <a:r>
              <a:rPr sz="2250" b="1">
                <a:solidFill>
                  <a:srgbClr val="173B31"/>
                </a:solidFill>
                <a:latin typeface="Arial"/>
                <a:ea typeface="Arial"/>
                <a:cs typeface="Arial"/>
              </a:rPr>
              <a:t>3. Report progress</a:t>
            </a:r>
          </a:p>
        </p:txBody>
      </p:sp>
      <p:sp>
        <p:nvSpPr>
          <p:cNvPr id="22" name="Week 5 tutor report">
            <a:extLst xmlns:a="http://schemas.openxmlformats.org/drawingml/2006/main">
              <a:ext uri="{FF2B5EF4-FFF2-40B4-BE49-F238E27FC236}">
                <a16:creationId xmlns:a16="http://schemas.microsoft.com/office/drawing/2014/main" id="{B9BE389C-9B08-4319-84A4-BF1E8D9059A3}"/>
              </a:ext>
            </a:extLst>
          </p:cNvPr>
          <p:cNvSpPr>
            <a:spLocks xmlns:a="http://schemas.openxmlformats.org/drawingml/2006/main" noGrp="1"/>
          </p:cNvSpPr>
          <p:nvPr/>
        </p:nvSpPr>
        <p:spPr>
          <a:xfrm xmlns:a="http://schemas.openxmlformats.org/drawingml/2006/main">
            <a:off x="609600" y="4829175"/>
            <a:ext cx="333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586C63"/>
                </a:solidFill>
                <a:latin typeface="Arial"/>
                <a:ea typeface="Arial"/>
                <a:cs typeface="Arial"/>
              </a:defRPr>
            </a:pPr>
            <a:r>
              <a:rPr sz="1800" b="0">
                <a:solidFill>
                  <a:srgbClr val="586C63"/>
                </a:solidFill>
                <a:latin typeface="Arial"/>
                <a:ea typeface="Arial"/>
                <a:cs typeface="Arial"/>
              </a:rPr>
              <a:t>Week 5 report + linked documents</a:t>
            </a:r>
          </a:p>
        </p:txBody>
      </p:sp>
      <p:sp>
        <p:nvSpPr>
          <p:cNvPr id="26" name="Impact: the tutor can follow an action to its">
            <a:extLst xmlns:a="http://schemas.openxmlformats.org/drawingml/2006/main">
              <a:ext uri="{FF2B5EF4-FFF2-40B4-BE49-F238E27FC236}">
                <a16:creationId xmlns:a16="http://schemas.microsoft.com/office/drawing/2014/main" id="{63C4556A-9388-475A-BC13-5151D2CCE6BD}"/>
              </a:ext>
            </a:extLst>
          </p:cNvPr>
          <p:cNvSpPr>
            <a:spLocks xmlns:a="http://schemas.openxmlformats.org/drawingml/2006/main" noGrp="1"/>
          </p:cNvSpPr>
          <p:nvPr/>
        </p:nvSpPr>
        <p:spPr>
          <a:xfrm xmlns:a="http://schemas.openxmlformats.org/drawingml/2006/main">
            <a:off x="609600" y="58007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287553"/>
                </a:solidFill>
                <a:latin typeface="Arial"/>
                <a:ea typeface="Arial"/>
                <a:cs typeface="Arial"/>
              </a:defRPr>
            </a:pPr>
            <a:r>
              <a:rPr sz="1800" b="1">
                <a:solidFill>
                  <a:srgbClr val="287553"/>
                </a:solidFill>
                <a:latin typeface="Arial"/>
                <a:ea typeface="Arial"/>
                <a:cs typeface="Arial"/>
              </a:rPr>
              <a:t>The checklist keeps our project documents and review tasks in one place.</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6164f40e294041e3"/>
          <a:stretch xmlns:a="http://schemas.openxmlformats.org/drawingml/2006/main"/>
        </p:blipFill>
        <p:spPr>
          <a:xfrm xmlns:a="http://schemas.openxmlformats.org/drawingml/2006/main">
            <a:off x="4438650" y="2305050"/>
            <a:ext cx="6934200" cy="3333750"/>
          </a:xfrm>
          <a:prstGeom xmlns:a="http://schemas.openxmlformats.org/drawingml/2006/main" prst="rect">
            <a:avLst/>
          </a:prstGeom>
        </p:spPr>
      </p:pic>
    </p:spTree>
    <p:extLst>
      <p:ext uri="{BB962C8B-B14F-4D97-AF65-F5344CB8AC3E}">
        <p14:creationId xmlns:p14="http://schemas.microsoft.com/office/powerpoint/2010/main" val="1406063070"/>
      </p:ext>
    </p:extLst>
  </p:cSld>
</p:sld>
</file>

<file path=ppt/slides/slide6.xml><?xml version="1.0" encoding="utf-8"?>
<p:sld xmlns:p="http://schemas.openxmlformats.org/presentationml/2006/main">
  <p:cSld>
    <p:bg>
      <p:bgPr>
        <a:solidFill xmlns:a="http://schemas.openxmlformats.org/drawingml/2006/main">
          <a:srgbClr val="F4F5F0"/>
        </a:solidFill>
      </p:bgPr>
    </p:bg>
    <p:spTree>
      <p:nvGrpSpPr>
        <p:cNvPr id="1" name=""/>
        <p:cNvGrpSpPr/>
        <p:nvPr/>
      </p:nvGrpSpPr>
      <p:grpSpPr>
        <a:xfrm xmlns:a="http://schemas.openxmlformats.org/drawingml/2006/main"/>
      </p:grpSpPr>
      <p:sp>
        <p:nvSpPr>
          <p:cNvPr id="23" name="PLANNING AND ORGANISATION">
            <a:extLst xmlns:a="http://schemas.openxmlformats.org/drawingml/2006/main">
              <a:ext uri="{FF2B5EF4-FFF2-40B4-BE49-F238E27FC236}">
                <a16:creationId xmlns:a16="http://schemas.microsoft.com/office/drawing/2014/main" id="{63BD5CF1-58BA-469E-AB2B-18B8080251D5}"/>
              </a:ext>
            </a:extLst>
          </p:cNvPr>
          <p:cNvSpPr>
            <a:spLocks xmlns:a="http://schemas.openxmlformats.org/drawingml/2006/main" noGrp="1"/>
          </p:cNvSpPr>
          <p:nvPr/>
        </p:nvSpPr>
        <p:spPr>
          <a:xfrm xmlns:a="http://schemas.openxmlformats.org/drawingml/2006/main">
            <a:off x="609600" y="4000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1">
                <a:solidFill>
                  <a:srgbClr val="287553"/>
                </a:solidFill>
                <a:latin typeface="Arial"/>
                <a:ea typeface="Arial"/>
                <a:cs typeface="Arial"/>
              </a:defRPr>
            </a:pPr>
            <a:r>
              <a:rPr sz="1500" b="1">
                <a:solidFill>
                  <a:srgbClr val="287553"/>
                </a:solidFill>
                <a:latin typeface="Arial"/>
                <a:ea typeface="Arial"/>
                <a:cs typeface="Arial"/>
              </a:rPr>
              <a:t>PLANNING AND ORGANISATION</a:t>
            </a:r>
          </a:p>
        </p:txBody>
      </p:sp>
      <p:sp>
        <p:nvSpPr>
          <p:cNvPr id="2" name="Owners and hand-offs are more visible">
            <a:extLst xmlns:a="http://schemas.openxmlformats.org/drawingml/2006/main">
              <a:ext uri="{FF2B5EF4-FFF2-40B4-BE49-F238E27FC236}">
                <a16:creationId xmlns:a16="http://schemas.microsoft.com/office/drawing/2014/main" id="{8CB87128-2A15-49D5-99E6-D84D98C887A2}"/>
              </a:ext>
            </a:extLst>
          </p:cNvPr>
          <p:cNvSpPr>
            <a:spLocks xmlns:a="http://schemas.openxmlformats.org/drawingml/2006/main" noGrp="1"/>
          </p:cNvSpPr>
          <p:nvPr/>
        </p:nvSpPr>
        <p:spPr>
          <a:xfrm xmlns:a="http://schemas.openxmlformats.org/drawingml/2006/main">
            <a:off x="609600" y="86677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600" b="1">
                <a:solidFill>
                  <a:srgbClr val="173B31"/>
                </a:solidFill>
                <a:latin typeface="Arial"/>
                <a:ea typeface="Arial"/>
                <a:cs typeface="Arial"/>
              </a:defRPr>
            </a:pPr>
            <a:r>
              <a:rPr sz="3600" b="1">
                <a:solidFill>
                  <a:srgbClr val="173B31"/>
                </a:solidFill>
                <a:latin typeface="Arial"/>
                <a:ea typeface="Arial"/>
                <a:cs typeface="Arial"/>
              </a:rPr>
              <a:t>Everyone had clear tasks</a:t>
            </a:r>
          </a:p>
        </p:txBody>
      </p:sp>
      <p:sp>
        <p:nvSpPr>
          <p:cNvPr id="3" name="直线连接符 2">
            <a:extLst xmlns:a="http://schemas.openxmlformats.org/drawingml/2006/main">
              <a:ext uri="{FF2B5EF4-FFF2-40B4-BE49-F238E27FC236}">
                <a16:creationId xmlns:a16="http://schemas.microsoft.com/office/drawing/2014/main" id="{5B20C7CD-0921-42F5-833F-C6E3746489C4}"/>
              </a:ext>
            </a:extLst>
          </p:cNvPr>
          <p:cNvSpPr>
            <a:spLocks xmlns:a="http://schemas.openxmlformats.org/drawingml/2006/main" noGrp="1"/>
          </p:cNvSpPr>
          <p:nvPr/>
        </p:nvSpPr>
        <p:spPr>
          <a:xfrm xmlns:a="http://schemas.openxmlformats.org/drawingml/2006/main">
            <a:off x="609600" y="6238875"/>
            <a:ext cx="10972800" cy="0"/>
          </a:xfrm>
          <a:prstGeom xmlns:a="http://schemas.openxmlformats.org/drawingml/2006/main" prst="line">
            <a:avLst/>
          </a:prstGeom>
          <a:noFill xmlns:a="http://schemas.openxmlformats.org/drawingml/2006/main"/>
          <a:ln xmlns:a="http://schemas.openxmlformats.org/drawingml/2006/main" w="14288">
            <a:solidFill>
              <a:srgbClr val="C8D4CB"/>
            </a:solidFill>
          </a:ln>
        </p:spPr>
      </p:sp>
      <p:sp>
        <p:nvSpPr>
          <p:cNvPr id="4" name="LEAF ANALYZER  /  SPRINT 5">
            <a:extLst xmlns:a="http://schemas.openxmlformats.org/drawingml/2006/main">
              <a:ext uri="{FF2B5EF4-FFF2-40B4-BE49-F238E27FC236}">
                <a16:creationId xmlns:a16="http://schemas.microsoft.com/office/drawing/2014/main" id="{4FCD960D-8F0A-41F8-A3AC-B387CCF3BD08}"/>
              </a:ext>
            </a:extLst>
          </p:cNvPr>
          <p:cNvSpPr>
            <a:spLocks xmlns:a="http://schemas.openxmlformats.org/drawingml/2006/main" noGrp="1"/>
          </p:cNvSpPr>
          <p:nvPr/>
        </p:nvSpPr>
        <p:spPr>
          <a:xfrm xmlns:a="http://schemas.openxmlformats.org/drawingml/2006/main">
            <a:off x="609600" y="6410325"/>
            <a:ext cx="323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586C63"/>
                </a:solidFill>
                <a:latin typeface="Arial"/>
                <a:ea typeface="Arial"/>
                <a:cs typeface="Arial"/>
              </a:defRPr>
            </a:pPr>
            <a:r>
              <a:rPr sz="1350" b="0">
                <a:solidFill>
                  <a:srgbClr val="586C63"/>
                </a:solidFill>
                <a:latin typeface="Arial"/>
                <a:ea typeface="Arial"/>
                <a:cs typeface="Arial"/>
              </a:rPr>
              <a:t>LEAF ANALYZER  /  SPRINT 5</a:t>
            </a:r>
          </a:p>
        </p:txBody>
      </p:sp>
      <p:sp>
        <p:nvSpPr>
          <p:cNvPr id="5" name="Jira assignments • Week 4/5 reflections • PRs">
            <a:extLst xmlns:a="http://schemas.openxmlformats.org/drawingml/2006/main">
              <a:ext uri="{FF2B5EF4-FFF2-40B4-BE49-F238E27FC236}">
                <a16:creationId xmlns:a16="http://schemas.microsoft.com/office/drawing/2014/main" id="{1B2C09B2-AF81-4089-8ECF-A5F8DDE99363}"/>
              </a:ext>
            </a:extLst>
          </p:cNvPr>
          <p:cNvSpPr>
            <a:spLocks xmlns:a="http://schemas.openxmlformats.org/drawingml/2006/main" noGrp="1"/>
          </p:cNvSpPr>
          <p:nvPr/>
        </p:nvSpPr>
        <p:spPr>
          <a:xfrm xmlns:a="http://schemas.openxmlformats.org/drawingml/2006/main">
            <a:off x="3952875" y="6305550"/>
            <a:ext cx="708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200">
                <a:solidFill>
                  <a:srgbClr val="287553"/>
                </a:solidFill>
                <a:latin typeface="Arial"/>
                <a:ea typeface="Arial"/>
                <a:cs typeface="Arial"/>
              </a:defRPr>
            </a:pPr>
            <a:r>
              <a:rPr sz="1200">
                <a:solidFill>
                  <a:srgbClr val="287553"/>
                </a:solidFill>
                <a:latin typeface="Arial"/>
                <a:ea typeface="Arial"/>
                <a:cs typeface="Arial"/>
              </a:rPr>
              <a:t>Sources: </a:t>
            </a:r>
            <a:r>
              <a:rPr sz="1200" u="sng">
                <a:solidFill>
                  <a:srgbClr val="287553"/>
                </a:solidFill>
                <a:latin typeface="Arial"/>
                <a:ea typeface="Arial"/>
                <a:cs typeface="Arial"/>
                <a:hlinkClick xmlns:r="http://schemas.openxmlformats.org/officeDocument/2006/relationships" r:id="Rb31fd9b7c913475e"/>
              </a:rPr>
              <a:t>Backlog</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54983aee824e4874"/>
              </a:rPr>
              <a:t>Week 4 reflection</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53c39aa51d384350"/>
              </a:rPr>
              <a:t>Week 5 reflection</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66e53f2710bb4379"/>
              </a:rPr>
              <a:t>LEAF-150</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6353a070a451417e"/>
              </a:rPr>
              <a:t>PR #28</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513e66a4bbba482b"/>
              </a:rPr>
              <a:t>PR #29</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372c82618b10493b"/>
              </a:rPr>
              <a:t>PR #36</a:t>
            </a:r>
          </a:p>
        </p:txBody>
      </p:sp>
      <p:sp>
        <p:nvSpPr>
          <p:cNvPr id="6" name="06">
            <a:extLst xmlns:a="http://schemas.openxmlformats.org/drawingml/2006/main">
              <a:ext uri="{FF2B5EF4-FFF2-40B4-BE49-F238E27FC236}">
                <a16:creationId xmlns:a16="http://schemas.microsoft.com/office/drawing/2014/main" id="{8142C773-B680-4BFF-9E4A-F93E263D6D89}"/>
              </a:ext>
            </a:extLst>
          </p:cNvPr>
          <p:cNvSpPr>
            <a:spLocks xmlns:a="http://schemas.openxmlformats.org/drawingml/2006/main" noGrp="1"/>
          </p:cNvSpPr>
          <p:nvPr/>
        </p:nvSpPr>
        <p:spPr>
          <a:xfrm xmlns:a="http://schemas.openxmlformats.org/drawingml/2006/main">
            <a:off x="11239500" y="63817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586C63"/>
                </a:solidFill>
                <a:latin typeface="Arial"/>
                <a:ea typeface="Arial"/>
                <a:cs typeface="Arial"/>
              </a:defRPr>
            </a:pPr>
            <a:r>
              <a:rPr sz="1575" b="0">
                <a:solidFill>
                  <a:srgbClr val="586C63"/>
                </a:solidFill>
                <a:latin typeface="Arial"/>
                <a:ea typeface="Arial"/>
                <a:cs typeface="Arial"/>
              </a:rPr>
              <a:t>06</a:t>
            </a:r>
          </a:p>
        </p:txBody>
      </p:sp>
      <p:sp>
        <p:nvSpPr>
          <p:cNvPr id="7" name="Ryan">
            <a:extLst xmlns:a="http://schemas.openxmlformats.org/drawingml/2006/main">
              <a:ext uri="{FF2B5EF4-FFF2-40B4-BE49-F238E27FC236}">
                <a16:creationId xmlns:a16="http://schemas.microsoft.com/office/drawing/2014/main" id="{2ED79CCA-D502-447C-9F73-20D8BDEF3DBF}"/>
              </a:ext>
            </a:extLst>
          </p:cNvPr>
          <p:cNvSpPr>
            <a:spLocks xmlns:a="http://schemas.openxmlformats.org/drawingml/2006/main" noGrp="1"/>
          </p:cNvSpPr>
          <p:nvPr/>
        </p:nvSpPr>
        <p:spPr>
          <a:xfrm xmlns:a="http://schemas.openxmlformats.org/drawingml/2006/main">
            <a:off x="609600" y="1819275"/>
            <a:ext cx="2524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173B31"/>
                </a:solidFill>
                <a:latin typeface="Arial"/>
                <a:ea typeface="Arial"/>
                <a:cs typeface="Arial"/>
              </a:defRPr>
            </a:pPr>
            <a:r>
              <a:rPr sz="2550" b="1">
                <a:solidFill>
                  <a:srgbClr val="173B31"/>
                </a:solidFill>
                <a:latin typeface="Arial"/>
                <a:ea typeface="Arial"/>
                <a:cs typeface="Arial"/>
              </a:rPr>
              <a:t>Ryan</a:t>
            </a:r>
          </a:p>
        </p:txBody>
      </p:sp>
      <p:sp>
        <p:nvSpPr>
          <p:cNvPr id="8" name="UI, Hypercube, crop fixes&#10;and shared SR.">
            <a:extLst xmlns:a="http://schemas.openxmlformats.org/drawingml/2006/main">
              <a:ext uri="{FF2B5EF4-FFF2-40B4-BE49-F238E27FC236}">
                <a16:creationId xmlns:a16="http://schemas.microsoft.com/office/drawing/2014/main" id="{1F82EC45-1120-40D9-83E5-7FD6CAC46240}"/>
              </a:ext>
            </a:extLst>
          </p:cNvPr>
          <p:cNvSpPr>
            <a:spLocks xmlns:a="http://schemas.openxmlformats.org/drawingml/2006/main" noGrp="1"/>
          </p:cNvSpPr>
          <p:nvPr/>
        </p:nvSpPr>
        <p:spPr>
          <a:xfrm xmlns:a="http://schemas.openxmlformats.org/drawingml/2006/main">
            <a:off x="609600" y="2400300"/>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86C63"/>
                </a:solidFill>
                <a:latin typeface="Arial"/>
                <a:ea typeface="Arial"/>
                <a:cs typeface="Arial"/>
              </a:defRPr>
            </a:pPr>
            <a:r>
              <a:rPr sz="1725" b="0">
                <a:solidFill>
                  <a:srgbClr val="586C63"/>
                </a:solidFill>
                <a:latin typeface="Arial"/>
                <a:ea typeface="Arial"/>
                <a:cs typeface="Arial"/>
              </a:rPr>
              <a:t>UI, Hypercube, crop fixes</a:t>
            </a:r>
          </a:p>
          <a:p xmlns:a="http://schemas.openxmlformats.org/drawingml/2006/main">
            <a:pPr algn="l">
              <a:buNone/>
              <a:defRPr sz="1725" b="0">
                <a:solidFill>
                  <a:srgbClr val="586C63"/>
                </a:solidFill>
                <a:latin typeface="Arial"/>
                <a:ea typeface="Arial"/>
                <a:cs typeface="Arial"/>
              </a:defRPr>
            </a:pPr>
            <a:r>
              <a:rPr sz="1725" b="0">
                <a:solidFill>
                  <a:srgbClr val="586C63"/>
                </a:solidFill>
                <a:latin typeface="Arial"/>
                <a:ea typeface="Arial"/>
                <a:cs typeface="Arial"/>
              </a:rPr>
              <a:t>and shared SR results.</a:t>
            </a:r>
          </a:p>
        </p:txBody>
      </p:sp>
      <p:sp>
        <p:nvSpPr>
          <p:cNvPr id="9" name="LEAF-146–148, 150&#10;LEAF-153–156, 158">
            <a:extLst xmlns:a="http://schemas.openxmlformats.org/drawingml/2006/main">
              <a:ext uri="{FF2B5EF4-FFF2-40B4-BE49-F238E27FC236}">
                <a16:creationId xmlns:a16="http://schemas.microsoft.com/office/drawing/2014/main" id="{4F92FEAD-6D32-4F86-8DE0-B05B4D3D335A}"/>
              </a:ext>
            </a:extLst>
          </p:cNvPr>
          <p:cNvSpPr>
            <a:spLocks xmlns:a="http://schemas.openxmlformats.org/drawingml/2006/main" noGrp="1"/>
          </p:cNvSpPr>
          <p:nvPr/>
        </p:nvSpPr>
        <p:spPr>
          <a:xfrm xmlns:a="http://schemas.openxmlformats.org/drawingml/2006/main">
            <a:off x="609600" y="3390900"/>
            <a:ext cx="2571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287553"/>
                </a:solidFill>
                <a:latin typeface="Arial"/>
                <a:ea typeface="Arial"/>
                <a:cs typeface="Arial"/>
              </a:defRPr>
            </a:pPr>
            <a:r>
              <a:rPr sz="1575" b="0">
                <a:solidFill>
                  <a:srgbClr val="287553"/>
                </a:solidFill>
                <a:latin typeface="Arial"/>
                <a:ea typeface="Arial"/>
                <a:cs typeface="Arial"/>
                <a:hlinkClick xmlns:r="http://schemas.openxmlformats.org/officeDocument/2006/relationships" r:id="Re77ed44815df4c2d"/>
              </a:rPr>
              <a:t>LEAF-146</a:t>
            </a:r>
            <a:r>
              <a:rPr sz="1575" b="0">
                <a:solidFill>
                  <a:srgbClr val="287553"/>
                </a:solidFill>
                <a:latin typeface="Arial"/>
                <a:ea typeface="Arial"/>
                <a:cs typeface="Arial"/>
              </a:rPr>
              <a:t>–148, 150</a:t>
            </a:r>
          </a:p>
          <a:p xmlns:a="http://schemas.openxmlformats.org/drawingml/2006/main">
            <a:pPr algn="l">
              <a:buNone/>
              <a:defRPr sz="1575" b="0">
                <a:solidFill>
                  <a:srgbClr val="287553"/>
                </a:solidFill>
                <a:latin typeface="Arial"/>
                <a:ea typeface="Arial"/>
                <a:cs typeface="Arial"/>
              </a:defRPr>
            </a:pPr>
            <a:r>
              <a:rPr sz="1575" b="0">
                <a:solidFill>
                  <a:srgbClr val="287553"/>
                </a:solidFill>
                <a:latin typeface="Arial"/>
                <a:ea typeface="Arial"/>
                <a:cs typeface="Arial"/>
                <a:hlinkClick xmlns:r="http://schemas.openxmlformats.org/officeDocument/2006/relationships" r:id="R49a1b6437e7d4378"/>
              </a:rPr>
              <a:t>LEAF-153</a:t>
            </a:r>
            <a:r>
              <a:rPr sz="1575" b="0">
                <a:solidFill>
                  <a:srgbClr val="287553"/>
                </a:solidFill>
                <a:latin typeface="Arial"/>
                <a:ea typeface="Arial"/>
                <a:cs typeface="Arial"/>
              </a:rPr>
              <a:t>–156, 158</a:t>
            </a:r>
          </a:p>
        </p:txBody>
      </p:sp>
      <p:sp>
        <p:nvSpPr>
          <p:cNvPr id="10" name="Guochen">
            <a:extLst xmlns:a="http://schemas.openxmlformats.org/drawingml/2006/main">
              <a:ext uri="{FF2B5EF4-FFF2-40B4-BE49-F238E27FC236}">
                <a16:creationId xmlns:a16="http://schemas.microsoft.com/office/drawing/2014/main" id="{6D596703-69D2-4BD1-941E-7225E4B4C42A}"/>
              </a:ext>
            </a:extLst>
          </p:cNvPr>
          <p:cNvSpPr>
            <a:spLocks xmlns:a="http://schemas.openxmlformats.org/drawingml/2006/main" noGrp="1"/>
          </p:cNvSpPr>
          <p:nvPr/>
        </p:nvSpPr>
        <p:spPr>
          <a:xfrm xmlns:a="http://schemas.openxmlformats.org/drawingml/2006/main">
            <a:off x="3400425" y="1819275"/>
            <a:ext cx="2524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173B31"/>
                </a:solidFill>
                <a:latin typeface="Arial"/>
                <a:ea typeface="Arial"/>
                <a:cs typeface="Arial"/>
              </a:defRPr>
            </a:pPr>
            <a:r>
              <a:rPr sz="2550" b="1">
                <a:solidFill>
                  <a:srgbClr val="173B31"/>
                </a:solidFill>
                <a:latin typeface="Arial"/>
                <a:ea typeface="Arial"/>
                <a:cs typeface="Arial"/>
              </a:rPr>
              <a:t>Guochen</a:t>
            </a:r>
          </a:p>
        </p:txBody>
      </p:sp>
      <p:sp>
        <p:nvSpPr>
          <p:cNvPr id="11" name="SR integration, UI polish&#10;and project reporti">
            <a:extLst xmlns:a="http://schemas.openxmlformats.org/drawingml/2006/main">
              <a:ext uri="{FF2B5EF4-FFF2-40B4-BE49-F238E27FC236}">
                <a16:creationId xmlns:a16="http://schemas.microsoft.com/office/drawing/2014/main" id="{D36D158A-3AA2-4799-8A3B-2E7D350CAAC8}"/>
              </a:ext>
            </a:extLst>
          </p:cNvPr>
          <p:cNvSpPr>
            <a:spLocks xmlns:a="http://schemas.openxmlformats.org/drawingml/2006/main" noGrp="1"/>
          </p:cNvSpPr>
          <p:nvPr/>
        </p:nvSpPr>
        <p:spPr>
          <a:xfrm xmlns:a="http://schemas.openxmlformats.org/drawingml/2006/main">
            <a:off x="3400425" y="2400300"/>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86C63"/>
                </a:solidFill>
                <a:latin typeface="Arial"/>
                <a:ea typeface="Arial"/>
                <a:cs typeface="Arial"/>
              </a:defRPr>
            </a:pPr>
            <a:r>
              <a:rPr sz="1725" b="0">
                <a:solidFill>
                  <a:srgbClr val="586C63"/>
                </a:solidFill>
                <a:latin typeface="Arial"/>
                <a:ea typeface="Arial"/>
                <a:cs typeface="Arial"/>
              </a:rPr>
              <a:t>SR, UI changes</a:t>
            </a:r>
          </a:p>
          <a:p xmlns:a="http://schemas.openxmlformats.org/drawingml/2006/main">
            <a:pPr algn="l">
              <a:buNone/>
              <a:defRPr sz="1725" b="0">
                <a:solidFill>
                  <a:srgbClr val="586C63"/>
                </a:solidFill>
                <a:latin typeface="Arial"/>
                <a:ea typeface="Arial"/>
                <a:cs typeface="Arial"/>
              </a:defRPr>
            </a:pPr>
            <a:r>
              <a:rPr sz="1725" b="0">
                <a:solidFill>
                  <a:srgbClr val="586C63"/>
                </a:solidFill>
                <a:latin typeface="Arial"/>
                <a:ea typeface="Arial"/>
                <a:cs typeface="Arial"/>
              </a:rPr>
              <a:t>and project reports.</a:t>
            </a:r>
          </a:p>
        </p:txBody>
      </p:sp>
      <p:sp>
        <p:nvSpPr>
          <p:cNvPr id="12" name="LEAF-149, 152, 157">
            <a:extLst xmlns:a="http://schemas.openxmlformats.org/drawingml/2006/main">
              <a:ext uri="{FF2B5EF4-FFF2-40B4-BE49-F238E27FC236}">
                <a16:creationId xmlns:a16="http://schemas.microsoft.com/office/drawing/2014/main" id="{5D5F8E27-D450-49BC-B839-E2F24E28D4A4}"/>
              </a:ext>
            </a:extLst>
          </p:cNvPr>
          <p:cNvSpPr>
            <a:spLocks xmlns:a="http://schemas.openxmlformats.org/drawingml/2006/main" noGrp="1"/>
          </p:cNvSpPr>
          <p:nvPr/>
        </p:nvSpPr>
        <p:spPr>
          <a:xfrm xmlns:a="http://schemas.openxmlformats.org/drawingml/2006/main">
            <a:off x="3400425" y="3390900"/>
            <a:ext cx="2571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287553"/>
                </a:solidFill>
                <a:latin typeface="Arial"/>
                <a:ea typeface="Arial"/>
                <a:cs typeface="Arial"/>
              </a:defRPr>
            </a:pPr>
            <a:r>
              <a:rPr sz="1575" b="0">
                <a:solidFill>
                  <a:srgbClr val="287553"/>
                </a:solidFill>
                <a:latin typeface="Arial"/>
                <a:ea typeface="Arial"/>
                <a:cs typeface="Arial"/>
                <a:hlinkClick xmlns:r="http://schemas.openxmlformats.org/officeDocument/2006/relationships" r:id="Recaab1d474684bc5"/>
              </a:rPr>
              <a:t>LEAF-149</a:t>
            </a:r>
            <a:r>
              <a:rPr sz="1575" b="0">
                <a:solidFill>
                  <a:srgbClr val="287553"/>
                </a:solidFill>
                <a:latin typeface="Arial"/>
                <a:ea typeface="Arial"/>
                <a:cs typeface="Arial"/>
              </a:rPr>
              <a:t>, 152, 157</a:t>
            </a:r>
          </a:p>
        </p:txBody>
      </p:sp>
      <p:sp>
        <p:nvSpPr>
          <p:cNvPr id="13" name="Jingyi">
            <a:extLst xmlns:a="http://schemas.openxmlformats.org/drawingml/2006/main">
              <a:ext uri="{FF2B5EF4-FFF2-40B4-BE49-F238E27FC236}">
                <a16:creationId xmlns:a16="http://schemas.microsoft.com/office/drawing/2014/main" id="{483E10F5-6F95-4EC1-B1DF-C3EA349895AF}"/>
              </a:ext>
            </a:extLst>
          </p:cNvPr>
          <p:cNvSpPr>
            <a:spLocks xmlns:a="http://schemas.openxmlformats.org/drawingml/2006/main" noGrp="1"/>
          </p:cNvSpPr>
          <p:nvPr/>
        </p:nvSpPr>
        <p:spPr>
          <a:xfrm xmlns:a="http://schemas.openxmlformats.org/drawingml/2006/main">
            <a:off x="6191250" y="1819275"/>
            <a:ext cx="2524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173B31"/>
                </a:solidFill>
                <a:latin typeface="Arial"/>
                <a:ea typeface="Arial"/>
                <a:cs typeface="Arial"/>
              </a:defRPr>
            </a:pPr>
            <a:r>
              <a:rPr sz="2550" b="1">
                <a:solidFill>
                  <a:srgbClr val="173B31"/>
                </a:solidFill>
                <a:latin typeface="Arial"/>
                <a:ea typeface="Arial"/>
                <a:cs typeface="Arial"/>
              </a:rPr>
              <a:t>Jingyi</a:t>
            </a:r>
          </a:p>
        </p:txBody>
      </p:sp>
      <p:sp>
        <p:nvSpPr>
          <p:cNvPr id="14" name="Visualization models and&#10;supervised classific">
            <a:extLst xmlns:a="http://schemas.openxmlformats.org/drawingml/2006/main">
              <a:ext uri="{FF2B5EF4-FFF2-40B4-BE49-F238E27FC236}">
                <a16:creationId xmlns:a16="http://schemas.microsoft.com/office/drawing/2014/main" id="{B77B18C1-9262-4C7C-A95B-BFD8A5967EAF}"/>
              </a:ext>
            </a:extLst>
          </p:cNvPr>
          <p:cNvSpPr>
            <a:spLocks xmlns:a="http://schemas.openxmlformats.org/drawingml/2006/main" noGrp="1"/>
          </p:cNvSpPr>
          <p:nvPr/>
        </p:nvSpPr>
        <p:spPr>
          <a:xfrm xmlns:a="http://schemas.openxmlformats.org/drawingml/2006/main">
            <a:off x="6191250" y="2400300"/>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86C63"/>
                </a:solidFill>
                <a:latin typeface="Arial"/>
                <a:ea typeface="Arial"/>
                <a:cs typeface="Arial"/>
              </a:defRPr>
            </a:pPr>
            <a:r>
              <a:rPr sz="1725" b="0">
                <a:solidFill>
                  <a:srgbClr val="586C63"/>
                </a:solidFill>
                <a:latin typeface="Arial"/>
                <a:ea typeface="Arial"/>
                <a:cs typeface="Arial"/>
              </a:rPr>
              <a:t>Image display models</a:t>
            </a:r>
          </a:p>
          <a:p xmlns:a="http://schemas.openxmlformats.org/drawingml/2006/main">
            <a:pPr algn="l">
              <a:buNone/>
              <a:defRPr sz="1725" b="0">
                <a:solidFill>
                  <a:srgbClr val="586C63"/>
                </a:solidFill>
                <a:latin typeface="Arial"/>
                <a:ea typeface="Arial"/>
                <a:cs typeface="Arial"/>
              </a:defRPr>
            </a:pPr>
            <a:r>
              <a:rPr sz="1725" b="0">
                <a:solidFill>
                  <a:srgbClr val="586C63"/>
                </a:solidFill>
                <a:latin typeface="Arial"/>
                <a:ea typeface="Arial"/>
                <a:cs typeface="Arial"/>
              </a:rPr>
              <a:t>and supervised classification.</a:t>
            </a:r>
          </a:p>
        </p:txBody>
      </p:sp>
      <p:sp>
        <p:nvSpPr>
          <p:cNvPr id="15" name="LEAF-125–131&#10;LEAF-160–162, 164">
            <a:extLst xmlns:a="http://schemas.openxmlformats.org/drawingml/2006/main">
              <a:ext uri="{FF2B5EF4-FFF2-40B4-BE49-F238E27FC236}">
                <a16:creationId xmlns:a16="http://schemas.microsoft.com/office/drawing/2014/main" id="{B06C6CAA-F4AE-41FA-AE24-E54E651C43BA}"/>
              </a:ext>
            </a:extLst>
          </p:cNvPr>
          <p:cNvSpPr>
            <a:spLocks xmlns:a="http://schemas.openxmlformats.org/drawingml/2006/main" noGrp="1"/>
          </p:cNvSpPr>
          <p:nvPr/>
        </p:nvSpPr>
        <p:spPr>
          <a:xfrm xmlns:a="http://schemas.openxmlformats.org/drawingml/2006/main">
            <a:off x="6191250" y="3390900"/>
            <a:ext cx="2571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287553"/>
                </a:solidFill>
                <a:latin typeface="Arial"/>
                <a:ea typeface="Arial"/>
                <a:cs typeface="Arial"/>
              </a:defRPr>
            </a:pPr>
            <a:r>
              <a:rPr sz="1575" b="0">
                <a:solidFill>
                  <a:srgbClr val="287553"/>
                </a:solidFill>
                <a:latin typeface="Arial"/>
                <a:ea typeface="Arial"/>
                <a:cs typeface="Arial"/>
                <a:hlinkClick xmlns:r="http://schemas.openxmlformats.org/officeDocument/2006/relationships" r:id="Rfebdd9ffcb9a4069"/>
              </a:rPr>
              <a:t>LEAF-125</a:t>
            </a:r>
            <a:r>
              <a:rPr sz="1575" b="0">
                <a:solidFill>
                  <a:srgbClr val="287553"/>
                </a:solidFill>
                <a:latin typeface="Arial"/>
                <a:ea typeface="Arial"/>
                <a:cs typeface="Arial"/>
              </a:rPr>
              <a:t>–131</a:t>
            </a:r>
          </a:p>
          <a:p xmlns:a="http://schemas.openxmlformats.org/drawingml/2006/main">
            <a:pPr algn="l">
              <a:buNone/>
              <a:defRPr sz="1575" b="0">
                <a:solidFill>
                  <a:srgbClr val="287553"/>
                </a:solidFill>
                <a:latin typeface="Arial"/>
                <a:ea typeface="Arial"/>
                <a:cs typeface="Arial"/>
              </a:defRPr>
            </a:pPr>
            <a:r>
              <a:rPr sz="1575" b="0">
                <a:solidFill>
                  <a:srgbClr val="287553"/>
                </a:solidFill>
                <a:latin typeface="Arial"/>
                <a:ea typeface="Arial"/>
                <a:cs typeface="Arial"/>
                <a:hlinkClick xmlns:r="http://schemas.openxmlformats.org/officeDocument/2006/relationships" r:id="R7682d06d3a80413e"/>
              </a:rPr>
              <a:t>LEAF-160</a:t>
            </a:r>
            <a:r>
              <a:rPr sz="1575" b="0">
                <a:solidFill>
                  <a:srgbClr val="287553"/>
                </a:solidFill>
                <a:latin typeface="Arial"/>
                <a:ea typeface="Arial"/>
                <a:cs typeface="Arial"/>
              </a:rPr>
              <a:t>–162, 164</a:t>
            </a:r>
          </a:p>
        </p:txBody>
      </p:sp>
      <p:sp>
        <p:nvSpPr>
          <p:cNvPr id="16" name="Pengyun">
            <a:extLst xmlns:a="http://schemas.openxmlformats.org/drawingml/2006/main">
              <a:ext uri="{FF2B5EF4-FFF2-40B4-BE49-F238E27FC236}">
                <a16:creationId xmlns:a16="http://schemas.microsoft.com/office/drawing/2014/main" id="{62C1EAE0-281C-4C57-8185-43350A786A6B}"/>
              </a:ext>
            </a:extLst>
          </p:cNvPr>
          <p:cNvSpPr>
            <a:spLocks xmlns:a="http://schemas.openxmlformats.org/drawingml/2006/main" noGrp="1"/>
          </p:cNvSpPr>
          <p:nvPr/>
        </p:nvSpPr>
        <p:spPr>
          <a:xfrm xmlns:a="http://schemas.openxmlformats.org/drawingml/2006/main">
            <a:off x="8982075" y="1819275"/>
            <a:ext cx="2524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173B31"/>
                </a:solidFill>
                <a:latin typeface="Arial"/>
                <a:ea typeface="Arial"/>
                <a:cs typeface="Arial"/>
              </a:defRPr>
            </a:pPr>
            <a:r>
              <a:rPr sz="2550" b="1">
                <a:solidFill>
                  <a:srgbClr val="173B31"/>
                </a:solidFill>
                <a:latin typeface="Arial"/>
                <a:ea typeface="Arial"/>
                <a:cs typeface="Arial"/>
              </a:rPr>
              <a:t>Pengyun</a:t>
            </a:r>
          </a:p>
        </p:txBody>
      </p:sp>
      <p:sp>
        <p:nvSpPr>
          <p:cNvPr id="17" name="Hypercube components,&#10;K-means, GUI and API.">
            <a:extLst xmlns:a="http://schemas.openxmlformats.org/drawingml/2006/main">
              <a:ext uri="{FF2B5EF4-FFF2-40B4-BE49-F238E27FC236}">
                <a16:creationId xmlns:a16="http://schemas.microsoft.com/office/drawing/2014/main" id="{07F736A1-DDB0-4AAE-A726-525A8F80BB76}"/>
              </a:ext>
            </a:extLst>
          </p:cNvPr>
          <p:cNvSpPr>
            <a:spLocks xmlns:a="http://schemas.openxmlformats.org/drawingml/2006/main" noGrp="1"/>
          </p:cNvSpPr>
          <p:nvPr/>
        </p:nvSpPr>
        <p:spPr>
          <a:xfrm xmlns:a="http://schemas.openxmlformats.org/drawingml/2006/main">
            <a:off x="8982075" y="2400300"/>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86C63"/>
                </a:solidFill>
                <a:latin typeface="Arial"/>
                <a:ea typeface="Arial"/>
                <a:cs typeface="Arial"/>
              </a:defRPr>
            </a:pPr>
            <a:r>
              <a:rPr sz="1725" b="0">
                <a:solidFill>
                  <a:srgbClr val="586C63"/>
                </a:solidFill>
                <a:latin typeface="Arial"/>
                <a:ea typeface="Arial"/>
                <a:cs typeface="Arial"/>
              </a:rPr>
              <a:t>Hypercube components,</a:t>
            </a:r>
          </a:p>
          <a:p xmlns:a="http://schemas.openxmlformats.org/drawingml/2006/main">
            <a:pPr algn="l">
              <a:buNone/>
              <a:defRPr sz="1725" b="0">
                <a:solidFill>
                  <a:srgbClr val="586C63"/>
                </a:solidFill>
                <a:latin typeface="Arial"/>
                <a:ea typeface="Arial"/>
                <a:cs typeface="Arial"/>
              </a:defRPr>
            </a:pPr>
            <a:r>
              <a:rPr sz="1725" b="0">
                <a:solidFill>
                  <a:srgbClr val="586C63"/>
                </a:solidFill>
                <a:latin typeface="Arial"/>
                <a:ea typeface="Arial"/>
                <a:cs typeface="Arial"/>
              </a:rPr>
              <a:t>K-means and classification UI.</a:t>
            </a:r>
          </a:p>
        </p:txBody>
      </p:sp>
      <p:sp>
        <p:nvSpPr>
          <p:cNvPr id="18" name="LEAF-132–139&#10;LEAF-159, 163, 165–166">
            <a:extLst xmlns:a="http://schemas.openxmlformats.org/drawingml/2006/main">
              <a:ext uri="{FF2B5EF4-FFF2-40B4-BE49-F238E27FC236}">
                <a16:creationId xmlns:a16="http://schemas.microsoft.com/office/drawing/2014/main" id="{F491338E-0D28-4A56-A004-FFC0526B5310}"/>
              </a:ext>
            </a:extLst>
          </p:cNvPr>
          <p:cNvSpPr>
            <a:spLocks xmlns:a="http://schemas.openxmlformats.org/drawingml/2006/main" noGrp="1"/>
          </p:cNvSpPr>
          <p:nvPr/>
        </p:nvSpPr>
        <p:spPr>
          <a:xfrm xmlns:a="http://schemas.openxmlformats.org/drawingml/2006/main">
            <a:off x="8982075" y="3390900"/>
            <a:ext cx="2571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287553"/>
                </a:solidFill>
                <a:latin typeface="Arial"/>
                <a:ea typeface="Arial"/>
                <a:cs typeface="Arial"/>
              </a:defRPr>
            </a:pPr>
            <a:r>
              <a:rPr sz="1575" b="0">
                <a:solidFill>
                  <a:srgbClr val="287553"/>
                </a:solidFill>
                <a:latin typeface="Arial"/>
                <a:ea typeface="Arial"/>
                <a:cs typeface="Arial"/>
                <a:hlinkClick xmlns:r="http://schemas.openxmlformats.org/officeDocument/2006/relationships" r:id="R07a24551d5e84f73"/>
              </a:rPr>
              <a:t>LEAF-132</a:t>
            </a:r>
            <a:r>
              <a:rPr sz="1575" b="0">
                <a:solidFill>
                  <a:srgbClr val="287553"/>
                </a:solidFill>
                <a:latin typeface="Arial"/>
                <a:ea typeface="Arial"/>
                <a:cs typeface="Arial"/>
              </a:rPr>
              <a:t>–139</a:t>
            </a:r>
          </a:p>
          <a:p xmlns:a="http://schemas.openxmlformats.org/drawingml/2006/main">
            <a:pPr algn="l">
              <a:buNone/>
              <a:defRPr sz="1575" b="0">
                <a:solidFill>
                  <a:srgbClr val="287553"/>
                </a:solidFill>
                <a:latin typeface="Arial"/>
                <a:ea typeface="Arial"/>
                <a:cs typeface="Arial"/>
              </a:defRPr>
            </a:pPr>
            <a:r>
              <a:rPr sz="1575" b="0">
                <a:solidFill>
                  <a:srgbClr val="287553"/>
                </a:solidFill>
                <a:latin typeface="Arial"/>
                <a:ea typeface="Arial"/>
                <a:cs typeface="Arial"/>
                <a:hlinkClick xmlns:r="http://schemas.openxmlformats.org/officeDocument/2006/relationships" r:id="R15d48f6907954b8e"/>
              </a:rPr>
              <a:t>LEAF-159</a:t>
            </a:r>
            <a:r>
              <a:rPr sz="1575" b="0">
                <a:solidFill>
                  <a:srgbClr val="287553"/>
                </a:solidFill>
                <a:latin typeface="Arial"/>
                <a:ea typeface="Arial"/>
                <a:cs typeface="Arial"/>
              </a:rPr>
              <a:t>, 163, 165–166</a:t>
            </a:r>
          </a:p>
        </p:txBody>
      </p:sp>
      <p:sp>
        <p:nvSpPr>
          <p:cNvPr id="19" name="直线连接符 18">
            <a:extLst xmlns:a="http://schemas.openxmlformats.org/drawingml/2006/main">
              <a:ext uri="{FF2B5EF4-FFF2-40B4-BE49-F238E27FC236}">
                <a16:creationId xmlns:a16="http://schemas.microsoft.com/office/drawing/2014/main" id="{8E68A839-A075-47A9-A5A1-45D41009522F}"/>
              </a:ext>
            </a:extLst>
          </p:cNvPr>
          <p:cNvSpPr>
            <a:spLocks xmlns:a="http://schemas.openxmlformats.org/drawingml/2006/main" noGrp="1"/>
          </p:cNvSpPr>
          <p:nvPr/>
        </p:nvSpPr>
        <p:spPr>
          <a:xfrm xmlns:a="http://schemas.openxmlformats.org/drawingml/2006/main">
            <a:off x="609600" y="4095750"/>
            <a:ext cx="10972800" cy="0"/>
          </a:xfrm>
          <a:prstGeom xmlns:a="http://schemas.openxmlformats.org/drawingml/2006/main" prst="line">
            <a:avLst/>
          </a:prstGeom>
          <a:noFill xmlns:a="http://schemas.openxmlformats.org/drawingml/2006/main"/>
          <a:ln xmlns:a="http://schemas.openxmlformats.org/drawingml/2006/main" w="14288">
            <a:solidFill>
              <a:srgbClr val="C8D4CB"/>
            </a:solidFill>
          </a:ln>
        </p:spPr>
      </p:sp>
      <p:sp>
        <p:nvSpPr>
          <p:cNvPr id="20" name="Integration needed rework">
            <a:extLst xmlns:a="http://schemas.openxmlformats.org/drawingml/2006/main">
              <a:ext uri="{FF2B5EF4-FFF2-40B4-BE49-F238E27FC236}">
                <a16:creationId xmlns:a16="http://schemas.microsoft.com/office/drawing/2014/main" id="{0F8CFE1D-5154-489C-8578-7D0AE30EFC8A}"/>
              </a:ext>
            </a:extLst>
          </p:cNvPr>
          <p:cNvSpPr>
            <a:spLocks xmlns:a="http://schemas.openxmlformats.org/drawingml/2006/main" noGrp="1"/>
          </p:cNvSpPr>
          <p:nvPr/>
        </p:nvSpPr>
        <p:spPr>
          <a:xfrm xmlns:a="http://schemas.openxmlformats.org/drawingml/2006/main">
            <a:off x="609600" y="4333875"/>
            <a:ext cx="4286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73B31"/>
                </a:solidFill>
                <a:latin typeface="Arial"/>
                <a:ea typeface="Arial"/>
                <a:cs typeface="Arial"/>
              </a:defRPr>
            </a:pPr>
            <a:r>
              <a:rPr sz="2400" b="1">
                <a:solidFill>
                  <a:srgbClr val="173B31"/>
                </a:solidFill>
                <a:latin typeface="Arial"/>
                <a:ea typeface="Arial"/>
                <a:cs typeface="Arial"/>
              </a:rPr>
              <a:t>Hypercube needed rework</a:t>
            </a:r>
          </a:p>
        </p:txBody>
      </p:sp>
      <p:sp>
        <p:nvSpPr>
          <p:cNvPr id="21" name="21 Aug: Hypercube returned to In Progress.&#10;28">
            <a:extLst xmlns:a="http://schemas.openxmlformats.org/drawingml/2006/main">
              <a:ext uri="{FF2B5EF4-FFF2-40B4-BE49-F238E27FC236}">
                <a16:creationId xmlns:a16="http://schemas.microsoft.com/office/drawing/2014/main" id="{84E7D520-D054-42C6-A871-DB3E9DF82C21}"/>
              </a:ext>
            </a:extLst>
          </p:cNvPr>
          <p:cNvSpPr>
            <a:spLocks xmlns:a="http://schemas.openxmlformats.org/drawingml/2006/main" noGrp="1"/>
          </p:cNvSpPr>
          <p:nvPr/>
        </p:nvSpPr>
        <p:spPr>
          <a:xfrm xmlns:a="http://schemas.openxmlformats.org/drawingml/2006/main">
            <a:off x="5143500" y="4333875"/>
            <a:ext cx="6381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586C63"/>
                </a:solidFill>
                <a:latin typeface="Arial"/>
                <a:ea typeface="Arial"/>
                <a:cs typeface="Arial"/>
              </a:defRPr>
            </a:pPr>
            <a:r>
              <a:rPr sz="1950" b="0">
                <a:solidFill>
                  <a:srgbClr val="586C63"/>
                </a:solidFill>
                <a:latin typeface="Arial"/>
                <a:ea typeface="Arial"/>
                <a:cs typeface="Arial"/>
              </a:rPr>
              <a:t>21 Aug: Hypercube moved back to In Progress.</a:t>
            </a:r>
          </a:p>
          <a:p xmlns:a="http://schemas.openxmlformats.org/drawingml/2006/main">
            <a:pPr algn="l">
              <a:buNone/>
              <a:defRPr sz="1950" b="0">
                <a:solidFill>
                  <a:srgbClr val="586C63"/>
                </a:solidFill>
                <a:latin typeface="Arial"/>
                <a:ea typeface="Arial"/>
                <a:cs typeface="Arial"/>
              </a:defRPr>
            </a:pPr>
            <a:r>
              <a:rPr sz="1950" b="0">
                <a:solidFill>
                  <a:srgbClr val="586C63"/>
                </a:solidFill>
                <a:latin typeface="Arial"/>
                <a:ea typeface="Arial"/>
                <a:cs typeface="Arial"/>
              </a:rPr>
              <a:t>28 Aug: the working version was merged in </a:t>
            </a:r>
            <a:r>
              <a:rPr sz="1950" b="0">
                <a:solidFill>
                  <a:srgbClr val="586C63"/>
                </a:solidFill>
                <a:latin typeface="Arial"/>
                <a:ea typeface="Arial"/>
                <a:cs typeface="Arial"/>
                <a:hlinkClick xmlns:r="http://schemas.openxmlformats.org/officeDocument/2006/relationships" r:id="Rc31e3d174287453a"/>
              </a:rPr>
              <a:t>PR #29</a:t>
            </a:r>
            <a:r>
              <a:rPr sz="1950" b="0">
                <a:solidFill>
                  <a:srgbClr val="586C63"/>
                </a:solidFill>
                <a:latin typeface="Arial"/>
                <a:ea typeface="Arial"/>
                <a:cs typeface="Arial"/>
              </a:rPr>
              <a:t>.</a:t>
            </a:r>
          </a:p>
        </p:txBody>
      </p:sp>
      <p:sp>
        <p:nvSpPr>
          <p:cNvPr id="22" name="Lesson: plan the model–UI hand-off and integr">
            <a:extLst xmlns:a="http://schemas.openxmlformats.org/drawingml/2006/main">
              <a:ext uri="{FF2B5EF4-FFF2-40B4-BE49-F238E27FC236}">
                <a16:creationId xmlns:a16="http://schemas.microsoft.com/office/drawing/2014/main" id="{F4068130-95B6-4807-B2CF-8203693C230D}"/>
              </a:ext>
            </a:extLst>
          </p:cNvPr>
          <p:cNvSpPr>
            <a:spLocks xmlns:a="http://schemas.openxmlformats.org/drawingml/2006/main" noGrp="1"/>
          </p:cNvSpPr>
          <p:nvPr/>
        </p:nvSpPr>
        <p:spPr>
          <a:xfrm xmlns:a="http://schemas.openxmlformats.org/drawingml/2006/main">
            <a:off x="609600" y="550545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287553"/>
                </a:solidFill>
                <a:latin typeface="Arial"/>
                <a:ea typeface="Arial"/>
                <a:cs typeface="Arial"/>
              </a:defRPr>
            </a:pPr>
            <a:r>
              <a:rPr sz="1875" b="1">
                <a:solidFill>
                  <a:srgbClr val="287553"/>
                </a:solidFill>
                <a:latin typeface="Arial"/>
                <a:ea typeface="Arial"/>
                <a:cs typeface="Arial"/>
              </a:rPr>
              <a:t>Next time, we will allow time to connect the model and UI, then test them together.</a:t>
            </a:r>
          </a:p>
        </p:txBody>
      </p:sp>
    </p:spTree>
    <p:extLst>
      <p:ext uri="{BB962C8B-B14F-4D97-AF65-F5344CB8AC3E}">
        <p14:creationId xmlns:p14="http://schemas.microsoft.com/office/powerpoint/2010/main" val="263024569"/>
      </p:ext>
    </p:extLst>
  </p:cSld>
</p:sld>
</file>

<file path=ppt/slides/slide7.xml><?xml version="1.0" encoding="utf-8"?>
<p:sld xmlns:p="http://schemas.openxmlformats.org/presentationml/2006/main">
  <p:cSld>
    <p:bg>
      <p:bgPr>
        <a:solidFill xmlns:a="http://schemas.openxmlformats.org/drawingml/2006/main">
          <a:srgbClr val="F4F5F0"/>
        </a:solidFill>
      </p:bgPr>
    </p:bg>
    <p:spTree>
      <p:nvGrpSpPr>
        <p:cNvPr id="1" name=""/>
        <p:cNvGrpSpPr/>
        <p:nvPr/>
      </p:nvGrpSpPr>
      <p:grpSpPr>
        <a:xfrm xmlns:a="http://schemas.openxmlformats.org/drawingml/2006/main"/>
      </p:grpSpPr>
      <p:sp>
        <p:nvSpPr>
          <p:cNvPr id="41" name="PLANNING AND ORGANISATION">
            <a:extLst xmlns:a="http://schemas.openxmlformats.org/drawingml/2006/main">
              <a:ext uri="{FF2B5EF4-FFF2-40B4-BE49-F238E27FC236}">
                <a16:creationId xmlns:a16="http://schemas.microsoft.com/office/drawing/2014/main" id="{35B71D50-32C3-45D7-89CD-030228BFBB84}"/>
              </a:ext>
            </a:extLst>
          </p:cNvPr>
          <p:cNvSpPr>
            <a:spLocks xmlns:a="http://schemas.openxmlformats.org/drawingml/2006/main" noGrp="1"/>
          </p:cNvSpPr>
          <p:nvPr/>
        </p:nvSpPr>
        <p:spPr>
          <a:xfrm xmlns:a="http://schemas.openxmlformats.org/drawingml/2006/main">
            <a:off x="609600" y="4000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1">
                <a:solidFill>
                  <a:srgbClr val="287553"/>
                </a:solidFill>
                <a:latin typeface="Arial"/>
                <a:ea typeface="Arial"/>
                <a:cs typeface="Arial"/>
              </a:defRPr>
            </a:pPr>
            <a:r>
              <a:rPr sz="1500" b="1">
                <a:solidFill>
                  <a:srgbClr val="287553"/>
                </a:solidFill>
                <a:latin typeface="Arial"/>
                <a:ea typeface="Arial"/>
                <a:cs typeface="Arial"/>
              </a:rPr>
              <a:t>PLANNING AND ORGANISATION</a:t>
            </a:r>
          </a:p>
        </p:txBody>
      </p:sp>
      <p:sp>
        <p:nvSpPr>
          <p:cNvPr id="2" name="Effort tracking now supports comparison">
            <a:extLst xmlns:a="http://schemas.openxmlformats.org/drawingml/2006/main">
              <a:ext uri="{FF2B5EF4-FFF2-40B4-BE49-F238E27FC236}">
                <a16:creationId xmlns:a16="http://schemas.microsoft.com/office/drawing/2014/main" id="{3814BFFE-3B9C-401C-B223-CC85C48CA651}"/>
              </a:ext>
            </a:extLst>
          </p:cNvPr>
          <p:cNvSpPr>
            <a:spLocks xmlns:a="http://schemas.openxmlformats.org/drawingml/2006/main" noGrp="1"/>
          </p:cNvSpPr>
          <p:nvPr/>
        </p:nvSpPr>
        <p:spPr>
          <a:xfrm xmlns:a="http://schemas.openxmlformats.org/drawingml/2006/main">
            <a:off x="609600" y="86677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600" b="1">
                <a:solidFill>
                  <a:srgbClr val="173B31"/>
                </a:solidFill>
                <a:latin typeface="Arial"/>
                <a:ea typeface="Arial"/>
                <a:cs typeface="Arial"/>
              </a:defRPr>
            </a:pPr>
            <a:r>
              <a:rPr sz="3600" b="1">
                <a:solidFill>
                  <a:srgbClr val="173B31"/>
                </a:solidFill>
                <a:latin typeface="Arial"/>
                <a:ea typeface="Arial"/>
                <a:cs typeface="Arial"/>
              </a:rPr>
              <a:t>We compared estimates and logged time</a:t>
            </a:r>
          </a:p>
        </p:txBody>
      </p:sp>
      <p:sp>
        <p:nvSpPr>
          <p:cNvPr id="3" name="直线连接符 2">
            <a:extLst xmlns:a="http://schemas.openxmlformats.org/drawingml/2006/main">
              <a:ext uri="{FF2B5EF4-FFF2-40B4-BE49-F238E27FC236}">
                <a16:creationId xmlns:a16="http://schemas.microsoft.com/office/drawing/2014/main" id="{AB226479-BD51-4324-BBB5-A189C27F22B6}"/>
              </a:ext>
            </a:extLst>
          </p:cNvPr>
          <p:cNvSpPr>
            <a:spLocks xmlns:a="http://schemas.openxmlformats.org/drawingml/2006/main" noGrp="1"/>
          </p:cNvSpPr>
          <p:nvPr/>
        </p:nvSpPr>
        <p:spPr>
          <a:xfrm xmlns:a="http://schemas.openxmlformats.org/drawingml/2006/main">
            <a:off x="609600" y="6238875"/>
            <a:ext cx="10972800" cy="0"/>
          </a:xfrm>
          <a:prstGeom xmlns:a="http://schemas.openxmlformats.org/drawingml/2006/main" prst="line">
            <a:avLst/>
          </a:prstGeom>
          <a:noFill xmlns:a="http://schemas.openxmlformats.org/drawingml/2006/main"/>
          <a:ln xmlns:a="http://schemas.openxmlformats.org/drawingml/2006/main" w="14288">
            <a:solidFill>
              <a:srgbClr val="C8D4CB"/>
            </a:solidFill>
          </a:ln>
        </p:spPr>
      </p:sp>
      <p:sp>
        <p:nvSpPr>
          <p:cNvPr id="4" name="LEAF ANALYZER  /  SPRINT 5">
            <a:extLst xmlns:a="http://schemas.openxmlformats.org/drawingml/2006/main">
              <a:ext uri="{FF2B5EF4-FFF2-40B4-BE49-F238E27FC236}">
                <a16:creationId xmlns:a16="http://schemas.microsoft.com/office/drawing/2014/main" id="{6E6EF2A4-65DE-48D7-BA1B-0CB3A36D9A32}"/>
              </a:ext>
            </a:extLst>
          </p:cNvPr>
          <p:cNvSpPr>
            <a:spLocks xmlns:a="http://schemas.openxmlformats.org/drawingml/2006/main" noGrp="1"/>
          </p:cNvSpPr>
          <p:nvPr/>
        </p:nvSpPr>
        <p:spPr>
          <a:xfrm xmlns:a="http://schemas.openxmlformats.org/drawingml/2006/main">
            <a:off x="609600" y="6410325"/>
            <a:ext cx="323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586C63"/>
                </a:solidFill>
                <a:latin typeface="Arial"/>
                <a:ea typeface="Arial"/>
                <a:cs typeface="Arial"/>
              </a:defRPr>
            </a:pPr>
            <a:r>
              <a:rPr sz="1350" b="0">
                <a:solidFill>
                  <a:srgbClr val="586C63"/>
                </a:solidFill>
                <a:latin typeface="Arial"/>
                <a:ea typeface="Arial"/>
                <a:cs typeface="Arial"/>
              </a:rPr>
              <a:t>LEAF ANALYZER  /  SPRINT 5</a:t>
            </a:r>
          </a:p>
        </p:txBody>
      </p:sp>
      <p:sp>
        <p:nvSpPr>
          <p:cNvPr id="5" name="Jira original-estimate fields, worklogs and h">
            <a:extLst xmlns:a="http://schemas.openxmlformats.org/drawingml/2006/main">
              <a:ext uri="{FF2B5EF4-FFF2-40B4-BE49-F238E27FC236}">
                <a16:creationId xmlns:a16="http://schemas.microsoft.com/office/drawing/2014/main" id="{0BB78B20-A309-44C9-84D1-EFFBA270445A}"/>
              </a:ext>
            </a:extLst>
          </p:cNvPr>
          <p:cNvSpPr>
            <a:spLocks xmlns:a="http://schemas.openxmlformats.org/drawingml/2006/main" noGrp="1"/>
          </p:cNvSpPr>
          <p:nvPr/>
        </p:nvSpPr>
        <p:spPr>
          <a:xfrm xmlns:a="http://schemas.openxmlformats.org/drawingml/2006/main">
            <a:off x="3952875" y="6305550"/>
            <a:ext cx="708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200">
                <a:solidFill>
                  <a:srgbClr val="287553"/>
                </a:solidFill>
                <a:latin typeface="Arial"/>
                <a:ea typeface="Arial"/>
                <a:cs typeface="Arial"/>
              </a:defRPr>
            </a:pPr>
            <a:r>
              <a:rPr sz="1200">
                <a:solidFill>
                  <a:srgbClr val="287553"/>
                </a:solidFill>
                <a:latin typeface="Arial"/>
                <a:ea typeface="Arial"/>
                <a:cs typeface="Arial"/>
              </a:rPr>
              <a:t>Sources: </a:t>
            </a:r>
            <a:r>
              <a:rPr sz="1200" u="sng">
                <a:solidFill>
                  <a:srgbClr val="287553"/>
                </a:solidFill>
                <a:latin typeface="Arial"/>
                <a:ea typeface="Arial"/>
                <a:cs typeface="Arial"/>
                <a:hlinkClick xmlns:r="http://schemas.openxmlformats.org/officeDocument/2006/relationships" r:id="R6c3ffbd68b9042dd"/>
              </a:rPr>
              <a:t>LEAF-150</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723cd4f0ddc44c31"/>
              </a:rPr>
              <a:t>LEAF-152</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c2e7d407e3ba4799"/>
              </a:rPr>
              <a:t>LEAF-149</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a0a72f433be34075"/>
              </a:rPr>
              <a:t>LEAF-153</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aa85d2cea9a34a49"/>
              </a:rPr>
              <a:t>LEAF-155</a:t>
            </a:r>
          </a:p>
        </p:txBody>
      </p:sp>
      <p:sp>
        <p:nvSpPr>
          <p:cNvPr id="6" name="07">
            <a:extLst xmlns:a="http://schemas.openxmlformats.org/drawingml/2006/main">
              <a:ext uri="{FF2B5EF4-FFF2-40B4-BE49-F238E27FC236}">
                <a16:creationId xmlns:a16="http://schemas.microsoft.com/office/drawing/2014/main" id="{E5A34639-7809-4E4D-99C2-EA718E5D727C}"/>
              </a:ext>
            </a:extLst>
          </p:cNvPr>
          <p:cNvSpPr>
            <a:spLocks xmlns:a="http://schemas.openxmlformats.org/drawingml/2006/main" noGrp="1"/>
          </p:cNvSpPr>
          <p:nvPr/>
        </p:nvSpPr>
        <p:spPr>
          <a:xfrm xmlns:a="http://schemas.openxmlformats.org/drawingml/2006/main">
            <a:off x="11239500" y="63817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586C63"/>
                </a:solidFill>
                <a:latin typeface="Arial"/>
                <a:ea typeface="Arial"/>
                <a:cs typeface="Arial"/>
              </a:defRPr>
            </a:pPr>
            <a:r>
              <a:rPr sz="1575" b="0">
                <a:solidFill>
                  <a:srgbClr val="586C63"/>
                </a:solidFill>
                <a:latin typeface="Arial"/>
                <a:ea typeface="Arial"/>
                <a:cs typeface="Arial"/>
              </a:rPr>
              <a:t>07</a:t>
            </a:r>
          </a:p>
        </p:txBody>
      </p:sp>
      <p:sp>
        <p:nvSpPr>
          <p:cNvPr id="7" name="Recorded estimate vs logged actual — selected">
            <a:extLst xmlns:a="http://schemas.openxmlformats.org/drawingml/2006/main">
              <a:ext uri="{FF2B5EF4-FFF2-40B4-BE49-F238E27FC236}">
                <a16:creationId xmlns:a16="http://schemas.microsoft.com/office/drawing/2014/main" id="{8D4E5E05-27B8-4C47-9D65-351893D918C7}"/>
              </a:ext>
            </a:extLst>
          </p:cNvPr>
          <p:cNvSpPr>
            <a:spLocks xmlns:a="http://schemas.openxmlformats.org/drawingml/2006/main" noGrp="1"/>
          </p:cNvSpPr>
          <p:nvPr/>
        </p:nvSpPr>
        <p:spPr>
          <a:xfrm xmlns:a="http://schemas.openxmlformats.org/drawingml/2006/main">
            <a:off x="609600" y="165735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586C63"/>
                </a:solidFill>
                <a:latin typeface="Arial"/>
                <a:ea typeface="Arial"/>
                <a:cs typeface="Arial"/>
              </a:defRPr>
            </a:pPr>
            <a:r>
              <a:rPr sz="1950" b="0">
                <a:solidFill>
                  <a:srgbClr val="586C63"/>
                </a:solidFill>
                <a:latin typeface="Arial"/>
                <a:ea typeface="Arial"/>
                <a:cs typeface="Arial"/>
              </a:rPr>
              <a:t>Examples from completed Jira tasks</a:t>
            </a:r>
          </a:p>
        </p:txBody>
      </p:sp>
      <p:sp>
        <p:nvSpPr>
          <p:cNvPr id="9" name="TASK">
            <a:extLst xmlns:a="http://schemas.openxmlformats.org/drawingml/2006/main">
              <a:ext uri="{FF2B5EF4-FFF2-40B4-BE49-F238E27FC236}">
                <a16:creationId xmlns:a16="http://schemas.microsoft.com/office/drawing/2014/main" id="{ABA13910-8C91-42EA-844F-A073A7023A6B}"/>
              </a:ext>
            </a:extLst>
          </p:cNvPr>
          <p:cNvSpPr>
            <a:spLocks xmlns:a="http://schemas.openxmlformats.org/drawingml/2006/main" noGrp="1"/>
          </p:cNvSpPr>
          <p:nvPr/>
        </p:nvSpPr>
        <p:spPr>
          <a:xfrm xmlns:a="http://schemas.openxmlformats.org/drawingml/2006/main">
            <a:off x="723900" y="2295525"/>
            <a:ext cx="257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1">
                <a:solidFill>
                  <a:srgbClr val="173B31"/>
                </a:solidFill>
                <a:latin typeface="Arial"/>
                <a:ea typeface="Arial"/>
                <a:cs typeface="Arial"/>
              </a:defRPr>
            </a:pPr>
            <a:r>
              <a:rPr sz="1575" b="1">
                <a:solidFill>
                  <a:srgbClr val="173B31"/>
                </a:solidFill>
                <a:latin typeface="Arial"/>
                <a:ea typeface="Arial"/>
                <a:cs typeface="Arial"/>
              </a:rPr>
              <a:t>TASK</a:t>
            </a:r>
          </a:p>
        </p:txBody>
      </p:sp>
      <p:sp>
        <p:nvSpPr>
          <p:cNvPr id="10" name="ESTIMATE*">
            <a:extLst xmlns:a="http://schemas.openxmlformats.org/drawingml/2006/main">
              <a:ext uri="{FF2B5EF4-FFF2-40B4-BE49-F238E27FC236}">
                <a16:creationId xmlns:a16="http://schemas.microsoft.com/office/drawing/2014/main" id="{B1D89B9F-1CD5-430D-9D67-30E78CEE0A4D}"/>
              </a:ext>
            </a:extLst>
          </p:cNvPr>
          <p:cNvSpPr>
            <a:spLocks xmlns:a="http://schemas.openxmlformats.org/drawingml/2006/main" noGrp="1"/>
          </p:cNvSpPr>
          <p:nvPr/>
        </p:nvSpPr>
        <p:spPr>
          <a:xfrm xmlns:a="http://schemas.openxmlformats.org/drawingml/2006/main">
            <a:off x="3429000" y="2295525"/>
            <a:ext cx="11620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586C63"/>
                </a:solidFill>
                <a:latin typeface="Arial"/>
                <a:ea typeface="Arial"/>
                <a:cs typeface="Arial"/>
              </a:defRPr>
            </a:pPr>
            <a:r>
              <a:rPr sz="1575" b="0">
                <a:solidFill>
                  <a:srgbClr val="586C63"/>
                </a:solidFill>
                <a:latin typeface="Arial"/>
                <a:ea typeface="Arial"/>
                <a:cs typeface="Arial"/>
              </a:rPr>
              <a:t>ESTIMATE*</a:t>
            </a:r>
          </a:p>
        </p:txBody>
      </p:sp>
      <p:sp>
        <p:nvSpPr>
          <p:cNvPr id="11" name="LOGGED ACTUAL">
            <a:extLst xmlns:a="http://schemas.openxmlformats.org/drawingml/2006/main">
              <a:ext uri="{FF2B5EF4-FFF2-40B4-BE49-F238E27FC236}">
                <a16:creationId xmlns:a16="http://schemas.microsoft.com/office/drawing/2014/main" id="{E12091BA-AEA0-48EB-AF4F-FB47A114B669}"/>
              </a:ext>
            </a:extLst>
          </p:cNvPr>
          <p:cNvSpPr>
            <a:spLocks xmlns:a="http://schemas.openxmlformats.org/drawingml/2006/main" noGrp="1"/>
          </p:cNvSpPr>
          <p:nvPr/>
        </p:nvSpPr>
        <p:spPr>
          <a:xfrm xmlns:a="http://schemas.openxmlformats.org/drawingml/2006/main">
            <a:off x="4810125" y="2295525"/>
            <a:ext cx="104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586C63"/>
                </a:solidFill>
                <a:latin typeface="Arial"/>
                <a:ea typeface="Arial"/>
                <a:cs typeface="Arial"/>
              </a:defRPr>
            </a:pPr>
            <a:r>
              <a:rPr sz="1575" b="0">
                <a:solidFill>
                  <a:srgbClr val="586C63"/>
                </a:solidFill>
                <a:latin typeface="Arial"/>
                <a:ea typeface="Arial"/>
                <a:cs typeface="Arial"/>
              </a:rPr>
              <a:t>LOGGED</a:t>
            </a:r>
          </a:p>
        </p:txBody>
      </p:sp>
      <p:sp>
        <p:nvSpPr>
          <p:cNvPr id="12" name="DIFFERENCE">
            <a:extLst xmlns:a="http://schemas.openxmlformats.org/drawingml/2006/main">
              <a:ext uri="{FF2B5EF4-FFF2-40B4-BE49-F238E27FC236}">
                <a16:creationId xmlns:a16="http://schemas.microsoft.com/office/drawing/2014/main" id="{EDCC1C36-26DD-40CB-A5D8-0CC2A5013461}"/>
              </a:ext>
            </a:extLst>
          </p:cNvPr>
          <p:cNvSpPr>
            <a:spLocks xmlns:a="http://schemas.openxmlformats.org/drawingml/2006/main" noGrp="1"/>
          </p:cNvSpPr>
          <p:nvPr/>
        </p:nvSpPr>
        <p:spPr>
          <a:xfrm xmlns:a="http://schemas.openxmlformats.org/drawingml/2006/main">
            <a:off x="6038850" y="2295525"/>
            <a:ext cx="76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586C63"/>
                </a:solidFill>
                <a:latin typeface="Arial"/>
                <a:ea typeface="Arial"/>
                <a:cs typeface="Arial"/>
              </a:defRPr>
            </a:pPr>
            <a:r>
              <a:rPr sz="1575" b="0">
                <a:solidFill>
                  <a:srgbClr val="586C63"/>
                </a:solidFill>
                <a:latin typeface="Arial"/>
                <a:ea typeface="Arial"/>
                <a:cs typeface="Arial"/>
              </a:rPr>
              <a:t>DIFF.</a:t>
            </a:r>
          </a:p>
        </p:txBody>
      </p:sp>
      <p:sp>
        <p:nvSpPr>
          <p:cNvPr id="13" name="直线连接符 12">
            <a:extLst xmlns:a="http://schemas.openxmlformats.org/drawingml/2006/main">
              <a:ext uri="{FF2B5EF4-FFF2-40B4-BE49-F238E27FC236}">
                <a16:creationId xmlns:a16="http://schemas.microsoft.com/office/drawing/2014/main" id="{F6450926-34E3-4CE8-9CE6-47028422CE3E}"/>
              </a:ext>
            </a:extLst>
          </p:cNvPr>
          <p:cNvSpPr>
            <a:spLocks xmlns:a="http://schemas.openxmlformats.org/drawingml/2006/main" noGrp="1"/>
          </p:cNvSpPr>
          <p:nvPr/>
        </p:nvSpPr>
        <p:spPr>
          <a:xfrm xmlns:a="http://schemas.openxmlformats.org/drawingml/2006/main">
            <a:off x="609600" y="2667000"/>
            <a:ext cx="6334125" cy="0"/>
          </a:xfrm>
          <a:prstGeom xmlns:a="http://schemas.openxmlformats.org/drawingml/2006/main" prst="line">
            <a:avLst/>
          </a:prstGeom>
          <a:noFill xmlns:a="http://schemas.openxmlformats.org/drawingml/2006/main"/>
          <a:ln xmlns:a="http://schemas.openxmlformats.org/drawingml/2006/main" w="14288">
            <a:solidFill>
              <a:srgbClr val="C8D4CB"/>
            </a:solidFill>
          </a:ln>
        </p:spPr>
      </p:sp>
      <p:sp>
        <p:nvSpPr>
          <p:cNvPr id="14" name="LEAF-150 · Hypercube">
            <a:extLst xmlns:a="http://schemas.openxmlformats.org/drawingml/2006/main">
              <a:ext uri="{FF2B5EF4-FFF2-40B4-BE49-F238E27FC236}">
                <a16:creationId xmlns:a16="http://schemas.microsoft.com/office/drawing/2014/main" id="{D92AFEBF-AF2E-4811-BD7E-F4C123117EAE}"/>
              </a:ext>
            </a:extLst>
          </p:cNvPr>
          <p:cNvSpPr>
            <a:spLocks xmlns:a="http://schemas.openxmlformats.org/drawingml/2006/main" noGrp="1"/>
          </p:cNvSpPr>
          <p:nvPr/>
        </p:nvSpPr>
        <p:spPr>
          <a:xfrm xmlns:a="http://schemas.openxmlformats.org/drawingml/2006/main">
            <a:off x="723900" y="278130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73B31"/>
                </a:solidFill>
                <a:latin typeface="Arial"/>
                <a:ea typeface="Arial"/>
                <a:cs typeface="Arial"/>
              </a:defRPr>
            </a:pPr>
            <a:r>
              <a:rPr sz="1725" b="1">
                <a:solidFill>
                  <a:srgbClr val="173B31"/>
                </a:solidFill>
                <a:latin typeface="Arial"/>
                <a:ea typeface="Arial"/>
                <a:cs typeface="Arial"/>
                <a:hlinkClick xmlns:r="http://schemas.openxmlformats.org/officeDocument/2006/relationships" r:id="Rdc08194b18714616"/>
              </a:rPr>
              <a:t>LEAF-150</a:t>
            </a:r>
            <a:r>
              <a:rPr sz="1725" b="1">
                <a:solidFill>
                  <a:srgbClr val="173B31"/>
                </a:solidFill>
                <a:latin typeface="Arial"/>
                <a:ea typeface="Arial"/>
                <a:cs typeface="Arial"/>
              </a:rPr>
              <a:t> · Hypercube</a:t>
            </a:r>
          </a:p>
        </p:txBody>
      </p:sp>
      <p:sp>
        <p:nvSpPr>
          <p:cNvPr id="15" name="5h">
            <a:extLst xmlns:a="http://schemas.openxmlformats.org/drawingml/2006/main">
              <a:ext uri="{FF2B5EF4-FFF2-40B4-BE49-F238E27FC236}">
                <a16:creationId xmlns:a16="http://schemas.microsoft.com/office/drawing/2014/main" id="{748751BD-28DA-4E30-84B1-5F245FCBF94D}"/>
              </a:ext>
            </a:extLst>
          </p:cNvPr>
          <p:cNvSpPr>
            <a:spLocks xmlns:a="http://schemas.openxmlformats.org/drawingml/2006/main" noGrp="1"/>
          </p:cNvSpPr>
          <p:nvPr/>
        </p:nvSpPr>
        <p:spPr>
          <a:xfrm xmlns:a="http://schemas.openxmlformats.org/drawingml/2006/main">
            <a:off x="3429000" y="2781300"/>
            <a:ext cx="114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86C63"/>
                </a:solidFill>
                <a:latin typeface="Arial"/>
                <a:ea typeface="Arial"/>
                <a:cs typeface="Arial"/>
              </a:defRPr>
            </a:pPr>
            <a:r>
              <a:rPr sz="1725" b="0">
                <a:solidFill>
                  <a:srgbClr val="586C63"/>
                </a:solidFill>
                <a:latin typeface="Arial"/>
                <a:ea typeface="Arial"/>
                <a:cs typeface="Arial"/>
              </a:rPr>
              <a:t>5h</a:t>
            </a:r>
          </a:p>
        </p:txBody>
      </p:sp>
      <p:sp>
        <p:nvSpPr>
          <p:cNvPr id="16" name="6h">
            <a:extLst xmlns:a="http://schemas.openxmlformats.org/drawingml/2006/main">
              <a:ext uri="{FF2B5EF4-FFF2-40B4-BE49-F238E27FC236}">
                <a16:creationId xmlns:a16="http://schemas.microsoft.com/office/drawing/2014/main" id="{9DA3A5A4-D264-4305-B056-9203A515B8EB}"/>
              </a:ext>
            </a:extLst>
          </p:cNvPr>
          <p:cNvSpPr>
            <a:spLocks xmlns:a="http://schemas.openxmlformats.org/drawingml/2006/main" noGrp="1"/>
          </p:cNvSpPr>
          <p:nvPr/>
        </p:nvSpPr>
        <p:spPr>
          <a:xfrm xmlns:a="http://schemas.openxmlformats.org/drawingml/2006/main">
            <a:off x="4810125" y="2781300"/>
            <a:ext cx="95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86C63"/>
                </a:solidFill>
                <a:latin typeface="Arial"/>
                <a:ea typeface="Arial"/>
                <a:cs typeface="Arial"/>
              </a:defRPr>
            </a:pPr>
            <a:r>
              <a:rPr sz="1725" b="0">
                <a:solidFill>
                  <a:srgbClr val="586C63"/>
                </a:solidFill>
                <a:latin typeface="Arial"/>
                <a:ea typeface="Arial"/>
                <a:cs typeface="Arial"/>
              </a:rPr>
              <a:t>6h</a:t>
            </a:r>
          </a:p>
        </p:txBody>
      </p:sp>
      <p:sp>
        <p:nvSpPr>
          <p:cNvPr id="17" name="+1h">
            <a:extLst xmlns:a="http://schemas.openxmlformats.org/drawingml/2006/main">
              <a:ext uri="{FF2B5EF4-FFF2-40B4-BE49-F238E27FC236}">
                <a16:creationId xmlns:a16="http://schemas.microsoft.com/office/drawing/2014/main" id="{76FCF324-5684-4642-988C-0FC01DA14DA2}"/>
              </a:ext>
            </a:extLst>
          </p:cNvPr>
          <p:cNvSpPr>
            <a:spLocks xmlns:a="http://schemas.openxmlformats.org/drawingml/2006/main" noGrp="1"/>
          </p:cNvSpPr>
          <p:nvPr/>
        </p:nvSpPr>
        <p:spPr>
          <a:xfrm xmlns:a="http://schemas.openxmlformats.org/drawingml/2006/main">
            <a:off x="6038850" y="2781300"/>
            <a:ext cx="76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86C63"/>
                </a:solidFill>
                <a:latin typeface="Arial"/>
                <a:ea typeface="Arial"/>
                <a:cs typeface="Arial"/>
              </a:defRPr>
            </a:pPr>
            <a:r>
              <a:rPr sz="1725" b="0">
                <a:solidFill>
                  <a:srgbClr val="586C63"/>
                </a:solidFill>
                <a:latin typeface="Arial"/>
                <a:ea typeface="Arial"/>
                <a:cs typeface="Arial"/>
              </a:rPr>
              <a:t>+1h</a:t>
            </a:r>
          </a:p>
        </p:txBody>
      </p:sp>
      <p:sp>
        <p:nvSpPr>
          <p:cNvPr id="18" name="直线连接符 17">
            <a:extLst xmlns:a="http://schemas.openxmlformats.org/drawingml/2006/main">
              <a:ext uri="{FF2B5EF4-FFF2-40B4-BE49-F238E27FC236}">
                <a16:creationId xmlns:a16="http://schemas.microsoft.com/office/drawing/2014/main" id="{FA9667BA-E988-44CE-8AF0-E935069B0319}"/>
              </a:ext>
            </a:extLst>
          </p:cNvPr>
          <p:cNvSpPr>
            <a:spLocks xmlns:a="http://schemas.openxmlformats.org/drawingml/2006/main" noGrp="1"/>
          </p:cNvSpPr>
          <p:nvPr/>
        </p:nvSpPr>
        <p:spPr>
          <a:xfrm xmlns:a="http://schemas.openxmlformats.org/drawingml/2006/main">
            <a:off x="609600" y="3143250"/>
            <a:ext cx="6334125" cy="0"/>
          </a:xfrm>
          <a:prstGeom xmlns:a="http://schemas.openxmlformats.org/drawingml/2006/main" prst="line">
            <a:avLst/>
          </a:prstGeom>
          <a:noFill xmlns:a="http://schemas.openxmlformats.org/drawingml/2006/main"/>
          <a:ln xmlns:a="http://schemas.openxmlformats.org/drawingml/2006/main" w="14288">
            <a:solidFill>
              <a:srgbClr val="C8D4CB"/>
            </a:solidFill>
          </a:ln>
        </p:spPr>
      </p:sp>
      <p:sp>
        <p:nvSpPr>
          <p:cNvPr id="19" name="LEAF-152 · Super-resolution">
            <a:extLst xmlns:a="http://schemas.openxmlformats.org/drawingml/2006/main">
              <a:ext uri="{FF2B5EF4-FFF2-40B4-BE49-F238E27FC236}">
                <a16:creationId xmlns:a16="http://schemas.microsoft.com/office/drawing/2014/main" id="{6FB87414-2888-4C27-AF58-92805BE26E30}"/>
              </a:ext>
            </a:extLst>
          </p:cNvPr>
          <p:cNvSpPr>
            <a:spLocks xmlns:a="http://schemas.openxmlformats.org/drawingml/2006/main" noGrp="1"/>
          </p:cNvSpPr>
          <p:nvPr/>
        </p:nvSpPr>
        <p:spPr>
          <a:xfrm xmlns:a="http://schemas.openxmlformats.org/drawingml/2006/main">
            <a:off x="723900" y="32575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73B31"/>
                </a:solidFill>
                <a:latin typeface="Arial"/>
                <a:ea typeface="Arial"/>
                <a:cs typeface="Arial"/>
              </a:defRPr>
            </a:pPr>
            <a:r>
              <a:rPr sz="1725" b="1">
                <a:solidFill>
                  <a:srgbClr val="173B31"/>
                </a:solidFill>
                <a:latin typeface="Arial"/>
                <a:ea typeface="Arial"/>
                <a:cs typeface="Arial"/>
                <a:hlinkClick xmlns:r="http://schemas.openxmlformats.org/officeDocument/2006/relationships" r:id="Re061c412b8764ebf"/>
              </a:rPr>
              <a:t>LEAF-152</a:t>
            </a:r>
            <a:r>
              <a:rPr sz="1725" b="1">
                <a:solidFill>
                  <a:srgbClr val="173B31"/>
                </a:solidFill>
                <a:latin typeface="Arial"/>
                <a:ea typeface="Arial"/>
                <a:cs typeface="Arial"/>
              </a:rPr>
              <a:t> · SR</a:t>
            </a:r>
          </a:p>
        </p:txBody>
      </p:sp>
      <p:sp>
        <p:nvSpPr>
          <p:cNvPr id="20" name="5h">
            <a:extLst xmlns:a="http://schemas.openxmlformats.org/drawingml/2006/main">
              <a:ext uri="{FF2B5EF4-FFF2-40B4-BE49-F238E27FC236}">
                <a16:creationId xmlns:a16="http://schemas.microsoft.com/office/drawing/2014/main" id="{B5416B2C-C49F-404C-AAD3-9418E7233FF1}"/>
              </a:ext>
            </a:extLst>
          </p:cNvPr>
          <p:cNvSpPr>
            <a:spLocks xmlns:a="http://schemas.openxmlformats.org/drawingml/2006/main" noGrp="1"/>
          </p:cNvSpPr>
          <p:nvPr/>
        </p:nvSpPr>
        <p:spPr>
          <a:xfrm xmlns:a="http://schemas.openxmlformats.org/drawingml/2006/main">
            <a:off x="3429000" y="3257550"/>
            <a:ext cx="114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86C63"/>
                </a:solidFill>
                <a:latin typeface="Arial"/>
                <a:ea typeface="Arial"/>
                <a:cs typeface="Arial"/>
              </a:defRPr>
            </a:pPr>
            <a:r>
              <a:rPr sz="1725" b="0">
                <a:solidFill>
                  <a:srgbClr val="586C63"/>
                </a:solidFill>
                <a:latin typeface="Arial"/>
                <a:ea typeface="Arial"/>
                <a:cs typeface="Arial"/>
              </a:rPr>
              <a:t>5h</a:t>
            </a:r>
          </a:p>
        </p:txBody>
      </p:sp>
      <p:sp>
        <p:nvSpPr>
          <p:cNvPr id="21" name="7h">
            <a:extLst xmlns:a="http://schemas.openxmlformats.org/drawingml/2006/main">
              <a:ext uri="{FF2B5EF4-FFF2-40B4-BE49-F238E27FC236}">
                <a16:creationId xmlns:a16="http://schemas.microsoft.com/office/drawing/2014/main" id="{990553A7-1668-4C7A-8D06-F1D123E811CC}"/>
              </a:ext>
            </a:extLst>
          </p:cNvPr>
          <p:cNvSpPr>
            <a:spLocks xmlns:a="http://schemas.openxmlformats.org/drawingml/2006/main" noGrp="1"/>
          </p:cNvSpPr>
          <p:nvPr/>
        </p:nvSpPr>
        <p:spPr>
          <a:xfrm xmlns:a="http://schemas.openxmlformats.org/drawingml/2006/main">
            <a:off x="4810125" y="3257550"/>
            <a:ext cx="95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86C63"/>
                </a:solidFill>
                <a:latin typeface="Arial"/>
                <a:ea typeface="Arial"/>
                <a:cs typeface="Arial"/>
              </a:defRPr>
            </a:pPr>
            <a:r>
              <a:rPr sz="1725" b="0">
                <a:solidFill>
                  <a:srgbClr val="586C63"/>
                </a:solidFill>
                <a:latin typeface="Arial"/>
                <a:ea typeface="Arial"/>
                <a:cs typeface="Arial"/>
              </a:rPr>
              <a:t>7h</a:t>
            </a:r>
          </a:p>
        </p:txBody>
      </p:sp>
      <p:sp>
        <p:nvSpPr>
          <p:cNvPr id="22" name="+2h">
            <a:extLst xmlns:a="http://schemas.openxmlformats.org/drawingml/2006/main">
              <a:ext uri="{FF2B5EF4-FFF2-40B4-BE49-F238E27FC236}">
                <a16:creationId xmlns:a16="http://schemas.microsoft.com/office/drawing/2014/main" id="{9A9CEA04-2A1B-4BBB-8841-973EB167D4BF}"/>
              </a:ext>
            </a:extLst>
          </p:cNvPr>
          <p:cNvSpPr>
            <a:spLocks xmlns:a="http://schemas.openxmlformats.org/drawingml/2006/main" noGrp="1"/>
          </p:cNvSpPr>
          <p:nvPr/>
        </p:nvSpPr>
        <p:spPr>
          <a:xfrm xmlns:a="http://schemas.openxmlformats.org/drawingml/2006/main">
            <a:off x="6038850" y="3257550"/>
            <a:ext cx="76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86C63"/>
                </a:solidFill>
                <a:latin typeface="Arial"/>
                <a:ea typeface="Arial"/>
                <a:cs typeface="Arial"/>
              </a:defRPr>
            </a:pPr>
            <a:r>
              <a:rPr sz="1725" b="0">
                <a:solidFill>
                  <a:srgbClr val="586C63"/>
                </a:solidFill>
                <a:latin typeface="Arial"/>
                <a:ea typeface="Arial"/>
                <a:cs typeface="Arial"/>
              </a:rPr>
              <a:t>+2h</a:t>
            </a:r>
          </a:p>
        </p:txBody>
      </p:sp>
      <p:sp>
        <p:nvSpPr>
          <p:cNvPr id="23" name="直线连接符 22">
            <a:extLst xmlns:a="http://schemas.openxmlformats.org/drawingml/2006/main">
              <a:ext uri="{FF2B5EF4-FFF2-40B4-BE49-F238E27FC236}">
                <a16:creationId xmlns:a16="http://schemas.microsoft.com/office/drawing/2014/main" id="{609E34CD-E2E8-40C3-AEF0-E6B2BF2DC14A}"/>
              </a:ext>
            </a:extLst>
          </p:cNvPr>
          <p:cNvSpPr>
            <a:spLocks xmlns:a="http://schemas.openxmlformats.org/drawingml/2006/main" noGrp="1"/>
          </p:cNvSpPr>
          <p:nvPr/>
        </p:nvSpPr>
        <p:spPr>
          <a:xfrm xmlns:a="http://schemas.openxmlformats.org/drawingml/2006/main">
            <a:off x="609600" y="3619500"/>
            <a:ext cx="6334125" cy="0"/>
          </a:xfrm>
          <a:prstGeom xmlns:a="http://schemas.openxmlformats.org/drawingml/2006/main" prst="line">
            <a:avLst/>
          </a:prstGeom>
          <a:noFill xmlns:a="http://schemas.openxmlformats.org/drawingml/2006/main"/>
          <a:ln xmlns:a="http://schemas.openxmlformats.org/drawingml/2006/main" w="14288">
            <a:solidFill>
              <a:srgbClr val="C8D4CB"/>
            </a:solidFill>
          </a:ln>
        </p:spPr>
      </p:sp>
      <p:sp>
        <p:nvSpPr>
          <p:cNvPr id="24" name="LEAF-149 · Context menu">
            <a:extLst xmlns:a="http://schemas.openxmlformats.org/drawingml/2006/main">
              <a:ext uri="{FF2B5EF4-FFF2-40B4-BE49-F238E27FC236}">
                <a16:creationId xmlns:a16="http://schemas.microsoft.com/office/drawing/2014/main" id="{A6EBBD44-41C8-4A03-8891-1112A119BA86}"/>
              </a:ext>
            </a:extLst>
          </p:cNvPr>
          <p:cNvSpPr>
            <a:spLocks xmlns:a="http://schemas.openxmlformats.org/drawingml/2006/main" noGrp="1"/>
          </p:cNvSpPr>
          <p:nvPr/>
        </p:nvSpPr>
        <p:spPr>
          <a:xfrm xmlns:a="http://schemas.openxmlformats.org/drawingml/2006/main">
            <a:off x="723900" y="373380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73B31"/>
                </a:solidFill>
                <a:latin typeface="Arial"/>
                <a:ea typeface="Arial"/>
                <a:cs typeface="Arial"/>
              </a:defRPr>
            </a:pPr>
            <a:r>
              <a:rPr sz="1725" b="1">
                <a:solidFill>
                  <a:srgbClr val="173B31"/>
                </a:solidFill>
                <a:latin typeface="Arial"/>
                <a:ea typeface="Arial"/>
                <a:cs typeface="Arial"/>
                <a:hlinkClick xmlns:r="http://schemas.openxmlformats.org/officeDocument/2006/relationships" r:id="R5e5b40545ebe475c"/>
              </a:rPr>
              <a:t>LEAF-149</a:t>
            </a:r>
            <a:r>
              <a:rPr sz="1725" b="1">
                <a:solidFill>
                  <a:srgbClr val="173B31"/>
                </a:solidFill>
                <a:latin typeface="Arial"/>
                <a:ea typeface="Arial"/>
                <a:cs typeface="Arial"/>
              </a:rPr>
              <a:t> · Menu</a:t>
            </a:r>
          </a:p>
        </p:txBody>
      </p:sp>
      <p:sp>
        <p:nvSpPr>
          <p:cNvPr id="25" name="40m">
            <a:extLst xmlns:a="http://schemas.openxmlformats.org/drawingml/2006/main">
              <a:ext uri="{FF2B5EF4-FFF2-40B4-BE49-F238E27FC236}">
                <a16:creationId xmlns:a16="http://schemas.microsoft.com/office/drawing/2014/main" id="{9336C493-BBF0-41D2-AD6E-A6B65F9C9455}"/>
              </a:ext>
            </a:extLst>
          </p:cNvPr>
          <p:cNvSpPr>
            <a:spLocks xmlns:a="http://schemas.openxmlformats.org/drawingml/2006/main" noGrp="1"/>
          </p:cNvSpPr>
          <p:nvPr/>
        </p:nvSpPr>
        <p:spPr>
          <a:xfrm xmlns:a="http://schemas.openxmlformats.org/drawingml/2006/main">
            <a:off x="3429000" y="3733800"/>
            <a:ext cx="114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86C63"/>
                </a:solidFill>
                <a:latin typeface="Arial"/>
                <a:ea typeface="Arial"/>
                <a:cs typeface="Arial"/>
              </a:defRPr>
            </a:pPr>
            <a:r>
              <a:rPr sz="1725" b="0">
                <a:solidFill>
                  <a:srgbClr val="586C63"/>
                </a:solidFill>
                <a:latin typeface="Arial"/>
                <a:ea typeface="Arial"/>
                <a:cs typeface="Arial"/>
              </a:rPr>
              <a:t>40m</a:t>
            </a:r>
          </a:p>
        </p:txBody>
      </p:sp>
      <p:sp>
        <p:nvSpPr>
          <p:cNvPr id="26" name="40m">
            <a:extLst xmlns:a="http://schemas.openxmlformats.org/drawingml/2006/main">
              <a:ext uri="{FF2B5EF4-FFF2-40B4-BE49-F238E27FC236}">
                <a16:creationId xmlns:a16="http://schemas.microsoft.com/office/drawing/2014/main" id="{264D8C34-5D4E-499E-B45A-A25CB08AC170}"/>
              </a:ext>
            </a:extLst>
          </p:cNvPr>
          <p:cNvSpPr>
            <a:spLocks xmlns:a="http://schemas.openxmlformats.org/drawingml/2006/main" noGrp="1"/>
          </p:cNvSpPr>
          <p:nvPr/>
        </p:nvSpPr>
        <p:spPr>
          <a:xfrm xmlns:a="http://schemas.openxmlformats.org/drawingml/2006/main">
            <a:off x="4810125" y="3733800"/>
            <a:ext cx="95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86C63"/>
                </a:solidFill>
                <a:latin typeface="Arial"/>
                <a:ea typeface="Arial"/>
                <a:cs typeface="Arial"/>
              </a:defRPr>
            </a:pPr>
            <a:r>
              <a:rPr sz="1725" b="0">
                <a:solidFill>
                  <a:srgbClr val="586C63"/>
                </a:solidFill>
                <a:latin typeface="Arial"/>
                <a:ea typeface="Arial"/>
                <a:cs typeface="Arial"/>
              </a:rPr>
              <a:t>40m</a:t>
            </a:r>
          </a:p>
        </p:txBody>
      </p:sp>
      <p:sp>
        <p:nvSpPr>
          <p:cNvPr id="27" name="0">
            <a:extLst xmlns:a="http://schemas.openxmlformats.org/drawingml/2006/main">
              <a:ext uri="{FF2B5EF4-FFF2-40B4-BE49-F238E27FC236}">
                <a16:creationId xmlns:a16="http://schemas.microsoft.com/office/drawing/2014/main" id="{404C7B7E-0B65-440D-A98C-C49D07B37AA4}"/>
              </a:ext>
            </a:extLst>
          </p:cNvPr>
          <p:cNvSpPr>
            <a:spLocks xmlns:a="http://schemas.openxmlformats.org/drawingml/2006/main" noGrp="1"/>
          </p:cNvSpPr>
          <p:nvPr/>
        </p:nvSpPr>
        <p:spPr>
          <a:xfrm xmlns:a="http://schemas.openxmlformats.org/drawingml/2006/main">
            <a:off x="6038850" y="3733800"/>
            <a:ext cx="76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86C63"/>
                </a:solidFill>
                <a:latin typeface="Arial"/>
                <a:ea typeface="Arial"/>
                <a:cs typeface="Arial"/>
              </a:defRPr>
            </a:pPr>
            <a:r>
              <a:rPr sz="1725" b="0">
                <a:solidFill>
                  <a:srgbClr val="586C63"/>
                </a:solidFill>
                <a:latin typeface="Arial"/>
                <a:ea typeface="Arial"/>
                <a:cs typeface="Arial"/>
              </a:rPr>
              <a:t>0</a:t>
            </a:r>
          </a:p>
        </p:txBody>
      </p:sp>
      <p:sp>
        <p:nvSpPr>
          <p:cNvPr id="28" name="直线连接符 27">
            <a:extLst xmlns:a="http://schemas.openxmlformats.org/drawingml/2006/main">
              <a:ext uri="{FF2B5EF4-FFF2-40B4-BE49-F238E27FC236}">
                <a16:creationId xmlns:a16="http://schemas.microsoft.com/office/drawing/2014/main" id="{BEA93B95-988D-4434-B640-E801AD82D049}"/>
              </a:ext>
            </a:extLst>
          </p:cNvPr>
          <p:cNvSpPr>
            <a:spLocks xmlns:a="http://schemas.openxmlformats.org/drawingml/2006/main" noGrp="1"/>
          </p:cNvSpPr>
          <p:nvPr/>
        </p:nvSpPr>
        <p:spPr>
          <a:xfrm xmlns:a="http://schemas.openxmlformats.org/drawingml/2006/main">
            <a:off x="609600" y="4095750"/>
            <a:ext cx="6334125" cy="0"/>
          </a:xfrm>
          <a:prstGeom xmlns:a="http://schemas.openxmlformats.org/drawingml/2006/main" prst="line">
            <a:avLst/>
          </a:prstGeom>
          <a:noFill xmlns:a="http://schemas.openxmlformats.org/drawingml/2006/main"/>
          <a:ln xmlns:a="http://schemas.openxmlformats.org/drawingml/2006/main" w="14288">
            <a:solidFill>
              <a:srgbClr val="C8D4CB"/>
            </a:solidFill>
          </a:ln>
        </p:spPr>
      </p:sp>
      <p:sp>
        <p:nvSpPr>
          <p:cNvPr id="29" name="LEAF-153 · Crop scaling">
            <a:extLst xmlns:a="http://schemas.openxmlformats.org/drawingml/2006/main">
              <a:ext uri="{FF2B5EF4-FFF2-40B4-BE49-F238E27FC236}">
                <a16:creationId xmlns:a16="http://schemas.microsoft.com/office/drawing/2014/main" id="{CF991D7B-51C9-4217-935E-DD4D6E9706A5}"/>
              </a:ext>
            </a:extLst>
          </p:cNvPr>
          <p:cNvSpPr>
            <a:spLocks xmlns:a="http://schemas.openxmlformats.org/drawingml/2006/main" noGrp="1"/>
          </p:cNvSpPr>
          <p:nvPr/>
        </p:nvSpPr>
        <p:spPr>
          <a:xfrm xmlns:a="http://schemas.openxmlformats.org/drawingml/2006/main">
            <a:off x="723900" y="4210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73B31"/>
                </a:solidFill>
                <a:latin typeface="Arial"/>
                <a:ea typeface="Arial"/>
                <a:cs typeface="Arial"/>
              </a:defRPr>
            </a:pPr>
            <a:r>
              <a:rPr sz="1725" b="1">
                <a:solidFill>
                  <a:srgbClr val="173B31"/>
                </a:solidFill>
                <a:latin typeface="Arial"/>
                <a:ea typeface="Arial"/>
                <a:cs typeface="Arial"/>
                <a:hlinkClick xmlns:r="http://schemas.openxmlformats.org/officeDocument/2006/relationships" r:id="R87578a9485c24a02"/>
              </a:rPr>
              <a:t>LEAF-153</a:t>
            </a:r>
            <a:r>
              <a:rPr sz="1725" b="1">
                <a:solidFill>
                  <a:srgbClr val="173B31"/>
                </a:solidFill>
                <a:latin typeface="Arial"/>
                <a:ea typeface="Arial"/>
                <a:cs typeface="Arial"/>
              </a:rPr>
              <a:t> · Crop scale</a:t>
            </a:r>
          </a:p>
        </p:txBody>
      </p:sp>
      <p:sp>
        <p:nvSpPr>
          <p:cNvPr id="30" name="30m">
            <a:extLst xmlns:a="http://schemas.openxmlformats.org/drawingml/2006/main">
              <a:ext uri="{FF2B5EF4-FFF2-40B4-BE49-F238E27FC236}">
                <a16:creationId xmlns:a16="http://schemas.microsoft.com/office/drawing/2014/main" id="{C7DFBA05-C34B-4DEE-8D3F-9A5282DD45D2}"/>
              </a:ext>
            </a:extLst>
          </p:cNvPr>
          <p:cNvSpPr>
            <a:spLocks xmlns:a="http://schemas.openxmlformats.org/drawingml/2006/main" noGrp="1"/>
          </p:cNvSpPr>
          <p:nvPr/>
        </p:nvSpPr>
        <p:spPr>
          <a:xfrm xmlns:a="http://schemas.openxmlformats.org/drawingml/2006/main">
            <a:off x="3429000" y="4210050"/>
            <a:ext cx="114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86C63"/>
                </a:solidFill>
                <a:latin typeface="Arial"/>
                <a:ea typeface="Arial"/>
                <a:cs typeface="Arial"/>
              </a:defRPr>
            </a:pPr>
            <a:r>
              <a:rPr sz="1725" b="0">
                <a:solidFill>
                  <a:srgbClr val="586C63"/>
                </a:solidFill>
                <a:latin typeface="Arial"/>
                <a:ea typeface="Arial"/>
                <a:cs typeface="Arial"/>
              </a:rPr>
              <a:t>30m</a:t>
            </a:r>
          </a:p>
        </p:txBody>
      </p:sp>
      <p:sp>
        <p:nvSpPr>
          <p:cNvPr id="31" name="15m">
            <a:extLst xmlns:a="http://schemas.openxmlformats.org/drawingml/2006/main">
              <a:ext uri="{FF2B5EF4-FFF2-40B4-BE49-F238E27FC236}">
                <a16:creationId xmlns:a16="http://schemas.microsoft.com/office/drawing/2014/main" id="{A912BFDE-8505-4C04-AF6F-5903BD179C26}"/>
              </a:ext>
            </a:extLst>
          </p:cNvPr>
          <p:cNvSpPr>
            <a:spLocks xmlns:a="http://schemas.openxmlformats.org/drawingml/2006/main" noGrp="1"/>
          </p:cNvSpPr>
          <p:nvPr/>
        </p:nvSpPr>
        <p:spPr>
          <a:xfrm xmlns:a="http://schemas.openxmlformats.org/drawingml/2006/main">
            <a:off x="4810125" y="4210050"/>
            <a:ext cx="95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86C63"/>
                </a:solidFill>
                <a:latin typeface="Arial"/>
                <a:ea typeface="Arial"/>
                <a:cs typeface="Arial"/>
              </a:defRPr>
            </a:pPr>
            <a:r>
              <a:rPr sz="1725" b="0">
                <a:solidFill>
                  <a:srgbClr val="586C63"/>
                </a:solidFill>
                <a:latin typeface="Arial"/>
                <a:ea typeface="Arial"/>
                <a:cs typeface="Arial"/>
              </a:rPr>
              <a:t>15m</a:t>
            </a:r>
          </a:p>
        </p:txBody>
      </p:sp>
      <p:sp>
        <p:nvSpPr>
          <p:cNvPr id="32" name="−15m">
            <a:extLst xmlns:a="http://schemas.openxmlformats.org/drawingml/2006/main">
              <a:ext uri="{FF2B5EF4-FFF2-40B4-BE49-F238E27FC236}">
                <a16:creationId xmlns:a16="http://schemas.microsoft.com/office/drawing/2014/main" id="{1D4863D4-CF8E-43BF-AC99-71DBC5F2355B}"/>
              </a:ext>
            </a:extLst>
          </p:cNvPr>
          <p:cNvSpPr>
            <a:spLocks xmlns:a="http://schemas.openxmlformats.org/drawingml/2006/main" noGrp="1"/>
          </p:cNvSpPr>
          <p:nvPr/>
        </p:nvSpPr>
        <p:spPr>
          <a:xfrm xmlns:a="http://schemas.openxmlformats.org/drawingml/2006/main">
            <a:off x="6038850" y="4210050"/>
            <a:ext cx="781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86C63"/>
                </a:solidFill>
                <a:latin typeface="Arial"/>
                <a:ea typeface="Arial"/>
                <a:cs typeface="Arial"/>
              </a:defRPr>
            </a:pPr>
            <a:r>
              <a:rPr sz="1725" b="0">
                <a:solidFill>
                  <a:srgbClr val="586C63"/>
                </a:solidFill>
                <a:latin typeface="Arial"/>
                <a:ea typeface="Arial"/>
                <a:cs typeface="Arial"/>
              </a:rPr>
              <a:t>−15m</a:t>
            </a:r>
          </a:p>
        </p:txBody>
      </p:sp>
      <p:sp>
        <p:nvSpPr>
          <p:cNvPr id="33" name="直线连接符 32">
            <a:extLst xmlns:a="http://schemas.openxmlformats.org/drawingml/2006/main">
              <a:ext uri="{FF2B5EF4-FFF2-40B4-BE49-F238E27FC236}">
                <a16:creationId xmlns:a16="http://schemas.microsoft.com/office/drawing/2014/main" id="{E8294425-343B-4A4C-B009-F3A873E31008}"/>
              </a:ext>
            </a:extLst>
          </p:cNvPr>
          <p:cNvSpPr>
            <a:spLocks xmlns:a="http://schemas.openxmlformats.org/drawingml/2006/main" noGrp="1"/>
          </p:cNvSpPr>
          <p:nvPr/>
        </p:nvSpPr>
        <p:spPr>
          <a:xfrm xmlns:a="http://schemas.openxmlformats.org/drawingml/2006/main">
            <a:off x="609600" y="4572000"/>
            <a:ext cx="6334125" cy="0"/>
          </a:xfrm>
          <a:prstGeom xmlns:a="http://schemas.openxmlformats.org/drawingml/2006/main" prst="line">
            <a:avLst/>
          </a:prstGeom>
          <a:noFill xmlns:a="http://schemas.openxmlformats.org/drawingml/2006/main"/>
          <a:ln xmlns:a="http://schemas.openxmlformats.org/drawingml/2006/main" w="14288">
            <a:solidFill>
              <a:srgbClr val="C8D4CB"/>
            </a:solidFill>
          </a:ln>
        </p:spPr>
      </p:sp>
      <p:sp>
        <p:nvSpPr>
          <p:cNvPr id="34" name="LEAF-155 · Colour swatches">
            <a:extLst xmlns:a="http://schemas.openxmlformats.org/drawingml/2006/main">
              <a:ext uri="{FF2B5EF4-FFF2-40B4-BE49-F238E27FC236}">
                <a16:creationId xmlns:a16="http://schemas.microsoft.com/office/drawing/2014/main" id="{BA995AB0-42AB-4543-9BE5-C4A622BF1DF5}"/>
              </a:ext>
            </a:extLst>
          </p:cNvPr>
          <p:cNvSpPr>
            <a:spLocks xmlns:a="http://schemas.openxmlformats.org/drawingml/2006/main" noGrp="1"/>
          </p:cNvSpPr>
          <p:nvPr/>
        </p:nvSpPr>
        <p:spPr>
          <a:xfrm xmlns:a="http://schemas.openxmlformats.org/drawingml/2006/main">
            <a:off x="723900" y="468630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73B31"/>
                </a:solidFill>
                <a:latin typeface="Arial"/>
                <a:ea typeface="Arial"/>
                <a:cs typeface="Arial"/>
              </a:defRPr>
            </a:pPr>
            <a:r>
              <a:rPr sz="1725" b="1">
                <a:solidFill>
                  <a:srgbClr val="173B31"/>
                </a:solidFill>
                <a:latin typeface="Arial"/>
                <a:ea typeface="Arial"/>
                <a:cs typeface="Arial"/>
                <a:hlinkClick xmlns:r="http://schemas.openxmlformats.org/officeDocument/2006/relationships" r:id="Re688f38a7cef4053"/>
              </a:rPr>
              <a:t>LEAF-155</a:t>
            </a:r>
            <a:r>
              <a:rPr sz="1725" b="1">
                <a:solidFill>
                  <a:srgbClr val="173B31"/>
                </a:solidFill>
                <a:latin typeface="Arial"/>
                <a:ea typeface="Arial"/>
                <a:cs typeface="Arial"/>
              </a:rPr>
              <a:t> · Colours</a:t>
            </a:r>
          </a:p>
        </p:txBody>
      </p:sp>
      <p:sp>
        <p:nvSpPr>
          <p:cNvPr id="35" name="2h">
            <a:extLst xmlns:a="http://schemas.openxmlformats.org/drawingml/2006/main">
              <a:ext uri="{FF2B5EF4-FFF2-40B4-BE49-F238E27FC236}">
                <a16:creationId xmlns:a16="http://schemas.microsoft.com/office/drawing/2014/main" id="{35FE8E4C-4F63-4B25-A079-943AA812311A}"/>
              </a:ext>
            </a:extLst>
          </p:cNvPr>
          <p:cNvSpPr>
            <a:spLocks xmlns:a="http://schemas.openxmlformats.org/drawingml/2006/main" noGrp="1"/>
          </p:cNvSpPr>
          <p:nvPr/>
        </p:nvSpPr>
        <p:spPr>
          <a:xfrm xmlns:a="http://schemas.openxmlformats.org/drawingml/2006/main">
            <a:off x="3429000" y="4686300"/>
            <a:ext cx="114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86C63"/>
                </a:solidFill>
                <a:latin typeface="Arial"/>
                <a:ea typeface="Arial"/>
                <a:cs typeface="Arial"/>
              </a:defRPr>
            </a:pPr>
            <a:r>
              <a:rPr sz="1725" b="0">
                <a:solidFill>
                  <a:srgbClr val="586C63"/>
                </a:solidFill>
                <a:latin typeface="Arial"/>
                <a:ea typeface="Arial"/>
                <a:cs typeface="Arial"/>
              </a:rPr>
              <a:t>2h</a:t>
            </a:r>
          </a:p>
        </p:txBody>
      </p:sp>
      <p:sp>
        <p:nvSpPr>
          <p:cNvPr id="36" name="40m">
            <a:extLst xmlns:a="http://schemas.openxmlformats.org/drawingml/2006/main">
              <a:ext uri="{FF2B5EF4-FFF2-40B4-BE49-F238E27FC236}">
                <a16:creationId xmlns:a16="http://schemas.microsoft.com/office/drawing/2014/main" id="{50924E42-DC6F-4AA8-AC3F-0EEDBAF3693A}"/>
              </a:ext>
            </a:extLst>
          </p:cNvPr>
          <p:cNvSpPr>
            <a:spLocks xmlns:a="http://schemas.openxmlformats.org/drawingml/2006/main" noGrp="1"/>
          </p:cNvSpPr>
          <p:nvPr/>
        </p:nvSpPr>
        <p:spPr>
          <a:xfrm xmlns:a="http://schemas.openxmlformats.org/drawingml/2006/main">
            <a:off x="4810125" y="4686300"/>
            <a:ext cx="95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86C63"/>
                </a:solidFill>
                <a:latin typeface="Arial"/>
                <a:ea typeface="Arial"/>
                <a:cs typeface="Arial"/>
              </a:defRPr>
            </a:pPr>
            <a:r>
              <a:rPr sz="1725" b="0">
                <a:solidFill>
                  <a:srgbClr val="586C63"/>
                </a:solidFill>
                <a:latin typeface="Arial"/>
                <a:ea typeface="Arial"/>
                <a:cs typeface="Arial"/>
              </a:rPr>
              <a:t>40m</a:t>
            </a:r>
          </a:p>
        </p:txBody>
      </p:sp>
      <p:sp>
        <p:nvSpPr>
          <p:cNvPr id="37" name="−1h 20m">
            <a:extLst xmlns:a="http://schemas.openxmlformats.org/drawingml/2006/main">
              <a:ext uri="{FF2B5EF4-FFF2-40B4-BE49-F238E27FC236}">
                <a16:creationId xmlns:a16="http://schemas.microsoft.com/office/drawing/2014/main" id="{DF87B607-D274-4493-9DBD-9396133BEFDD}"/>
              </a:ext>
            </a:extLst>
          </p:cNvPr>
          <p:cNvSpPr>
            <a:spLocks xmlns:a="http://schemas.openxmlformats.org/drawingml/2006/main" noGrp="1"/>
          </p:cNvSpPr>
          <p:nvPr/>
        </p:nvSpPr>
        <p:spPr>
          <a:xfrm xmlns:a="http://schemas.openxmlformats.org/drawingml/2006/main">
            <a:off x="6038850" y="4686300"/>
            <a:ext cx="809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86C63"/>
                </a:solidFill>
                <a:latin typeface="Arial"/>
                <a:ea typeface="Arial"/>
                <a:cs typeface="Arial"/>
              </a:defRPr>
            </a:pPr>
            <a:r>
              <a:rPr sz="1725" b="0">
                <a:solidFill>
                  <a:srgbClr val="586C63"/>
                </a:solidFill>
                <a:latin typeface="Arial"/>
                <a:ea typeface="Arial"/>
                <a:cs typeface="Arial"/>
              </a:rPr>
              <a:t>−80m</a:t>
            </a:r>
          </a:p>
        </p:txBody>
      </p:sp>
      <p:sp>
        <p:nvSpPr>
          <p:cNvPr id="38" name="直线连接符 37">
            <a:extLst xmlns:a="http://schemas.openxmlformats.org/drawingml/2006/main">
              <a:ext uri="{FF2B5EF4-FFF2-40B4-BE49-F238E27FC236}">
                <a16:creationId xmlns:a16="http://schemas.microsoft.com/office/drawing/2014/main" id="{6D2B0EDD-C77A-4F42-8FE0-B989EE16BD97}"/>
              </a:ext>
            </a:extLst>
          </p:cNvPr>
          <p:cNvSpPr>
            <a:spLocks xmlns:a="http://schemas.openxmlformats.org/drawingml/2006/main" noGrp="1"/>
          </p:cNvSpPr>
          <p:nvPr/>
        </p:nvSpPr>
        <p:spPr>
          <a:xfrm xmlns:a="http://schemas.openxmlformats.org/drawingml/2006/main">
            <a:off x="609600" y="5048250"/>
            <a:ext cx="6334125" cy="0"/>
          </a:xfrm>
          <a:prstGeom xmlns:a="http://schemas.openxmlformats.org/drawingml/2006/main" prst="line">
            <a:avLst/>
          </a:prstGeom>
          <a:noFill xmlns:a="http://schemas.openxmlformats.org/drawingml/2006/main"/>
          <a:ln xmlns:a="http://schemas.openxmlformats.org/drawingml/2006/main" w="14288">
            <a:solidFill>
              <a:srgbClr val="C8D4CB"/>
            </a:solidFill>
          </a:ln>
        </p:spPr>
      </p:sp>
      <p:sp>
        <p:nvSpPr>
          <p:cNvPr id="39" name="*Current Jira estimate. SR changed 3h → 4h → ">
            <a:extLst xmlns:a="http://schemas.openxmlformats.org/drawingml/2006/main">
              <a:ext uri="{FF2B5EF4-FFF2-40B4-BE49-F238E27FC236}">
                <a16:creationId xmlns:a16="http://schemas.microsoft.com/office/drawing/2014/main" id="{F21CA4DD-2FF3-4280-8CE2-A30FD6B5637E}"/>
              </a:ext>
            </a:extLst>
          </p:cNvPr>
          <p:cNvSpPr>
            <a:spLocks xmlns:a="http://schemas.openxmlformats.org/drawingml/2006/main" noGrp="1"/>
          </p:cNvSpPr>
          <p:nvPr/>
        </p:nvSpPr>
        <p:spPr>
          <a:xfrm xmlns:a="http://schemas.openxmlformats.org/drawingml/2006/main">
            <a:off x="609600" y="52292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93651E"/>
                </a:solidFill>
                <a:latin typeface="Arial"/>
                <a:ea typeface="Arial"/>
                <a:cs typeface="Arial"/>
              </a:defRPr>
            </a:pPr>
            <a:r>
              <a:rPr sz="1650" b="0">
                <a:solidFill>
                  <a:srgbClr val="93651E"/>
                </a:solidFill>
                <a:latin typeface="Arial"/>
                <a:ea typeface="Arial"/>
                <a:cs typeface="Arial"/>
              </a:rPr>
              <a:t>*Current estimates. SR changed from 3h to 5h. Hypercube was estimated during review.</a:t>
            </a:r>
          </a:p>
        </p:txBody>
      </p:sp>
      <p:sp>
        <p:nvSpPr>
          <p:cNvPr id="40" name="Sprint 6 proposal: save the starting estimate">
            <a:extLst xmlns:a="http://schemas.openxmlformats.org/drawingml/2006/main">
              <a:ext uri="{FF2B5EF4-FFF2-40B4-BE49-F238E27FC236}">
                <a16:creationId xmlns:a16="http://schemas.microsoft.com/office/drawing/2014/main" id="{2E1D47B9-48C9-48B2-8366-1D69D9A7EF3B}"/>
              </a:ext>
            </a:extLst>
          </p:cNvPr>
          <p:cNvSpPr>
            <a:spLocks xmlns:a="http://schemas.openxmlformats.org/drawingml/2006/main" noGrp="1"/>
          </p:cNvSpPr>
          <p:nvPr/>
        </p:nvSpPr>
        <p:spPr>
          <a:xfrm xmlns:a="http://schemas.openxmlformats.org/drawingml/2006/main">
            <a:off x="609600" y="57626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287553"/>
                </a:solidFill>
                <a:latin typeface="Arial"/>
                <a:ea typeface="Arial"/>
                <a:cs typeface="Arial"/>
              </a:defRPr>
            </a:pPr>
            <a:r>
              <a:rPr sz="1725" b="1">
                <a:solidFill>
                  <a:srgbClr val="287553"/>
                </a:solidFill>
                <a:latin typeface="Arial"/>
                <a:ea typeface="Arial"/>
                <a:cs typeface="Arial"/>
              </a:rPr>
              <a:t>Next sprint: keep the first estimate and record why it changes. Allow time for integration and tests.</a:t>
            </a:r>
          </a:p>
        </p:txBody>
      </p:sp>
      <p:pic>
        <p:nvPicPr>
          <p:cNvPr id="82" name=""/>
          <p:cNvPicPr>
            <a:picLocks xmlns:a="http://schemas.openxmlformats.org/drawingml/2006/main" noChangeAspect="1"/>
          </p:cNvPicPr>
          <p:nvPr/>
        </p:nvPicPr>
        <p:blipFill>
          <a:blip xmlns:r="http://schemas.openxmlformats.org/officeDocument/2006/relationships" xmlns:a="http://schemas.openxmlformats.org/drawingml/2006/main" r:embed="Ref97d85b7e4c4422"/>
          <a:stretch xmlns:a="http://schemas.openxmlformats.org/drawingml/2006/main"/>
        </p:blipFill>
        <p:spPr>
          <a:xfrm xmlns:a="http://schemas.openxmlformats.org/drawingml/2006/main">
            <a:off x="8003664" y="2162175"/>
            <a:ext cx="2766447" cy="2914650"/>
          </a:xfrm>
          <a:prstGeom xmlns:a="http://schemas.openxmlformats.org/drawingml/2006/main" prst="rect">
            <a:avLst/>
          </a:prstGeom>
        </p:spPr>
      </p:pic>
    </p:spTree>
    <p:extLst>
      <p:ext uri="{BB962C8B-B14F-4D97-AF65-F5344CB8AC3E}">
        <p14:creationId xmlns:p14="http://schemas.microsoft.com/office/powerpoint/2010/main" val="828627161"/>
      </p:ext>
    </p:extLst>
  </p:cSld>
</p:sld>
</file>

<file path=ppt/slides/slide8.xml><?xml version="1.0" encoding="utf-8"?>
<p:sld xmlns:p="http://schemas.openxmlformats.org/presentationml/2006/main">
  <p:cSld>
    <p:bg>
      <p:bgPr>
        <a:solidFill xmlns:a="http://schemas.openxmlformats.org/drawingml/2006/main">
          <a:srgbClr val="F4F5F0"/>
        </a:solidFill>
      </p:bgPr>
    </p:bg>
    <p:spTree>
      <p:nvGrpSpPr>
        <p:cNvPr id="1" name=""/>
        <p:cNvGrpSpPr/>
        <p:nvPr/>
      </p:nvGrpSpPr>
      <p:grpSpPr>
        <a:xfrm xmlns:a="http://schemas.openxmlformats.org/drawingml/2006/main"/>
      </p:grpSpPr>
      <p:sp>
        <p:nvSpPr>
          <p:cNvPr id="26" name="PLANNING AND ORGANISATION">
            <a:extLst xmlns:a="http://schemas.openxmlformats.org/drawingml/2006/main">
              <a:ext uri="{FF2B5EF4-FFF2-40B4-BE49-F238E27FC236}">
                <a16:creationId xmlns:a16="http://schemas.microsoft.com/office/drawing/2014/main" id="{0C4BB752-DD06-4F94-A98A-0C51448C2D0F}"/>
              </a:ext>
            </a:extLst>
          </p:cNvPr>
          <p:cNvSpPr>
            <a:spLocks xmlns:a="http://schemas.openxmlformats.org/drawingml/2006/main" noGrp="1"/>
          </p:cNvSpPr>
          <p:nvPr/>
        </p:nvSpPr>
        <p:spPr>
          <a:xfrm xmlns:a="http://schemas.openxmlformats.org/drawingml/2006/main">
            <a:off x="609600" y="4000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1">
                <a:solidFill>
                  <a:srgbClr val="287553"/>
                </a:solidFill>
                <a:latin typeface="Arial"/>
                <a:ea typeface="Arial"/>
                <a:cs typeface="Arial"/>
              </a:defRPr>
            </a:pPr>
            <a:r>
              <a:rPr sz="1500" b="1">
                <a:solidFill>
                  <a:srgbClr val="287553"/>
                </a:solidFill>
                <a:latin typeface="Arial"/>
                <a:ea typeface="Arial"/>
                <a:cs typeface="Arial"/>
              </a:rPr>
              <a:t>PLANNING AND ORGANISATION</a:t>
            </a:r>
          </a:p>
        </p:txBody>
      </p:sp>
      <p:sp>
        <p:nvSpPr>
          <p:cNvPr id="2" name="Risks changed as integration grew">
            <a:extLst xmlns:a="http://schemas.openxmlformats.org/drawingml/2006/main">
              <a:ext uri="{FF2B5EF4-FFF2-40B4-BE49-F238E27FC236}">
                <a16:creationId xmlns:a16="http://schemas.microsoft.com/office/drawing/2014/main" id="{4DFD7516-8C20-4F24-B0F4-E1EB5F6766CD}"/>
              </a:ext>
            </a:extLst>
          </p:cNvPr>
          <p:cNvSpPr>
            <a:spLocks xmlns:a="http://schemas.openxmlformats.org/drawingml/2006/main" noGrp="1"/>
          </p:cNvSpPr>
          <p:nvPr/>
        </p:nvSpPr>
        <p:spPr>
          <a:xfrm xmlns:a="http://schemas.openxmlformats.org/drawingml/2006/main">
            <a:off x="609600" y="86677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600" b="1">
                <a:solidFill>
                  <a:srgbClr val="173B31"/>
                </a:solidFill>
                <a:latin typeface="Arial"/>
                <a:ea typeface="Arial"/>
                <a:cs typeface="Arial"/>
              </a:defRPr>
            </a:pPr>
            <a:r>
              <a:rPr sz="3600" b="1">
                <a:solidFill>
                  <a:srgbClr val="173B31"/>
                </a:solidFill>
                <a:latin typeface="Arial"/>
                <a:ea typeface="Arial"/>
                <a:cs typeface="Arial"/>
              </a:rPr>
              <a:t>We updated the risk plan each week</a:t>
            </a:r>
          </a:p>
        </p:txBody>
      </p:sp>
      <p:sp>
        <p:nvSpPr>
          <p:cNvPr id="3" name="直线连接符 2">
            <a:extLst xmlns:a="http://schemas.openxmlformats.org/drawingml/2006/main">
              <a:ext uri="{FF2B5EF4-FFF2-40B4-BE49-F238E27FC236}">
                <a16:creationId xmlns:a16="http://schemas.microsoft.com/office/drawing/2014/main" id="{F707922B-3DB3-44CB-A2C6-D35C37617092}"/>
              </a:ext>
            </a:extLst>
          </p:cNvPr>
          <p:cNvSpPr>
            <a:spLocks xmlns:a="http://schemas.openxmlformats.org/drawingml/2006/main" noGrp="1"/>
          </p:cNvSpPr>
          <p:nvPr/>
        </p:nvSpPr>
        <p:spPr>
          <a:xfrm xmlns:a="http://schemas.openxmlformats.org/drawingml/2006/main">
            <a:off x="609600" y="6238875"/>
            <a:ext cx="10972800" cy="0"/>
          </a:xfrm>
          <a:prstGeom xmlns:a="http://schemas.openxmlformats.org/drawingml/2006/main" prst="line">
            <a:avLst/>
          </a:prstGeom>
          <a:noFill xmlns:a="http://schemas.openxmlformats.org/drawingml/2006/main"/>
          <a:ln xmlns:a="http://schemas.openxmlformats.org/drawingml/2006/main" w="14288">
            <a:solidFill>
              <a:srgbClr val="C8D4CB"/>
            </a:solidFill>
          </a:ln>
        </p:spPr>
      </p:sp>
      <p:sp>
        <p:nvSpPr>
          <p:cNvPr id="4" name="LEAF ANALYZER  /  SPRINT 5">
            <a:extLst xmlns:a="http://schemas.openxmlformats.org/drawingml/2006/main">
              <a:ext uri="{FF2B5EF4-FFF2-40B4-BE49-F238E27FC236}">
                <a16:creationId xmlns:a16="http://schemas.microsoft.com/office/drawing/2014/main" id="{961FB640-8C76-4564-BC34-76368490634C}"/>
              </a:ext>
            </a:extLst>
          </p:cNvPr>
          <p:cNvSpPr>
            <a:spLocks xmlns:a="http://schemas.openxmlformats.org/drawingml/2006/main" noGrp="1"/>
          </p:cNvSpPr>
          <p:nvPr/>
        </p:nvSpPr>
        <p:spPr>
          <a:xfrm xmlns:a="http://schemas.openxmlformats.org/drawingml/2006/main">
            <a:off x="609600" y="6410325"/>
            <a:ext cx="323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586C63"/>
                </a:solidFill>
                <a:latin typeface="Arial"/>
                <a:ea typeface="Arial"/>
                <a:cs typeface="Arial"/>
              </a:defRPr>
            </a:pPr>
            <a:r>
              <a:rPr sz="1350" b="0">
                <a:solidFill>
                  <a:srgbClr val="586C63"/>
                </a:solidFill>
                <a:latin typeface="Arial"/>
                <a:ea typeface="Arial"/>
                <a:cs typeface="Arial"/>
              </a:rPr>
              <a:t>LEAF ANALYZER  /  SPRINT 5</a:t>
            </a:r>
          </a:p>
        </p:txBody>
      </p:sp>
      <p:sp>
        <p:nvSpPr>
          <p:cNvPr id="5" name="Risk Management Plan • reviewed 21 and 28 Aug">
            <a:extLst xmlns:a="http://schemas.openxmlformats.org/drawingml/2006/main">
              <a:ext uri="{FF2B5EF4-FFF2-40B4-BE49-F238E27FC236}">
                <a16:creationId xmlns:a16="http://schemas.microsoft.com/office/drawing/2014/main" id="{BE88B09C-167E-458B-BD3B-7DA5408C766C}"/>
              </a:ext>
            </a:extLst>
          </p:cNvPr>
          <p:cNvSpPr>
            <a:spLocks xmlns:a="http://schemas.openxmlformats.org/drawingml/2006/main" noGrp="1"/>
          </p:cNvSpPr>
          <p:nvPr/>
        </p:nvSpPr>
        <p:spPr>
          <a:xfrm xmlns:a="http://schemas.openxmlformats.org/drawingml/2006/main">
            <a:off x="3952875" y="6305550"/>
            <a:ext cx="708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200">
                <a:solidFill>
                  <a:srgbClr val="287553"/>
                </a:solidFill>
                <a:latin typeface="Arial"/>
                <a:ea typeface="Arial"/>
                <a:cs typeface="Arial"/>
              </a:defRPr>
            </a:pPr>
            <a:r>
              <a:rPr sz="1200">
                <a:solidFill>
                  <a:srgbClr val="287553"/>
                </a:solidFill>
                <a:latin typeface="Arial"/>
                <a:ea typeface="Arial"/>
                <a:cs typeface="Arial"/>
              </a:rPr>
              <a:t>Sources: </a:t>
            </a:r>
            <a:r>
              <a:rPr sz="1200" u="sng">
                <a:solidFill>
                  <a:srgbClr val="287553"/>
                </a:solidFill>
                <a:latin typeface="Arial"/>
                <a:ea typeface="Arial"/>
                <a:cs typeface="Arial"/>
                <a:hlinkClick xmlns:r="http://schemas.openxmlformats.org/officeDocument/2006/relationships" r:id="Rba9c839e6e2b4b01"/>
              </a:rPr>
              <a:t>Risk plan</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dc0fc14c4cdb400e"/>
              </a:rPr>
              <a:t>SR setup</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f7cfd6f19a054aec"/>
              </a:rPr>
              <a:t>Week 5 reflection</a:t>
            </a:r>
          </a:p>
        </p:txBody>
      </p:sp>
      <p:sp>
        <p:nvSpPr>
          <p:cNvPr id="6" name="08">
            <a:extLst xmlns:a="http://schemas.openxmlformats.org/drawingml/2006/main">
              <a:ext uri="{FF2B5EF4-FFF2-40B4-BE49-F238E27FC236}">
                <a16:creationId xmlns:a16="http://schemas.microsoft.com/office/drawing/2014/main" id="{6FE23607-17E6-4264-B965-3BC6C7F0F9AB}"/>
              </a:ext>
            </a:extLst>
          </p:cNvPr>
          <p:cNvSpPr>
            <a:spLocks xmlns:a="http://schemas.openxmlformats.org/drawingml/2006/main" noGrp="1"/>
          </p:cNvSpPr>
          <p:nvPr/>
        </p:nvSpPr>
        <p:spPr>
          <a:xfrm xmlns:a="http://schemas.openxmlformats.org/drawingml/2006/main">
            <a:off x="11239500" y="63817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586C63"/>
                </a:solidFill>
                <a:latin typeface="Arial"/>
                <a:ea typeface="Arial"/>
                <a:cs typeface="Arial"/>
              </a:defRPr>
            </a:pPr>
            <a:r>
              <a:rPr sz="1575" b="0">
                <a:solidFill>
                  <a:srgbClr val="586C63"/>
                </a:solidFill>
                <a:latin typeface="Arial"/>
                <a:ea typeface="Arial"/>
                <a:cs typeface="Arial"/>
              </a:rPr>
              <a:t>08</a:t>
            </a:r>
          </a:p>
        </p:txBody>
      </p:sp>
      <p:sp>
        <p:nvSpPr>
          <p:cNvPr id="7" name="Owners, triggers and responses are recorded; ">
            <a:extLst xmlns:a="http://schemas.openxmlformats.org/drawingml/2006/main">
              <a:ext uri="{FF2B5EF4-FFF2-40B4-BE49-F238E27FC236}">
                <a16:creationId xmlns:a16="http://schemas.microsoft.com/office/drawing/2014/main" id="{C1A81FE2-B9D6-4D7E-BE6F-F078F9F06DE4}"/>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586C63"/>
                </a:solidFill>
                <a:latin typeface="Arial"/>
                <a:ea typeface="Arial"/>
                <a:cs typeface="Arial"/>
              </a:defRPr>
            </a:pPr>
            <a:r>
              <a:rPr sz="1950" b="0">
                <a:solidFill>
                  <a:srgbClr val="586C63"/>
                </a:solidFill>
                <a:latin typeface="Arial"/>
                <a:ea typeface="Arial"/>
                <a:cs typeface="Arial"/>
              </a:rPr>
              <a:t>Reviewed on 21 and 28 August. Next review: 4 September.</a:t>
            </a:r>
          </a:p>
        </p:txBody>
      </p:sp>
      <p:sp>
        <p:nvSpPr>
          <p:cNvPr id="8" name="矩形 7">
            <a:extLst xmlns:a="http://schemas.openxmlformats.org/drawingml/2006/main">
              <a:ext uri="{FF2B5EF4-FFF2-40B4-BE49-F238E27FC236}">
                <a16:creationId xmlns:a16="http://schemas.microsoft.com/office/drawing/2014/main" id="{66721D3D-796A-40D6-A8E1-761256309F7C}"/>
              </a:ext>
            </a:extLst>
          </p:cNvPr>
          <p:cNvSpPr>
            <a:spLocks xmlns:a="http://schemas.openxmlformats.org/drawingml/2006/main" noGrp="1"/>
          </p:cNvSpPr>
          <p:nvPr/>
        </p:nvSpPr>
        <p:spPr>
          <a:xfrm xmlns:a="http://schemas.openxmlformats.org/drawingml/2006/main">
            <a:off x="609600" y="2276475"/>
            <a:ext cx="10972800" cy="485775"/>
          </a:xfrm>
          <a:prstGeom xmlns:a="http://schemas.openxmlformats.org/drawingml/2006/main" prst="rect">
            <a:avLst/>
          </a:prstGeom>
          <a:solidFill xmlns:a="http://schemas.openxmlformats.org/drawingml/2006/main">
            <a:srgbClr val="E4ECE3"/>
          </a:solidFill>
          <a:ln xmlns:a="http://schemas.openxmlformats.org/drawingml/2006/main" w="0">
            <a:noFill/>
          </a:ln>
        </p:spPr>
      </p:sp>
      <p:sp>
        <p:nvSpPr>
          <p:cNvPr id="9" name="RISK / PRIORITY">
            <a:extLst xmlns:a="http://schemas.openxmlformats.org/drawingml/2006/main">
              <a:ext uri="{FF2B5EF4-FFF2-40B4-BE49-F238E27FC236}">
                <a16:creationId xmlns:a16="http://schemas.microsoft.com/office/drawing/2014/main" id="{4ED48AE0-22C3-4470-A0FB-1ACB30470949}"/>
              </a:ext>
            </a:extLst>
          </p:cNvPr>
          <p:cNvSpPr>
            <a:spLocks xmlns:a="http://schemas.openxmlformats.org/drawingml/2006/main" noGrp="1"/>
          </p:cNvSpPr>
          <p:nvPr/>
        </p:nvSpPr>
        <p:spPr>
          <a:xfrm xmlns:a="http://schemas.openxmlformats.org/drawingml/2006/main">
            <a:off x="723900" y="2390775"/>
            <a:ext cx="304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1">
                <a:solidFill>
                  <a:srgbClr val="173B31"/>
                </a:solidFill>
                <a:latin typeface="Arial"/>
                <a:ea typeface="Arial"/>
                <a:cs typeface="Arial"/>
              </a:defRPr>
            </a:pPr>
            <a:r>
              <a:rPr sz="1575" b="1">
                <a:solidFill>
                  <a:srgbClr val="173B31"/>
                </a:solidFill>
                <a:latin typeface="Arial"/>
                <a:ea typeface="Arial"/>
                <a:cs typeface="Arial"/>
              </a:rPr>
              <a:t>MAIN RISK</a:t>
            </a:r>
          </a:p>
        </p:txBody>
      </p:sp>
      <p:sp>
        <p:nvSpPr>
          <p:cNvPr id="10" name="CONTROL IN PLACE">
            <a:extLst xmlns:a="http://schemas.openxmlformats.org/drawingml/2006/main">
              <a:ext uri="{FF2B5EF4-FFF2-40B4-BE49-F238E27FC236}">
                <a16:creationId xmlns:a16="http://schemas.microsoft.com/office/drawing/2014/main" id="{ED3820F5-AFBB-47D4-BBC4-F92C754F18AF}"/>
              </a:ext>
            </a:extLst>
          </p:cNvPr>
          <p:cNvSpPr>
            <a:spLocks xmlns:a="http://schemas.openxmlformats.org/drawingml/2006/main" noGrp="1"/>
          </p:cNvSpPr>
          <p:nvPr/>
        </p:nvSpPr>
        <p:spPr>
          <a:xfrm xmlns:a="http://schemas.openxmlformats.org/drawingml/2006/main">
            <a:off x="4000500" y="2390775"/>
            <a:ext cx="361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586C63"/>
                </a:solidFill>
                <a:latin typeface="Arial"/>
                <a:ea typeface="Arial"/>
                <a:cs typeface="Arial"/>
              </a:defRPr>
            </a:pPr>
            <a:r>
              <a:rPr sz="1575" b="0">
                <a:solidFill>
                  <a:srgbClr val="586C63"/>
                </a:solidFill>
                <a:latin typeface="Arial"/>
                <a:ea typeface="Arial"/>
                <a:cs typeface="Arial"/>
              </a:rPr>
              <a:t>WHAT WE HAVE DONE</a:t>
            </a:r>
          </a:p>
        </p:txBody>
      </p:sp>
      <p:sp>
        <p:nvSpPr>
          <p:cNvPr id="11" name="NEXT EVIDENCE NEEDED">
            <a:extLst xmlns:a="http://schemas.openxmlformats.org/drawingml/2006/main">
              <a:ext uri="{FF2B5EF4-FFF2-40B4-BE49-F238E27FC236}">
                <a16:creationId xmlns:a16="http://schemas.microsoft.com/office/drawing/2014/main" id="{0E02D5EF-A47B-40B4-845A-06FF841B5D73}"/>
              </a:ext>
            </a:extLst>
          </p:cNvPr>
          <p:cNvSpPr>
            <a:spLocks xmlns:a="http://schemas.openxmlformats.org/drawingml/2006/main" noGrp="1"/>
          </p:cNvSpPr>
          <p:nvPr/>
        </p:nvSpPr>
        <p:spPr>
          <a:xfrm xmlns:a="http://schemas.openxmlformats.org/drawingml/2006/main">
            <a:off x="7848600" y="2390775"/>
            <a:ext cx="361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586C63"/>
                </a:solidFill>
                <a:latin typeface="Arial"/>
                <a:ea typeface="Arial"/>
                <a:cs typeface="Arial"/>
              </a:defRPr>
            </a:pPr>
            <a:r>
              <a:rPr sz="1575" b="0">
                <a:solidFill>
                  <a:srgbClr val="586C63"/>
                </a:solidFill>
                <a:latin typeface="Arial"/>
                <a:ea typeface="Arial"/>
                <a:cs typeface="Arial"/>
              </a:rPr>
              <a:t>WHAT WE STILL NEED</a:t>
            </a:r>
          </a:p>
        </p:txBody>
      </p:sp>
      <p:sp>
        <p:nvSpPr>
          <p:cNvPr id="12" name="直线连接符 11">
            <a:extLst xmlns:a="http://schemas.openxmlformats.org/drawingml/2006/main">
              <a:ext uri="{FF2B5EF4-FFF2-40B4-BE49-F238E27FC236}">
                <a16:creationId xmlns:a16="http://schemas.microsoft.com/office/drawing/2014/main" id="{EFB556D9-73FD-4F3A-B378-52EE421D9C15}"/>
              </a:ext>
            </a:extLst>
          </p:cNvPr>
          <p:cNvSpPr>
            <a:spLocks xmlns:a="http://schemas.openxmlformats.org/drawingml/2006/main" noGrp="1"/>
          </p:cNvSpPr>
          <p:nvPr/>
        </p:nvSpPr>
        <p:spPr>
          <a:xfrm xmlns:a="http://schemas.openxmlformats.org/drawingml/2006/main">
            <a:off x="609600" y="2762250"/>
            <a:ext cx="10972800" cy="0"/>
          </a:xfrm>
          <a:prstGeom xmlns:a="http://schemas.openxmlformats.org/drawingml/2006/main" prst="line">
            <a:avLst/>
          </a:prstGeom>
          <a:noFill xmlns:a="http://schemas.openxmlformats.org/drawingml/2006/main"/>
          <a:ln xmlns:a="http://schemas.openxmlformats.org/drawingml/2006/main" w="14288">
            <a:solidFill>
              <a:srgbClr val="C8D4CB"/>
            </a:solidFill>
          </a:ln>
        </p:spPr>
      </p:sp>
      <p:sp>
        <p:nvSpPr>
          <p:cNvPr id="13" name="Large captures · Critical">
            <a:extLst xmlns:a="http://schemas.openxmlformats.org/drawingml/2006/main">
              <a:ext uri="{FF2B5EF4-FFF2-40B4-BE49-F238E27FC236}">
                <a16:creationId xmlns:a16="http://schemas.microsoft.com/office/drawing/2014/main" id="{57636DEC-E2E6-417C-B342-91FBE3F147B5}"/>
              </a:ext>
            </a:extLst>
          </p:cNvPr>
          <p:cNvSpPr>
            <a:spLocks xmlns:a="http://schemas.openxmlformats.org/drawingml/2006/main" noGrp="1"/>
          </p:cNvSpPr>
          <p:nvPr/>
        </p:nvSpPr>
        <p:spPr>
          <a:xfrm xmlns:a="http://schemas.openxmlformats.org/drawingml/2006/main">
            <a:off x="723900" y="2876550"/>
            <a:ext cx="3048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73B31"/>
                </a:solidFill>
                <a:latin typeface="Arial"/>
                <a:ea typeface="Arial"/>
                <a:cs typeface="Arial"/>
              </a:defRPr>
            </a:pPr>
            <a:r>
              <a:rPr sz="1800" b="1">
                <a:solidFill>
                  <a:srgbClr val="173B31"/>
                </a:solidFill>
                <a:latin typeface="Arial"/>
                <a:ea typeface="Arial"/>
                <a:cs typeface="Arial"/>
              </a:rPr>
              <a:t>Large files · Critical</a:t>
            </a:r>
          </a:p>
        </p:txBody>
      </p:sp>
      <p:sp>
        <p:nvSpPr>
          <p:cNvPr id="14" name="Background workers; tiled SR;&#10;original data p">
            <a:extLst xmlns:a="http://schemas.openxmlformats.org/drawingml/2006/main">
              <a:ext uri="{FF2B5EF4-FFF2-40B4-BE49-F238E27FC236}">
                <a16:creationId xmlns:a16="http://schemas.microsoft.com/office/drawing/2014/main" id="{047521FB-BF06-43B2-B8DE-26C016E54B7C}"/>
              </a:ext>
            </a:extLst>
          </p:cNvPr>
          <p:cNvSpPr>
            <a:spLocks xmlns:a="http://schemas.openxmlformats.org/drawingml/2006/main" noGrp="1"/>
          </p:cNvSpPr>
          <p:nvPr/>
        </p:nvSpPr>
        <p:spPr>
          <a:xfrm xmlns:a="http://schemas.openxmlformats.org/drawingml/2006/main">
            <a:off x="4000500" y="2876550"/>
            <a:ext cx="3619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586C63"/>
                </a:solidFill>
                <a:latin typeface="Arial"/>
                <a:ea typeface="Arial"/>
                <a:cs typeface="Arial"/>
              </a:defRPr>
            </a:pPr>
            <a:r>
              <a:rPr sz="1800" b="0">
                <a:solidFill>
                  <a:srgbClr val="586C63"/>
                </a:solidFill>
                <a:latin typeface="Arial"/>
                <a:ea typeface="Arial"/>
                <a:cs typeface="Arial"/>
              </a:rPr>
              <a:t>Run work in the background.</a:t>
            </a:r>
          </a:p>
          <a:p xmlns:a="http://schemas.openxmlformats.org/drawingml/2006/main">
            <a:pPr algn="l">
              <a:buNone/>
              <a:defRPr sz="1800" b="0">
                <a:solidFill>
                  <a:srgbClr val="586C63"/>
                </a:solidFill>
                <a:latin typeface="Arial"/>
                <a:ea typeface="Arial"/>
                <a:cs typeface="Arial"/>
              </a:defRPr>
            </a:pPr>
            <a:r>
              <a:rPr sz="1800" b="0">
                <a:solidFill>
                  <a:srgbClr val="586C63"/>
                </a:solidFill>
                <a:latin typeface="Arial"/>
                <a:ea typeface="Arial"/>
                <a:cs typeface="Arial"/>
              </a:rPr>
              <a:t>Process SR in smaller tiles.</a:t>
            </a:r>
          </a:p>
        </p:txBody>
      </p:sp>
      <p:sp>
        <p:nvSpPr>
          <p:cNvPr id="15" name="Runtime, RAM and disk tests;&#10;~7 GiB estimated">
            <a:extLst xmlns:a="http://schemas.openxmlformats.org/drawingml/2006/main">
              <a:ext uri="{FF2B5EF4-FFF2-40B4-BE49-F238E27FC236}">
                <a16:creationId xmlns:a16="http://schemas.microsoft.com/office/drawing/2014/main" id="{4BC6DA36-D941-44DF-A6BF-EA070B0CF583}"/>
              </a:ext>
            </a:extLst>
          </p:cNvPr>
          <p:cNvSpPr>
            <a:spLocks xmlns:a="http://schemas.openxmlformats.org/drawingml/2006/main" noGrp="1"/>
          </p:cNvSpPr>
          <p:nvPr/>
        </p:nvSpPr>
        <p:spPr>
          <a:xfrm xmlns:a="http://schemas.openxmlformats.org/drawingml/2006/main">
            <a:off x="7848600" y="2876550"/>
            <a:ext cx="3619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586C63"/>
                </a:solidFill>
                <a:latin typeface="Arial"/>
                <a:ea typeface="Arial"/>
                <a:cs typeface="Arial"/>
              </a:defRPr>
            </a:pPr>
            <a:r>
              <a:rPr sz="1800" b="0">
                <a:solidFill>
                  <a:srgbClr val="586C63"/>
                </a:solidFill>
                <a:latin typeface="Arial"/>
                <a:ea typeface="Arial"/>
                <a:cs typeface="Arial"/>
              </a:rPr>
              <a:t>Measure time, memory and disk</a:t>
            </a:r>
          </a:p>
          <a:p xmlns:a="http://schemas.openxmlformats.org/drawingml/2006/main">
            <a:pPr algn="l">
              <a:buNone/>
              <a:defRPr sz="1800" b="0">
                <a:solidFill>
                  <a:srgbClr val="586C63"/>
                </a:solidFill>
                <a:latin typeface="Arial"/>
                <a:ea typeface="Arial"/>
                <a:cs typeface="Arial"/>
              </a:defRPr>
            </a:pPr>
            <a:r>
              <a:rPr sz="1800" b="0">
                <a:solidFill>
                  <a:srgbClr val="586C63"/>
                </a:solidFill>
                <a:latin typeface="Arial"/>
                <a:ea typeface="Arial"/>
                <a:cs typeface="Arial"/>
              </a:rPr>
              <a:t>use with full-size captures.</a:t>
            </a:r>
          </a:p>
        </p:txBody>
      </p:sp>
      <p:sp>
        <p:nvSpPr>
          <p:cNvPr id="16" name="直线连接符 15">
            <a:extLst xmlns:a="http://schemas.openxmlformats.org/drawingml/2006/main">
              <a:ext uri="{FF2B5EF4-FFF2-40B4-BE49-F238E27FC236}">
                <a16:creationId xmlns:a16="http://schemas.microsoft.com/office/drawing/2014/main" id="{7663C5A1-F63E-49EF-A35D-BB0C333C818E}"/>
              </a:ext>
            </a:extLst>
          </p:cNvPr>
          <p:cNvSpPr>
            <a:spLocks xmlns:a="http://schemas.openxmlformats.org/drawingml/2006/main" noGrp="1"/>
          </p:cNvSpPr>
          <p:nvPr/>
        </p:nvSpPr>
        <p:spPr>
          <a:xfrm xmlns:a="http://schemas.openxmlformats.org/drawingml/2006/main">
            <a:off x="609600" y="3648075"/>
            <a:ext cx="10972800" cy="0"/>
          </a:xfrm>
          <a:prstGeom xmlns:a="http://schemas.openxmlformats.org/drawingml/2006/main" prst="line">
            <a:avLst/>
          </a:prstGeom>
          <a:noFill xmlns:a="http://schemas.openxmlformats.org/drawingml/2006/main"/>
          <a:ln xmlns:a="http://schemas.openxmlformats.org/drawingml/2006/main" w="14288">
            <a:solidFill>
              <a:srgbClr val="C8D4CB"/>
            </a:solidFill>
          </a:ln>
        </p:spPr>
      </p:sp>
      <p:sp>
        <p:nvSpPr>
          <p:cNvPr id="17" name="Scientific validity · Critical">
            <a:extLst xmlns:a="http://schemas.openxmlformats.org/drawingml/2006/main">
              <a:ext uri="{FF2B5EF4-FFF2-40B4-BE49-F238E27FC236}">
                <a16:creationId xmlns:a16="http://schemas.microsoft.com/office/drawing/2014/main" id="{2036E7C2-0455-4E74-B327-CF9E227ABE69}"/>
              </a:ext>
            </a:extLst>
          </p:cNvPr>
          <p:cNvSpPr>
            <a:spLocks xmlns:a="http://schemas.openxmlformats.org/drawingml/2006/main" noGrp="1"/>
          </p:cNvSpPr>
          <p:nvPr/>
        </p:nvSpPr>
        <p:spPr>
          <a:xfrm xmlns:a="http://schemas.openxmlformats.org/drawingml/2006/main">
            <a:off x="723900" y="3762375"/>
            <a:ext cx="3048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73B31"/>
                </a:solidFill>
                <a:latin typeface="Arial"/>
                <a:ea typeface="Arial"/>
                <a:cs typeface="Arial"/>
              </a:defRPr>
            </a:pPr>
            <a:r>
              <a:rPr sz="1800" b="1">
                <a:solidFill>
                  <a:srgbClr val="173B31"/>
                </a:solidFill>
                <a:latin typeface="Arial"/>
                <a:ea typeface="Arial"/>
                <a:cs typeface="Arial"/>
              </a:rPr>
              <a:t>Wrong results · Critical</a:t>
            </a:r>
          </a:p>
        </p:txBody>
      </p:sp>
      <p:sp>
        <p:nvSpPr>
          <p:cNvPr id="18" name="Model limits and provenance&#10;are documented.">
            <a:extLst xmlns:a="http://schemas.openxmlformats.org/drawingml/2006/main">
              <a:ext uri="{FF2B5EF4-FFF2-40B4-BE49-F238E27FC236}">
                <a16:creationId xmlns:a16="http://schemas.microsoft.com/office/drawing/2014/main" id="{7699886C-C07B-495C-A676-E26B6F5B2883}"/>
              </a:ext>
            </a:extLst>
          </p:cNvPr>
          <p:cNvSpPr>
            <a:spLocks xmlns:a="http://schemas.openxmlformats.org/drawingml/2006/main" noGrp="1"/>
          </p:cNvSpPr>
          <p:nvPr/>
        </p:nvSpPr>
        <p:spPr>
          <a:xfrm xmlns:a="http://schemas.openxmlformats.org/drawingml/2006/main">
            <a:off x="4000500" y="3762375"/>
            <a:ext cx="3619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586C63"/>
                </a:solidFill>
                <a:latin typeface="Arial"/>
                <a:ea typeface="Arial"/>
                <a:cs typeface="Arial"/>
              </a:defRPr>
            </a:pPr>
            <a:r>
              <a:rPr sz="1800" b="0">
                <a:solidFill>
                  <a:srgbClr val="586C63"/>
                </a:solidFill>
                <a:latin typeface="Arial"/>
                <a:ea typeface="Arial"/>
                <a:cs typeface="Arial"/>
              </a:rPr>
              <a:t>Write down the model’s limits</a:t>
            </a:r>
          </a:p>
          <a:p xmlns:a="http://schemas.openxmlformats.org/drawingml/2006/main">
            <a:pPr algn="l">
              <a:buNone/>
              <a:defRPr sz="1800" b="0">
                <a:solidFill>
                  <a:srgbClr val="586C63"/>
                </a:solidFill>
                <a:latin typeface="Arial"/>
                <a:ea typeface="Arial"/>
                <a:cs typeface="Arial"/>
              </a:defRPr>
            </a:pPr>
            <a:r>
              <a:rPr sz="1800" b="0">
                <a:solidFill>
                  <a:srgbClr val="586C63"/>
                </a:solidFill>
                <a:latin typeface="Arial"/>
                <a:ea typeface="Arial"/>
                <a:cs typeface="Arial"/>
              </a:rPr>
              <a:t>and the data it expects.</a:t>
            </a:r>
          </a:p>
        </p:txBody>
      </p:sp>
      <p:sp>
        <p:nvSpPr>
          <p:cNvPr id="19" name="Index reference tests; sensor&#10;compatibility a">
            <a:extLst xmlns:a="http://schemas.openxmlformats.org/drawingml/2006/main">
              <a:ext uri="{FF2B5EF4-FFF2-40B4-BE49-F238E27FC236}">
                <a16:creationId xmlns:a16="http://schemas.microsoft.com/office/drawing/2014/main" id="{A8463E86-C6B2-49F9-8F4B-B656D8B3336B}"/>
              </a:ext>
            </a:extLst>
          </p:cNvPr>
          <p:cNvSpPr>
            <a:spLocks xmlns:a="http://schemas.openxmlformats.org/drawingml/2006/main" noGrp="1"/>
          </p:cNvSpPr>
          <p:nvPr/>
        </p:nvSpPr>
        <p:spPr>
          <a:xfrm xmlns:a="http://schemas.openxmlformats.org/drawingml/2006/main">
            <a:off x="7848600" y="3762375"/>
            <a:ext cx="3619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586C63"/>
                </a:solidFill>
                <a:latin typeface="Arial"/>
                <a:ea typeface="Arial"/>
                <a:cs typeface="Arial"/>
              </a:defRPr>
            </a:pPr>
            <a:r>
              <a:rPr sz="1800" b="0">
                <a:solidFill>
                  <a:srgbClr val="586C63"/>
                </a:solidFill>
                <a:latin typeface="Arial"/>
                <a:ea typeface="Arial"/>
                <a:cs typeface="Arial"/>
              </a:rPr>
              <a:t>Compare results with known</a:t>
            </a:r>
          </a:p>
          <a:p xmlns:a="http://schemas.openxmlformats.org/drawingml/2006/main">
            <a:pPr algn="l">
              <a:buNone/>
              <a:defRPr sz="1800" b="0">
                <a:solidFill>
                  <a:srgbClr val="586C63"/>
                </a:solidFill>
                <a:latin typeface="Arial"/>
                <a:ea typeface="Arial"/>
                <a:cs typeface="Arial"/>
              </a:defRPr>
            </a:pPr>
            <a:r>
              <a:rPr sz="1800" b="0">
                <a:solidFill>
                  <a:srgbClr val="586C63"/>
                </a:solidFill>
                <a:latin typeface="Arial"/>
                <a:ea typeface="Arial"/>
                <a:cs typeface="Arial"/>
              </a:rPr>
              <a:t>values and suitable test data.</a:t>
            </a:r>
          </a:p>
        </p:txBody>
      </p:sp>
      <p:sp>
        <p:nvSpPr>
          <p:cNvPr id="20" name="直线连接符 19">
            <a:extLst xmlns:a="http://schemas.openxmlformats.org/drawingml/2006/main">
              <a:ext uri="{FF2B5EF4-FFF2-40B4-BE49-F238E27FC236}">
                <a16:creationId xmlns:a16="http://schemas.microsoft.com/office/drawing/2014/main" id="{F0B9BEE3-74CC-47DA-A074-ED7200E4A437}"/>
              </a:ext>
            </a:extLst>
          </p:cNvPr>
          <p:cNvSpPr>
            <a:spLocks xmlns:a="http://schemas.openxmlformats.org/drawingml/2006/main" noGrp="1"/>
          </p:cNvSpPr>
          <p:nvPr/>
        </p:nvSpPr>
        <p:spPr>
          <a:xfrm xmlns:a="http://schemas.openxmlformats.org/drawingml/2006/main">
            <a:off x="609600" y="4533900"/>
            <a:ext cx="10972800" cy="0"/>
          </a:xfrm>
          <a:prstGeom xmlns:a="http://schemas.openxmlformats.org/drawingml/2006/main" prst="line">
            <a:avLst/>
          </a:prstGeom>
          <a:noFill xmlns:a="http://schemas.openxmlformats.org/drawingml/2006/main"/>
          <a:ln xmlns:a="http://schemas.openxmlformats.org/drawingml/2006/main" w="14288">
            <a:solidFill>
              <a:srgbClr val="C8D4CB"/>
            </a:solidFill>
          </a:ln>
        </p:spPr>
      </p:sp>
      <p:sp>
        <p:nvSpPr>
          <p:cNvPr id="21" name="Environment gaps · High">
            <a:extLst xmlns:a="http://schemas.openxmlformats.org/drawingml/2006/main">
              <a:ext uri="{FF2B5EF4-FFF2-40B4-BE49-F238E27FC236}">
                <a16:creationId xmlns:a16="http://schemas.microsoft.com/office/drawing/2014/main" id="{E5385CB3-CC71-46EC-9CD6-580CE8E71B06}"/>
              </a:ext>
            </a:extLst>
          </p:cNvPr>
          <p:cNvSpPr>
            <a:spLocks xmlns:a="http://schemas.openxmlformats.org/drawingml/2006/main" noGrp="1"/>
          </p:cNvSpPr>
          <p:nvPr/>
        </p:nvSpPr>
        <p:spPr>
          <a:xfrm xmlns:a="http://schemas.openxmlformats.org/drawingml/2006/main">
            <a:off x="723900" y="4648200"/>
            <a:ext cx="3048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73B31"/>
                </a:solidFill>
                <a:latin typeface="Arial"/>
                <a:ea typeface="Arial"/>
                <a:cs typeface="Arial"/>
              </a:defRPr>
            </a:pPr>
            <a:r>
              <a:rPr sz="1800" b="1">
                <a:solidFill>
                  <a:srgbClr val="173B31"/>
                </a:solidFill>
                <a:latin typeface="Arial"/>
                <a:ea typeface="Arial"/>
                <a:cs typeface="Arial"/>
              </a:rPr>
              <a:t>Different PCs · High</a:t>
            </a:r>
          </a:p>
        </p:txBody>
      </p:sp>
      <p:sp>
        <p:nvSpPr>
          <p:cNvPr id="22" name="Ubuntu CI and explicit&#10;dependency/sample skip">
            <a:extLst xmlns:a="http://schemas.openxmlformats.org/drawingml/2006/main">
              <a:ext uri="{FF2B5EF4-FFF2-40B4-BE49-F238E27FC236}">
                <a16:creationId xmlns:a16="http://schemas.microsoft.com/office/drawing/2014/main" id="{CE7FF553-986F-455D-BB0F-A51A20D1902F}"/>
              </a:ext>
            </a:extLst>
          </p:cNvPr>
          <p:cNvSpPr>
            <a:spLocks xmlns:a="http://schemas.openxmlformats.org/drawingml/2006/main" noGrp="1"/>
          </p:cNvSpPr>
          <p:nvPr/>
        </p:nvSpPr>
        <p:spPr>
          <a:xfrm xmlns:a="http://schemas.openxmlformats.org/drawingml/2006/main">
            <a:off x="4000500" y="4648200"/>
            <a:ext cx="3619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586C63"/>
                </a:solidFill>
                <a:latin typeface="Arial"/>
                <a:ea typeface="Arial"/>
                <a:cs typeface="Arial"/>
              </a:defRPr>
            </a:pPr>
            <a:r>
              <a:rPr sz="1800" b="0">
                <a:solidFill>
                  <a:srgbClr val="586C63"/>
                </a:solidFill>
                <a:latin typeface="Arial"/>
                <a:ea typeface="Arial"/>
                <a:cs typeface="Arial"/>
              </a:rPr>
              <a:t>Run tests on Ubuntu in CI.</a:t>
            </a:r>
          </a:p>
          <a:p xmlns:a="http://schemas.openxmlformats.org/drawingml/2006/main">
            <a:pPr algn="l">
              <a:buNone/>
              <a:defRPr sz="1800" b="0">
                <a:solidFill>
                  <a:srgbClr val="586C63"/>
                </a:solidFill>
                <a:latin typeface="Arial"/>
                <a:ea typeface="Arial"/>
                <a:cs typeface="Arial"/>
              </a:defRPr>
            </a:pPr>
            <a:r>
              <a:rPr sz="1800" b="0">
                <a:solidFill>
                  <a:srgbClr val="586C63"/>
                </a:solidFill>
                <a:latin typeface="Arial"/>
                <a:ea typeface="Arial"/>
                <a:cs typeface="Arial"/>
              </a:rPr>
              <a:t>Show why tests are skipped.</a:t>
            </a:r>
          </a:p>
        </p:txBody>
      </p:sp>
      <p:sp>
        <p:nvSpPr>
          <p:cNvPr id="23" name="SR-enabled CPU tests and&#10;Windows/OpenGL check">
            <a:extLst xmlns:a="http://schemas.openxmlformats.org/drawingml/2006/main">
              <a:ext uri="{FF2B5EF4-FFF2-40B4-BE49-F238E27FC236}">
                <a16:creationId xmlns:a16="http://schemas.microsoft.com/office/drawing/2014/main" id="{C2DC8DE9-CFF4-4134-BDA1-D66F2E5DE8FC}"/>
              </a:ext>
            </a:extLst>
          </p:cNvPr>
          <p:cNvSpPr>
            <a:spLocks xmlns:a="http://schemas.openxmlformats.org/drawingml/2006/main" noGrp="1"/>
          </p:cNvSpPr>
          <p:nvPr/>
        </p:nvSpPr>
        <p:spPr>
          <a:xfrm xmlns:a="http://schemas.openxmlformats.org/drawingml/2006/main">
            <a:off x="7848600" y="4648200"/>
            <a:ext cx="3619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586C63"/>
                </a:solidFill>
                <a:latin typeface="Arial"/>
                <a:ea typeface="Arial"/>
                <a:cs typeface="Arial"/>
              </a:defRPr>
            </a:pPr>
            <a:r>
              <a:rPr sz="1800" b="0">
                <a:solidFill>
                  <a:srgbClr val="586C63"/>
                </a:solidFill>
                <a:latin typeface="Arial"/>
                <a:ea typeface="Arial"/>
                <a:cs typeface="Arial"/>
              </a:rPr>
              <a:t>Test SR and 3D graphics</a:t>
            </a:r>
          </a:p>
          <a:p xmlns:a="http://schemas.openxmlformats.org/drawingml/2006/main">
            <a:pPr algn="l">
              <a:buNone/>
              <a:defRPr sz="1800" b="0">
                <a:solidFill>
                  <a:srgbClr val="586C63"/>
                </a:solidFill>
                <a:latin typeface="Arial"/>
                <a:ea typeface="Arial"/>
                <a:cs typeface="Arial"/>
              </a:defRPr>
            </a:pPr>
            <a:r>
              <a:rPr sz="1800" b="0">
                <a:solidFill>
                  <a:srgbClr val="586C63"/>
                </a:solidFill>
                <a:latin typeface="Arial"/>
                <a:ea typeface="Arial"/>
                <a:cs typeface="Arial"/>
              </a:rPr>
              <a:t>on the target Windows PC.</a:t>
            </a:r>
          </a:p>
        </p:txBody>
      </p:sp>
      <p:sp>
        <p:nvSpPr>
          <p:cNvPr id="24" name="直线连接符 23">
            <a:extLst xmlns:a="http://schemas.openxmlformats.org/drawingml/2006/main">
              <a:ext uri="{FF2B5EF4-FFF2-40B4-BE49-F238E27FC236}">
                <a16:creationId xmlns:a16="http://schemas.microsoft.com/office/drawing/2014/main" id="{B1237732-6BE7-41F7-B975-DDE843667CDB}"/>
              </a:ext>
            </a:extLst>
          </p:cNvPr>
          <p:cNvSpPr>
            <a:spLocks xmlns:a="http://schemas.openxmlformats.org/drawingml/2006/main" noGrp="1"/>
          </p:cNvSpPr>
          <p:nvPr/>
        </p:nvSpPr>
        <p:spPr>
          <a:xfrm xmlns:a="http://schemas.openxmlformats.org/drawingml/2006/main">
            <a:off x="609600" y="5419725"/>
            <a:ext cx="10972800" cy="0"/>
          </a:xfrm>
          <a:prstGeom xmlns:a="http://schemas.openxmlformats.org/drawingml/2006/main" prst="line">
            <a:avLst/>
          </a:prstGeom>
          <a:noFill xmlns:a="http://schemas.openxmlformats.org/drawingml/2006/main"/>
          <a:ln xmlns:a="http://schemas.openxmlformats.org/drawingml/2006/main" w="14288">
            <a:solidFill>
              <a:srgbClr val="C8D4CB"/>
            </a:solidFill>
          </a:ln>
        </p:spPr>
      </p:sp>
      <p:sp>
        <p:nvSpPr>
          <p:cNvPr id="25" name="Next: confirm named accountable owners for th">
            <a:extLst xmlns:a="http://schemas.openxmlformats.org/drawingml/2006/main">
              <a:ext uri="{FF2B5EF4-FFF2-40B4-BE49-F238E27FC236}">
                <a16:creationId xmlns:a16="http://schemas.microsoft.com/office/drawing/2014/main" id="{4A34E8A8-44FE-4F6E-AAC7-94AE769F1430}"/>
              </a:ext>
            </a:extLst>
          </p:cNvPr>
          <p:cNvSpPr>
            <a:spLocks xmlns:a="http://schemas.openxmlformats.org/drawingml/2006/main" noGrp="1"/>
          </p:cNvSpPr>
          <p:nvPr/>
        </p:nvSpPr>
        <p:spPr>
          <a:xfrm xmlns:a="http://schemas.openxmlformats.org/drawingml/2006/main">
            <a:off x="609600" y="5715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287553"/>
                </a:solidFill>
                <a:latin typeface="Arial"/>
                <a:ea typeface="Arial"/>
                <a:cs typeface="Arial"/>
              </a:defRPr>
            </a:pPr>
            <a:r>
              <a:rPr sz="1800" b="1">
                <a:solidFill>
                  <a:srgbClr val="287553"/>
                </a:solidFill>
                <a:latin typeface="Arial"/>
                <a:ea typeface="Arial"/>
                <a:cs typeface="Arial"/>
              </a:rPr>
              <a:t>We still need to put a person’s name against each role in the risk plan.</a:t>
            </a:r>
          </a:p>
        </p:txBody>
      </p:sp>
    </p:spTree>
    <p:extLst>
      <p:ext uri="{BB962C8B-B14F-4D97-AF65-F5344CB8AC3E}">
        <p14:creationId xmlns:p14="http://schemas.microsoft.com/office/powerpoint/2010/main" val="27894910"/>
      </p:ext>
    </p:extLst>
  </p:cSld>
</p:sld>
</file>

<file path=ppt/slides/slide9.xml><?xml version="1.0" encoding="utf-8"?>
<p:sld xmlns:p="http://schemas.openxmlformats.org/presentationml/2006/main">
  <p:cSld>
    <p:bg>
      <p:bgPr>
        <a:solidFill xmlns:a="http://schemas.openxmlformats.org/drawingml/2006/main">
          <a:srgbClr val="F4F5F0"/>
        </a:solidFill>
      </p:bgPr>
    </p:bg>
    <p:spTree>
      <p:nvGrpSpPr>
        <p:cNvPr id="1" name=""/>
        <p:cNvGrpSpPr/>
        <p:nvPr/>
      </p:nvGrpSpPr>
      <p:grpSpPr>
        <a:xfrm xmlns:a="http://schemas.openxmlformats.org/drawingml/2006/main"/>
      </p:grpSpPr>
      <p:sp>
        <p:nvSpPr>
          <p:cNvPr id="27" name="EXECUTION AND QUALITY">
            <a:extLst xmlns:a="http://schemas.openxmlformats.org/drawingml/2006/main">
              <a:ext uri="{FF2B5EF4-FFF2-40B4-BE49-F238E27FC236}">
                <a16:creationId xmlns:a16="http://schemas.microsoft.com/office/drawing/2014/main" id="{CAE07812-0E7B-40DC-8CBB-CF0149200396}"/>
              </a:ext>
            </a:extLst>
          </p:cNvPr>
          <p:cNvSpPr>
            <a:spLocks xmlns:a="http://schemas.openxmlformats.org/drawingml/2006/main" noGrp="1"/>
          </p:cNvSpPr>
          <p:nvPr/>
        </p:nvSpPr>
        <p:spPr>
          <a:xfrm xmlns:a="http://schemas.openxmlformats.org/drawingml/2006/main">
            <a:off x="609600" y="4000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1">
                <a:solidFill>
                  <a:srgbClr val="287553"/>
                </a:solidFill>
                <a:latin typeface="Arial"/>
                <a:ea typeface="Arial"/>
                <a:cs typeface="Arial"/>
              </a:defRPr>
            </a:pPr>
            <a:r>
              <a:rPr sz="1500" b="1">
                <a:solidFill>
                  <a:srgbClr val="287553"/>
                </a:solidFill>
                <a:latin typeface="Arial"/>
                <a:ea typeface="Arial"/>
                <a:cs typeface="Arial"/>
              </a:rPr>
              <a:t>EXECUTION AND QUALITY</a:t>
            </a:r>
          </a:p>
        </p:txBody>
      </p:sp>
      <p:sp>
        <p:nvSpPr>
          <p:cNvPr id="2" name="Tests cover connected user workflows">
            <a:extLst xmlns:a="http://schemas.openxmlformats.org/drawingml/2006/main">
              <a:ext uri="{FF2B5EF4-FFF2-40B4-BE49-F238E27FC236}">
                <a16:creationId xmlns:a16="http://schemas.microsoft.com/office/drawing/2014/main" id="{848ADC8B-0394-4A9D-A9B5-368A8D2DC9A7}"/>
              </a:ext>
            </a:extLst>
          </p:cNvPr>
          <p:cNvSpPr>
            <a:spLocks xmlns:a="http://schemas.openxmlformats.org/drawingml/2006/main" noGrp="1"/>
          </p:cNvSpPr>
          <p:nvPr/>
        </p:nvSpPr>
        <p:spPr>
          <a:xfrm xmlns:a="http://schemas.openxmlformats.org/drawingml/2006/main">
            <a:off x="609600" y="86677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600" b="1">
                <a:solidFill>
                  <a:srgbClr val="173B31"/>
                </a:solidFill>
                <a:latin typeface="Arial"/>
                <a:ea typeface="Arial"/>
                <a:cs typeface="Arial"/>
              </a:defRPr>
            </a:pPr>
            <a:r>
              <a:rPr sz="3600" b="1">
                <a:solidFill>
                  <a:srgbClr val="173B31"/>
                </a:solidFill>
                <a:latin typeface="Arial"/>
                <a:ea typeface="Arial"/>
                <a:cs typeface="Arial"/>
              </a:rPr>
              <a:t>We added tests for common user actions</a:t>
            </a:r>
          </a:p>
        </p:txBody>
      </p:sp>
      <p:sp>
        <p:nvSpPr>
          <p:cNvPr id="3" name="直线连接符 2">
            <a:extLst xmlns:a="http://schemas.openxmlformats.org/drawingml/2006/main">
              <a:ext uri="{FF2B5EF4-FFF2-40B4-BE49-F238E27FC236}">
                <a16:creationId xmlns:a16="http://schemas.microsoft.com/office/drawing/2014/main" id="{17CE52A9-9F66-4583-B81E-0F9B44531160}"/>
              </a:ext>
            </a:extLst>
          </p:cNvPr>
          <p:cNvSpPr>
            <a:spLocks xmlns:a="http://schemas.openxmlformats.org/drawingml/2006/main" noGrp="1"/>
          </p:cNvSpPr>
          <p:nvPr/>
        </p:nvSpPr>
        <p:spPr>
          <a:xfrm xmlns:a="http://schemas.openxmlformats.org/drawingml/2006/main">
            <a:off x="609600" y="6238875"/>
            <a:ext cx="10972800" cy="0"/>
          </a:xfrm>
          <a:prstGeom xmlns:a="http://schemas.openxmlformats.org/drawingml/2006/main" prst="line">
            <a:avLst/>
          </a:prstGeom>
          <a:noFill xmlns:a="http://schemas.openxmlformats.org/drawingml/2006/main"/>
          <a:ln xmlns:a="http://schemas.openxmlformats.org/drawingml/2006/main" w="14288">
            <a:solidFill>
              <a:srgbClr val="C8D4CB"/>
            </a:solidFill>
          </a:ln>
        </p:spPr>
      </p:sp>
      <p:sp>
        <p:nvSpPr>
          <p:cNvPr id="4" name="LEAF ANALYZER  /  SPRINT 5">
            <a:extLst xmlns:a="http://schemas.openxmlformats.org/drawingml/2006/main">
              <a:ext uri="{FF2B5EF4-FFF2-40B4-BE49-F238E27FC236}">
                <a16:creationId xmlns:a16="http://schemas.microsoft.com/office/drawing/2014/main" id="{73096B14-D72E-4ADA-9114-228879350600}"/>
              </a:ext>
            </a:extLst>
          </p:cNvPr>
          <p:cNvSpPr>
            <a:spLocks xmlns:a="http://schemas.openxmlformats.org/drawingml/2006/main" noGrp="1"/>
          </p:cNvSpPr>
          <p:nvPr/>
        </p:nvSpPr>
        <p:spPr>
          <a:xfrm xmlns:a="http://schemas.openxmlformats.org/drawingml/2006/main">
            <a:off x="609600" y="6410325"/>
            <a:ext cx="323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586C63"/>
                </a:solidFill>
                <a:latin typeface="Arial"/>
                <a:ea typeface="Arial"/>
                <a:cs typeface="Arial"/>
              </a:defRPr>
            </a:pPr>
            <a:r>
              <a:rPr sz="1350" b="0">
                <a:solidFill>
                  <a:srgbClr val="586C63"/>
                </a:solidFill>
                <a:latin typeface="Arial"/>
                <a:ea typeface="Arial"/>
                <a:cs typeface="Arial"/>
              </a:rPr>
              <a:t>LEAF ANALYZER  /  SPRINT 5</a:t>
            </a:r>
          </a:p>
        </p:txBody>
      </p:sp>
      <p:sp>
        <p:nvSpPr>
          <p:cNvPr id="5" name="LEAF-147 · PR #25 • current ui_tests suite">
            <a:extLst xmlns:a="http://schemas.openxmlformats.org/drawingml/2006/main">
              <a:ext uri="{FF2B5EF4-FFF2-40B4-BE49-F238E27FC236}">
                <a16:creationId xmlns:a16="http://schemas.microsoft.com/office/drawing/2014/main" id="{20AD1C6D-5FC1-4E33-87F3-821BFA0BC789}"/>
              </a:ext>
            </a:extLst>
          </p:cNvPr>
          <p:cNvSpPr>
            <a:spLocks xmlns:a="http://schemas.openxmlformats.org/drawingml/2006/main" noGrp="1"/>
          </p:cNvSpPr>
          <p:nvPr/>
        </p:nvSpPr>
        <p:spPr>
          <a:xfrm xmlns:a="http://schemas.openxmlformats.org/drawingml/2006/main">
            <a:off x="3952875" y="6305550"/>
            <a:ext cx="708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200">
                <a:solidFill>
                  <a:srgbClr val="287553"/>
                </a:solidFill>
                <a:latin typeface="Arial"/>
                <a:ea typeface="Arial"/>
                <a:cs typeface="Arial"/>
              </a:defRPr>
            </a:pPr>
            <a:r>
              <a:rPr sz="1200">
                <a:solidFill>
                  <a:srgbClr val="287553"/>
                </a:solidFill>
                <a:latin typeface="Arial"/>
                <a:ea typeface="Arial"/>
                <a:cs typeface="Arial"/>
              </a:rPr>
              <a:t>Sources: </a:t>
            </a:r>
            <a:r>
              <a:rPr sz="1200" u="sng">
                <a:solidFill>
                  <a:srgbClr val="287553"/>
                </a:solidFill>
                <a:latin typeface="Arial"/>
                <a:ea typeface="Arial"/>
                <a:cs typeface="Arial"/>
                <a:hlinkClick xmlns:r="http://schemas.openxmlformats.org/officeDocument/2006/relationships" r:id="Rc64aefaaaf3748bd"/>
              </a:rPr>
              <a:t>PR #25</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2cd8718589b54752"/>
              </a:rPr>
              <a:t>Test setup</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bc3384b887f4448a"/>
              </a:rPr>
              <a:t>Crop tests</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a66c68d148ab4078"/>
              </a:rPr>
              <a:t>SR UI tests</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f40a621f4c7540b4"/>
              </a:rPr>
              <a:t>SR model tests</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4cf68f0e5a284969"/>
              </a:rPr>
              <a:t>PR #36</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d24eefbc968048a8"/>
              </a:rPr>
              <a:t>LEAF-113</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d95928fc3934457f"/>
              </a:rPr>
              <a:t>UI test files</a:t>
            </a:r>
          </a:p>
        </p:txBody>
      </p:sp>
      <p:sp>
        <p:nvSpPr>
          <p:cNvPr id="6" name="09">
            <a:extLst xmlns:a="http://schemas.openxmlformats.org/drawingml/2006/main">
              <a:ext uri="{FF2B5EF4-FFF2-40B4-BE49-F238E27FC236}">
                <a16:creationId xmlns:a16="http://schemas.microsoft.com/office/drawing/2014/main" id="{0DAEF50B-9267-4FE5-ABC8-1BE747FD83D4}"/>
              </a:ext>
            </a:extLst>
          </p:cNvPr>
          <p:cNvSpPr>
            <a:spLocks xmlns:a="http://schemas.openxmlformats.org/drawingml/2006/main" noGrp="1"/>
          </p:cNvSpPr>
          <p:nvPr/>
        </p:nvSpPr>
        <p:spPr>
          <a:xfrm xmlns:a="http://schemas.openxmlformats.org/drawingml/2006/main">
            <a:off x="11239500" y="63817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586C63"/>
                </a:solidFill>
                <a:latin typeface="Arial"/>
                <a:ea typeface="Arial"/>
                <a:cs typeface="Arial"/>
              </a:defRPr>
            </a:pPr>
            <a:r>
              <a:rPr sz="1575" b="0">
                <a:solidFill>
                  <a:srgbClr val="586C63"/>
                </a:solidFill>
                <a:latin typeface="Arial"/>
                <a:ea typeface="Arial"/>
                <a:cs typeface="Arial"/>
              </a:rPr>
              <a:t>09</a:t>
            </a:r>
          </a:p>
        </p:txBody>
      </p:sp>
      <p:sp>
        <p:nvSpPr>
          <p:cNvPr id="7" name="Sprint 4 feedback: introduce systematic unit ">
            <a:extLst xmlns:a="http://schemas.openxmlformats.org/drawingml/2006/main">
              <a:ext uri="{FF2B5EF4-FFF2-40B4-BE49-F238E27FC236}">
                <a16:creationId xmlns:a16="http://schemas.microsoft.com/office/drawing/2014/main" id="{740FABD0-91FE-4938-9EA4-81BEB11B2A73}"/>
              </a:ext>
            </a:extLst>
          </p:cNvPr>
          <p:cNvSpPr>
            <a:spLocks xmlns:a="http://schemas.openxmlformats.org/drawingml/2006/main" noGrp="1"/>
          </p:cNvSpPr>
          <p:nvPr/>
        </p:nvSpPr>
        <p:spPr>
          <a:xfrm xmlns:a="http://schemas.openxmlformats.org/drawingml/2006/main">
            <a:off x="609600" y="1666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586C63"/>
                </a:solidFill>
                <a:latin typeface="Arial"/>
                <a:ea typeface="Arial"/>
                <a:cs typeface="Arial"/>
              </a:defRPr>
            </a:pPr>
            <a:r>
              <a:rPr sz="1875" b="0">
                <a:solidFill>
                  <a:srgbClr val="586C63"/>
                </a:solidFill>
                <a:latin typeface="Arial"/>
                <a:ea typeface="Arial"/>
                <a:cs typeface="Arial"/>
              </a:rPr>
              <a:t>Last sprint: add unit tests and integration tests.</a:t>
            </a:r>
          </a:p>
        </p:txBody>
      </p:sp>
      <p:sp>
        <p:nvSpPr>
          <p:cNvPr id="13" name="Units / components">
            <a:extLst xmlns:a="http://schemas.openxmlformats.org/drawingml/2006/main">
              <a:ext uri="{FF2B5EF4-FFF2-40B4-BE49-F238E27FC236}">
                <a16:creationId xmlns:a16="http://schemas.microsoft.com/office/drawing/2014/main" id="{9FAE85EF-8165-47B4-822A-1A9CFD8A681D}"/>
              </a:ext>
            </a:extLst>
          </p:cNvPr>
          <p:cNvSpPr>
            <a:spLocks xmlns:a="http://schemas.openxmlformats.org/drawingml/2006/main" noGrp="1"/>
          </p:cNvSpPr>
          <p:nvPr/>
        </p:nvSpPr>
        <p:spPr>
          <a:xfrm xmlns:a="http://schemas.openxmlformats.org/drawingml/2006/main">
            <a:off x="609600" y="2343150"/>
            <a:ext cx="3752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73B31"/>
                </a:solidFill>
                <a:latin typeface="Arial"/>
                <a:ea typeface="Arial"/>
                <a:cs typeface="Arial"/>
              </a:defRPr>
            </a:pPr>
            <a:r>
              <a:rPr sz="2100" b="1">
                <a:solidFill>
                  <a:srgbClr val="173B31"/>
                </a:solidFill>
                <a:latin typeface="Arial"/>
                <a:ea typeface="Arial"/>
                <a:cs typeface="Arial"/>
              </a:rPr>
              <a:t>Model and component tests</a:t>
            </a:r>
          </a:p>
        </p:txBody>
      </p:sp>
      <p:sp>
        <p:nvSpPr>
          <p:cNvPr id="14" name="Hypercube geometry; SR output&#10;shape, bands an">
            <a:extLst xmlns:a="http://schemas.openxmlformats.org/drawingml/2006/main">
              <a:ext uri="{FF2B5EF4-FFF2-40B4-BE49-F238E27FC236}">
                <a16:creationId xmlns:a16="http://schemas.microsoft.com/office/drawing/2014/main" id="{EDBE6CA4-2DCA-4E36-BFD5-BB9ED08BAA84}"/>
              </a:ext>
            </a:extLst>
          </p:cNvPr>
          <p:cNvSpPr>
            <a:spLocks xmlns:a="http://schemas.openxmlformats.org/drawingml/2006/main" noGrp="1"/>
          </p:cNvSpPr>
          <p:nvPr/>
        </p:nvSpPr>
        <p:spPr>
          <a:xfrm xmlns:a="http://schemas.openxmlformats.org/drawingml/2006/main">
            <a:off x="609600" y="3048000"/>
            <a:ext cx="3619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586C63"/>
                </a:solidFill>
                <a:latin typeface="Arial"/>
                <a:ea typeface="Arial"/>
                <a:cs typeface="Arial"/>
              </a:defRPr>
            </a:pPr>
            <a:r>
              <a:rPr sz="1800" b="0">
                <a:solidFill>
                  <a:srgbClr val="586C63"/>
                </a:solidFill>
                <a:latin typeface="Arial"/>
                <a:ea typeface="Arial"/>
                <a:cs typeface="Arial"/>
              </a:rPr>
              <a:t>Check Hypercube geometry,</a:t>
            </a:r>
          </a:p>
          <a:p xmlns:a="http://schemas.openxmlformats.org/drawingml/2006/main">
            <a:pPr algn="l">
              <a:buNone/>
              <a:defRPr sz="1800" b="0">
                <a:solidFill>
                  <a:srgbClr val="586C63"/>
                </a:solidFill>
                <a:latin typeface="Arial"/>
                <a:ea typeface="Arial"/>
                <a:cs typeface="Arial"/>
              </a:defRPr>
            </a:pPr>
            <a:r>
              <a:rPr sz="1800" b="0">
                <a:solidFill>
                  <a:srgbClr val="586C63"/>
                </a:solidFill>
                <a:latin typeface="Arial"/>
                <a:ea typeface="Arial"/>
                <a:cs typeface="Arial"/>
              </a:rPr>
              <a:t>SR output size and cancellation.</a:t>
            </a:r>
          </a:p>
        </p:txBody>
      </p:sp>
      <p:sp>
        <p:nvSpPr>
          <p:cNvPr id="17" name="UI integration">
            <a:extLst xmlns:a="http://schemas.openxmlformats.org/drawingml/2006/main">
              <a:ext uri="{FF2B5EF4-FFF2-40B4-BE49-F238E27FC236}">
                <a16:creationId xmlns:a16="http://schemas.microsoft.com/office/drawing/2014/main" id="{8FDFA718-2E83-4D6F-83B4-E178219B326D}"/>
              </a:ext>
            </a:extLst>
          </p:cNvPr>
          <p:cNvSpPr>
            <a:spLocks xmlns:a="http://schemas.openxmlformats.org/drawingml/2006/main" noGrp="1"/>
          </p:cNvSpPr>
          <p:nvPr/>
        </p:nvSpPr>
        <p:spPr>
          <a:xfrm xmlns:a="http://schemas.openxmlformats.org/drawingml/2006/main">
            <a:off x="609600" y="4143375"/>
            <a:ext cx="361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73B31"/>
                </a:solidFill>
                <a:latin typeface="Arial"/>
                <a:ea typeface="Arial"/>
                <a:cs typeface="Arial"/>
              </a:defRPr>
            </a:pPr>
            <a:r>
              <a:rPr sz="2100" b="1">
                <a:solidFill>
                  <a:srgbClr val="173B31"/>
                </a:solidFill>
                <a:latin typeface="Arial"/>
                <a:ea typeface="Arial"/>
                <a:cs typeface="Arial"/>
              </a:rPr>
              <a:t>UI tests</a:t>
            </a:r>
          </a:p>
        </p:txBody>
      </p:sp>
      <p:sp>
        <p:nvSpPr>
          <p:cNvPr id="18" name="Load → crop → undo → switch → save;&#10;SR compar">
            <a:extLst xmlns:a="http://schemas.openxmlformats.org/drawingml/2006/main">
              <a:ext uri="{FF2B5EF4-FFF2-40B4-BE49-F238E27FC236}">
                <a16:creationId xmlns:a16="http://schemas.microsoft.com/office/drawing/2014/main" id="{A894303C-FEDF-4567-9A70-599EB636AA27}"/>
              </a:ext>
            </a:extLst>
          </p:cNvPr>
          <p:cNvSpPr>
            <a:spLocks xmlns:a="http://schemas.openxmlformats.org/drawingml/2006/main" noGrp="1"/>
          </p:cNvSpPr>
          <p:nvPr/>
        </p:nvSpPr>
        <p:spPr>
          <a:xfrm xmlns:a="http://schemas.openxmlformats.org/drawingml/2006/main">
            <a:off x="609600" y="4667250"/>
            <a:ext cx="361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586C63"/>
                </a:solidFill>
                <a:latin typeface="Arial"/>
                <a:ea typeface="Arial"/>
                <a:cs typeface="Arial"/>
              </a:defRPr>
            </a:pPr>
            <a:r>
              <a:rPr sz="1800" b="0">
                <a:solidFill>
                  <a:srgbClr val="586C63"/>
                </a:solidFill>
                <a:latin typeface="Arial"/>
                <a:ea typeface="Arial"/>
                <a:cs typeface="Arial"/>
              </a:rPr>
              <a:t>Load, crop, undo and save.</a:t>
            </a:r>
          </a:p>
          <a:p xmlns:a="http://schemas.openxmlformats.org/drawingml/2006/main">
            <a:pPr algn="l">
              <a:buNone/>
              <a:defRPr sz="1800" b="0">
                <a:solidFill>
                  <a:srgbClr val="586C63"/>
                </a:solidFill>
                <a:latin typeface="Arial"/>
                <a:ea typeface="Arial"/>
                <a:cs typeface="Arial"/>
              </a:defRPr>
            </a:pPr>
            <a:r>
              <a:rPr sz="1800" b="0">
                <a:solidFill>
                  <a:srgbClr val="586C63"/>
                </a:solidFill>
                <a:latin typeface="Arial"/>
                <a:ea typeface="Arial"/>
                <a:cs typeface="Arial"/>
              </a:rPr>
              <a:t>Switch views and compare SR.</a:t>
            </a:r>
          </a:p>
        </p:txBody>
      </p:sp>
      <p:sp>
        <p:nvSpPr>
          <p:cNvPr id="25" name="Local check: 114 passed / 11 skipped — all sk">
            <a:extLst xmlns:a="http://schemas.openxmlformats.org/drawingml/2006/main">
              <a:ext uri="{FF2B5EF4-FFF2-40B4-BE49-F238E27FC236}">
                <a16:creationId xmlns:a16="http://schemas.microsoft.com/office/drawing/2014/main" id="{808CD3E8-74E9-4587-8138-06DD3C94FF17}"/>
              </a:ext>
            </a:extLst>
          </p:cNvPr>
          <p:cNvSpPr>
            <a:spLocks xmlns:a="http://schemas.openxmlformats.org/drawingml/2006/main" noGrp="1"/>
          </p:cNvSpPr>
          <p:nvPr/>
        </p:nvSpPr>
        <p:spPr>
          <a:xfrm xmlns:a="http://schemas.openxmlformats.org/drawingml/2006/main">
            <a:off x="609600" y="56578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287553"/>
                </a:solidFill>
                <a:latin typeface="Arial"/>
                <a:ea typeface="Arial"/>
                <a:cs typeface="Arial"/>
              </a:defRPr>
            </a:pPr>
            <a:r>
              <a:rPr sz="1800" b="1">
                <a:solidFill>
                  <a:srgbClr val="287553"/>
                </a:solidFill>
                <a:latin typeface="Arial"/>
                <a:ea typeface="Arial"/>
                <a:cs typeface="Arial"/>
              </a:rPr>
              <a:t>Local check in pytorch_env: 125 tests passed on 28 August.</a:t>
            </a:r>
          </a:p>
        </p:txBody>
      </p:sp>
      <p:sp>
        <p:nvSpPr>
          <p:cNvPr id="26" name="Scientific index accuracy and dedicated class">
            <a:extLst xmlns:a="http://schemas.openxmlformats.org/drawingml/2006/main">
              <a:ext uri="{FF2B5EF4-FFF2-40B4-BE49-F238E27FC236}">
                <a16:creationId xmlns:a16="http://schemas.microsoft.com/office/drawing/2014/main" id="{3E92763C-DEB1-4938-A408-0F16A94841F4}"/>
              </a:ext>
            </a:extLst>
          </p:cNvPr>
          <p:cNvSpPr>
            <a:spLocks xmlns:a="http://schemas.openxmlformats.org/drawingml/2006/main" noGrp="1"/>
          </p:cNvSpPr>
          <p:nvPr/>
        </p:nvSpPr>
        <p:spPr>
          <a:xfrm xmlns:a="http://schemas.openxmlformats.org/drawingml/2006/main">
            <a:off x="609600" y="5991225"/>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93651E"/>
                </a:solidFill>
                <a:latin typeface="Arial"/>
                <a:ea typeface="Arial"/>
                <a:cs typeface="Arial"/>
              </a:defRPr>
            </a:pPr>
            <a:r>
              <a:rPr sz="1500" b="0">
                <a:solidFill>
                  <a:srgbClr val="93651E"/>
                </a:solidFill>
                <a:latin typeface="Arial"/>
                <a:ea typeface="Arial"/>
                <a:cs typeface="Arial"/>
              </a:rPr>
              <a:t>Still needed: more classification tests and checks against known scientific results.</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cf642f10d8ef4a48"/>
          <a:stretch xmlns:a="http://schemas.openxmlformats.org/drawingml/2006/main"/>
        </p:blipFill>
        <p:spPr>
          <a:xfrm xmlns:a="http://schemas.openxmlformats.org/drawingml/2006/main">
            <a:off x="5686576" y="2219325"/>
            <a:ext cx="4714573" cy="3314700"/>
          </a:xfrm>
          <a:prstGeom xmlns:a="http://schemas.openxmlformats.org/drawingml/2006/main" prst="rect">
            <a:avLst/>
          </a:prstGeom>
        </p:spPr>
      </p:pic>
    </p:spTree>
    <p:extLst>
      <p:ext uri="{BB962C8B-B14F-4D97-AF65-F5344CB8AC3E}">
        <p14:creationId xmlns:p14="http://schemas.microsoft.com/office/powerpoint/2010/main" val="1504527570"/>
      </p:ext>
    </p:extLst>
  </p:cSld>
</p:sld>
</file>

<file path=ppt/slides/slide10.xml><?xml version="1.0" encoding="utf-8"?>
<p:sld xmlns:p="http://schemas.openxmlformats.org/presentationml/2006/main">
  <p:cSld>
    <p:bg>
      <p:bgPr>
        <a:solidFill xmlns:a="http://schemas.openxmlformats.org/drawingml/2006/main">
          <a:srgbClr val="F4F5F0"/>
        </a:solidFill>
      </p:bgPr>
    </p:bg>
    <p:spTree>
      <p:nvGrpSpPr>
        <p:cNvPr id="1" name=""/>
        <p:cNvGrpSpPr/>
        <p:nvPr/>
      </p:nvGrpSpPr>
      <p:grpSpPr>
        <a:xfrm xmlns:a="http://schemas.openxmlformats.org/drawingml/2006/main"/>
      </p:grpSpPr>
      <p:sp>
        <p:nvSpPr>
          <p:cNvPr id="30" name="EXECUTION AND QUALITY">
            <a:extLst xmlns:a="http://schemas.openxmlformats.org/drawingml/2006/main">
              <a:ext uri="{FF2B5EF4-FFF2-40B4-BE49-F238E27FC236}">
                <a16:creationId xmlns:a16="http://schemas.microsoft.com/office/drawing/2014/main" id="{E79EB6AC-D7F0-4672-8BF0-3ADCA5145100}"/>
              </a:ext>
            </a:extLst>
          </p:cNvPr>
          <p:cNvSpPr>
            <a:spLocks xmlns:a="http://schemas.openxmlformats.org/drawingml/2006/main" noGrp="1"/>
          </p:cNvSpPr>
          <p:nvPr/>
        </p:nvSpPr>
        <p:spPr>
          <a:xfrm xmlns:a="http://schemas.openxmlformats.org/drawingml/2006/main">
            <a:off x="609600" y="4000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1">
                <a:solidFill>
                  <a:srgbClr val="287553"/>
                </a:solidFill>
                <a:latin typeface="Arial"/>
                <a:ea typeface="Arial"/>
                <a:cs typeface="Arial"/>
              </a:defRPr>
            </a:pPr>
            <a:r>
              <a:rPr sz="1500" b="1">
                <a:solidFill>
                  <a:srgbClr val="287553"/>
                </a:solidFill>
                <a:latin typeface="Arial"/>
                <a:ea typeface="Arial"/>
                <a:cs typeface="Arial"/>
              </a:rPr>
              <a:t>EXECUTION AND QUALITY</a:t>
            </a:r>
          </a:p>
        </p:txBody>
      </p:sp>
      <p:sp>
        <p:nvSpPr>
          <p:cNvPr id="2" name="CI checks pull requests and main">
            <a:extLst xmlns:a="http://schemas.openxmlformats.org/drawingml/2006/main">
              <a:ext uri="{FF2B5EF4-FFF2-40B4-BE49-F238E27FC236}">
                <a16:creationId xmlns:a16="http://schemas.microsoft.com/office/drawing/2014/main" id="{E9F3C630-AD2B-4682-9313-AC73113715CD}"/>
              </a:ext>
            </a:extLst>
          </p:cNvPr>
          <p:cNvSpPr>
            <a:spLocks xmlns:a="http://schemas.openxmlformats.org/drawingml/2006/main" noGrp="1"/>
          </p:cNvSpPr>
          <p:nvPr/>
        </p:nvSpPr>
        <p:spPr>
          <a:xfrm xmlns:a="http://schemas.openxmlformats.org/drawingml/2006/main">
            <a:off x="609600" y="86677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600" b="1">
                <a:solidFill>
                  <a:srgbClr val="173B31"/>
                </a:solidFill>
                <a:latin typeface="Arial"/>
                <a:ea typeface="Arial"/>
                <a:cs typeface="Arial"/>
              </a:defRPr>
            </a:pPr>
            <a:r>
              <a:rPr sz="3600" b="1">
                <a:solidFill>
                  <a:srgbClr val="173B31"/>
                </a:solidFill>
                <a:latin typeface="Arial"/>
                <a:ea typeface="Arial"/>
                <a:cs typeface="Arial"/>
              </a:rPr>
              <a:t>GitHub runs our tests automatically</a:t>
            </a:r>
          </a:p>
        </p:txBody>
      </p:sp>
      <p:sp>
        <p:nvSpPr>
          <p:cNvPr id="3" name="直线连接符 2">
            <a:extLst xmlns:a="http://schemas.openxmlformats.org/drawingml/2006/main">
              <a:ext uri="{FF2B5EF4-FFF2-40B4-BE49-F238E27FC236}">
                <a16:creationId xmlns:a16="http://schemas.microsoft.com/office/drawing/2014/main" id="{B549625E-2882-4E4F-8BF2-D793351E9892}"/>
              </a:ext>
            </a:extLst>
          </p:cNvPr>
          <p:cNvSpPr>
            <a:spLocks xmlns:a="http://schemas.openxmlformats.org/drawingml/2006/main" noGrp="1"/>
          </p:cNvSpPr>
          <p:nvPr/>
        </p:nvSpPr>
        <p:spPr>
          <a:xfrm xmlns:a="http://schemas.openxmlformats.org/drawingml/2006/main">
            <a:off x="609600" y="6238875"/>
            <a:ext cx="10972800" cy="0"/>
          </a:xfrm>
          <a:prstGeom xmlns:a="http://schemas.openxmlformats.org/drawingml/2006/main" prst="line">
            <a:avLst/>
          </a:prstGeom>
          <a:noFill xmlns:a="http://schemas.openxmlformats.org/drawingml/2006/main"/>
          <a:ln xmlns:a="http://schemas.openxmlformats.org/drawingml/2006/main" w="14288">
            <a:solidFill>
              <a:srgbClr val="C8D4CB"/>
            </a:solidFill>
          </a:ln>
        </p:spPr>
      </p:sp>
      <p:sp>
        <p:nvSpPr>
          <p:cNvPr id="4" name="LEAF ANALYZER  /  SPRINT 5">
            <a:extLst xmlns:a="http://schemas.openxmlformats.org/drawingml/2006/main">
              <a:ext uri="{FF2B5EF4-FFF2-40B4-BE49-F238E27FC236}">
                <a16:creationId xmlns:a16="http://schemas.microsoft.com/office/drawing/2014/main" id="{AD9E35B3-A447-47F2-A58A-9CFC691CF97B}"/>
              </a:ext>
            </a:extLst>
          </p:cNvPr>
          <p:cNvSpPr>
            <a:spLocks xmlns:a="http://schemas.openxmlformats.org/drawingml/2006/main" noGrp="1"/>
          </p:cNvSpPr>
          <p:nvPr/>
        </p:nvSpPr>
        <p:spPr>
          <a:xfrm xmlns:a="http://schemas.openxmlformats.org/drawingml/2006/main">
            <a:off x="609600" y="6410325"/>
            <a:ext cx="323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586C63"/>
                </a:solidFill>
                <a:latin typeface="Arial"/>
                <a:ea typeface="Arial"/>
                <a:cs typeface="Arial"/>
              </a:defRPr>
            </a:pPr>
            <a:r>
              <a:rPr sz="1350" b="0">
                <a:solidFill>
                  <a:srgbClr val="586C63"/>
                </a:solidFill>
                <a:latin typeface="Arial"/>
                <a:ea typeface="Arial"/>
                <a:cs typeface="Arial"/>
              </a:rPr>
              <a:t>LEAF ANALYZER  /  SPRINT 5</a:t>
            </a:r>
          </a:p>
        </p:txBody>
      </p:sp>
      <p:sp>
        <p:nvSpPr>
          <p:cNvPr id="5" name="GitHub Actions • UI Tests • run 33145582110">
            <a:extLst xmlns:a="http://schemas.openxmlformats.org/drawingml/2006/main">
              <a:ext uri="{FF2B5EF4-FFF2-40B4-BE49-F238E27FC236}">
                <a16:creationId xmlns:a16="http://schemas.microsoft.com/office/drawing/2014/main" id="{A606CCB3-BAD4-457D-B62C-4D69B3BDB801}"/>
              </a:ext>
            </a:extLst>
          </p:cNvPr>
          <p:cNvSpPr>
            <a:spLocks xmlns:a="http://schemas.openxmlformats.org/drawingml/2006/main" noGrp="1"/>
          </p:cNvSpPr>
          <p:nvPr/>
        </p:nvSpPr>
        <p:spPr>
          <a:xfrm xmlns:a="http://schemas.openxmlformats.org/drawingml/2006/main">
            <a:off x="3952875" y="6305550"/>
            <a:ext cx="708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200">
                <a:solidFill>
                  <a:srgbClr val="287553"/>
                </a:solidFill>
                <a:latin typeface="Arial"/>
                <a:ea typeface="Arial"/>
                <a:cs typeface="Arial"/>
              </a:defRPr>
            </a:pPr>
            <a:r>
              <a:rPr sz="1200">
                <a:solidFill>
                  <a:srgbClr val="287553"/>
                </a:solidFill>
                <a:latin typeface="Arial"/>
                <a:ea typeface="Arial"/>
                <a:cs typeface="Arial"/>
              </a:rPr>
              <a:t>Sources: </a:t>
            </a:r>
            <a:r>
              <a:rPr sz="1200" u="sng">
                <a:solidFill>
                  <a:srgbClr val="287553"/>
                </a:solidFill>
                <a:latin typeface="Arial"/>
                <a:ea typeface="Arial"/>
                <a:cs typeface="Arial"/>
                <a:hlinkClick xmlns:r="http://schemas.openxmlformats.org/officeDocument/2006/relationships" r:id="Rca0fbc5f14614cbf"/>
              </a:rPr>
              <a:t>PR #25</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72595d10e9854e82"/>
              </a:rPr>
              <a:t>CI workflow</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7696d596d2c34f7c"/>
              </a:rPr>
              <a:t>CI run</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4426f929a24c4ecb"/>
              </a:rPr>
              <a:t>Test packages</a:t>
            </a:r>
          </a:p>
        </p:txBody>
      </p:sp>
      <p:sp>
        <p:nvSpPr>
          <p:cNvPr id="6" name="10">
            <a:extLst xmlns:a="http://schemas.openxmlformats.org/drawingml/2006/main">
              <a:ext uri="{FF2B5EF4-FFF2-40B4-BE49-F238E27FC236}">
                <a16:creationId xmlns:a16="http://schemas.microsoft.com/office/drawing/2014/main" id="{85B31256-663A-4FE4-8621-48219AF250D0}"/>
              </a:ext>
            </a:extLst>
          </p:cNvPr>
          <p:cNvSpPr>
            <a:spLocks xmlns:a="http://schemas.openxmlformats.org/drawingml/2006/main" noGrp="1"/>
          </p:cNvSpPr>
          <p:nvPr/>
        </p:nvSpPr>
        <p:spPr>
          <a:xfrm xmlns:a="http://schemas.openxmlformats.org/drawingml/2006/main">
            <a:off x="11239500" y="63817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586C63"/>
                </a:solidFill>
                <a:latin typeface="Arial"/>
                <a:ea typeface="Arial"/>
                <a:cs typeface="Arial"/>
              </a:defRPr>
            </a:pPr>
            <a:r>
              <a:rPr sz="1575" b="0">
                <a:solidFill>
                  <a:srgbClr val="586C63"/>
                </a:solidFill>
                <a:latin typeface="Arial"/>
                <a:ea typeface="Arial"/>
                <a:cs typeface="Arial"/>
              </a:rPr>
              <a:t>10</a:t>
            </a:r>
          </a:p>
        </p:txBody>
      </p:sp>
      <p:sp>
        <p:nvSpPr>
          <p:cNvPr id="11" name="Code + tests">
            <a:extLst xmlns:a="http://schemas.openxmlformats.org/drawingml/2006/main">
              <a:ext uri="{FF2B5EF4-FFF2-40B4-BE49-F238E27FC236}">
                <a16:creationId xmlns:a16="http://schemas.microsoft.com/office/drawing/2014/main" id="{F4868951-5756-47C0-B827-91EE523995D4}"/>
              </a:ext>
            </a:extLst>
          </p:cNvPr>
          <p:cNvSpPr>
            <a:spLocks xmlns:a="http://schemas.openxmlformats.org/drawingml/2006/main" noGrp="1"/>
          </p:cNvSpPr>
          <p:nvPr/>
        </p:nvSpPr>
        <p:spPr>
          <a:xfrm xmlns:a="http://schemas.openxmlformats.org/drawingml/2006/main">
            <a:off x="609600" y="2028825"/>
            <a:ext cx="3362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600" b="1">
                <a:solidFill>
                  <a:srgbClr val="173B31"/>
                </a:solidFill>
                <a:latin typeface="Arial"/>
                <a:ea typeface="Arial"/>
                <a:cs typeface="Arial"/>
              </a:defRPr>
            </a:pPr>
            <a:r>
              <a:rPr sz="3600" b="1">
                <a:solidFill>
                  <a:srgbClr val="173B31"/>
                </a:solidFill>
                <a:latin typeface="Arial"/>
                <a:ea typeface="Arial"/>
                <a:cs typeface="Arial"/>
              </a:rPr>
              <a:t>105 passed</a:t>
            </a:r>
          </a:p>
        </p:txBody>
      </p:sp>
      <p:sp>
        <p:nvSpPr>
          <p:cNvPr id="12" name="Working branch">
            <a:extLst xmlns:a="http://schemas.openxmlformats.org/drawingml/2006/main">
              <a:ext uri="{FF2B5EF4-FFF2-40B4-BE49-F238E27FC236}">
                <a16:creationId xmlns:a16="http://schemas.microsoft.com/office/drawing/2014/main" id="{7B27A524-2F11-4E0C-8013-BA09C67FBE57}"/>
              </a:ext>
            </a:extLst>
          </p:cNvPr>
          <p:cNvSpPr>
            <a:spLocks xmlns:a="http://schemas.openxmlformats.org/drawingml/2006/main" noGrp="1"/>
          </p:cNvSpPr>
          <p:nvPr/>
        </p:nvSpPr>
        <p:spPr>
          <a:xfrm xmlns:a="http://schemas.openxmlformats.org/drawingml/2006/main">
            <a:off x="609600" y="2847975"/>
            <a:ext cx="33623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50" b="0">
                <a:solidFill>
                  <a:srgbClr val="586C63"/>
                </a:solidFill>
                <a:latin typeface="Arial"/>
                <a:ea typeface="Arial"/>
                <a:cs typeface="Arial"/>
              </a:defRPr>
            </a:pPr>
            <a:r>
              <a:rPr sz="2850" b="0">
                <a:solidFill>
                  <a:srgbClr val="586C63"/>
                </a:solidFill>
                <a:latin typeface="Arial"/>
                <a:ea typeface="Arial"/>
                <a:cs typeface="Arial"/>
              </a:rPr>
              <a:t>20 skipped</a:t>
            </a:r>
          </a:p>
        </p:txBody>
      </p:sp>
      <p:sp>
        <p:nvSpPr>
          <p:cNvPr id="14" name="Pull request">
            <a:extLst xmlns:a="http://schemas.openxmlformats.org/drawingml/2006/main">
              <a:ext uri="{FF2B5EF4-FFF2-40B4-BE49-F238E27FC236}">
                <a16:creationId xmlns:a16="http://schemas.microsoft.com/office/drawing/2014/main" id="{43C5B737-20BF-46A0-AF6B-987596D281CA}"/>
              </a:ext>
            </a:extLst>
          </p:cNvPr>
          <p:cNvSpPr>
            <a:spLocks xmlns:a="http://schemas.openxmlformats.org/drawingml/2006/main" noGrp="1"/>
          </p:cNvSpPr>
          <p:nvPr/>
        </p:nvSpPr>
        <p:spPr>
          <a:xfrm xmlns:a="http://schemas.openxmlformats.org/drawingml/2006/main">
            <a:off x="609600" y="3648075"/>
            <a:ext cx="3362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73B31"/>
                </a:solidFill>
                <a:latin typeface="Arial"/>
                <a:ea typeface="Arial"/>
                <a:cs typeface="Arial"/>
              </a:defRPr>
            </a:pPr>
            <a:r>
              <a:rPr sz="2100" b="1">
                <a:solidFill>
                  <a:srgbClr val="173B31"/>
                </a:solidFill>
                <a:latin typeface="Arial"/>
                <a:ea typeface="Arial"/>
                <a:cs typeface="Arial"/>
              </a:rPr>
              <a:t>Checks run on PRs</a:t>
            </a:r>
          </a:p>
          <a:p xmlns:a="http://schemas.openxmlformats.org/drawingml/2006/main">
            <a:pPr algn="l">
              <a:buNone/>
              <a:defRPr sz="2100" b="1">
                <a:solidFill>
                  <a:srgbClr val="173B31"/>
                </a:solidFill>
                <a:latin typeface="Arial"/>
                <a:ea typeface="Arial"/>
                <a:cs typeface="Arial"/>
              </a:defRPr>
            </a:pPr>
            <a:r>
              <a:rPr sz="2100" b="1">
                <a:solidFill>
                  <a:srgbClr val="173B31"/>
                </a:solidFill>
                <a:latin typeface="Arial"/>
                <a:ea typeface="Arial"/>
                <a:cs typeface="Arial"/>
              </a:rPr>
              <a:t>and pushes to main.</a:t>
            </a:r>
          </a:p>
        </p:txBody>
      </p:sp>
      <p:sp>
        <p:nvSpPr>
          <p:cNvPr id="15" name="Human review">
            <a:extLst xmlns:a="http://schemas.openxmlformats.org/drawingml/2006/main">
              <a:ext uri="{FF2B5EF4-FFF2-40B4-BE49-F238E27FC236}">
                <a16:creationId xmlns:a16="http://schemas.microsoft.com/office/drawing/2014/main" id="{8343673F-07CE-4F5D-BD0A-248E459713FA}"/>
              </a:ext>
            </a:extLst>
          </p:cNvPr>
          <p:cNvSpPr>
            <a:spLocks xmlns:a="http://schemas.openxmlformats.org/drawingml/2006/main" noGrp="1"/>
          </p:cNvSpPr>
          <p:nvPr/>
        </p:nvSpPr>
        <p:spPr>
          <a:xfrm xmlns:a="http://schemas.openxmlformats.org/drawingml/2006/main">
            <a:off x="609600" y="4686300"/>
            <a:ext cx="3362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586C63"/>
                </a:solidFill>
                <a:latin typeface="Arial"/>
                <a:ea typeface="Arial"/>
                <a:cs typeface="Arial"/>
              </a:defRPr>
            </a:pPr>
            <a:r>
              <a:rPr sz="1800" b="0">
                <a:solidFill>
                  <a:srgbClr val="586C63"/>
                </a:solidFill>
                <a:latin typeface="Arial"/>
                <a:ea typeface="Arial"/>
                <a:cs typeface="Arial"/>
              </a:rPr>
              <a:t>11 skips need PyTorch.</a:t>
            </a:r>
          </a:p>
          <a:p xmlns:a="http://schemas.openxmlformats.org/drawingml/2006/main">
            <a:pPr algn="l">
              <a:buNone/>
              <a:defRPr sz="1800" b="0">
                <a:solidFill>
                  <a:srgbClr val="586C63"/>
                </a:solidFill>
                <a:latin typeface="Arial"/>
                <a:ea typeface="Arial"/>
                <a:cs typeface="Arial"/>
              </a:defRPr>
            </a:pPr>
            <a:r>
              <a:rPr sz="1800" b="0">
                <a:solidFill>
                  <a:srgbClr val="586C63"/>
                </a:solidFill>
                <a:latin typeface="Arial"/>
                <a:ea typeface="Arial"/>
                <a:cs typeface="Arial"/>
              </a:rPr>
              <a:t>9 need real sample files.</a:t>
            </a:r>
          </a:p>
        </p:txBody>
      </p:sp>
      <p:sp>
        <p:nvSpPr>
          <p:cNvPr id="29" name="Impact: repeatable regression checks before a">
            <a:extLst xmlns:a="http://schemas.openxmlformats.org/drawingml/2006/main">
              <a:ext uri="{FF2B5EF4-FFF2-40B4-BE49-F238E27FC236}">
                <a16:creationId xmlns:a16="http://schemas.microsoft.com/office/drawing/2014/main" id="{26CBEEB7-FF6A-4377-B478-ED55820FBD5E}"/>
              </a:ext>
            </a:extLst>
          </p:cNvPr>
          <p:cNvSpPr>
            <a:spLocks xmlns:a="http://schemas.openxmlformats.org/drawingml/2006/main" noGrp="1"/>
          </p:cNvSpPr>
          <p:nvPr/>
        </p:nvSpPr>
        <p:spPr>
          <a:xfrm xmlns:a="http://schemas.openxmlformats.org/drawingml/2006/main">
            <a:off x="609600" y="57721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287553"/>
                </a:solidFill>
                <a:latin typeface="Arial"/>
                <a:ea typeface="Arial"/>
                <a:cs typeface="Arial"/>
              </a:defRPr>
            </a:pPr>
            <a:r>
              <a:rPr sz="1800" b="1">
                <a:solidFill>
                  <a:srgbClr val="287553"/>
                </a:solidFill>
                <a:latin typeface="Arial"/>
                <a:ea typeface="Arial"/>
                <a:cs typeface="Arial"/>
              </a:rPr>
              <a:t>We added CI. Automatic deployment is not set up yet.</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522b98bc58bb481a"/>
          <a:stretch xmlns:a="http://schemas.openxmlformats.org/drawingml/2006/main"/>
        </p:blipFill>
        <p:spPr>
          <a:xfrm xmlns:a="http://schemas.openxmlformats.org/drawingml/2006/main">
            <a:off x="4191000" y="2359960"/>
            <a:ext cx="7391400" cy="2709581"/>
          </a:xfrm>
          <a:prstGeom xmlns:a="http://schemas.openxmlformats.org/drawingml/2006/main" prst="rect">
            <a:avLst/>
          </a:prstGeom>
        </p:spPr>
      </p:pic>
    </p:spTree>
    <p:extLst>
      <p:ext uri="{BB962C8B-B14F-4D97-AF65-F5344CB8AC3E}">
        <p14:creationId xmlns:p14="http://schemas.microsoft.com/office/powerpoint/2010/main" val="2052982339"/>
      </p:ext>
    </p:extLst>
  </p:cSld>
</p:sld>
</file>

<file path=ppt/slides/slide11.xml><?xml version="1.0" encoding="utf-8"?>
<p:sld xmlns:p="http://schemas.openxmlformats.org/presentationml/2006/main">
  <p:cSld>
    <p:bg>
      <p:bgPr>
        <a:solidFill xmlns:a="http://schemas.openxmlformats.org/drawingml/2006/main">
          <a:srgbClr val="F4F5F0"/>
        </a:solidFill>
      </p:bgPr>
    </p:bg>
    <p:spTree>
      <p:nvGrpSpPr>
        <p:cNvPr id="1" name=""/>
        <p:cNvGrpSpPr/>
        <p:nvPr/>
      </p:nvGrpSpPr>
      <p:grpSpPr>
        <a:xfrm xmlns:a="http://schemas.openxmlformats.org/drawingml/2006/main"/>
      </p:grpSpPr>
      <p:sp>
        <p:nvSpPr>
          <p:cNvPr id="12" name="EXECUTION AND QUALITY">
            <a:extLst xmlns:a="http://schemas.openxmlformats.org/drawingml/2006/main">
              <a:ext uri="{FF2B5EF4-FFF2-40B4-BE49-F238E27FC236}">
                <a16:creationId xmlns:a16="http://schemas.microsoft.com/office/drawing/2014/main" id="{6C3674CE-7415-4A07-819B-4B00B1F4F372}"/>
              </a:ext>
            </a:extLst>
          </p:cNvPr>
          <p:cNvSpPr>
            <a:spLocks xmlns:a="http://schemas.openxmlformats.org/drawingml/2006/main" noGrp="1"/>
          </p:cNvSpPr>
          <p:nvPr/>
        </p:nvSpPr>
        <p:spPr>
          <a:xfrm xmlns:a="http://schemas.openxmlformats.org/drawingml/2006/main">
            <a:off x="609600" y="4000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1">
                <a:solidFill>
                  <a:srgbClr val="287553"/>
                </a:solidFill>
                <a:latin typeface="Arial"/>
                <a:ea typeface="Arial"/>
                <a:cs typeface="Arial"/>
              </a:defRPr>
            </a:pPr>
            <a:r>
              <a:rPr sz="1500" b="1">
                <a:solidFill>
                  <a:srgbClr val="287553"/>
                </a:solidFill>
                <a:latin typeface="Arial"/>
                <a:ea typeface="Arial"/>
                <a:cs typeface="Arial"/>
              </a:rPr>
              <a:t>EXECUTION AND QUALITY</a:t>
            </a:r>
          </a:p>
        </p:txBody>
      </p:sp>
      <p:sp>
        <p:nvSpPr>
          <p:cNvPr id="2" name="Review led to a concrete refactor">
            <a:extLst xmlns:a="http://schemas.openxmlformats.org/drawingml/2006/main">
              <a:ext uri="{FF2B5EF4-FFF2-40B4-BE49-F238E27FC236}">
                <a16:creationId xmlns:a16="http://schemas.microsoft.com/office/drawing/2014/main" id="{B9D5AA8E-3964-4F05-AD7D-22AEA3D1ED38}"/>
              </a:ext>
            </a:extLst>
          </p:cNvPr>
          <p:cNvSpPr>
            <a:spLocks xmlns:a="http://schemas.openxmlformats.org/drawingml/2006/main" noGrp="1"/>
          </p:cNvSpPr>
          <p:nvPr/>
        </p:nvSpPr>
        <p:spPr>
          <a:xfrm xmlns:a="http://schemas.openxmlformats.org/drawingml/2006/main">
            <a:off x="609600" y="86677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600" b="1">
                <a:solidFill>
                  <a:srgbClr val="173B31"/>
                </a:solidFill>
                <a:latin typeface="Arial"/>
                <a:ea typeface="Arial"/>
                <a:cs typeface="Arial"/>
              </a:defRPr>
            </a:pPr>
            <a:r>
              <a:rPr sz="3600" b="1">
                <a:solidFill>
                  <a:srgbClr val="173B31"/>
                </a:solidFill>
                <a:latin typeface="Arial"/>
                <a:ea typeface="Arial"/>
                <a:cs typeface="Arial"/>
              </a:rPr>
              <a:t>Code review helped us tidy the code</a:t>
            </a:r>
          </a:p>
        </p:txBody>
      </p:sp>
      <p:sp>
        <p:nvSpPr>
          <p:cNvPr id="3" name="直线连接符 2">
            <a:extLst xmlns:a="http://schemas.openxmlformats.org/drawingml/2006/main">
              <a:ext uri="{FF2B5EF4-FFF2-40B4-BE49-F238E27FC236}">
                <a16:creationId xmlns:a16="http://schemas.microsoft.com/office/drawing/2014/main" id="{89C4D2AE-245F-47EF-830C-BAF2331AF110}"/>
              </a:ext>
            </a:extLst>
          </p:cNvPr>
          <p:cNvSpPr>
            <a:spLocks xmlns:a="http://schemas.openxmlformats.org/drawingml/2006/main" noGrp="1"/>
          </p:cNvSpPr>
          <p:nvPr/>
        </p:nvSpPr>
        <p:spPr>
          <a:xfrm xmlns:a="http://schemas.openxmlformats.org/drawingml/2006/main">
            <a:off x="609600" y="6238875"/>
            <a:ext cx="10972800" cy="0"/>
          </a:xfrm>
          <a:prstGeom xmlns:a="http://schemas.openxmlformats.org/drawingml/2006/main" prst="line">
            <a:avLst/>
          </a:prstGeom>
          <a:noFill xmlns:a="http://schemas.openxmlformats.org/drawingml/2006/main"/>
          <a:ln xmlns:a="http://schemas.openxmlformats.org/drawingml/2006/main" w="14288">
            <a:solidFill>
              <a:srgbClr val="C8D4CB"/>
            </a:solidFill>
          </a:ln>
        </p:spPr>
      </p:sp>
      <p:sp>
        <p:nvSpPr>
          <p:cNvPr id="4" name="LEAF ANALYZER  /  SPRINT 5">
            <a:extLst xmlns:a="http://schemas.openxmlformats.org/drawingml/2006/main">
              <a:ext uri="{FF2B5EF4-FFF2-40B4-BE49-F238E27FC236}">
                <a16:creationId xmlns:a16="http://schemas.microsoft.com/office/drawing/2014/main" id="{D96EB067-8428-4F34-A264-24B419E925D6}"/>
              </a:ext>
            </a:extLst>
          </p:cNvPr>
          <p:cNvSpPr>
            <a:spLocks xmlns:a="http://schemas.openxmlformats.org/drawingml/2006/main" noGrp="1"/>
          </p:cNvSpPr>
          <p:nvPr/>
        </p:nvSpPr>
        <p:spPr>
          <a:xfrm xmlns:a="http://schemas.openxmlformats.org/drawingml/2006/main">
            <a:off x="609600" y="6410325"/>
            <a:ext cx="323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586C63"/>
                </a:solidFill>
                <a:latin typeface="Arial"/>
                <a:ea typeface="Arial"/>
                <a:cs typeface="Arial"/>
              </a:defRPr>
            </a:pPr>
            <a:r>
              <a:rPr sz="1350" b="0">
                <a:solidFill>
                  <a:srgbClr val="586C63"/>
                </a:solidFill>
                <a:latin typeface="Arial"/>
                <a:ea typeface="Arial"/>
                <a:cs typeface="Arial"/>
              </a:rPr>
              <a:t>LEAF ANALYZER  /  SPRINT 5</a:t>
            </a:r>
          </a:p>
        </p:txBody>
      </p:sp>
      <p:sp>
        <p:nvSpPr>
          <p:cNvPr id="5" name="PR #36 • classification model, GUI and API">
            <a:extLst xmlns:a="http://schemas.openxmlformats.org/drawingml/2006/main">
              <a:ext uri="{FF2B5EF4-FFF2-40B4-BE49-F238E27FC236}">
                <a16:creationId xmlns:a16="http://schemas.microsoft.com/office/drawing/2014/main" id="{E9CB7623-3853-444E-B5F8-1A2428B6B187}"/>
              </a:ext>
            </a:extLst>
          </p:cNvPr>
          <p:cNvSpPr>
            <a:spLocks xmlns:a="http://schemas.openxmlformats.org/drawingml/2006/main" noGrp="1"/>
          </p:cNvSpPr>
          <p:nvPr/>
        </p:nvSpPr>
        <p:spPr>
          <a:xfrm xmlns:a="http://schemas.openxmlformats.org/drawingml/2006/main">
            <a:off x="3952875" y="6305550"/>
            <a:ext cx="708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200">
                <a:solidFill>
                  <a:srgbClr val="287553"/>
                </a:solidFill>
                <a:latin typeface="Arial"/>
                <a:ea typeface="Arial"/>
                <a:cs typeface="Arial"/>
              </a:defRPr>
            </a:pPr>
            <a:r>
              <a:rPr sz="1200">
                <a:solidFill>
                  <a:srgbClr val="287553"/>
                </a:solidFill>
                <a:latin typeface="Arial"/>
                <a:ea typeface="Arial"/>
                <a:cs typeface="Arial"/>
              </a:rPr>
              <a:t>Sources: </a:t>
            </a:r>
            <a:r>
              <a:rPr sz="1200" u="sng">
                <a:solidFill>
                  <a:srgbClr val="287553"/>
                </a:solidFill>
                <a:latin typeface="Arial"/>
                <a:ea typeface="Arial"/>
                <a:cs typeface="Arial"/>
                <a:hlinkClick xmlns:r="http://schemas.openxmlformats.org/officeDocument/2006/relationships" r:id="Rcdcbbf0cb98846e0"/>
              </a:rPr>
              <a:t>PR #36</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1bbebcbd87e44677"/>
              </a:rPr>
              <a:t>Review request</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109cf2d814b24a4a"/>
              </a:rPr>
              <a:t>Approval</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4340eff07c874dc9"/>
              </a:rPr>
              <a:t>Commit c285154</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dc3d89a7bb714bd7"/>
              </a:rPr>
              <a:t>CI run</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b7ea99ed24014f71"/>
              </a:rPr>
              <a:t>Week 5 report</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53156d61e183458b"/>
              </a:rPr>
              <a:t>Week 5 reflection</a:t>
            </a:r>
          </a:p>
        </p:txBody>
      </p:sp>
      <p:sp>
        <p:nvSpPr>
          <p:cNvPr id="6" name="11">
            <a:extLst xmlns:a="http://schemas.openxmlformats.org/drawingml/2006/main">
              <a:ext uri="{FF2B5EF4-FFF2-40B4-BE49-F238E27FC236}">
                <a16:creationId xmlns:a16="http://schemas.microsoft.com/office/drawing/2014/main" id="{9AB82573-ECD1-47F2-B5A0-172FB32174E1}"/>
              </a:ext>
            </a:extLst>
          </p:cNvPr>
          <p:cNvSpPr>
            <a:spLocks xmlns:a="http://schemas.openxmlformats.org/drawingml/2006/main" noGrp="1"/>
          </p:cNvSpPr>
          <p:nvPr/>
        </p:nvSpPr>
        <p:spPr>
          <a:xfrm xmlns:a="http://schemas.openxmlformats.org/drawingml/2006/main">
            <a:off x="11239500" y="63817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586C63"/>
                </a:solidFill>
                <a:latin typeface="Arial"/>
                <a:ea typeface="Arial"/>
                <a:cs typeface="Arial"/>
              </a:defRPr>
            </a:pPr>
            <a:r>
              <a:rPr sz="1575" b="0">
                <a:solidFill>
                  <a:srgbClr val="586C63"/>
                </a:solidFill>
                <a:latin typeface="Arial"/>
                <a:ea typeface="Arial"/>
                <a:cs typeface="Arial"/>
              </a:rPr>
              <a:t>11</a:t>
            </a:r>
          </a:p>
        </p:txBody>
      </p:sp>
      <p:sp>
        <p:nvSpPr>
          <p:cNvPr id="7" name="28 August · Changes requested → refactor → ap">
            <a:extLst xmlns:a="http://schemas.openxmlformats.org/drawingml/2006/main">
              <a:ext uri="{FF2B5EF4-FFF2-40B4-BE49-F238E27FC236}">
                <a16:creationId xmlns:a16="http://schemas.microsoft.com/office/drawing/2014/main" id="{B14A6504-BD72-46BD-8943-68EB4E8E2181}"/>
              </a:ext>
            </a:extLst>
          </p:cNvPr>
          <p:cNvSpPr>
            <a:spLocks xmlns:a="http://schemas.openxmlformats.org/drawingml/2006/main" noGrp="1"/>
          </p:cNvSpPr>
          <p:nvPr/>
        </p:nvSpPr>
        <p:spPr>
          <a:xfrm xmlns:a="http://schemas.openxmlformats.org/drawingml/2006/main">
            <a:off x="609600" y="16859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586C63"/>
                </a:solidFill>
                <a:latin typeface="Arial"/>
                <a:ea typeface="Arial"/>
                <a:cs typeface="Arial"/>
              </a:defRPr>
            </a:pPr>
            <a:r>
              <a:rPr sz="1950" b="0">
                <a:solidFill>
                  <a:srgbClr val="586C63"/>
                </a:solidFill>
                <a:latin typeface="Arial"/>
                <a:ea typeface="Arial"/>
                <a:cs typeface="Arial"/>
              </a:rPr>
              <a:t>28 August: Ryan asked for a change before approving </a:t>
            </a:r>
            <a:r>
              <a:rPr sz="1950" b="0">
                <a:solidFill>
                  <a:srgbClr val="586C63"/>
                </a:solidFill>
                <a:latin typeface="Arial"/>
                <a:ea typeface="Arial"/>
                <a:cs typeface="Arial"/>
                <a:hlinkClick xmlns:r="http://schemas.openxmlformats.org/officeDocument/2006/relationships" r:id="R7b56316d1cc74452"/>
              </a:rPr>
              <a:t>PR #36</a:t>
            </a:r>
            <a:r>
              <a:rPr sz="1950" b="0">
                <a:solidFill>
                  <a:srgbClr val="586C63"/>
                </a:solidFill>
                <a:latin typeface="Arial"/>
                <a:ea typeface="Arial"/>
                <a:cs typeface="Arial"/>
              </a:rPr>
              <a:t>.</a:t>
            </a:r>
          </a:p>
        </p:txBody>
      </p:sp>
      <p:pic>
        <p:nvPicPr>
          <p:cNvPr id="21" name="图片 18"/>
          <p:cNvPicPr>
            <a:picLocks xmlns:a="http://schemas.openxmlformats.org/drawingml/2006/main" noChangeAspect="1"/>
          </p:cNvPicPr>
          <p:nvPr/>
        </p:nvPicPr>
        <p:blipFill>
          <a:blip xmlns:r="http://schemas.openxmlformats.org/officeDocument/2006/relationships" xmlns:a="http://schemas.openxmlformats.org/drawingml/2006/main" r:embed="Radae8c388a4d4da5"/>
          <a:stretch xmlns:a="http://schemas.openxmlformats.org/drawingml/2006/main"/>
        </p:blipFill>
        <p:spPr>
          <a:xfrm xmlns:a="http://schemas.openxmlformats.org/drawingml/2006/main">
            <a:off x="609600" y="2347168"/>
            <a:ext cx="10972800" cy="2354164"/>
          </a:xfrm>
          <a:prstGeom xmlns:a="http://schemas.openxmlformats.org/drawingml/2006/main" prst="rect">
            <a:avLst/>
          </a:prstGeom>
        </p:spPr>
      </p:pic>
      <p:sp>
        <p:nvSpPr>
          <p:cNvPr id="9" name="Change made">
            <a:extLst xmlns:a="http://schemas.openxmlformats.org/drawingml/2006/main">
              <a:ext uri="{FF2B5EF4-FFF2-40B4-BE49-F238E27FC236}">
                <a16:creationId xmlns:a16="http://schemas.microsoft.com/office/drawing/2014/main" id="{4C7647F8-00CD-4C76-AAE9-460859CFEC8B}"/>
              </a:ext>
            </a:extLst>
          </p:cNvPr>
          <p:cNvSpPr>
            <a:spLocks xmlns:a="http://schemas.openxmlformats.org/drawingml/2006/main" noGrp="1"/>
          </p:cNvSpPr>
          <p:nvPr/>
        </p:nvSpPr>
        <p:spPr>
          <a:xfrm xmlns:a="http://schemas.openxmlformats.org/drawingml/2006/main">
            <a:off x="609600" y="491490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73B31"/>
                </a:solidFill>
                <a:latin typeface="Arial"/>
                <a:ea typeface="Arial"/>
                <a:cs typeface="Arial"/>
              </a:defRPr>
            </a:pPr>
            <a:r>
              <a:rPr sz="2325" b="1">
                <a:solidFill>
                  <a:srgbClr val="173B31"/>
                </a:solidFill>
                <a:latin typeface="Arial"/>
                <a:ea typeface="Arial"/>
                <a:cs typeface="Arial"/>
              </a:rPr>
              <a:t>What we did</a:t>
            </a:r>
          </a:p>
        </p:txBody>
      </p:sp>
      <p:sp>
        <p:nvSpPr>
          <p:cNvPr id="10" name="Classification logic moved into its own contr">
            <a:extLst xmlns:a="http://schemas.openxmlformats.org/drawingml/2006/main">
              <a:ext uri="{FF2B5EF4-FFF2-40B4-BE49-F238E27FC236}">
                <a16:creationId xmlns:a16="http://schemas.microsoft.com/office/drawing/2014/main" id="{58D96DDA-714C-4F64-96EB-E09C2D6A77E0}"/>
              </a:ext>
            </a:extLst>
          </p:cNvPr>
          <p:cNvSpPr>
            <a:spLocks xmlns:a="http://schemas.openxmlformats.org/drawingml/2006/main" noGrp="1"/>
          </p:cNvSpPr>
          <p:nvPr/>
        </p:nvSpPr>
        <p:spPr>
          <a:xfrm xmlns:a="http://schemas.openxmlformats.org/drawingml/2006/main">
            <a:off x="4010025" y="4914900"/>
            <a:ext cx="74771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586C63"/>
                </a:solidFill>
                <a:latin typeface="Arial"/>
                <a:ea typeface="Arial"/>
                <a:cs typeface="Arial"/>
              </a:defRPr>
            </a:pPr>
            <a:r>
              <a:rPr sz="1950" b="0">
                <a:solidFill>
                  <a:srgbClr val="586C63"/>
                </a:solidFill>
                <a:latin typeface="Arial"/>
                <a:ea typeface="Arial"/>
                <a:cs typeface="Arial"/>
              </a:rPr>
              <a:t>We moved the classification code out of the main window</a:t>
            </a:r>
          </a:p>
          <a:p xmlns:a="http://schemas.openxmlformats.org/drawingml/2006/main">
            <a:pPr algn="l">
              <a:buNone/>
              <a:defRPr sz="1950" b="0">
                <a:solidFill>
                  <a:srgbClr val="586C63"/>
                </a:solidFill>
                <a:latin typeface="Arial"/>
                <a:ea typeface="Arial"/>
                <a:cs typeface="Arial"/>
              </a:defRPr>
            </a:pPr>
            <a:r>
              <a:rPr sz="1950" b="0">
                <a:solidFill>
                  <a:srgbClr val="586C63"/>
                </a:solidFill>
                <a:latin typeface="Arial"/>
                <a:ea typeface="Arial"/>
                <a:cs typeface="Arial"/>
              </a:rPr>
              <a:t>and into its own controller.</a:t>
            </a:r>
          </a:p>
        </p:txBody>
      </p:sp>
      <p:sp>
        <p:nvSpPr>
          <p:cNvPr id="11" name="PR #36 merged at 15:42 AEST. Main CI passed; ">
            <a:extLst xmlns:a="http://schemas.openxmlformats.org/drawingml/2006/main">
              <a:ext uri="{FF2B5EF4-FFF2-40B4-BE49-F238E27FC236}">
                <a16:creationId xmlns:a16="http://schemas.microsoft.com/office/drawing/2014/main" id="{2D3F8C48-B245-4D2B-9E18-C5E540D6AB5C}"/>
              </a:ext>
            </a:extLst>
          </p:cNvPr>
          <p:cNvSpPr>
            <a:spLocks xmlns:a="http://schemas.openxmlformats.org/drawingml/2006/main" noGrp="1"/>
          </p:cNvSpPr>
          <p:nvPr/>
        </p:nvSpPr>
        <p:spPr>
          <a:xfrm xmlns:a="http://schemas.openxmlformats.org/drawingml/2006/main">
            <a:off x="609600" y="581977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1">
                <a:solidFill>
                  <a:srgbClr val="287553"/>
                </a:solidFill>
                <a:latin typeface="Arial"/>
                <a:ea typeface="Arial"/>
                <a:cs typeface="Arial"/>
              </a:defRPr>
            </a:pPr>
            <a:r>
              <a:rPr sz="1650" b="1">
                <a:solidFill>
                  <a:srgbClr val="287553"/>
                </a:solidFill>
                <a:latin typeface="Arial"/>
                <a:ea typeface="Arial"/>
                <a:cs typeface="Arial"/>
                <a:hlinkClick xmlns:r="http://schemas.openxmlformats.org/officeDocument/2006/relationships" r:id="R6f882b7d169a4ae7"/>
              </a:rPr>
              <a:t>PR #36</a:t>
            </a:r>
            <a:r>
              <a:rPr sz="1650" b="1">
                <a:solidFill>
                  <a:srgbClr val="287553"/>
                </a:solidFill>
                <a:latin typeface="Arial"/>
                <a:ea typeface="Arial"/>
                <a:cs typeface="Arial"/>
              </a:rPr>
              <a:t> was approved and merged. CI passed. More classification tests are still needed.</a:t>
            </a:r>
          </a:p>
        </p:txBody>
      </p:sp>
    </p:spTree>
    <p:extLst>
      <p:ext uri="{BB962C8B-B14F-4D97-AF65-F5344CB8AC3E}">
        <p14:creationId xmlns:p14="http://schemas.microsoft.com/office/powerpoint/2010/main" val="542598407"/>
      </p:ext>
    </p:extLst>
  </p:cSld>
</p:sld>
</file>

<file path=ppt/slides/slide12.xml><?xml version="1.0" encoding="utf-8"?>
<p:sld xmlns:p="http://schemas.openxmlformats.org/presentationml/2006/main">
  <p:cSld>
    <p:bg>
      <p:bgPr>
        <a:solidFill xmlns:a="http://schemas.openxmlformats.org/drawingml/2006/main">
          <a:srgbClr val="F4F5F0"/>
        </a:solidFill>
      </p:bgPr>
    </p:bg>
    <p:spTree>
      <p:nvGrpSpPr>
        <p:cNvPr id="1" name=""/>
        <p:cNvGrpSpPr/>
        <p:nvPr/>
      </p:nvGrpSpPr>
      <p:grpSpPr>
        <a:xfrm xmlns:a="http://schemas.openxmlformats.org/drawingml/2006/main"/>
      </p:grpSpPr>
      <p:sp>
        <p:nvSpPr>
          <p:cNvPr id="26" name="REFLECTION AND IMPROVEMENT">
            <a:extLst xmlns:a="http://schemas.openxmlformats.org/drawingml/2006/main">
              <a:ext uri="{FF2B5EF4-FFF2-40B4-BE49-F238E27FC236}">
                <a16:creationId xmlns:a16="http://schemas.microsoft.com/office/drawing/2014/main" id="{A8E5029D-5353-4D7F-8549-E5EA2D785AF1}"/>
              </a:ext>
            </a:extLst>
          </p:cNvPr>
          <p:cNvSpPr>
            <a:spLocks xmlns:a="http://schemas.openxmlformats.org/drawingml/2006/main" noGrp="1"/>
          </p:cNvSpPr>
          <p:nvPr/>
        </p:nvSpPr>
        <p:spPr>
          <a:xfrm xmlns:a="http://schemas.openxmlformats.org/drawingml/2006/main">
            <a:off x="609600" y="4000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1">
                <a:solidFill>
                  <a:srgbClr val="287553"/>
                </a:solidFill>
                <a:latin typeface="Arial"/>
                <a:ea typeface="Arial"/>
                <a:cs typeface="Arial"/>
              </a:defRPr>
            </a:pPr>
            <a:r>
              <a:rPr sz="1500" b="1">
                <a:solidFill>
                  <a:srgbClr val="287553"/>
                </a:solidFill>
                <a:latin typeface="Arial"/>
                <a:ea typeface="Arial"/>
                <a:cs typeface="Arial"/>
              </a:rPr>
              <a:t>REFLECTION AND IMPROVEMENT</a:t>
            </a:r>
          </a:p>
        </p:txBody>
      </p:sp>
      <p:sp>
        <p:nvSpPr>
          <p:cNvPr id="2" name="Weekly reflection led to follow-up work">
            <a:extLst xmlns:a="http://schemas.openxmlformats.org/drawingml/2006/main">
              <a:ext uri="{FF2B5EF4-FFF2-40B4-BE49-F238E27FC236}">
                <a16:creationId xmlns:a16="http://schemas.microsoft.com/office/drawing/2014/main" id="{0B8945BF-772C-4E61-A18F-9D3E027A15C0}"/>
              </a:ext>
            </a:extLst>
          </p:cNvPr>
          <p:cNvSpPr>
            <a:spLocks xmlns:a="http://schemas.openxmlformats.org/drawingml/2006/main" noGrp="1"/>
          </p:cNvSpPr>
          <p:nvPr/>
        </p:nvSpPr>
        <p:spPr>
          <a:xfrm xmlns:a="http://schemas.openxmlformats.org/drawingml/2006/main">
            <a:off x="609600" y="86677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600" b="1">
                <a:solidFill>
                  <a:srgbClr val="173B31"/>
                </a:solidFill>
                <a:latin typeface="Arial"/>
                <a:ea typeface="Arial"/>
                <a:cs typeface="Arial"/>
              </a:defRPr>
            </a:pPr>
            <a:r>
              <a:rPr sz="3600" b="1">
                <a:solidFill>
                  <a:srgbClr val="173B31"/>
                </a:solidFill>
                <a:latin typeface="Arial"/>
                <a:ea typeface="Arial"/>
                <a:cs typeface="Arial"/>
              </a:rPr>
              <a:t>We recorded problems and followed up</a:t>
            </a:r>
          </a:p>
        </p:txBody>
      </p:sp>
      <p:sp>
        <p:nvSpPr>
          <p:cNvPr id="3" name="直线连接符 2">
            <a:extLst xmlns:a="http://schemas.openxmlformats.org/drawingml/2006/main">
              <a:ext uri="{FF2B5EF4-FFF2-40B4-BE49-F238E27FC236}">
                <a16:creationId xmlns:a16="http://schemas.microsoft.com/office/drawing/2014/main" id="{1329B812-6CDD-4042-989B-A5850B21FCA8}"/>
              </a:ext>
            </a:extLst>
          </p:cNvPr>
          <p:cNvSpPr>
            <a:spLocks xmlns:a="http://schemas.openxmlformats.org/drawingml/2006/main" noGrp="1"/>
          </p:cNvSpPr>
          <p:nvPr/>
        </p:nvSpPr>
        <p:spPr>
          <a:xfrm xmlns:a="http://schemas.openxmlformats.org/drawingml/2006/main">
            <a:off x="609600" y="6238875"/>
            <a:ext cx="10972800" cy="0"/>
          </a:xfrm>
          <a:prstGeom xmlns:a="http://schemas.openxmlformats.org/drawingml/2006/main" prst="line">
            <a:avLst/>
          </a:prstGeom>
          <a:noFill xmlns:a="http://schemas.openxmlformats.org/drawingml/2006/main"/>
          <a:ln xmlns:a="http://schemas.openxmlformats.org/drawingml/2006/main" w="14288">
            <a:solidFill>
              <a:srgbClr val="C8D4CB"/>
            </a:solidFill>
          </a:ln>
        </p:spPr>
      </p:sp>
      <p:sp>
        <p:nvSpPr>
          <p:cNvPr id="4" name="LEAF ANALYZER  /  SPRINT 5">
            <a:extLst xmlns:a="http://schemas.openxmlformats.org/drawingml/2006/main">
              <a:ext uri="{FF2B5EF4-FFF2-40B4-BE49-F238E27FC236}">
                <a16:creationId xmlns:a16="http://schemas.microsoft.com/office/drawing/2014/main" id="{7D4BBE9B-851F-425F-92B5-DCFA067B3FCB}"/>
              </a:ext>
            </a:extLst>
          </p:cNvPr>
          <p:cNvSpPr>
            <a:spLocks xmlns:a="http://schemas.openxmlformats.org/drawingml/2006/main" noGrp="1"/>
          </p:cNvSpPr>
          <p:nvPr/>
        </p:nvSpPr>
        <p:spPr>
          <a:xfrm xmlns:a="http://schemas.openxmlformats.org/drawingml/2006/main">
            <a:off x="609600" y="6410325"/>
            <a:ext cx="323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586C63"/>
                </a:solidFill>
                <a:latin typeface="Arial"/>
                <a:ea typeface="Arial"/>
                <a:cs typeface="Arial"/>
              </a:defRPr>
            </a:pPr>
            <a:r>
              <a:rPr sz="1350" b="0">
                <a:solidFill>
                  <a:srgbClr val="586C63"/>
                </a:solidFill>
                <a:latin typeface="Arial"/>
                <a:ea typeface="Arial"/>
                <a:cs typeface="Arial"/>
              </a:rPr>
              <a:t>LEAF ANALYZER  /  SPRINT 5</a:t>
            </a:r>
          </a:p>
        </p:txBody>
      </p:sp>
      <p:sp>
        <p:nvSpPr>
          <p:cNvPr id="5" name="Team + individual reflections • 21 and 28 Aug">
            <a:extLst xmlns:a="http://schemas.openxmlformats.org/drawingml/2006/main">
              <a:ext uri="{FF2B5EF4-FFF2-40B4-BE49-F238E27FC236}">
                <a16:creationId xmlns:a16="http://schemas.microsoft.com/office/drawing/2014/main" id="{B00C3F0E-3311-4CE5-BA20-2D6E8867E703}"/>
              </a:ext>
            </a:extLst>
          </p:cNvPr>
          <p:cNvSpPr>
            <a:spLocks xmlns:a="http://schemas.openxmlformats.org/drawingml/2006/main" noGrp="1"/>
          </p:cNvSpPr>
          <p:nvPr/>
        </p:nvSpPr>
        <p:spPr>
          <a:xfrm xmlns:a="http://schemas.openxmlformats.org/drawingml/2006/main">
            <a:off x="3952875" y="6305550"/>
            <a:ext cx="708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200">
                <a:solidFill>
                  <a:srgbClr val="287553"/>
                </a:solidFill>
                <a:latin typeface="Arial"/>
                <a:ea typeface="Arial"/>
                <a:cs typeface="Arial"/>
              </a:defRPr>
            </a:pPr>
            <a:r>
              <a:rPr sz="1200">
                <a:solidFill>
                  <a:srgbClr val="287553"/>
                </a:solidFill>
                <a:latin typeface="Arial"/>
                <a:ea typeface="Arial"/>
                <a:cs typeface="Arial"/>
              </a:rPr>
              <a:t>Sources: </a:t>
            </a:r>
            <a:r>
              <a:rPr sz="1200" u="sng">
                <a:solidFill>
                  <a:srgbClr val="287553"/>
                </a:solidFill>
                <a:latin typeface="Arial"/>
                <a:ea typeface="Arial"/>
                <a:cs typeface="Arial"/>
                <a:hlinkClick xmlns:r="http://schemas.openxmlformats.org/officeDocument/2006/relationships" r:id="R3b54f06311f04173"/>
              </a:rPr>
              <a:t>Week 4 reflection</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0c00d19e40a9423b"/>
              </a:rPr>
              <a:t>Week 5 reflection</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f62af871cc3042fd"/>
              </a:rPr>
              <a:t>Tutor meeting</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676ec172981542f6"/>
              </a:rPr>
              <a:t>LEAF-157</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1d59dddc53b2492d"/>
              </a:rPr>
              <a:t>PR #29</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b6113af612934cff"/>
              </a:rPr>
              <a:t>PR #30</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0451aaa269934d7f"/>
              </a:rPr>
              <a:t>PR #34</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fe04028cfa2940c4"/>
              </a:rPr>
              <a:t>Risk plan</a:t>
            </a:r>
          </a:p>
        </p:txBody>
      </p:sp>
      <p:sp>
        <p:nvSpPr>
          <p:cNvPr id="6" name="12">
            <a:extLst xmlns:a="http://schemas.openxmlformats.org/drawingml/2006/main">
              <a:ext uri="{FF2B5EF4-FFF2-40B4-BE49-F238E27FC236}">
                <a16:creationId xmlns:a16="http://schemas.microsoft.com/office/drawing/2014/main" id="{1D7C6BFE-20A7-4DFB-954F-93BAF0E5D008}"/>
              </a:ext>
            </a:extLst>
          </p:cNvPr>
          <p:cNvSpPr>
            <a:spLocks xmlns:a="http://schemas.openxmlformats.org/drawingml/2006/main" noGrp="1"/>
          </p:cNvSpPr>
          <p:nvPr/>
        </p:nvSpPr>
        <p:spPr>
          <a:xfrm xmlns:a="http://schemas.openxmlformats.org/drawingml/2006/main">
            <a:off x="11239500" y="63817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586C63"/>
                </a:solidFill>
                <a:latin typeface="Arial"/>
                <a:ea typeface="Arial"/>
                <a:cs typeface="Arial"/>
              </a:defRPr>
            </a:pPr>
            <a:r>
              <a:rPr sz="1575" b="0">
                <a:solidFill>
                  <a:srgbClr val="586C63"/>
                </a:solidFill>
                <a:latin typeface="Arial"/>
                <a:ea typeface="Arial"/>
                <a:cs typeface="Arial"/>
              </a:rPr>
              <a:t>12</a:t>
            </a:r>
          </a:p>
        </p:txBody>
      </p:sp>
      <p:sp>
        <p:nvSpPr>
          <p:cNvPr id="7" name="矩形 6">
            <a:extLst xmlns:a="http://schemas.openxmlformats.org/drawingml/2006/main">
              <a:ext uri="{FF2B5EF4-FFF2-40B4-BE49-F238E27FC236}">
                <a16:creationId xmlns:a16="http://schemas.microsoft.com/office/drawing/2014/main" id="{8ED4EA72-95E5-47F7-A7BA-6133DBFC99F4}"/>
              </a:ext>
            </a:extLst>
          </p:cNvPr>
          <p:cNvSpPr>
            <a:spLocks xmlns:a="http://schemas.openxmlformats.org/drawingml/2006/main" noGrp="1"/>
          </p:cNvSpPr>
          <p:nvPr/>
        </p:nvSpPr>
        <p:spPr>
          <a:xfrm xmlns:a="http://schemas.openxmlformats.org/drawingml/2006/main">
            <a:off x="609600" y="1809750"/>
            <a:ext cx="10972800" cy="485775"/>
          </a:xfrm>
          <a:prstGeom xmlns:a="http://schemas.openxmlformats.org/drawingml/2006/main" prst="rect">
            <a:avLst/>
          </a:prstGeom>
          <a:solidFill xmlns:a="http://schemas.openxmlformats.org/drawingml/2006/main">
            <a:srgbClr val="E4ECE3"/>
          </a:solidFill>
          <a:ln xmlns:a="http://schemas.openxmlformats.org/drawingml/2006/main" w="0">
            <a:noFill/>
          </a:ln>
        </p:spPr>
      </p:sp>
      <p:sp>
        <p:nvSpPr>
          <p:cNvPr id="8" name="PROBLEM / FEEDBACK">
            <a:extLst xmlns:a="http://schemas.openxmlformats.org/drawingml/2006/main">
              <a:ext uri="{FF2B5EF4-FFF2-40B4-BE49-F238E27FC236}">
                <a16:creationId xmlns:a16="http://schemas.microsoft.com/office/drawing/2014/main" id="{1B2DE263-204F-44E5-87CC-4AB8E79435D0}"/>
              </a:ext>
            </a:extLst>
          </p:cNvPr>
          <p:cNvSpPr>
            <a:spLocks xmlns:a="http://schemas.openxmlformats.org/drawingml/2006/main" noGrp="1"/>
          </p:cNvSpPr>
          <p:nvPr/>
        </p:nvSpPr>
        <p:spPr>
          <a:xfrm xmlns:a="http://schemas.openxmlformats.org/drawingml/2006/main">
            <a:off x="723900" y="1924050"/>
            <a:ext cx="30575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1">
                <a:solidFill>
                  <a:srgbClr val="173B31"/>
                </a:solidFill>
                <a:latin typeface="Arial"/>
                <a:ea typeface="Arial"/>
                <a:cs typeface="Arial"/>
              </a:defRPr>
            </a:pPr>
            <a:r>
              <a:rPr sz="1575" b="1">
                <a:solidFill>
                  <a:srgbClr val="173B31"/>
                </a:solidFill>
                <a:latin typeface="Arial"/>
                <a:ea typeface="Arial"/>
                <a:cs typeface="Arial"/>
              </a:rPr>
              <a:t>PROBLEM</a:t>
            </a:r>
          </a:p>
        </p:txBody>
      </p:sp>
      <p:sp>
        <p:nvSpPr>
          <p:cNvPr id="9" name="LESSON / ACTION">
            <a:extLst xmlns:a="http://schemas.openxmlformats.org/drawingml/2006/main">
              <a:ext uri="{FF2B5EF4-FFF2-40B4-BE49-F238E27FC236}">
                <a16:creationId xmlns:a16="http://schemas.microsoft.com/office/drawing/2014/main" id="{25F18750-88B6-489A-88BB-A1D24533EA94}"/>
              </a:ext>
            </a:extLst>
          </p:cNvPr>
          <p:cNvSpPr>
            <a:spLocks xmlns:a="http://schemas.openxmlformats.org/drawingml/2006/main" noGrp="1"/>
          </p:cNvSpPr>
          <p:nvPr/>
        </p:nvSpPr>
        <p:spPr>
          <a:xfrm xmlns:a="http://schemas.openxmlformats.org/drawingml/2006/main">
            <a:off x="4010025" y="1924050"/>
            <a:ext cx="3467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586C63"/>
                </a:solidFill>
                <a:latin typeface="Arial"/>
                <a:ea typeface="Arial"/>
                <a:cs typeface="Arial"/>
              </a:defRPr>
            </a:pPr>
            <a:r>
              <a:rPr sz="1575" b="0">
                <a:solidFill>
                  <a:srgbClr val="586C63"/>
                </a:solidFill>
                <a:latin typeface="Arial"/>
                <a:ea typeface="Arial"/>
                <a:cs typeface="Arial"/>
              </a:rPr>
              <a:t>WHAT WE LEARNED</a:t>
            </a:r>
          </a:p>
        </p:txBody>
      </p:sp>
      <p:sp>
        <p:nvSpPr>
          <p:cNvPr id="10" name="IMPLEMENTATION EVIDENCE">
            <a:extLst xmlns:a="http://schemas.openxmlformats.org/drawingml/2006/main">
              <a:ext uri="{FF2B5EF4-FFF2-40B4-BE49-F238E27FC236}">
                <a16:creationId xmlns:a16="http://schemas.microsoft.com/office/drawing/2014/main" id="{AB542731-3701-45D3-B048-5087DFD99079}"/>
              </a:ext>
            </a:extLst>
          </p:cNvPr>
          <p:cNvSpPr>
            <a:spLocks xmlns:a="http://schemas.openxmlformats.org/drawingml/2006/main" noGrp="1"/>
          </p:cNvSpPr>
          <p:nvPr/>
        </p:nvSpPr>
        <p:spPr>
          <a:xfrm xmlns:a="http://schemas.openxmlformats.org/drawingml/2006/main">
            <a:off x="7705725" y="1924050"/>
            <a:ext cx="3762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586C63"/>
                </a:solidFill>
                <a:latin typeface="Arial"/>
                <a:ea typeface="Arial"/>
                <a:cs typeface="Arial"/>
              </a:defRPr>
            </a:pPr>
            <a:r>
              <a:rPr sz="1575" b="0">
                <a:solidFill>
                  <a:srgbClr val="586C63"/>
                </a:solidFill>
                <a:latin typeface="Arial"/>
                <a:ea typeface="Arial"/>
                <a:cs typeface="Arial"/>
              </a:rPr>
              <a:t>WHAT HAPPENED NEXT</a:t>
            </a:r>
          </a:p>
        </p:txBody>
      </p:sp>
      <p:sp>
        <p:nvSpPr>
          <p:cNvPr id="11" name="直线连接符 10">
            <a:extLst xmlns:a="http://schemas.openxmlformats.org/drawingml/2006/main">
              <a:ext uri="{FF2B5EF4-FFF2-40B4-BE49-F238E27FC236}">
                <a16:creationId xmlns:a16="http://schemas.microsoft.com/office/drawing/2014/main" id="{D9DA8F4E-627F-48F7-8AC5-4000FF427C1E}"/>
              </a:ext>
            </a:extLst>
          </p:cNvPr>
          <p:cNvSpPr>
            <a:spLocks xmlns:a="http://schemas.openxmlformats.org/drawingml/2006/main" noGrp="1"/>
          </p:cNvSpPr>
          <p:nvPr/>
        </p:nvSpPr>
        <p:spPr>
          <a:xfrm xmlns:a="http://schemas.openxmlformats.org/drawingml/2006/main">
            <a:off x="609600" y="2295525"/>
            <a:ext cx="10972800" cy="0"/>
          </a:xfrm>
          <a:prstGeom xmlns:a="http://schemas.openxmlformats.org/drawingml/2006/main" prst="line">
            <a:avLst/>
          </a:prstGeom>
          <a:noFill xmlns:a="http://schemas.openxmlformats.org/drawingml/2006/main"/>
          <a:ln xmlns:a="http://schemas.openxmlformats.org/drawingml/2006/main" w="14288">
            <a:solidFill>
              <a:srgbClr val="C8D4CB"/>
            </a:solidFill>
          </a:ln>
        </p:spPr>
      </p:sp>
      <p:sp>
        <p:nvSpPr>
          <p:cNvPr id="12" name="Hypercube still unfinished&#10;on 21 August.">
            <a:extLst xmlns:a="http://schemas.openxmlformats.org/drawingml/2006/main">
              <a:ext uri="{FF2B5EF4-FFF2-40B4-BE49-F238E27FC236}">
                <a16:creationId xmlns:a16="http://schemas.microsoft.com/office/drawing/2014/main" id="{EDA60899-4172-41D6-A917-3A455817FAD1}"/>
              </a:ext>
            </a:extLst>
          </p:cNvPr>
          <p:cNvSpPr>
            <a:spLocks xmlns:a="http://schemas.openxmlformats.org/drawingml/2006/main" noGrp="1"/>
          </p:cNvSpPr>
          <p:nvPr/>
        </p:nvSpPr>
        <p:spPr>
          <a:xfrm xmlns:a="http://schemas.openxmlformats.org/drawingml/2006/main">
            <a:off x="723900" y="2409825"/>
            <a:ext cx="30575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73B31"/>
                </a:solidFill>
                <a:latin typeface="Arial"/>
                <a:ea typeface="Arial"/>
                <a:cs typeface="Arial"/>
              </a:defRPr>
            </a:pPr>
            <a:r>
              <a:rPr sz="1800" b="1">
                <a:solidFill>
                  <a:srgbClr val="173B31"/>
                </a:solidFill>
                <a:latin typeface="Arial"/>
                <a:ea typeface="Arial"/>
                <a:cs typeface="Arial"/>
              </a:rPr>
              <a:t>Hypercube was not ready</a:t>
            </a:r>
          </a:p>
          <a:p xmlns:a="http://schemas.openxmlformats.org/drawingml/2006/main">
            <a:pPr algn="l">
              <a:buNone/>
              <a:defRPr sz="1800" b="1">
                <a:solidFill>
                  <a:srgbClr val="173B31"/>
                </a:solidFill>
                <a:latin typeface="Arial"/>
                <a:ea typeface="Arial"/>
                <a:cs typeface="Arial"/>
              </a:defRPr>
            </a:pPr>
            <a:r>
              <a:rPr sz="1800" b="1">
                <a:solidFill>
                  <a:srgbClr val="173B31"/>
                </a:solidFill>
                <a:latin typeface="Arial"/>
                <a:ea typeface="Arial"/>
                <a:cs typeface="Arial"/>
              </a:rPr>
              <a:t>on 21 August.</a:t>
            </a:r>
          </a:p>
        </p:txBody>
      </p:sp>
      <p:sp>
        <p:nvSpPr>
          <p:cNvPr id="13" name="Components need a complete&#10;UI hand-off and ve">
            <a:extLst xmlns:a="http://schemas.openxmlformats.org/drawingml/2006/main">
              <a:ext uri="{FF2B5EF4-FFF2-40B4-BE49-F238E27FC236}">
                <a16:creationId xmlns:a16="http://schemas.microsoft.com/office/drawing/2014/main" id="{4160FA97-7DC8-4ECA-9073-FD3558B4E72A}"/>
              </a:ext>
            </a:extLst>
          </p:cNvPr>
          <p:cNvSpPr>
            <a:spLocks xmlns:a="http://schemas.openxmlformats.org/drawingml/2006/main" noGrp="1"/>
          </p:cNvSpPr>
          <p:nvPr/>
        </p:nvSpPr>
        <p:spPr>
          <a:xfrm xmlns:a="http://schemas.openxmlformats.org/drawingml/2006/main">
            <a:off x="4010025" y="2409825"/>
            <a:ext cx="34671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586C63"/>
                </a:solidFill>
                <a:latin typeface="Arial"/>
                <a:ea typeface="Arial"/>
                <a:cs typeface="Arial"/>
              </a:defRPr>
            </a:pPr>
            <a:r>
              <a:rPr sz="1800" b="0">
                <a:solidFill>
                  <a:srgbClr val="586C63"/>
                </a:solidFill>
                <a:latin typeface="Arial"/>
                <a:ea typeface="Arial"/>
                <a:cs typeface="Arial"/>
              </a:rPr>
              <a:t>Test the model and UI</a:t>
            </a:r>
          </a:p>
          <a:p xmlns:a="http://schemas.openxmlformats.org/drawingml/2006/main">
            <a:pPr algn="l">
              <a:buNone/>
              <a:defRPr sz="1800" b="0">
                <a:solidFill>
                  <a:srgbClr val="586C63"/>
                </a:solidFill>
                <a:latin typeface="Arial"/>
                <a:ea typeface="Arial"/>
                <a:cs typeface="Arial"/>
              </a:defRPr>
            </a:pPr>
            <a:r>
              <a:rPr sz="1800" b="0">
                <a:solidFill>
                  <a:srgbClr val="586C63"/>
                </a:solidFill>
                <a:latin typeface="Arial"/>
                <a:ea typeface="Arial"/>
                <a:cs typeface="Arial"/>
              </a:rPr>
              <a:t>together before calling it done.</a:t>
            </a:r>
          </a:p>
        </p:txBody>
      </p:sp>
      <p:sp>
        <p:nvSpPr>
          <p:cNvPr id="14" name="Repaired integration merged&#10;in PR #29 on 28 A">
            <a:extLst xmlns:a="http://schemas.openxmlformats.org/drawingml/2006/main">
              <a:ext uri="{FF2B5EF4-FFF2-40B4-BE49-F238E27FC236}">
                <a16:creationId xmlns:a16="http://schemas.microsoft.com/office/drawing/2014/main" id="{22791492-A844-4E6F-A54C-530E5DEDAE9F}"/>
              </a:ext>
            </a:extLst>
          </p:cNvPr>
          <p:cNvSpPr>
            <a:spLocks xmlns:a="http://schemas.openxmlformats.org/drawingml/2006/main" noGrp="1"/>
          </p:cNvSpPr>
          <p:nvPr/>
        </p:nvSpPr>
        <p:spPr>
          <a:xfrm xmlns:a="http://schemas.openxmlformats.org/drawingml/2006/main">
            <a:off x="7705725" y="2409825"/>
            <a:ext cx="37623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586C63"/>
                </a:solidFill>
                <a:latin typeface="Arial"/>
                <a:ea typeface="Arial"/>
                <a:cs typeface="Arial"/>
              </a:defRPr>
            </a:pPr>
            <a:r>
              <a:rPr sz="1800" b="0">
                <a:solidFill>
                  <a:srgbClr val="586C63"/>
                </a:solidFill>
                <a:latin typeface="Arial"/>
                <a:ea typeface="Arial"/>
                <a:cs typeface="Arial"/>
              </a:rPr>
              <a:t>The working version was</a:t>
            </a:r>
          </a:p>
          <a:p xmlns:a="http://schemas.openxmlformats.org/drawingml/2006/main">
            <a:pPr algn="l">
              <a:buNone/>
              <a:defRPr sz="1800" b="0">
                <a:solidFill>
                  <a:srgbClr val="586C63"/>
                </a:solidFill>
                <a:latin typeface="Arial"/>
                <a:ea typeface="Arial"/>
                <a:cs typeface="Arial"/>
              </a:defRPr>
            </a:pPr>
            <a:r>
              <a:rPr sz="1800" b="0">
                <a:solidFill>
                  <a:srgbClr val="586C63"/>
                </a:solidFill>
                <a:latin typeface="Arial"/>
                <a:ea typeface="Arial"/>
                <a:cs typeface="Arial"/>
              </a:rPr>
              <a:t>merged in </a:t>
            </a:r>
            <a:r>
              <a:rPr sz="1800" b="0">
                <a:solidFill>
                  <a:srgbClr val="586C63"/>
                </a:solidFill>
                <a:latin typeface="Arial"/>
                <a:ea typeface="Arial"/>
                <a:cs typeface="Arial"/>
                <a:hlinkClick xmlns:r="http://schemas.openxmlformats.org/officeDocument/2006/relationships" r:id="R432e18af385e430b"/>
              </a:rPr>
              <a:t>PR #29</a:t>
            </a:r>
            <a:r>
              <a:rPr sz="1800" b="0">
                <a:solidFill>
                  <a:srgbClr val="586C63"/>
                </a:solidFill>
                <a:latin typeface="Arial"/>
                <a:ea typeface="Arial"/>
                <a:cs typeface="Arial"/>
              </a:rPr>
              <a:t> on 28 Aug.</a:t>
            </a:r>
          </a:p>
        </p:txBody>
      </p:sp>
      <p:sp>
        <p:nvSpPr>
          <p:cNvPr id="15" name="直线连接符 14">
            <a:extLst xmlns:a="http://schemas.openxmlformats.org/drawingml/2006/main">
              <a:ext uri="{FF2B5EF4-FFF2-40B4-BE49-F238E27FC236}">
                <a16:creationId xmlns:a16="http://schemas.microsoft.com/office/drawing/2014/main" id="{E56005F7-2E94-4422-A947-2A6ED7F5DD9A}"/>
              </a:ext>
            </a:extLst>
          </p:cNvPr>
          <p:cNvSpPr>
            <a:spLocks xmlns:a="http://schemas.openxmlformats.org/drawingml/2006/main" noGrp="1"/>
          </p:cNvSpPr>
          <p:nvPr/>
        </p:nvSpPr>
        <p:spPr>
          <a:xfrm xmlns:a="http://schemas.openxmlformats.org/drawingml/2006/main">
            <a:off x="609600" y="3248025"/>
            <a:ext cx="10972800" cy="0"/>
          </a:xfrm>
          <a:prstGeom xmlns:a="http://schemas.openxmlformats.org/drawingml/2006/main" prst="line">
            <a:avLst/>
          </a:prstGeom>
          <a:noFill xmlns:a="http://schemas.openxmlformats.org/drawingml/2006/main"/>
          <a:ln xmlns:a="http://schemas.openxmlformats.org/drawingml/2006/main" w="14288">
            <a:solidFill>
              <a:srgbClr val="C8D4CB"/>
            </a:solidFill>
          </a:ln>
        </p:spPr>
      </p:sp>
      <p:sp>
        <p:nvSpPr>
          <p:cNvPr id="16" name="View state and timing&#10;caused regressions.">
            <a:extLst xmlns:a="http://schemas.openxmlformats.org/drawingml/2006/main">
              <a:ext uri="{FF2B5EF4-FFF2-40B4-BE49-F238E27FC236}">
                <a16:creationId xmlns:a16="http://schemas.microsoft.com/office/drawing/2014/main" id="{6403C151-B970-4695-AE78-75106D962FAE}"/>
              </a:ext>
            </a:extLst>
          </p:cNvPr>
          <p:cNvSpPr>
            <a:spLocks xmlns:a="http://schemas.openxmlformats.org/drawingml/2006/main" noGrp="1"/>
          </p:cNvSpPr>
          <p:nvPr/>
        </p:nvSpPr>
        <p:spPr>
          <a:xfrm xmlns:a="http://schemas.openxmlformats.org/drawingml/2006/main">
            <a:off x="723900" y="3362325"/>
            <a:ext cx="30575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73B31"/>
                </a:solidFill>
                <a:latin typeface="Arial"/>
                <a:ea typeface="Arial"/>
                <a:cs typeface="Arial"/>
              </a:defRPr>
            </a:pPr>
            <a:r>
              <a:rPr sz="1800" b="1">
                <a:solidFill>
                  <a:srgbClr val="173B31"/>
                </a:solidFill>
                <a:latin typeface="Arial"/>
                <a:ea typeface="Arial"/>
                <a:cs typeface="Arial"/>
              </a:rPr>
              <a:t>Crop scaling and timing</a:t>
            </a:r>
          </a:p>
          <a:p xmlns:a="http://schemas.openxmlformats.org/drawingml/2006/main">
            <a:pPr algn="l">
              <a:buNone/>
              <a:defRPr sz="1800" b="1">
                <a:solidFill>
                  <a:srgbClr val="173B31"/>
                </a:solidFill>
                <a:latin typeface="Arial"/>
                <a:ea typeface="Arial"/>
                <a:cs typeface="Arial"/>
              </a:defRPr>
            </a:pPr>
            <a:r>
              <a:rPr sz="1800" b="1">
                <a:solidFill>
                  <a:srgbClr val="173B31"/>
                </a:solidFill>
                <a:latin typeface="Arial"/>
                <a:ea typeface="Arial"/>
                <a:cs typeface="Arial"/>
              </a:rPr>
              <a:t>caused bugs.</a:t>
            </a:r>
          </a:p>
        </p:txBody>
      </p:sp>
      <p:sp>
        <p:nvSpPr>
          <p:cNvPr id="17" name="Preserve framing when valid;&#10;refit crops and ">
            <a:extLst xmlns:a="http://schemas.openxmlformats.org/drawingml/2006/main">
              <a:ext uri="{FF2B5EF4-FFF2-40B4-BE49-F238E27FC236}">
                <a16:creationId xmlns:a16="http://schemas.microsoft.com/office/drawing/2014/main" id="{B59E007C-F6A1-48E6-892A-80DEC731EE09}"/>
              </a:ext>
            </a:extLst>
          </p:cNvPr>
          <p:cNvSpPr>
            <a:spLocks xmlns:a="http://schemas.openxmlformats.org/drawingml/2006/main" noGrp="1"/>
          </p:cNvSpPr>
          <p:nvPr/>
        </p:nvSpPr>
        <p:spPr>
          <a:xfrm xmlns:a="http://schemas.openxmlformats.org/drawingml/2006/main">
            <a:off x="4010025" y="3362325"/>
            <a:ext cx="34671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586C63"/>
                </a:solidFill>
                <a:latin typeface="Arial"/>
                <a:ea typeface="Arial"/>
                <a:cs typeface="Arial"/>
              </a:defRPr>
            </a:pPr>
            <a:r>
              <a:rPr sz="1800" b="0">
                <a:solidFill>
                  <a:srgbClr val="586C63"/>
                </a:solidFill>
                <a:latin typeface="Arial"/>
                <a:ea typeface="Arial"/>
                <a:cs typeface="Arial"/>
              </a:rPr>
              <a:t>Check the view after cropping</a:t>
            </a:r>
          </a:p>
          <a:p xmlns:a="http://schemas.openxmlformats.org/drawingml/2006/main">
            <a:pPr algn="l">
              <a:buNone/>
              <a:defRPr sz="1800" b="0">
                <a:solidFill>
                  <a:srgbClr val="586C63"/>
                </a:solidFill>
                <a:latin typeface="Arial"/>
                <a:ea typeface="Arial"/>
                <a:cs typeface="Arial"/>
              </a:defRPr>
            </a:pPr>
            <a:r>
              <a:rPr sz="1800" b="0">
                <a:solidFill>
                  <a:srgbClr val="586C63"/>
                </a:solidFill>
                <a:latin typeface="Arial"/>
                <a:ea typeface="Arial"/>
                <a:cs typeface="Arial"/>
              </a:rPr>
              <a:t>and wait for UI changes in tests.</a:t>
            </a:r>
          </a:p>
        </p:txBody>
      </p:sp>
      <p:sp>
        <p:nvSpPr>
          <p:cNvPr id="18" name="PR #30 fixes crop fit;&#10;PR #34 fixes flaky tes">
            <a:extLst xmlns:a="http://schemas.openxmlformats.org/drawingml/2006/main">
              <a:ext uri="{FF2B5EF4-FFF2-40B4-BE49-F238E27FC236}">
                <a16:creationId xmlns:a16="http://schemas.microsoft.com/office/drawing/2014/main" id="{5409F88B-E5EB-4F01-BC6E-38772B49620B}"/>
              </a:ext>
            </a:extLst>
          </p:cNvPr>
          <p:cNvSpPr>
            <a:spLocks xmlns:a="http://schemas.openxmlformats.org/drawingml/2006/main" noGrp="1"/>
          </p:cNvSpPr>
          <p:nvPr/>
        </p:nvSpPr>
        <p:spPr>
          <a:xfrm xmlns:a="http://schemas.openxmlformats.org/drawingml/2006/main">
            <a:off x="7705725" y="3362325"/>
            <a:ext cx="37623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586C63"/>
                </a:solidFill>
                <a:latin typeface="Arial"/>
                <a:ea typeface="Arial"/>
                <a:cs typeface="Arial"/>
              </a:defRPr>
            </a:pPr>
            <a:r>
              <a:rPr sz="1800" b="0">
                <a:solidFill>
                  <a:srgbClr val="586C63"/>
                </a:solidFill>
                <a:latin typeface="Arial"/>
                <a:ea typeface="Arial"/>
                <a:cs typeface="Arial"/>
                <a:hlinkClick xmlns:r="http://schemas.openxmlformats.org/officeDocument/2006/relationships" r:id="R496a755e250e45f1"/>
              </a:rPr>
              <a:t>PR #30</a:t>
            </a:r>
            <a:r>
              <a:rPr sz="1800" b="0">
                <a:solidFill>
                  <a:srgbClr val="586C63"/>
                </a:solidFill>
                <a:latin typeface="Arial"/>
                <a:ea typeface="Arial"/>
                <a:cs typeface="Arial"/>
              </a:rPr>
              <a:t> fixed crop fit.</a:t>
            </a:r>
          </a:p>
          <a:p xmlns:a="http://schemas.openxmlformats.org/drawingml/2006/main">
            <a:pPr algn="l">
              <a:buNone/>
              <a:defRPr sz="1800" b="0">
                <a:solidFill>
                  <a:srgbClr val="586C63"/>
                </a:solidFill>
                <a:latin typeface="Arial"/>
                <a:ea typeface="Arial"/>
                <a:cs typeface="Arial"/>
              </a:defRPr>
            </a:pPr>
            <a:r>
              <a:rPr sz="1800" b="0">
                <a:solidFill>
                  <a:srgbClr val="586C63"/>
                </a:solidFill>
                <a:latin typeface="Arial"/>
                <a:ea typeface="Arial"/>
                <a:cs typeface="Arial"/>
                <a:hlinkClick xmlns:r="http://schemas.openxmlformats.org/officeDocument/2006/relationships" r:id="R99d3097861c24b6f"/>
              </a:rPr>
              <a:t>PR #34</a:t>
            </a:r>
            <a:r>
              <a:rPr sz="1800" b="0">
                <a:solidFill>
                  <a:srgbClr val="586C63"/>
                </a:solidFill>
                <a:latin typeface="Arial"/>
                <a:ea typeface="Arial"/>
                <a:cs typeface="Arial"/>
              </a:rPr>
              <a:t> fixed flaky tests.</a:t>
            </a:r>
          </a:p>
        </p:txBody>
      </p:sp>
      <p:sp>
        <p:nvSpPr>
          <p:cNvPr id="19" name="直线连接符 18">
            <a:extLst xmlns:a="http://schemas.openxmlformats.org/drawingml/2006/main">
              <a:ext uri="{FF2B5EF4-FFF2-40B4-BE49-F238E27FC236}">
                <a16:creationId xmlns:a16="http://schemas.microsoft.com/office/drawing/2014/main" id="{8CC95DCC-EF5D-4E51-A929-360CA9CAFA85}"/>
              </a:ext>
            </a:extLst>
          </p:cNvPr>
          <p:cNvSpPr>
            <a:spLocks xmlns:a="http://schemas.openxmlformats.org/drawingml/2006/main" noGrp="1"/>
          </p:cNvSpPr>
          <p:nvPr/>
        </p:nvSpPr>
        <p:spPr>
          <a:xfrm xmlns:a="http://schemas.openxmlformats.org/drawingml/2006/main">
            <a:off x="609600" y="4200525"/>
            <a:ext cx="10972800" cy="0"/>
          </a:xfrm>
          <a:prstGeom xmlns:a="http://schemas.openxmlformats.org/drawingml/2006/main" prst="line">
            <a:avLst/>
          </a:prstGeom>
          <a:noFill xmlns:a="http://schemas.openxmlformats.org/drawingml/2006/main"/>
          <a:ln xmlns:a="http://schemas.openxmlformats.org/drawingml/2006/main" w="14288">
            <a:solidFill>
              <a:srgbClr val="C8D4CB"/>
            </a:solidFill>
          </a:ln>
        </p:spPr>
      </p:sp>
      <p:sp>
        <p:nvSpPr>
          <p:cNvPr id="20" name="Tutor requested regular&#10;reflection and risk u">
            <a:extLst xmlns:a="http://schemas.openxmlformats.org/drawingml/2006/main">
              <a:ext uri="{FF2B5EF4-FFF2-40B4-BE49-F238E27FC236}">
                <a16:creationId xmlns:a16="http://schemas.microsoft.com/office/drawing/2014/main" id="{FA36A583-07E5-40B3-B21E-77A5627F1F11}"/>
              </a:ext>
            </a:extLst>
          </p:cNvPr>
          <p:cNvSpPr>
            <a:spLocks xmlns:a="http://schemas.openxmlformats.org/drawingml/2006/main" noGrp="1"/>
          </p:cNvSpPr>
          <p:nvPr/>
        </p:nvSpPr>
        <p:spPr>
          <a:xfrm xmlns:a="http://schemas.openxmlformats.org/drawingml/2006/main">
            <a:off x="723900" y="4314825"/>
            <a:ext cx="30575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73B31"/>
                </a:solidFill>
                <a:latin typeface="Arial"/>
                <a:ea typeface="Arial"/>
                <a:cs typeface="Arial"/>
              </a:defRPr>
            </a:pPr>
            <a:r>
              <a:rPr sz="1800" b="1">
                <a:solidFill>
                  <a:srgbClr val="173B31"/>
                </a:solidFill>
                <a:latin typeface="Arial"/>
                <a:ea typeface="Arial"/>
                <a:cs typeface="Arial"/>
              </a:rPr>
              <a:t>Tutor asked for regular</a:t>
            </a:r>
          </a:p>
          <a:p xmlns:a="http://schemas.openxmlformats.org/drawingml/2006/main">
            <a:pPr algn="l">
              <a:buNone/>
              <a:defRPr sz="1800" b="1">
                <a:solidFill>
                  <a:srgbClr val="173B31"/>
                </a:solidFill>
                <a:latin typeface="Arial"/>
                <a:ea typeface="Arial"/>
                <a:cs typeface="Arial"/>
              </a:defRPr>
            </a:pPr>
            <a:r>
              <a:rPr sz="1800" b="1">
                <a:solidFill>
                  <a:srgbClr val="173B31"/>
                </a:solidFill>
                <a:latin typeface="Arial"/>
                <a:ea typeface="Arial"/>
                <a:cs typeface="Arial"/>
              </a:rPr>
              <a:t>reflection and risk updates.</a:t>
            </a:r>
          </a:p>
        </p:txBody>
      </p:sp>
      <p:sp>
        <p:nvSpPr>
          <p:cNvPr id="21" name="Record lessons, next actions&#10;and named contri">
            <a:extLst xmlns:a="http://schemas.openxmlformats.org/drawingml/2006/main">
              <a:ext uri="{FF2B5EF4-FFF2-40B4-BE49-F238E27FC236}">
                <a16:creationId xmlns:a16="http://schemas.microsoft.com/office/drawing/2014/main" id="{1BDBFBED-A603-4B9D-BC8F-114621925CAE}"/>
              </a:ext>
            </a:extLst>
          </p:cNvPr>
          <p:cNvSpPr>
            <a:spLocks xmlns:a="http://schemas.openxmlformats.org/drawingml/2006/main" noGrp="1"/>
          </p:cNvSpPr>
          <p:nvPr/>
        </p:nvSpPr>
        <p:spPr>
          <a:xfrm xmlns:a="http://schemas.openxmlformats.org/drawingml/2006/main">
            <a:off x="4010025" y="4314825"/>
            <a:ext cx="34671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586C63"/>
                </a:solidFill>
                <a:latin typeface="Arial"/>
                <a:ea typeface="Arial"/>
                <a:cs typeface="Arial"/>
              </a:defRPr>
            </a:pPr>
            <a:r>
              <a:rPr sz="1800" b="0">
                <a:solidFill>
                  <a:srgbClr val="586C63"/>
                </a:solidFill>
                <a:latin typeface="Arial"/>
                <a:ea typeface="Arial"/>
                <a:cs typeface="Arial"/>
              </a:rPr>
              <a:t>Write down what went wrong</a:t>
            </a:r>
          </a:p>
          <a:p xmlns:a="http://schemas.openxmlformats.org/drawingml/2006/main">
            <a:pPr algn="l">
              <a:buNone/>
              <a:defRPr sz="1800" b="0">
                <a:solidFill>
                  <a:srgbClr val="586C63"/>
                </a:solidFill>
                <a:latin typeface="Arial"/>
                <a:ea typeface="Arial"/>
                <a:cs typeface="Arial"/>
              </a:defRPr>
            </a:pPr>
            <a:r>
              <a:rPr sz="1800" b="0">
                <a:solidFill>
                  <a:srgbClr val="586C63"/>
                </a:solidFill>
                <a:latin typeface="Arial"/>
                <a:ea typeface="Arial"/>
                <a:cs typeface="Arial"/>
              </a:rPr>
              <a:t>and what to do next.</a:t>
            </a:r>
          </a:p>
        </p:txBody>
      </p:sp>
      <p:sp>
        <p:nvSpPr>
          <p:cNvPr id="22" name="Two weekly reflection pages;&#10;LEAF-157 links t">
            <a:extLst xmlns:a="http://schemas.openxmlformats.org/drawingml/2006/main">
              <a:ext uri="{FF2B5EF4-FFF2-40B4-BE49-F238E27FC236}">
                <a16:creationId xmlns:a16="http://schemas.microsoft.com/office/drawing/2014/main" id="{8620013D-CCDA-4ADB-B523-394898A60327}"/>
              </a:ext>
            </a:extLst>
          </p:cNvPr>
          <p:cNvSpPr>
            <a:spLocks xmlns:a="http://schemas.openxmlformats.org/drawingml/2006/main" noGrp="1"/>
          </p:cNvSpPr>
          <p:nvPr/>
        </p:nvSpPr>
        <p:spPr>
          <a:xfrm xmlns:a="http://schemas.openxmlformats.org/drawingml/2006/main">
            <a:off x="7705725" y="4314825"/>
            <a:ext cx="37623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586C63"/>
                </a:solidFill>
                <a:latin typeface="Arial"/>
                <a:ea typeface="Arial"/>
                <a:cs typeface="Arial"/>
              </a:defRPr>
            </a:pPr>
            <a:r>
              <a:rPr sz="1800" b="0">
                <a:solidFill>
                  <a:srgbClr val="586C63"/>
                </a:solidFill>
                <a:latin typeface="Arial"/>
                <a:ea typeface="Arial"/>
                <a:cs typeface="Arial"/>
              </a:rPr>
              <a:t>Weekly logs on 21 and 28 Aug;</a:t>
            </a:r>
          </a:p>
          <a:p xmlns:a="http://schemas.openxmlformats.org/drawingml/2006/main">
            <a:pPr algn="l">
              <a:buNone/>
              <a:defRPr sz="1800" b="0">
                <a:solidFill>
                  <a:srgbClr val="586C63"/>
                </a:solidFill>
                <a:latin typeface="Arial"/>
                <a:ea typeface="Arial"/>
                <a:cs typeface="Arial"/>
              </a:defRPr>
            </a:pPr>
            <a:r>
              <a:rPr sz="1800" b="0">
                <a:solidFill>
                  <a:srgbClr val="586C63"/>
                </a:solidFill>
                <a:latin typeface="Arial"/>
                <a:ea typeface="Arial"/>
                <a:cs typeface="Arial"/>
                <a:hlinkClick xmlns:r="http://schemas.openxmlformats.org/officeDocument/2006/relationships" r:id="R24940b6391424b47"/>
              </a:rPr>
              <a:t>LEAF-157</a:t>
            </a:r>
            <a:r>
              <a:rPr sz="1800" b="0">
                <a:solidFill>
                  <a:srgbClr val="586C63"/>
                </a:solidFill>
                <a:latin typeface="Arial"/>
                <a:ea typeface="Arial"/>
                <a:cs typeface="Arial"/>
              </a:rPr>
              <a:t> links the documents.</a:t>
            </a:r>
          </a:p>
        </p:txBody>
      </p:sp>
      <p:sp>
        <p:nvSpPr>
          <p:cNvPr id="23" name="直线连接符 22">
            <a:extLst xmlns:a="http://schemas.openxmlformats.org/drawingml/2006/main">
              <a:ext uri="{FF2B5EF4-FFF2-40B4-BE49-F238E27FC236}">
                <a16:creationId xmlns:a16="http://schemas.microsoft.com/office/drawing/2014/main" id="{0A9A89E9-FB45-472B-B532-7F88276F2847}"/>
              </a:ext>
            </a:extLst>
          </p:cNvPr>
          <p:cNvSpPr>
            <a:spLocks xmlns:a="http://schemas.openxmlformats.org/drawingml/2006/main" noGrp="1"/>
          </p:cNvSpPr>
          <p:nvPr/>
        </p:nvSpPr>
        <p:spPr>
          <a:xfrm xmlns:a="http://schemas.openxmlformats.org/drawingml/2006/main">
            <a:off x="609600" y="5153025"/>
            <a:ext cx="10972800" cy="0"/>
          </a:xfrm>
          <a:prstGeom xmlns:a="http://schemas.openxmlformats.org/drawingml/2006/main" prst="line">
            <a:avLst/>
          </a:prstGeom>
          <a:noFill xmlns:a="http://schemas.openxmlformats.org/drawingml/2006/main"/>
          <a:ln xmlns:a="http://schemas.openxmlformats.org/drawingml/2006/main" w="14288">
            <a:solidFill>
              <a:srgbClr val="C8D4CB"/>
            </a:solidFill>
          </a:ln>
        </p:spPr>
      </p:sp>
      <p:sp>
        <p:nvSpPr>
          <p:cNvPr id="24" name="直线连接符 23">
            <a:extLst xmlns:a="http://schemas.openxmlformats.org/drawingml/2006/main">
              <a:ext uri="{FF2B5EF4-FFF2-40B4-BE49-F238E27FC236}">
                <a16:creationId xmlns:a16="http://schemas.microsoft.com/office/drawing/2014/main" id="{DAB081E4-0A15-43AF-9F81-7506AC098DFA}"/>
              </a:ext>
            </a:extLst>
          </p:cNvPr>
          <p:cNvSpPr>
            <a:spLocks xmlns:a="http://schemas.openxmlformats.org/drawingml/2006/main" noGrp="1"/>
          </p:cNvSpPr>
          <p:nvPr/>
        </p:nvSpPr>
        <p:spPr>
          <a:xfrm xmlns:a="http://schemas.openxmlformats.org/drawingml/2006/main">
            <a:off x="609600" y="5457825"/>
            <a:ext cx="10972800" cy="0"/>
          </a:xfrm>
          <a:prstGeom xmlns:a="http://schemas.openxmlformats.org/drawingml/2006/main" prst="line">
            <a:avLst/>
          </a:prstGeom>
          <a:noFill xmlns:a="http://schemas.openxmlformats.org/drawingml/2006/main"/>
          <a:ln xmlns:a="http://schemas.openxmlformats.org/drawingml/2006/main" w="14288">
            <a:solidFill>
              <a:srgbClr val="287553"/>
            </a:solidFill>
          </a:ln>
        </p:spPr>
      </p:sp>
      <p:sp>
        <p:nvSpPr>
          <p:cNvPr id="25" name="Next improvement: close each action with a re">
            <a:extLst xmlns:a="http://schemas.openxmlformats.org/drawingml/2006/main">
              <a:ext uri="{FF2B5EF4-FFF2-40B4-BE49-F238E27FC236}">
                <a16:creationId xmlns:a16="http://schemas.microsoft.com/office/drawing/2014/main" id="{BF63437B-C67F-4A13-ABC7-34E32BE8609B}"/>
              </a:ext>
            </a:extLst>
          </p:cNvPr>
          <p:cNvSpPr>
            <a:spLocks xmlns:a="http://schemas.openxmlformats.org/drawingml/2006/main" noGrp="1"/>
          </p:cNvSpPr>
          <p:nvPr/>
        </p:nvSpPr>
        <p:spPr>
          <a:xfrm xmlns:a="http://schemas.openxmlformats.org/drawingml/2006/main">
            <a:off x="609600" y="55911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287553"/>
                </a:solidFill>
                <a:latin typeface="Arial"/>
                <a:ea typeface="Arial"/>
                <a:cs typeface="Arial"/>
              </a:defRPr>
            </a:pPr>
            <a:r>
              <a:rPr sz="1800" b="1">
                <a:solidFill>
                  <a:srgbClr val="287553"/>
                </a:solidFill>
                <a:latin typeface="Arial"/>
                <a:ea typeface="Arial"/>
                <a:cs typeface="Arial"/>
              </a:rPr>
              <a:t>Next time, each action should include who owns it and a link to the result.</a:t>
            </a:r>
          </a:p>
        </p:txBody>
      </p:sp>
    </p:spTree>
    <p:extLst>
      <p:ext uri="{BB962C8B-B14F-4D97-AF65-F5344CB8AC3E}">
        <p14:creationId xmlns:p14="http://schemas.microsoft.com/office/powerpoint/2010/main" val="23072182"/>
      </p:ext>
    </p:extLst>
  </p:cSld>
</p:sld>
</file>

<file path=ppt/slides/slide13.xml><?xml version="1.0" encoding="utf-8"?>
<p:sld xmlns:p="http://schemas.openxmlformats.org/presentationml/2006/main">
  <p:cSld>
    <p:bg>
      <p:bgPr>
        <a:solidFill xmlns:a="http://schemas.openxmlformats.org/drawingml/2006/main">
          <a:srgbClr val="F4F5F0"/>
        </a:solidFill>
      </p:bgPr>
    </p:bg>
    <p:spTree>
      <p:nvGrpSpPr>
        <p:cNvPr id="1" name=""/>
        <p:cNvGrpSpPr/>
        <p:nvPr/>
      </p:nvGrpSpPr>
      <p:grpSpPr>
        <a:xfrm xmlns:a="http://schemas.openxmlformats.org/drawingml/2006/main"/>
      </p:grpSpPr>
      <p:sp>
        <p:nvSpPr>
          <p:cNvPr id="29" name="SPRINT 4 FEEDBACK → SPRINT 5 EVIDENCE">
            <a:extLst xmlns:a="http://schemas.openxmlformats.org/drawingml/2006/main">
              <a:ext uri="{FF2B5EF4-FFF2-40B4-BE49-F238E27FC236}">
                <a16:creationId xmlns:a16="http://schemas.microsoft.com/office/drawing/2014/main" id="{DD2633FC-0F1F-459F-BAAF-A85F57194434}"/>
              </a:ext>
            </a:extLst>
          </p:cNvPr>
          <p:cNvSpPr>
            <a:spLocks xmlns:a="http://schemas.openxmlformats.org/drawingml/2006/main" noGrp="1"/>
          </p:cNvSpPr>
          <p:nvPr/>
        </p:nvSpPr>
        <p:spPr>
          <a:xfrm xmlns:a="http://schemas.openxmlformats.org/drawingml/2006/main">
            <a:off x="609600" y="4000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1">
                <a:solidFill>
                  <a:srgbClr val="287553"/>
                </a:solidFill>
                <a:latin typeface="Arial"/>
                <a:ea typeface="Arial"/>
                <a:cs typeface="Arial"/>
              </a:defRPr>
            </a:pPr>
            <a:r>
              <a:rPr sz="1500" b="1">
                <a:solidFill>
                  <a:srgbClr val="287553"/>
                </a:solidFill>
                <a:latin typeface="Arial"/>
                <a:ea typeface="Arial"/>
                <a:cs typeface="Arial"/>
              </a:rPr>
              <a:t>SPRINT 4 FEEDBACK → SPRINT 5 EVIDENCE</a:t>
            </a:r>
          </a:p>
        </p:txBody>
      </p:sp>
      <p:sp>
        <p:nvSpPr>
          <p:cNvPr id="2" name="What changed after Sprint 4 feedback">
            <a:extLst xmlns:a="http://schemas.openxmlformats.org/drawingml/2006/main">
              <a:ext uri="{FF2B5EF4-FFF2-40B4-BE49-F238E27FC236}">
                <a16:creationId xmlns:a16="http://schemas.microsoft.com/office/drawing/2014/main" id="{87DE9D67-2FF6-4217-85A9-0F380FF9D091}"/>
              </a:ext>
            </a:extLst>
          </p:cNvPr>
          <p:cNvSpPr>
            <a:spLocks xmlns:a="http://schemas.openxmlformats.org/drawingml/2006/main" noGrp="1"/>
          </p:cNvSpPr>
          <p:nvPr/>
        </p:nvSpPr>
        <p:spPr>
          <a:xfrm xmlns:a="http://schemas.openxmlformats.org/drawingml/2006/main">
            <a:off x="609600" y="86677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600" b="1">
                <a:solidFill>
                  <a:srgbClr val="173B31"/>
                </a:solidFill>
                <a:latin typeface="Arial"/>
                <a:ea typeface="Arial"/>
                <a:cs typeface="Arial"/>
              </a:defRPr>
            </a:pPr>
            <a:r>
              <a:rPr sz="3600" b="1">
                <a:solidFill>
                  <a:srgbClr val="173B31"/>
                </a:solidFill>
                <a:latin typeface="Arial"/>
                <a:ea typeface="Arial"/>
                <a:cs typeface="Arial"/>
              </a:rPr>
              <a:t>How we used last sprint’s feedback</a:t>
            </a:r>
          </a:p>
        </p:txBody>
      </p:sp>
      <p:sp>
        <p:nvSpPr>
          <p:cNvPr id="3" name="直线连接符 2">
            <a:extLst xmlns:a="http://schemas.openxmlformats.org/drawingml/2006/main">
              <a:ext uri="{FF2B5EF4-FFF2-40B4-BE49-F238E27FC236}">
                <a16:creationId xmlns:a16="http://schemas.microsoft.com/office/drawing/2014/main" id="{EDEB7FC5-2867-4146-A798-E0E7AA225271}"/>
              </a:ext>
            </a:extLst>
          </p:cNvPr>
          <p:cNvSpPr>
            <a:spLocks xmlns:a="http://schemas.openxmlformats.org/drawingml/2006/main" noGrp="1"/>
          </p:cNvSpPr>
          <p:nvPr/>
        </p:nvSpPr>
        <p:spPr>
          <a:xfrm xmlns:a="http://schemas.openxmlformats.org/drawingml/2006/main">
            <a:off x="609600" y="6238875"/>
            <a:ext cx="10972800" cy="0"/>
          </a:xfrm>
          <a:prstGeom xmlns:a="http://schemas.openxmlformats.org/drawingml/2006/main" prst="line">
            <a:avLst/>
          </a:prstGeom>
          <a:noFill xmlns:a="http://schemas.openxmlformats.org/drawingml/2006/main"/>
          <a:ln xmlns:a="http://schemas.openxmlformats.org/drawingml/2006/main" w="14288">
            <a:solidFill>
              <a:srgbClr val="C8D4CB"/>
            </a:solidFill>
          </a:ln>
        </p:spPr>
      </p:sp>
      <p:sp>
        <p:nvSpPr>
          <p:cNvPr id="4" name="LEAF ANALYZER  /  SPRINT 5">
            <a:extLst xmlns:a="http://schemas.openxmlformats.org/drawingml/2006/main">
              <a:ext uri="{FF2B5EF4-FFF2-40B4-BE49-F238E27FC236}">
                <a16:creationId xmlns:a16="http://schemas.microsoft.com/office/drawing/2014/main" id="{3DD4BBEB-BFFB-4D68-B7E8-59DFA48AA1D4}"/>
              </a:ext>
            </a:extLst>
          </p:cNvPr>
          <p:cNvSpPr>
            <a:spLocks xmlns:a="http://schemas.openxmlformats.org/drawingml/2006/main" noGrp="1"/>
          </p:cNvSpPr>
          <p:nvPr/>
        </p:nvSpPr>
        <p:spPr>
          <a:xfrm xmlns:a="http://schemas.openxmlformats.org/drawingml/2006/main">
            <a:off x="609600" y="6410325"/>
            <a:ext cx="323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586C63"/>
                </a:solidFill>
                <a:latin typeface="Arial"/>
                <a:ea typeface="Arial"/>
                <a:cs typeface="Arial"/>
              </a:defRPr>
            </a:pPr>
            <a:r>
              <a:rPr sz="1350" b="0">
                <a:solidFill>
                  <a:srgbClr val="586C63"/>
                </a:solidFill>
                <a:latin typeface="Arial"/>
                <a:ea typeface="Arial"/>
                <a:cs typeface="Arial"/>
              </a:rPr>
              <a:t>LEAF ANALYZER  /  SPRINT 5</a:t>
            </a:r>
          </a:p>
        </p:txBody>
      </p:sp>
      <p:sp>
        <p:nvSpPr>
          <p:cNvPr id="5" name="Evidence summary • no acceptance or accuracy ">
            <a:extLst xmlns:a="http://schemas.openxmlformats.org/drawingml/2006/main">
              <a:ext uri="{FF2B5EF4-FFF2-40B4-BE49-F238E27FC236}">
                <a16:creationId xmlns:a16="http://schemas.microsoft.com/office/drawing/2014/main" id="{EBB42CBD-B77F-4207-BC51-645B8CEE992C}"/>
              </a:ext>
            </a:extLst>
          </p:cNvPr>
          <p:cNvSpPr>
            <a:spLocks xmlns:a="http://schemas.openxmlformats.org/drawingml/2006/main" noGrp="1"/>
          </p:cNvSpPr>
          <p:nvPr/>
        </p:nvSpPr>
        <p:spPr>
          <a:xfrm xmlns:a="http://schemas.openxmlformats.org/drawingml/2006/main">
            <a:off x="3952875" y="6305550"/>
            <a:ext cx="708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200">
                <a:solidFill>
                  <a:srgbClr val="287553"/>
                </a:solidFill>
                <a:latin typeface="Arial"/>
                <a:ea typeface="Arial"/>
                <a:cs typeface="Arial"/>
              </a:defRPr>
            </a:pPr>
            <a:r>
              <a:rPr sz="1200">
                <a:solidFill>
                  <a:srgbClr val="287553"/>
                </a:solidFill>
                <a:latin typeface="Arial"/>
                <a:ea typeface="Arial"/>
                <a:cs typeface="Arial"/>
              </a:rPr>
              <a:t>Sources: </a:t>
            </a:r>
            <a:r>
              <a:rPr sz="1200" u="sng">
                <a:solidFill>
                  <a:srgbClr val="287553"/>
                </a:solidFill>
                <a:latin typeface="Arial"/>
                <a:ea typeface="Arial"/>
                <a:cs typeface="Arial"/>
                <a:hlinkClick xmlns:r="http://schemas.openxmlformats.org/officeDocument/2006/relationships" r:id="Rc7cbc4600a854d09"/>
              </a:rPr>
              <a:t>Tutor meeting</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c7493bccaab845d6"/>
              </a:rPr>
              <a:t>Week 4 reflection</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ab8daa361a4d4429"/>
              </a:rPr>
              <a:t>Week 5 reflection</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54a4f9255d5c46fc"/>
              </a:rPr>
              <a:t>Backlog</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d3b3cda3ec9f4cad"/>
              </a:rPr>
              <a:t>Risk plan</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1b7fd8e821ae45ab"/>
              </a:rPr>
              <a:t>LEAF-157</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f5899c0056d4450c"/>
              </a:rPr>
              <a:t>LEAF-150</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b2274d056c3d460b"/>
              </a:rPr>
              <a:t>LEAF-152</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2bb0a86031f64c15"/>
              </a:rPr>
              <a:t>PR #25</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00dace4b1a004ea1"/>
              </a:rPr>
              <a:t>CI run</a:t>
            </a:r>
          </a:p>
        </p:txBody>
      </p:sp>
      <p:sp>
        <p:nvSpPr>
          <p:cNvPr id="6" name="13">
            <a:extLst xmlns:a="http://schemas.openxmlformats.org/drawingml/2006/main">
              <a:ext uri="{FF2B5EF4-FFF2-40B4-BE49-F238E27FC236}">
                <a16:creationId xmlns:a16="http://schemas.microsoft.com/office/drawing/2014/main" id="{2793A503-49B0-4183-8616-1E33BE0ADE8B}"/>
              </a:ext>
            </a:extLst>
          </p:cNvPr>
          <p:cNvSpPr>
            <a:spLocks xmlns:a="http://schemas.openxmlformats.org/drawingml/2006/main" noGrp="1"/>
          </p:cNvSpPr>
          <p:nvPr/>
        </p:nvSpPr>
        <p:spPr>
          <a:xfrm xmlns:a="http://schemas.openxmlformats.org/drawingml/2006/main">
            <a:off x="11239500" y="63817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586C63"/>
                </a:solidFill>
                <a:latin typeface="Arial"/>
                <a:ea typeface="Arial"/>
                <a:cs typeface="Arial"/>
              </a:defRPr>
            </a:pPr>
            <a:r>
              <a:rPr sz="1575" b="0">
                <a:solidFill>
                  <a:srgbClr val="586C63"/>
                </a:solidFill>
                <a:latin typeface="Arial"/>
                <a:ea typeface="Arial"/>
                <a:cs typeface="Arial"/>
              </a:rPr>
              <a:t>13</a:t>
            </a:r>
          </a:p>
        </p:txBody>
      </p:sp>
      <p:sp>
        <p:nvSpPr>
          <p:cNvPr id="7" name="矩形 6">
            <a:extLst xmlns:a="http://schemas.openxmlformats.org/drawingml/2006/main">
              <a:ext uri="{FF2B5EF4-FFF2-40B4-BE49-F238E27FC236}">
                <a16:creationId xmlns:a16="http://schemas.microsoft.com/office/drawing/2014/main" id="{12F8B305-AD62-4141-B8D4-BBD600F006F1}"/>
              </a:ext>
            </a:extLst>
          </p:cNvPr>
          <p:cNvSpPr>
            <a:spLocks xmlns:a="http://schemas.openxmlformats.org/drawingml/2006/main" noGrp="1"/>
          </p:cNvSpPr>
          <p:nvPr/>
        </p:nvSpPr>
        <p:spPr>
          <a:xfrm xmlns:a="http://schemas.openxmlformats.org/drawingml/2006/main">
            <a:off x="609600" y="1800225"/>
            <a:ext cx="10972800" cy="485775"/>
          </a:xfrm>
          <a:prstGeom xmlns:a="http://schemas.openxmlformats.org/drawingml/2006/main" prst="rect">
            <a:avLst/>
          </a:prstGeom>
          <a:solidFill xmlns:a="http://schemas.openxmlformats.org/drawingml/2006/main">
            <a:srgbClr val="E4ECE3"/>
          </a:solidFill>
          <a:ln xmlns:a="http://schemas.openxmlformats.org/drawingml/2006/main" w="0">
            <a:noFill/>
          </a:ln>
        </p:spPr>
      </p:sp>
      <p:sp>
        <p:nvSpPr>
          <p:cNvPr id="8" name="AREA">
            <a:extLst xmlns:a="http://schemas.openxmlformats.org/drawingml/2006/main">
              <a:ext uri="{FF2B5EF4-FFF2-40B4-BE49-F238E27FC236}">
                <a16:creationId xmlns:a16="http://schemas.microsoft.com/office/drawing/2014/main" id="{B2362500-2BAC-4E3E-A5DD-56D2E0D461CD}"/>
              </a:ext>
            </a:extLst>
          </p:cNvPr>
          <p:cNvSpPr>
            <a:spLocks xmlns:a="http://schemas.openxmlformats.org/drawingml/2006/main" noGrp="1"/>
          </p:cNvSpPr>
          <p:nvPr/>
        </p:nvSpPr>
        <p:spPr>
          <a:xfrm xmlns:a="http://schemas.openxmlformats.org/drawingml/2006/main">
            <a:off x="723900" y="1914525"/>
            <a:ext cx="2457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1">
                <a:solidFill>
                  <a:srgbClr val="173B31"/>
                </a:solidFill>
                <a:latin typeface="Arial"/>
                <a:ea typeface="Arial"/>
                <a:cs typeface="Arial"/>
              </a:defRPr>
            </a:pPr>
            <a:r>
              <a:rPr sz="1575" b="1">
                <a:solidFill>
                  <a:srgbClr val="173B31"/>
                </a:solidFill>
                <a:latin typeface="Arial"/>
                <a:ea typeface="Arial"/>
                <a:cs typeface="Arial"/>
              </a:rPr>
              <a:t>FEEDBACK</a:t>
            </a:r>
          </a:p>
        </p:txBody>
      </p:sp>
      <p:sp>
        <p:nvSpPr>
          <p:cNvPr id="9" name="CHANGE + EVIDENCE">
            <a:extLst xmlns:a="http://schemas.openxmlformats.org/drawingml/2006/main">
              <a:ext uri="{FF2B5EF4-FFF2-40B4-BE49-F238E27FC236}">
                <a16:creationId xmlns:a16="http://schemas.microsoft.com/office/drawing/2014/main" id="{ACB7849E-BA41-469C-B45A-9D119B475401}"/>
              </a:ext>
            </a:extLst>
          </p:cNvPr>
          <p:cNvSpPr>
            <a:spLocks xmlns:a="http://schemas.openxmlformats.org/drawingml/2006/main" noGrp="1"/>
          </p:cNvSpPr>
          <p:nvPr/>
        </p:nvSpPr>
        <p:spPr>
          <a:xfrm xmlns:a="http://schemas.openxmlformats.org/drawingml/2006/main">
            <a:off x="3409950" y="1914525"/>
            <a:ext cx="46767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586C63"/>
                </a:solidFill>
                <a:latin typeface="Arial"/>
                <a:ea typeface="Arial"/>
                <a:cs typeface="Arial"/>
              </a:defRPr>
            </a:pPr>
            <a:r>
              <a:rPr sz="1575" b="0">
                <a:solidFill>
                  <a:srgbClr val="586C63"/>
                </a:solidFill>
                <a:latin typeface="Arial"/>
                <a:ea typeface="Arial"/>
                <a:cs typeface="Arial"/>
              </a:rPr>
              <a:t>WHAT WE CHANGED</a:t>
            </a:r>
          </a:p>
        </p:txBody>
      </p:sp>
      <p:sp>
        <p:nvSpPr>
          <p:cNvPr id="10" name="IMPACT / REMAINING STEP">
            <a:extLst xmlns:a="http://schemas.openxmlformats.org/drawingml/2006/main">
              <a:ext uri="{FF2B5EF4-FFF2-40B4-BE49-F238E27FC236}">
                <a16:creationId xmlns:a16="http://schemas.microsoft.com/office/drawing/2014/main" id="{6A6652F3-E48C-4F29-B62A-5B91BDE4A344}"/>
              </a:ext>
            </a:extLst>
          </p:cNvPr>
          <p:cNvSpPr>
            <a:spLocks xmlns:a="http://schemas.openxmlformats.org/drawingml/2006/main" noGrp="1"/>
          </p:cNvSpPr>
          <p:nvPr/>
        </p:nvSpPr>
        <p:spPr>
          <a:xfrm xmlns:a="http://schemas.openxmlformats.org/drawingml/2006/main">
            <a:off x="8315325" y="1914525"/>
            <a:ext cx="31527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586C63"/>
                </a:solidFill>
                <a:latin typeface="Arial"/>
                <a:ea typeface="Arial"/>
                <a:cs typeface="Arial"/>
              </a:defRPr>
            </a:pPr>
            <a:r>
              <a:rPr sz="1575" b="0">
                <a:solidFill>
                  <a:srgbClr val="586C63"/>
                </a:solidFill>
                <a:latin typeface="Arial"/>
                <a:ea typeface="Arial"/>
                <a:cs typeface="Arial"/>
              </a:rPr>
              <a:t>RESULT / NEXT STEP</a:t>
            </a:r>
          </a:p>
        </p:txBody>
      </p:sp>
      <p:sp>
        <p:nvSpPr>
          <p:cNvPr id="11" name="直线连接符 10">
            <a:extLst xmlns:a="http://schemas.openxmlformats.org/drawingml/2006/main">
              <a:ext uri="{FF2B5EF4-FFF2-40B4-BE49-F238E27FC236}">
                <a16:creationId xmlns:a16="http://schemas.microsoft.com/office/drawing/2014/main" id="{C58AA48C-7E54-4717-95EB-338C5C33A479}"/>
              </a:ext>
            </a:extLst>
          </p:cNvPr>
          <p:cNvSpPr>
            <a:spLocks xmlns:a="http://schemas.openxmlformats.org/drawingml/2006/main" noGrp="1"/>
          </p:cNvSpPr>
          <p:nvPr/>
        </p:nvSpPr>
        <p:spPr>
          <a:xfrm xmlns:a="http://schemas.openxmlformats.org/drawingml/2006/main">
            <a:off x="609600" y="2286000"/>
            <a:ext cx="10972800" cy="0"/>
          </a:xfrm>
          <a:prstGeom xmlns:a="http://schemas.openxmlformats.org/drawingml/2006/main" prst="line">
            <a:avLst/>
          </a:prstGeom>
          <a:noFill xmlns:a="http://schemas.openxmlformats.org/drawingml/2006/main"/>
          <a:ln xmlns:a="http://schemas.openxmlformats.org/drawingml/2006/main" w="14288">
            <a:solidFill>
              <a:srgbClr val="C8D4CB"/>
            </a:solidFill>
          </a:ln>
        </p:spPr>
      </p:sp>
      <p:sp>
        <p:nvSpPr>
          <p:cNvPr id="12" name="Stakeholder actions">
            <a:extLst xmlns:a="http://schemas.openxmlformats.org/drawingml/2006/main">
              <a:ext uri="{FF2B5EF4-FFF2-40B4-BE49-F238E27FC236}">
                <a16:creationId xmlns:a16="http://schemas.microsoft.com/office/drawing/2014/main" id="{FCC79BE5-FBF7-47D4-BFA2-A113BE637025}"/>
              </a:ext>
            </a:extLst>
          </p:cNvPr>
          <p:cNvSpPr>
            <a:spLocks xmlns:a="http://schemas.openxmlformats.org/drawingml/2006/main" noGrp="1"/>
          </p:cNvSpPr>
          <p:nvPr/>
        </p:nvSpPr>
        <p:spPr>
          <a:xfrm xmlns:a="http://schemas.openxmlformats.org/drawingml/2006/main">
            <a:off x="723900" y="2400300"/>
            <a:ext cx="2457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73B31"/>
                </a:solidFill>
                <a:latin typeface="Arial"/>
                <a:ea typeface="Arial"/>
                <a:cs typeface="Arial"/>
              </a:defRPr>
            </a:pPr>
            <a:r>
              <a:rPr sz="1800" b="1">
                <a:solidFill>
                  <a:srgbClr val="173B31"/>
                </a:solidFill>
                <a:latin typeface="Arial"/>
                <a:ea typeface="Arial"/>
                <a:cs typeface="Arial"/>
              </a:rPr>
              <a:t>Track meeting actions</a:t>
            </a:r>
          </a:p>
        </p:txBody>
      </p:sp>
      <p:sp>
        <p:nvSpPr>
          <p:cNvPr id="13" name="Linked requirements, Jira and reports;&#10;LEAF-1">
            <a:extLst xmlns:a="http://schemas.openxmlformats.org/drawingml/2006/main">
              <a:ext uri="{FF2B5EF4-FFF2-40B4-BE49-F238E27FC236}">
                <a16:creationId xmlns:a16="http://schemas.microsoft.com/office/drawing/2014/main" id="{96311690-6750-4C61-B950-EC9E6401CF50}"/>
              </a:ext>
            </a:extLst>
          </p:cNvPr>
          <p:cNvSpPr>
            <a:spLocks xmlns:a="http://schemas.openxmlformats.org/drawingml/2006/main" noGrp="1"/>
          </p:cNvSpPr>
          <p:nvPr/>
        </p:nvSpPr>
        <p:spPr>
          <a:xfrm xmlns:a="http://schemas.openxmlformats.org/drawingml/2006/main">
            <a:off x="3409950" y="2400300"/>
            <a:ext cx="46767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586C63"/>
                </a:solidFill>
                <a:latin typeface="Arial"/>
                <a:ea typeface="Arial"/>
                <a:cs typeface="Arial"/>
              </a:defRPr>
            </a:pPr>
            <a:r>
              <a:rPr sz="1800" b="0">
                <a:solidFill>
                  <a:srgbClr val="586C63"/>
                </a:solidFill>
                <a:latin typeface="Arial"/>
                <a:ea typeface="Arial"/>
                <a:cs typeface="Arial"/>
              </a:rPr>
              <a:t>Linked Jira tasks, meeting notes and reports.</a:t>
            </a:r>
          </a:p>
          <a:p xmlns:a="http://schemas.openxmlformats.org/drawingml/2006/main">
            <a:pPr algn="l">
              <a:buNone/>
              <a:defRPr sz="1800" b="0">
                <a:solidFill>
                  <a:srgbClr val="586C63"/>
                </a:solidFill>
                <a:latin typeface="Arial"/>
                <a:ea typeface="Arial"/>
                <a:cs typeface="Arial"/>
              </a:defRPr>
            </a:pPr>
            <a:r>
              <a:rPr sz="1800" b="0">
                <a:solidFill>
                  <a:srgbClr val="586C63"/>
                </a:solidFill>
                <a:latin typeface="Arial"/>
                <a:ea typeface="Arial"/>
                <a:cs typeface="Arial"/>
                <a:hlinkClick xmlns:r="http://schemas.openxmlformats.org/officeDocument/2006/relationships" r:id="Rb98508ff5e984f07"/>
              </a:rPr>
              <a:t>LEAF-157</a:t>
            </a:r>
            <a:r>
              <a:rPr sz="1800" b="0">
                <a:solidFill>
                  <a:srgbClr val="586C63"/>
                </a:solidFill>
                <a:latin typeface="Arial"/>
                <a:ea typeface="Arial"/>
                <a:cs typeface="Arial"/>
              </a:rPr>
              <a:t> tracks the tutor’s action items.</a:t>
            </a:r>
          </a:p>
        </p:txBody>
      </p:sp>
      <p:sp>
        <p:nvSpPr>
          <p:cNvPr id="14" name="More traceable outcomes;&#10;client sign-off stil">
            <a:extLst xmlns:a="http://schemas.openxmlformats.org/drawingml/2006/main">
              <a:ext uri="{FF2B5EF4-FFF2-40B4-BE49-F238E27FC236}">
                <a16:creationId xmlns:a16="http://schemas.microsoft.com/office/drawing/2014/main" id="{64E3A7BA-2552-45DB-932B-2A2001570852}"/>
              </a:ext>
            </a:extLst>
          </p:cNvPr>
          <p:cNvSpPr>
            <a:spLocks xmlns:a="http://schemas.openxmlformats.org/drawingml/2006/main" noGrp="1"/>
          </p:cNvSpPr>
          <p:nvPr/>
        </p:nvSpPr>
        <p:spPr>
          <a:xfrm xmlns:a="http://schemas.openxmlformats.org/drawingml/2006/main">
            <a:off x="8315325" y="2400300"/>
            <a:ext cx="31527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586C63"/>
                </a:solidFill>
                <a:latin typeface="Arial"/>
                <a:ea typeface="Arial"/>
                <a:cs typeface="Arial"/>
              </a:defRPr>
            </a:pPr>
            <a:r>
              <a:rPr sz="1800" b="0">
                <a:solidFill>
                  <a:srgbClr val="586C63"/>
                </a:solidFill>
                <a:latin typeface="Arial"/>
                <a:ea typeface="Arial"/>
                <a:cs typeface="Arial"/>
              </a:rPr>
              <a:t>Easier to follow progress.</a:t>
            </a:r>
          </a:p>
          <a:p xmlns:a="http://schemas.openxmlformats.org/drawingml/2006/main">
            <a:pPr algn="l">
              <a:buNone/>
              <a:defRPr sz="1800" b="0">
                <a:solidFill>
                  <a:srgbClr val="586C63"/>
                </a:solidFill>
                <a:latin typeface="Arial"/>
                <a:ea typeface="Arial"/>
                <a:cs typeface="Arial"/>
              </a:defRPr>
            </a:pPr>
            <a:r>
              <a:rPr sz="1800" b="0">
                <a:solidFill>
                  <a:srgbClr val="586C63"/>
                </a:solidFill>
                <a:latin typeface="Arial"/>
                <a:ea typeface="Arial"/>
                <a:cs typeface="Arial"/>
              </a:rPr>
              <a:t>Client review is still needed.</a:t>
            </a:r>
          </a:p>
        </p:txBody>
      </p:sp>
      <p:sp>
        <p:nvSpPr>
          <p:cNvPr id="15" name="直线连接符 14">
            <a:extLst xmlns:a="http://schemas.openxmlformats.org/drawingml/2006/main">
              <a:ext uri="{FF2B5EF4-FFF2-40B4-BE49-F238E27FC236}">
                <a16:creationId xmlns:a16="http://schemas.microsoft.com/office/drawing/2014/main" id="{972D4907-AFC0-4F8B-AEB3-2C391C620C50}"/>
              </a:ext>
            </a:extLst>
          </p:cNvPr>
          <p:cNvSpPr>
            <a:spLocks xmlns:a="http://schemas.openxmlformats.org/drawingml/2006/main" noGrp="1"/>
          </p:cNvSpPr>
          <p:nvPr/>
        </p:nvSpPr>
        <p:spPr>
          <a:xfrm xmlns:a="http://schemas.openxmlformats.org/drawingml/2006/main">
            <a:off x="609600" y="3124200"/>
            <a:ext cx="10972800" cy="0"/>
          </a:xfrm>
          <a:prstGeom xmlns:a="http://schemas.openxmlformats.org/drawingml/2006/main" prst="line">
            <a:avLst/>
          </a:prstGeom>
          <a:noFill xmlns:a="http://schemas.openxmlformats.org/drawingml/2006/main"/>
          <a:ln xmlns:a="http://schemas.openxmlformats.org/drawingml/2006/main" w="14288">
            <a:solidFill>
              <a:srgbClr val="C8D4CB"/>
            </a:solidFill>
          </a:ln>
        </p:spPr>
      </p:sp>
      <p:sp>
        <p:nvSpPr>
          <p:cNvPr id="16" name="Effort estimation">
            <a:extLst xmlns:a="http://schemas.openxmlformats.org/drawingml/2006/main">
              <a:ext uri="{FF2B5EF4-FFF2-40B4-BE49-F238E27FC236}">
                <a16:creationId xmlns:a16="http://schemas.microsoft.com/office/drawing/2014/main" id="{4DCF293E-0BFF-4462-AF65-8DB7155ABA3A}"/>
              </a:ext>
            </a:extLst>
          </p:cNvPr>
          <p:cNvSpPr>
            <a:spLocks xmlns:a="http://schemas.openxmlformats.org/drawingml/2006/main" noGrp="1"/>
          </p:cNvSpPr>
          <p:nvPr/>
        </p:nvSpPr>
        <p:spPr>
          <a:xfrm xmlns:a="http://schemas.openxmlformats.org/drawingml/2006/main">
            <a:off x="723900" y="3238500"/>
            <a:ext cx="2457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73B31"/>
                </a:solidFill>
                <a:latin typeface="Arial"/>
                <a:ea typeface="Arial"/>
                <a:cs typeface="Arial"/>
              </a:defRPr>
            </a:pPr>
            <a:r>
              <a:rPr sz="1800" b="1">
                <a:solidFill>
                  <a:srgbClr val="173B31"/>
                </a:solidFill>
                <a:latin typeface="Arial"/>
                <a:ea typeface="Arial"/>
                <a:cs typeface="Arial"/>
              </a:rPr>
              <a:t>Improve estimates</a:t>
            </a:r>
          </a:p>
        </p:txBody>
      </p:sp>
      <p:sp>
        <p:nvSpPr>
          <p:cNvPr id="17" name="Estimates and worklogs now support&#10;selected t">
            <a:extLst xmlns:a="http://schemas.openxmlformats.org/drawingml/2006/main">
              <a:ext uri="{FF2B5EF4-FFF2-40B4-BE49-F238E27FC236}">
                <a16:creationId xmlns:a16="http://schemas.microsoft.com/office/drawing/2014/main" id="{B775F707-C045-45A4-9DAA-33B576680AF9}"/>
              </a:ext>
            </a:extLst>
          </p:cNvPr>
          <p:cNvSpPr>
            <a:spLocks xmlns:a="http://schemas.openxmlformats.org/drawingml/2006/main" noGrp="1"/>
          </p:cNvSpPr>
          <p:nvPr/>
        </p:nvSpPr>
        <p:spPr>
          <a:xfrm xmlns:a="http://schemas.openxmlformats.org/drawingml/2006/main">
            <a:off x="3409950" y="3238500"/>
            <a:ext cx="46767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586C63"/>
                </a:solidFill>
                <a:latin typeface="Arial"/>
                <a:ea typeface="Arial"/>
                <a:cs typeface="Arial"/>
              </a:defRPr>
            </a:pPr>
            <a:r>
              <a:rPr sz="1800" b="0">
                <a:solidFill>
                  <a:srgbClr val="586C63"/>
                </a:solidFill>
                <a:latin typeface="Arial"/>
                <a:ea typeface="Arial"/>
                <a:cs typeface="Arial"/>
              </a:rPr>
              <a:t>Added estimates and worklogs</a:t>
            </a:r>
          </a:p>
          <a:p xmlns:a="http://schemas.openxmlformats.org/drawingml/2006/main">
            <a:pPr algn="l">
              <a:buNone/>
              <a:defRPr sz="1800" b="0">
                <a:solidFill>
                  <a:srgbClr val="586C63"/>
                </a:solidFill>
                <a:latin typeface="Arial"/>
                <a:ea typeface="Arial"/>
                <a:cs typeface="Arial"/>
              </a:defRPr>
            </a:pPr>
            <a:r>
              <a:rPr sz="1800" b="0">
                <a:solidFill>
                  <a:srgbClr val="586C63"/>
                </a:solidFill>
                <a:latin typeface="Arial"/>
                <a:ea typeface="Arial"/>
                <a:cs typeface="Arial"/>
              </a:rPr>
              <a:t>for selected tasks.</a:t>
            </a:r>
          </a:p>
        </p:txBody>
      </p:sp>
      <p:sp>
        <p:nvSpPr>
          <p:cNvPr id="18" name="Work is more visible;&#10;preserve starting basel">
            <a:extLst xmlns:a="http://schemas.openxmlformats.org/drawingml/2006/main">
              <a:ext uri="{FF2B5EF4-FFF2-40B4-BE49-F238E27FC236}">
                <a16:creationId xmlns:a16="http://schemas.microsoft.com/office/drawing/2014/main" id="{7D78C9F9-A789-4C9C-8130-276EA4EDCB88}"/>
              </a:ext>
            </a:extLst>
          </p:cNvPr>
          <p:cNvSpPr>
            <a:spLocks xmlns:a="http://schemas.openxmlformats.org/drawingml/2006/main" noGrp="1"/>
          </p:cNvSpPr>
          <p:nvPr/>
        </p:nvSpPr>
        <p:spPr>
          <a:xfrm xmlns:a="http://schemas.openxmlformats.org/drawingml/2006/main">
            <a:off x="8315325" y="3238500"/>
            <a:ext cx="31527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586C63"/>
                </a:solidFill>
                <a:latin typeface="Arial"/>
                <a:ea typeface="Arial"/>
                <a:cs typeface="Arial"/>
              </a:defRPr>
            </a:pPr>
            <a:r>
              <a:rPr sz="1800" b="0">
                <a:solidFill>
                  <a:srgbClr val="586C63"/>
                </a:solidFill>
                <a:latin typeface="Arial"/>
                <a:ea typeface="Arial"/>
                <a:cs typeface="Arial"/>
              </a:rPr>
              <a:t>We can compare the time.</a:t>
            </a:r>
          </a:p>
          <a:p xmlns:a="http://schemas.openxmlformats.org/drawingml/2006/main">
            <a:pPr algn="l">
              <a:buNone/>
              <a:defRPr sz="1800" b="0">
                <a:solidFill>
                  <a:srgbClr val="586C63"/>
                </a:solidFill>
                <a:latin typeface="Arial"/>
                <a:ea typeface="Arial"/>
                <a:cs typeface="Arial"/>
              </a:defRPr>
            </a:pPr>
            <a:r>
              <a:rPr sz="1800" b="0">
                <a:solidFill>
                  <a:srgbClr val="586C63"/>
                </a:solidFill>
                <a:latin typeface="Arial"/>
                <a:ea typeface="Arial"/>
                <a:cs typeface="Arial"/>
              </a:rPr>
              <a:t>Keep the first estimate.</a:t>
            </a:r>
          </a:p>
        </p:txBody>
      </p:sp>
      <p:sp>
        <p:nvSpPr>
          <p:cNvPr id="19" name="直线连接符 18">
            <a:extLst xmlns:a="http://schemas.openxmlformats.org/drawingml/2006/main">
              <a:ext uri="{FF2B5EF4-FFF2-40B4-BE49-F238E27FC236}">
                <a16:creationId xmlns:a16="http://schemas.microsoft.com/office/drawing/2014/main" id="{074E0712-6F10-4C05-A69D-7F9B74788135}"/>
              </a:ext>
            </a:extLst>
          </p:cNvPr>
          <p:cNvSpPr>
            <a:spLocks xmlns:a="http://schemas.openxmlformats.org/drawingml/2006/main" noGrp="1"/>
          </p:cNvSpPr>
          <p:nvPr/>
        </p:nvSpPr>
        <p:spPr>
          <a:xfrm xmlns:a="http://schemas.openxmlformats.org/drawingml/2006/main">
            <a:off x="609600" y="3962400"/>
            <a:ext cx="10972800" cy="0"/>
          </a:xfrm>
          <a:prstGeom xmlns:a="http://schemas.openxmlformats.org/drawingml/2006/main" prst="line">
            <a:avLst/>
          </a:prstGeom>
          <a:noFill xmlns:a="http://schemas.openxmlformats.org/drawingml/2006/main"/>
          <a:ln xmlns:a="http://schemas.openxmlformats.org/drawingml/2006/main" w="14288">
            <a:solidFill>
              <a:srgbClr val="C8D4CB"/>
            </a:solidFill>
          </a:ln>
        </p:spPr>
      </p:sp>
      <p:sp>
        <p:nvSpPr>
          <p:cNvPr id="20" name="Testing and CI">
            <a:extLst xmlns:a="http://schemas.openxmlformats.org/drawingml/2006/main">
              <a:ext uri="{FF2B5EF4-FFF2-40B4-BE49-F238E27FC236}">
                <a16:creationId xmlns:a16="http://schemas.microsoft.com/office/drawing/2014/main" id="{A64BD286-30B2-4F3C-B1BD-92B47A819EDA}"/>
              </a:ext>
            </a:extLst>
          </p:cNvPr>
          <p:cNvSpPr>
            <a:spLocks xmlns:a="http://schemas.openxmlformats.org/drawingml/2006/main" noGrp="1"/>
          </p:cNvSpPr>
          <p:nvPr/>
        </p:nvSpPr>
        <p:spPr>
          <a:xfrm xmlns:a="http://schemas.openxmlformats.org/drawingml/2006/main">
            <a:off x="723900" y="4076700"/>
            <a:ext cx="2457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73B31"/>
                </a:solidFill>
                <a:latin typeface="Arial"/>
                <a:ea typeface="Arial"/>
                <a:cs typeface="Arial"/>
              </a:defRPr>
            </a:pPr>
            <a:r>
              <a:rPr sz="1800" b="1">
                <a:solidFill>
                  <a:srgbClr val="173B31"/>
                </a:solidFill>
                <a:latin typeface="Arial"/>
                <a:ea typeface="Arial"/>
                <a:cs typeface="Arial"/>
              </a:rPr>
              <a:t>Add tests and CI</a:t>
            </a:r>
          </a:p>
        </p:txBody>
      </p:sp>
      <p:sp>
        <p:nvSpPr>
          <p:cNvPr id="21" name="Tracked pytest / Qt tests and Actions;&#10;PR #25">
            <a:extLst xmlns:a="http://schemas.openxmlformats.org/drawingml/2006/main">
              <a:ext uri="{FF2B5EF4-FFF2-40B4-BE49-F238E27FC236}">
                <a16:creationId xmlns:a16="http://schemas.microsoft.com/office/drawing/2014/main" id="{9C32AF0B-3C3F-4231-A68E-18E98BF8CBC9}"/>
              </a:ext>
            </a:extLst>
          </p:cNvPr>
          <p:cNvSpPr>
            <a:spLocks xmlns:a="http://schemas.openxmlformats.org/drawingml/2006/main" noGrp="1"/>
          </p:cNvSpPr>
          <p:nvPr/>
        </p:nvSpPr>
        <p:spPr>
          <a:xfrm xmlns:a="http://schemas.openxmlformats.org/drawingml/2006/main">
            <a:off x="3409950" y="4076700"/>
            <a:ext cx="46767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586C63"/>
                </a:solidFill>
                <a:latin typeface="Arial"/>
                <a:ea typeface="Arial"/>
                <a:cs typeface="Arial"/>
              </a:defRPr>
            </a:pPr>
            <a:r>
              <a:rPr sz="1800" b="0">
                <a:solidFill>
                  <a:srgbClr val="586C63"/>
                </a:solidFill>
                <a:latin typeface="Arial"/>
                <a:ea typeface="Arial"/>
                <a:cs typeface="Arial"/>
              </a:rPr>
              <a:t>Added pytest / Qt tests and GitHub Actions.</a:t>
            </a:r>
          </a:p>
          <a:p xmlns:a="http://schemas.openxmlformats.org/drawingml/2006/main">
            <a:pPr algn="l">
              <a:buNone/>
              <a:defRPr sz="1800" b="0">
                <a:solidFill>
                  <a:srgbClr val="586C63"/>
                </a:solidFill>
                <a:latin typeface="Arial"/>
                <a:ea typeface="Arial"/>
                <a:cs typeface="Arial"/>
              </a:defRPr>
            </a:pPr>
            <a:r>
              <a:rPr sz="1800" b="0">
                <a:solidFill>
                  <a:srgbClr val="586C63"/>
                </a:solidFill>
                <a:latin typeface="Arial"/>
                <a:ea typeface="Arial"/>
                <a:cs typeface="Arial"/>
                <a:hlinkClick xmlns:r="http://schemas.openxmlformats.org/officeDocument/2006/relationships" r:id="Rcd99ca0eae6d4390"/>
              </a:rPr>
              <a:t>PR #25</a:t>
            </a:r>
            <a:r>
              <a:rPr sz="1800" b="0">
                <a:solidFill>
                  <a:srgbClr val="586C63"/>
                </a:solidFill>
                <a:latin typeface="Arial"/>
                <a:ea typeface="Arial"/>
                <a:cs typeface="Arial"/>
              </a:rPr>
              <a:t> and later fixes show the work.</a:t>
            </a:r>
          </a:p>
        </p:txBody>
      </p:sp>
      <p:sp>
        <p:nvSpPr>
          <p:cNvPr id="22" name="Repeatable checks; extend&#10;SR, Windows and mod">
            <a:extLst xmlns:a="http://schemas.openxmlformats.org/drawingml/2006/main">
              <a:ext uri="{FF2B5EF4-FFF2-40B4-BE49-F238E27FC236}">
                <a16:creationId xmlns:a16="http://schemas.microsoft.com/office/drawing/2014/main" id="{1BCF6428-4F69-4E01-9E42-C5CC0A058992}"/>
              </a:ext>
            </a:extLst>
          </p:cNvPr>
          <p:cNvSpPr>
            <a:spLocks xmlns:a="http://schemas.openxmlformats.org/drawingml/2006/main" noGrp="1"/>
          </p:cNvSpPr>
          <p:nvPr/>
        </p:nvSpPr>
        <p:spPr>
          <a:xfrm xmlns:a="http://schemas.openxmlformats.org/drawingml/2006/main">
            <a:off x="8315325" y="4076700"/>
            <a:ext cx="31527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586C63"/>
                </a:solidFill>
                <a:latin typeface="Arial"/>
                <a:ea typeface="Arial"/>
                <a:cs typeface="Arial"/>
              </a:defRPr>
            </a:pPr>
            <a:r>
              <a:rPr sz="1800" b="0">
                <a:solidFill>
                  <a:srgbClr val="586C63"/>
                </a:solidFill>
                <a:latin typeface="Arial"/>
                <a:ea typeface="Arial"/>
                <a:cs typeface="Arial"/>
              </a:rPr>
              <a:t>Checks run automatically.</a:t>
            </a:r>
          </a:p>
          <a:p xmlns:a="http://schemas.openxmlformats.org/drawingml/2006/main">
            <a:pPr algn="l">
              <a:buNone/>
              <a:defRPr sz="1800" b="0">
                <a:solidFill>
                  <a:srgbClr val="586C63"/>
                </a:solidFill>
                <a:latin typeface="Arial"/>
                <a:ea typeface="Arial"/>
                <a:cs typeface="Arial"/>
              </a:defRPr>
            </a:pPr>
            <a:r>
              <a:rPr sz="1800" b="0">
                <a:solidFill>
                  <a:srgbClr val="586C63"/>
                </a:solidFill>
                <a:latin typeface="Arial"/>
                <a:ea typeface="Arial"/>
                <a:cs typeface="Arial"/>
              </a:rPr>
              <a:t>Test more models and PCs.</a:t>
            </a:r>
          </a:p>
        </p:txBody>
      </p:sp>
      <p:sp>
        <p:nvSpPr>
          <p:cNvPr id="23" name="直线连接符 22">
            <a:extLst xmlns:a="http://schemas.openxmlformats.org/drawingml/2006/main">
              <a:ext uri="{FF2B5EF4-FFF2-40B4-BE49-F238E27FC236}">
                <a16:creationId xmlns:a16="http://schemas.microsoft.com/office/drawing/2014/main" id="{759D0509-283D-4D0F-A8D3-AB983A8C2821}"/>
              </a:ext>
            </a:extLst>
          </p:cNvPr>
          <p:cNvSpPr>
            <a:spLocks xmlns:a="http://schemas.openxmlformats.org/drawingml/2006/main" noGrp="1"/>
          </p:cNvSpPr>
          <p:nvPr/>
        </p:nvSpPr>
        <p:spPr>
          <a:xfrm xmlns:a="http://schemas.openxmlformats.org/drawingml/2006/main">
            <a:off x="609600" y="4800600"/>
            <a:ext cx="10972800" cy="0"/>
          </a:xfrm>
          <a:prstGeom xmlns:a="http://schemas.openxmlformats.org/drawingml/2006/main" prst="line">
            <a:avLst/>
          </a:prstGeom>
          <a:noFill xmlns:a="http://schemas.openxmlformats.org/drawingml/2006/main"/>
          <a:ln xmlns:a="http://schemas.openxmlformats.org/drawingml/2006/main" w="14288">
            <a:solidFill>
              <a:srgbClr val="C8D4CB"/>
            </a:solidFill>
          </a:ln>
        </p:spPr>
      </p:sp>
      <p:sp>
        <p:nvSpPr>
          <p:cNvPr id="24" name="Reflection log">
            <a:extLst xmlns:a="http://schemas.openxmlformats.org/drawingml/2006/main">
              <a:ext uri="{FF2B5EF4-FFF2-40B4-BE49-F238E27FC236}">
                <a16:creationId xmlns:a16="http://schemas.microsoft.com/office/drawing/2014/main" id="{DB1FE8EE-88EC-4AD4-9779-BF7E59A3845D}"/>
              </a:ext>
            </a:extLst>
          </p:cNvPr>
          <p:cNvSpPr>
            <a:spLocks xmlns:a="http://schemas.openxmlformats.org/drawingml/2006/main" noGrp="1"/>
          </p:cNvSpPr>
          <p:nvPr/>
        </p:nvSpPr>
        <p:spPr>
          <a:xfrm xmlns:a="http://schemas.openxmlformats.org/drawingml/2006/main">
            <a:off x="723900" y="4914900"/>
            <a:ext cx="2457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73B31"/>
                </a:solidFill>
                <a:latin typeface="Arial"/>
                <a:ea typeface="Arial"/>
                <a:cs typeface="Arial"/>
              </a:defRPr>
            </a:pPr>
            <a:r>
              <a:rPr sz="1800" b="1">
                <a:solidFill>
                  <a:srgbClr val="173B31"/>
                </a:solidFill>
                <a:latin typeface="Arial"/>
                <a:ea typeface="Arial"/>
                <a:cs typeface="Arial"/>
              </a:rPr>
              <a:t>Keep a reflection log</a:t>
            </a:r>
          </a:p>
        </p:txBody>
      </p:sp>
      <p:sp>
        <p:nvSpPr>
          <p:cNvPr id="25" name="21 + 28 August team/individual logs;&#10;lessons ">
            <a:extLst xmlns:a="http://schemas.openxmlformats.org/drawingml/2006/main">
              <a:ext uri="{FF2B5EF4-FFF2-40B4-BE49-F238E27FC236}">
                <a16:creationId xmlns:a16="http://schemas.microsoft.com/office/drawing/2014/main" id="{5BCFA975-DC72-4BE8-B0F5-50D66B6B48E4}"/>
              </a:ext>
            </a:extLst>
          </p:cNvPr>
          <p:cNvSpPr>
            <a:spLocks xmlns:a="http://schemas.openxmlformats.org/drawingml/2006/main" noGrp="1"/>
          </p:cNvSpPr>
          <p:nvPr/>
        </p:nvSpPr>
        <p:spPr>
          <a:xfrm xmlns:a="http://schemas.openxmlformats.org/drawingml/2006/main">
            <a:off x="3409950" y="4914900"/>
            <a:ext cx="46767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586C63"/>
                </a:solidFill>
                <a:latin typeface="Arial"/>
                <a:ea typeface="Arial"/>
                <a:cs typeface="Arial"/>
              </a:defRPr>
            </a:pPr>
            <a:r>
              <a:rPr sz="1800" b="0">
                <a:solidFill>
                  <a:srgbClr val="586C63"/>
                </a:solidFill>
                <a:latin typeface="Arial"/>
                <a:ea typeface="Arial"/>
                <a:cs typeface="Arial"/>
              </a:rPr>
              <a:t>Added team and individual reflections</a:t>
            </a:r>
          </a:p>
          <a:p xmlns:a="http://schemas.openxmlformats.org/drawingml/2006/main">
            <a:pPr algn="l">
              <a:buNone/>
              <a:defRPr sz="1800" b="0">
                <a:solidFill>
                  <a:srgbClr val="586C63"/>
                </a:solidFill>
                <a:latin typeface="Arial"/>
                <a:ea typeface="Arial"/>
                <a:cs typeface="Arial"/>
              </a:defRPr>
            </a:pPr>
            <a:r>
              <a:rPr sz="1800" b="0">
                <a:solidFill>
                  <a:srgbClr val="586C63"/>
                </a:solidFill>
                <a:latin typeface="Arial"/>
                <a:ea typeface="Arial"/>
                <a:cs typeface="Arial"/>
              </a:rPr>
              <a:t>on 21 and 28 August.</a:t>
            </a:r>
          </a:p>
        </p:txBody>
      </p:sp>
      <p:sp>
        <p:nvSpPr>
          <p:cNvPr id="26" name="Follow-up is documented;&#10;keep verifying actio">
            <a:extLst xmlns:a="http://schemas.openxmlformats.org/drawingml/2006/main">
              <a:ext uri="{FF2B5EF4-FFF2-40B4-BE49-F238E27FC236}">
                <a16:creationId xmlns:a16="http://schemas.microsoft.com/office/drawing/2014/main" id="{8A16FBF1-F1C0-42FD-A24C-B2C7C5A5FB72}"/>
              </a:ext>
            </a:extLst>
          </p:cNvPr>
          <p:cNvSpPr>
            <a:spLocks xmlns:a="http://schemas.openxmlformats.org/drawingml/2006/main" noGrp="1"/>
          </p:cNvSpPr>
          <p:nvPr/>
        </p:nvSpPr>
        <p:spPr>
          <a:xfrm xmlns:a="http://schemas.openxmlformats.org/drawingml/2006/main">
            <a:off x="8315325" y="4914900"/>
            <a:ext cx="31527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586C63"/>
                </a:solidFill>
                <a:latin typeface="Arial"/>
                <a:ea typeface="Arial"/>
                <a:cs typeface="Arial"/>
              </a:defRPr>
            </a:pPr>
            <a:r>
              <a:rPr sz="1800" b="0">
                <a:solidFill>
                  <a:srgbClr val="586C63"/>
                </a:solidFill>
                <a:latin typeface="Arial"/>
                <a:ea typeface="Arial"/>
                <a:cs typeface="Arial"/>
              </a:rPr>
              <a:t>Problems have written actions.</a:t>
            </a:r>
          </a:p>
          <a:p xmlns:a="http://schemas.openxmlformats.org/drawingml/2006/main">
            <a:pPr algn="l">
              <a:buNone/>
              <a:defRPr sz="1800" b="0">
                <a:solidFill>
                  <a:srgbClr val="586C63"/>
                </a:solidFill>
                <a:latin typeface="Arial"/>
                <a:ea typeface="Arial"/>
                <a:cs typeface="Arial"/>
              </a:defRPr>
            </a:pPr>
            <a:r>
              <a:rPr sz="1800" b="0">
                <a:solidFill>
                  <a:srgbClr val="586C63"/>
                </a:solidFill>
                <a:latin typeface="Arial"/>
                <a:ea typeface="Arial"/>
                <a:cs typeface="Arial"/>
              </a:rPr>
              <a:t>Keep checking the results.</a:t>
            </a:r>
          </a:p>
        </p:txBody>
      </p:sp>
      <p:sp>
        <p:nvSpPr>
          <p:cNvPr id="27" name="直线连接符 26">
            <a:extLst xmlns:a="http://schemas.openxmlformats.org/drawingml/2006/main">
              <a:ext uri="{FF2B5EF4-FFF2-40B4-BE49-F238E27FC236}">
                <a16:creationId xmlns:a16="http://schemas.microsoft.com/office/drawing/2014/main" id="{B843BB56-685A-4E4B-B611-F87DA29949AF}"/>
              </a:ext>
            </a:extLst>
          </p:cNvPr>
          <p:cNvSpPr>
            <a:spLocks xmlns:a="http://schemas.openxmlformats.org/drawingml/2006/main" noGrp="1"/>
          </p:cNvSpPr>
          <p:nvPr/>
        </p:nvSpPr>
        <p:spPr>
          <a:xfrm xmlns:a="http://schemas.openxmlformats.org/drawingml/2006/main">
            <a:off x="609600" y="5638800"/>
            <a:ext cx="10972800" cy="0"/>
          </a:xfrm>
          <a:prstGeom xmlns:a="http://schemas.openxmlformats.org/drawingml/2006/main" prst="line">
            <a:avLst/>
          </a:prstGeom>
          <a:noFill xmlns:a="http://schemas.openxmlformats.org/drawingml/2006/main"/>
          <a:ln xmlns:a="http://schemas.openxmlformats.org/drawingml/2006/main" w="14288">
            <a:solidFill>
              <a:srgbClr val="C8D4CB"/>
            </a:solidFill>
          </a:ln>
        </p:spPr>
      </p:sp>
      <p:sp>
        <p:nvSpPr>
          <p:cNvPr id="28" name="The clearest gains are working integrations a">
            <a:extLst xmlns:a="http://schemas.openxmlformats.org/drawingml/2006/main">
              <a:ext uri="{FF2B5EF4-FFF2-40B4-BE49-F238E27FC236}">
                <a16:creationId xmlns:a16="http://schemas.microsoft.com/office/drawing/2014/main" id="{93B8EBF9-FD3C-411B-923E-883AD2934ABE}"/>
              </a:ext>
            </a:extLst>
          </p:cNvPr>
          <p:cNvSpPr>
            <a:spLocks xmlns:a="http://schemas.openxmlformats.org/drawingml/2006/main" noGrp="1"/>
          </p:cNvSpPr>
          <p:nvPr/>
        </p:nvSpPr>
        <p:spPr>
          <a:xfrm xmlns:a="http://schemas.openxmlformats.org/drawingml/2006/main">
            <a:off x="609600" y="58388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287553"/>
                </a:solidFill>
                <a:latin typeface="Arial"/>
                <a:ea typeface="Arial"/>
                <a:cs typeface="Arial"/>
              </a:defRPr>
            </a:pPr>
            <a:r>
              <a:rPr sz="1875" b="1">
                <a:solidFill>
                  <a:srgbClr val="287553"/>
                </a:solidFill>
                <a:latin typeface="Arial"/>
                <a:ea typeface="Arial"/>
                <a:cs typeface="Arial"/>
              </a:rPr>
              <a:t>We made progress in all four areas. Testing and CI are the clearest improvements.</a:t>
            </a:r>
          </a:p>
        </p:txBody>
      </p:sp>
    </p:spTree>
    <p:extLst>
      <p:ext uri="{BB962C8B-B14F-4D97-AF65-F5344CB8AC3E}">
        <p14:creationId xmlns:p14="http://schemas.microsoft.com/office/powerpoint/2010/main" val="1735558795"/>
      </p:ext>
    </p:extLst>
  </p:cSld>
</p:sld>
</file>

<file path=ppt/slides/slide14.xml><?xml version="1.0" encoding="utf-8"?>
<p:sld xmlns:p="http://schemas.openxmlformats.org/presentationml/2006/main">
  <p:cSld>
    <p:bg>
      <p:bgPr>
        <a:solidFill xmlns:a="http://schemas.openxmlformats.org/drawingml/2006/main">
          <a:srgbClr val="F4F5F0"/>
        </a:solidFill>
      </p:bgPr>
    </p:bg>
    <p:spTree>
      <p:nvGrpSpPr>
        <p:cNvPr id="1" name=""/>
        <p:cNvGrpSpPr/>
        <p:nvPr/>
      </p:nvGrpSpPr>
      <p:grpSpPr>
        <a:xfrm xmlns:a="http://schemas.openxmlformats.org/drawingml/2006/main"/>
      </p:grpSpPr>
      <p:sp>
        <p:nvSpPr>
          <p:cNvPr id="33" name="SPRINT 6 GOALS AND PLAN">
            <a:extLst xmlns:a="http://schemas.openxmlformats.org/drawingml/2006/main">
              <a:ext uri="{FF2B5EF4-FFF2-40B4-BE49-F238E27FC236}">
                <a16:creationId xmlns:a16="http://schemas.microsoft.com/office/drawing/2014/main" id="{1A2C8A2B-610F-4A29-8DA8-6FCC50E46953}"/>
              </a:ext>
            </a:extLst>
          </p:cNvPr>
          <p:cNvSpPr>
            <a:spLocks xmlns:a="http://schemas.openxmlformats.org/drawingml/2006/main" noGrp="1"/>
          </p:cNvSpPr>
          <p:nvPr/>
        </p:nvSpPr>
        <p:spPr>
          <a:xfrm xmlns:a="http://schemas.openxmlformats.org/drawingml/2006/main">
            <a:off x="609600" y="4000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1">
                <a:solidFill>
                  <a:srgbClr val="287553"/>
                </a:solidFill>
                <a:latin typeface="Arial"/>
                <a:ea typeface="Arial"/>
                <a:cs typeface="Arial"/>
              </a:defRPr>
            </a:pPr>
            <a:r>
              <a:rPr sz="1500" b="1">
                <a:solidFill>
                  <a:srgbClr val="287553"/>
                </a:solidFill>
                <a:latin typeface="Arial"/>
                <a:ea typeface="Arial"/>
                <a:cs typeface="Arial"/>
              </a:rPr>
              <a:t>SPRINT 6 GOALS AND PLAN</a:t>
            </a:r>
          </a:p>
        </p:txBody>
      </p:sp>
      <p:sp>
        <p:nvSpPr>
          <p:cNvPr id="2" name="Validate and finish the core workflow">
            <a:extLst xmlns:a="http://schemas.openxmlformats.org/drawingml/2006/main">
              <a:ext uri="{FF2B5EF4-FFF2-40B4-BE49-F238E27FC236}">
                <a16:creationId xmlns:a16="http://schemas.microsoft.com/office/drawing/2014/main" id="{E5AD6C75-F161-42D3-8698-8F0C7C319DEB}"/>
              </a:ext>
            </a:extLst>
          </p:cNvPr>
          <p:cNvSpPr>
            <a:spLocks xmlns:a="http://schemas.openxmlformats.org/drawingml/2006/main" noGrp="1"/>
          </p:cNvSpPr>
          <p:nvPr/>
        </p:nvSpPr>
        <p:spPr>
          <a:xfrm xmlns:a="http://schemas.openxmlformats.org/drawingml/2006/main">
            <a:off x="609600" y="86677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600" b="1">
                <a:solidFill>
                  <a:srgbClr val="173B31"/>
                </a:solidFill>
                <a:latin typeface="Arial"/>
                <a:ea typeface="Arial"/>
                <a:cs typeface="Arial"/>
              </a:defRPr>
            </a:pPr>
            <a:r>
              <a:rPr sz="3600" b="1">
                <a:solidFill>
                  <a:srgbClr val="173B31"/>
                </a:solidFill>
                <a:latin typeface="Arial"/>
                <a:ea typeface="Arial"/>
                <a:cs typeface="Arial"/>
              </a:rPr>
              <a:t>Our plan for Sprint 6</a:t>
            </a:r>
          </a:p>
        </p:txBody>
      </p:sp>
      <p:sp>
        <p:nvSpPr>
          <p:cNvPr id="3" name="直线连接符 2">
            <a:extLst xmlns:a="http://schemas.openxmlformats.org/drawingml/2006/main">
              <a:ext uri="{FF2B5EF4-FFF2-40B4-BE49-F238E27FC236}">
                <a16:creationId xmlns:a16="http://schemas.microsoft.com/office/drawing/2014/main" id="{C20774A2-50A1-40D6-858F-515F85567F5E}"/>
              </a:ext>
            </a:extLst>
          </p:cNvPr>
          <p:cNvSpPr>
            <a:spLocks xmlns:a="http://schemas.openxmlformats.org/drawingml/2006/main" noGrp="1"/>
          </p:cNvSpPr>
          <p:nvPr/>
        </p:nvSpPr>
        <p:spPr>
          <a:xfrm xmlns:a="http://schemas.openxmlformats.org/drawingml/2006/main">
            <a:off x="609600" y="6238875"/>
            <a:ext cx="10972800" cy="0"/>
          </a:xfrm>
          <a:prstGeom xmlns:a="http://schemas.openxmlformats.org/drawingml/2006/main" prst="line">
            <a:avLst/>
          </a:prstGeom>
          <a:noFill xmlns:a="http://schemas.openxmlformats.org/drawingml/2006/main"/>
          <a:ln xmlns:a="http://schemas.openxmlformats.org/drawingml/2006/main" w="14288">
            <a:solidFill>
              <a:srgbClr val="C8D4CB"/>
            </a:solidFill>
          </a:ln>
        </p:spPr>
      </p:sp>
      <p:sp>
        <p:nvSpPr>
          <p:cNvPr id="4" name="LEAF ANALYZER  /  SPRINT 5">
            <a:extLst xmlns:a="http://schemas.openxmlformats.org/drawingml/2006/main">
              <a:ext uri="{FF2B5EF4-FFF2-40B4-BE49-F238E27FC236}">
                <a16:creationId xmlns:a16="http://schemas.microsoft.com/office/drawing/2014/main" id="{315FC933-F877-47FB-BD17-804F58DA5744}"/>
              </a:ext>
            </a:extLst>
          </p:cNvPr>
          <p:cNvSpPr>
            <a:spLocks xmlns:a="http://schemas.openxmlformats.org/drawingml/2006/main" noGrp="1"/>
          </p:cNvSpPr>
          <p:nvPr/>
        </p:nvSpPr>
        <p:spPr>
          <a:xfrm xmlns:a="http://schemas.openxmlformats.org/drawingml/2006/main">
            <a:off x="609600" y="6410325"/>
            <a:ext cx="323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586C63"/>
                </a:solidFill>
                <a:latin typeface="Arial"/>
                <a:ea typeface="Arial"/>
                <a:cs typeface="Arial"/>
              </a:defRPr>
            </a:pPr>
            <a:r>
              <a:rPr sz="1350" b="0">
                <a:solidFill>
                  <a:srgbClr val="586C63"/>
                </a:solidFill>
                <a:latin typeface="Arial"/>
                <a:ea typeface="Arial"/>
                <a:cs typeface="Arial"/>
              </a:rPr>
              <a:t>LEAF ANALYZER  /  SPRINT 5</a:t>
            </a:r>
          </a:p>
        </p:txBody>
      </p:sp>
      <p:sp>
        <p:nvSpPr>
          <p:cNvPr id="5" name="Proposed priorities • remaining Jira work + W">
            <a:extLst xmlns:a="http://schemas.openxmlformats.org/drawingml/2006/main">
              <a:ext uri="{FF2B5EF4-FFF2-40B4-BE49-F238E27FC236}">
                <a16:creationId xmlns:a16="http://schemas.microsoft.com/office/drawing/2014/main" id="{51ECC4FB-B373-47C3-81E0-971E76178C02}"/>
              </a:ext>
            </a:extLst>
          </p:cNvPr>
          <p:cNvSpPr>
            <a:spLocks xmlns:a="http://schemas.openxmlformats.org/drawingml/2006/main" noGrp="1"/>
          </p:cNvSpPr>
          <p:nvPr/>
        </p:nvSpPr>
        <p:spPr>
          <a:xfrm xmlns:a="http://schemas.openxmlformats.org/drawingml/2006/main">
            <a:off x="3952875" y="6305550"/>
            <a:ext cx="708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8000"/>
              </a:lnSpc>
              <a:buNone/>
              <a:defRPr sz="1200">
                <a:solidFill>
                  <a:srgbClr val="287553"/>
                </a:solidFill>
                <a:latin typeface="Arial"/>
                <a:ea typeface="Arial"/>
                <a:cs typeface="Arial"/>
              </a:defRPr>
            </a:pPr>
            <a:r>
              <a:rPr sz="1200">
                <a:solidFill>
                  <a:srgbClr val="287553"/>
                </a:solidFill>
                <a:latin typeface="Arial"/>
                <a:ea typeface="Arial"/>
                <a:cs typeface="Arial"/>
              </a:rPr>
              <a:t>Sources: </a:t>
            </a:r>
            <a:r>
              <a:rPr sz="1200" u="sng">
                <a:solidFill>
                  <a:srgbClr val="287553"/>
                </a:solidFill>
                <a:latin typeface="Arial"/>
                <a:ea typeface="Arial"/>
                <a:cs typeface="Arial"/>
                <a:hlinkClick xmlns:r="http://schemas.openxmlformats.org/officeDocument/2006/relationships" r:id="R9838ccbd2559468a"/>
              </a:rPr>
              <a:t>LEAF-105</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55e6e3271bb1412e"/>
              </a:rPr>
              <a:t>LEAF-115</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36f5437cad8d4512"/>
              </a:rPr>
              <a:t>LEAF-116</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9c79b92f82fc44b3"/>
              </a:rPr>
              <a:t>LEAF-113</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0d60f21a276b41b6"/>
              </a:rPr>
              <a:t>LEAF-163</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3e5c1ae753874290"/>
              </a:rPr>
              <a:t>LEAF-164</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9b284973830f463c"/>
              </a:rPr>
              <a:t>PR #36</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d42bbaf2757c49ef"/>
              </a:rPr>
              <a:t>Week 5 report</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e699d514169542bd"/>
              </a:rPr>
              <a:t>Week 5 reflection</a:t>
            </a:r>
            <a:r>
              <a:rPr sz="1200">
                <a:solidFill>
                  <a:srgbClr val="287553"/>
                </a:solidFill>
                <a:latin typeface="Arial"/>
                <a:ea typeface="Arial"/>
                <a:cs typeface="Arial"/>
              </a:rPr>
              <a:t>  ·  </a:t>
            </a:r>
            <a:r>
              <a:rPr sz="1200" u="sng">
                <a:solidFill>
                  <a:srgbClr val="287553"/>
                </a:solidFill>
                <a:latin typeface="Arial"/>
                <a:ea typeface="Arial"/>
                <a:cs typeface="Arial"/>
                <a:hlinkClick xmlns:r="http://schemas.openxmlformats.org/officeDocument/2006/relationships" r:id="R12357750a48a4bee"/>
              </a:rPr>
              <a:t>Risk plan</a:t>
            </a:r>
          </a:p>
        </p:txBody>
      </p:sp>
      <p:sp>
        <p:nvSpPr>
          <p:cNvPr id="6" name="14">
            <a:extLst xmlns:a="http://schemas.openxmlformats.org/drawingml/2006/main">
              <a:ext uri="{FF2B5EF4-FFF2-40B4-BE49-F238E27FC236}">
                <a16:creationId xmlns:a16="http://schemas.microsoft.com/office/drawing/2014/main" id="{48D24450-9B01-457E-B2D9-61BB695C77C1}"/>
              </a:ext>
            </a:extLst>
          </p:cNvPr>
          <p:cNvSpPr>
            <a:spLocks xmlns:a="http://schemas.openxmlformats.org/drawingml/2006/main" noGrp="1"/>
          </p:cNvSpPr>
          <p:nvPr/>
        </p:nvSpPr>
        <p:spPr>
          <a:xfrm xmlns:a="http://schemas.openxmlformats.org/drawingml/2006/main">
            <a:off x="11239500" y="63817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586C63"/>
                </a:solidFill>
                <a:latin typeface="Arial"/>
                <a:ea typeface="Arial"/>
                <a:cs typeface="Arial"/>
              </a:defRPr>
            </a:pPr>
            <a:r>
              <a:rPr sz="1575" b="0">
                <a:solidFill>
                  <a:srgbClr val="586C63"/>
                </a:solidFill>
                <a:latin typeface="Arial"/>
                <a:ea typeface="Arial"/>
                <a:cs typeface="Arial"/>
              </a:rPr>
              <a:t>14</a:t>
            </a:r>
          </a:p>
        </p:txBody>
      </p:sp>
      <p:sp>
        <p:nvSpPr>
          <p:cNvPr id="7" name="矩形 6">
            <a:extLst xmlns:a="http://schemas.openxmlformats.org/drawingml/2006/main">
              <a:ext uri="{FF2B5EF4-FFF2-40B4-BE49-F238E27FC236}">
                <a16:creationId xmlns:a16="http://schemas.microsoft.com/office/drawing/2014/main" id="{143E4341-E980-4811-8EE1-9BC5D66EBB03}"/>
              </a:ext>
            </a:extLst>
          </p:cNvPr>
          <p:cNvSpPr>
            <a:spLocks xmlns:a="http://schemas.openxmlformats.org/drawingml/2006/main" noGrp="1"/>
          </p:cNvSpPr>
          <p:nvPr/>
        </p:nvSpPr>
        <p:spPr>
          <a:xfrm xmlns:a="http://schemas.openxmlformats.org/drawingml/2006/main">
            <a:off x="609600" y="1781175"/>
            <a:ext cx="10972800" cy="466725"/>
          </a:xfrm>
          <a:prstGeom xmlns:a="http://schemas.openxmlformats.org/drawingml/2006/main" prst="rect">
            <a:avLst/>
          </a:prstGeom>
          <a:solidFill xmlns:a="http://schemas.openxmlformats.org/drawingml/2006/main">
            <a:srgbClr val="E4ECE3"/>
          </a:solidFill>
          <a:ln xmlns:a="http://schemas.openxmlformats.org/drawingml/2006/main" w="0">
            <a:noFill/>
          </a:ln>
        </p:spPr>
      </p:sp>
      <p:sp>
        <p:nvSpPr>
          <p:cNvPr id="8" name="GOAL">
            <a:extLst xmlns:a="http://schemas.openxmlformats.org/drawingml/2006/main">
              <a:ext uri="{FF2B5EF4-FFF2-40B4-BE49-F238E27FC236}">
                <a16:creationId xmlns:a16="http://schemas.microsoft.com/office/drawing/2014/main" id="{EF21C327-CE4C-466A-ACD0-F932980EC9E9}"/>
              </a:ext>
            </a:extLst>
          </p:cNvPr>
          <p:cNvSpPr>
            <a:spLocks xmlns:a="http://schemas.openxmlformats.org/drawingml/2006/main" noGrp="1"/>
          </p:cNvSpPr>
          <p:nvPr/>
        </p:nvSpPr>
        <p:spPr>
          <a:xfrm xmlns:a="http://schemas.openxmlformats.org/drawingml/2006/main">
            <a:off x="723900" y="1895475"/>
            <a:ext cx="30575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1">
                <a:solidFill>
                  <a:srgbClr val="173B31"/>
                </a:solidFill>
                <a:latin typeface="Arial"/>
                <a:ea typeface="Arial"/>
                <a:cs typeface="Arial"/>
              </a:defRPr>
            </a:pPr>
            <a:r>
              <a:rPr sz="1575" b="1">
                <a:solidFill>
                  <a:srgbClr val="173B31"/>
                </a:solidFill>
                <a:latin typeface="Arial"/>
                <a:ea typeface="Arial"/>
                <a:cs typeface="Arial"/>
              </a:rPr>
              <a:t>GOAL</a:t>
            </a:r>
          </a:p>
        </p:txBody>
      </p:sp>
      <p:sp>
        <p:nvSpPr>
          <p:cNvPr id="9" name="WHY IT MATTERS">
            <a:extLst xmlns:a="http://schemas.openxmlformats.org/drawingml/2006/main">
              <a:ext uri="{FF2B5EF4-FFF2-40B4-BE49-F238E27FC236}">
                <a16:creationId xmlns:a16="http://schemas.microsoft.com/office/drawing/2014/main" id="{ED5C387E-4A13-42F7-A0CA-F29F6F60AF24}"/>
              </a:ext>
            </a:extLst>
          </p:cNvPr>
          <p:cNvSpPr>
            <a:spLocks xmlns:a="http://schemas.openxmlformats.org/drawingml/2006/main" noGrp="1"/>
          </p:cNvSpPr>
          <p:nvPr/>
        </p:nvSpPr>
        <p:spPr>
          <a:xfrm xmlns:a="http://schemas.openxmlformats.org/drawingml/2006/main">
            <a:off x="4010025" y="1895475"/>
            <a:ext cx="2905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586C63"/>
                </a:solidFill>
                <a:latin typeface="Arial"/>
                <a:ea typeface="Arial"/>
                <a:cs typeface="Arial"/>
              </a:defRPr>
            </a:pPr>
            <a:r>
              <a:rPr sz="1575" b="0">
                <a:solidFill>
                  <a:srgbClr val="586C63"/>
                </a:solidFill>
                <a:latin typeface="Arial"/>
                <a:ea typeface="Arial"/>
                <a:cs typeface="Arial"/>
              </a:rPr>
              <a:t>WHY</a:t>
            </a:r>
          </a:p>
        </p:txBody>
      </p:sp>
      <p:sp>
        <p:nvSpPr>
          <p:cNvPr id="10" name="PLANNED ACTION">
            <a:extLst xmlns:a="http://schemas.openxmlformats.org/drawingml/2006/main">
              <a:ext uri="{FF2B5EF4-FFF2-40B4-BE49-F238E27FC236}">
                <a16:creationId xmlns:a16="http://schemas.microsoft.com/office/drawing/2014/main" id="{D5A45024-9C88-4587-8B80-1F1E392B5D9F}"/>
              </a:ext>
            </a:extLst>
          </p:cNvPr>
          <p:cNvSpPr>
            <a:spLocks xmlns:a="http://schemas.openxmlformats.org/drawingml/2006/main" noGrp="1"/>
          </p:cNvSpPr>
          <p:nvPr/>
        </p:nvSpPr>
        <p:spPr>
          <a:xfrm xmlns:a="http://schemas.openxmlformats.org/drawingml/2006/main">
            <a:off x="7143750" y="1895475"/>
            <a:ext cx="43243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586C63"/>
                </a:solidFill>
                <a:latin typeface="Arial"/>
                <a:ea typeface="Arial"/>
                <a:cs typeface="Arial"/>
              </a:defRPr>
            </a:pPr>
            <a:r>
              <a:rPr sz="1575" b="0">
                <a:solidFill>
                  <a:srgbClr val="586C63"/>
                </a:solidFill>
                <a:latin typeface="Arial"/>
                <a:ea typeface="Arial"/>
                <a:cs typeface="Arial"/>
              </a:rPr>
              <a:t>NEXT ACTION</a:t>
            </a:r>
          </a:p>
        </p:txBody>
      </p:sp>
      <p:sp>
        <p:nvSpPr>
          <p:cNvPr id="11" name="直线连接符 10">
            <a:extLst xmlns:a="http://schemas.openxmlformats.org/drawingml/2006/main">
              <a:ext uri="{FF2B5EF4-FFF2-40B4-BE49-F238E27FC236}">
                <a16:creationId xmlns:a16="http://schemas.microsoft.com/office/drawing/2014/main" id="{1C1F4509-2F71-482D-8B70-595E931AEAC8}"/>
              </a:ext>
            </a:extLst>
          </p:cNvPr>
          <p:cNvSpPr>
            <a:spLocks xmlns:a="http://schemas.openxmlformats.org/drawingml/2006/main" noGrp="1"/>
          </p:cNvSpPr>
          <p:nvPr/>
        </p:nvSpPr>
        <p:spPr>
          <a:xfrm xmlns:a="http://schemas.openxmlformats.org/drawingml/2006/main">
            <a:off x="609600" y="2247900"/>
            <a:ext cx="10972800" cy="0"/>
          </a:xfrm>
          <a:prstGeom xmlns:a="http://schemas.openxmlformats.org/drawingml/2006/main" prst="line">
            <a:avLst/>
          </a:prstGeom>
          <a:noFill xmlns:a="http://schemas.openxmlformats.org/drawingml/2006/main"/>
          <a:ln xmlns:a="http://schemas.openxmlformats.org/drawingml/2006/main" w="14288">
            <a:solidFill>
              <a:srgbClr val="C8D4CB"/>
            </a:solidFill>
          </a:ln>
        </p:spPr>
      </p:sp>
      <p:sp>
        <p:nvSpPr>
          <p:cNvPr id="12" name="1  Finish calibration">
            <a:extLst xmlns:a="http://schemas.openxmlformats.org/drawingml/2006/main">
              <a:ext uri="{FF2B5EF4-FFF2-40B4-BE49-F238E27FC236}">
                <a16:creationId xmlns:a16="http://schemas.microsoft.com/office/drawing/2014/main" id="{0EF0FE91-E995-4121-9234-1EC78343C91F}"/>
              </a:ext>
            </a:extLst>
          </p:cNvPr>
          <p:cNvSpPr>
            <a:spLocks xmlns:a="http://schemas.openxmlformats.org/drawingml/2006/main" noGrp="1"/>
          </p:cNvSpPr>
          <p:nvPr/>
        </p:nvSpPr>
        <p:spPr>
          <a:xfrm xmlns:a="http://schemas.openxmlformats.org/drawingml/2006/main">
            <a:off x="723900" y="2362200"/>
            <a:ext cx="30575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73B31"/>
                </a:solidFill>
                <a:latin typeface="Arial"/>
                <a:ea typeface="Arial"/>
                <a:cs typeface="Arial"/>
              </a:defRPr>
            </a:pPr>
            <a:r>
              <a:rPr sz="1725" b="1">
                <a:solidFill>
                  <a:srgbClr val="173B31"/>
                </a:solidFill>
                <a:latin typeface="Arial"/>
                <a:ea typeface="Arial"/>
                <a:cs typeface="Arial"/>
              </a:rPr>
              <a:t>1  Finish calibration</a:t>
            </a:r>
          </a:p>
        </p:txBody>
      </p:sp>
      <p:sp>
        <p:nvSpPr>
          <p:cNvPr id="13" name="Turn raw data into a&#10;calibrated workflow.">
            <a:extLst xmlns:a="http://schemas.openxmlformats.org/drawingml/2006/main">
              <a:ext uri="{FF2B5EF4-FFF2-40B4-BE49-F238E27FC236}">
                <a16:creationId xmlns:a16="http://schemas.microsoft.com/office/drawing/2014/main" id="{D455705C-D956-44D2-ADC5-27742873C2E4}"/>
              </a:ext>
            </a:extLst>
          </p:cNvPr>
          <p:cNvSpPr>
            <a:spLocks xmlns:a="http://schemas.openxmlformats.org/drawingml/2006/main" noGrp="1"/>
          </p:cNvSpPr>
          <p:nvPr/>
        </p:nvSpPr>
        <p:spPr>
          <a:xfrm xmlns:a="http://schemas.openxmlformats.org/drawingml/2006/main">
            <a:off x="4010025" y="2362200"/>
            <a:ext cx="2905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86C63"/>
                </a:solidFill>
                <a:latin typeface="Arial"/>
                <a:ea typeface="Arial"/>
                <a:cs typeface="Arial"/>
              </a:defRPr>
            </a:pPr>
            <a:r>
              <a:rPr sz="1725" b="0">
                <a:solidFill>
                  <a:srgbClr val="586C63"/>
                </a:solidFill>
                <a:latin typeface="Arial"/>
                <a:ea typeface="Arial"/>
                <a:cs typeface="Arial"/>
              </a:rPr>
              <a:t>Use calibrated data</a:t>
            </a:r>
          </a:p>
          <a:p xmlns:a="http://schemas.openxmlformats.org/drawingml/2006/main">
            <a:pPr algn="l">
              <a:buNone/>
              <a:defRPr sz="1725" b="0">
                <a:solidFill>
                  <a:srgbClr val="586C63"/>
                </a:solidFill>
                <a:latin typeface="Arial"/>
                <a:ea typeface="Arial"/>
                <a:cs typeface="Arial"/>
              </a:defRPr>
            </a:pPr>
            <a:r>
              <a:rPr sz="1725" b="0">
                <a:solidFill>
                  <a:srgbClr val="586C63"/>
                </a:solidFill>
                <a:latin typeface="Arial"/>
                <a:ea typeface="Arial"/>
                <a:cs typeface="Arial"/>
              </a:rPr>
              <a:t>in the app.</a:t>
            </a:r>
          </a:p>
        </p:txBody>
      </p:sp>
      <p:sp>
        <p:nvSpPr>
          <p:cNvPr id="14" name="Jingyi: LEAF-115 algorithm;&#10;Guochen: LEAF-116">
            <a:extLst xmlns:a="http://schemas.openxmlformats.org/drawingml/2006/main">
              <a:ext uri="{FF2B5EF4-FFF2-40B4-BE49-F238E27FC236}">
                <a16:creationId xmlns:a16="http://schemas.microsoft.com/office/drawing/2014/main" id="{0050B5C8-5A8F-4433-A077-93AB8E7453CB}"/>
              </a:ext>
            </a:extLst>
          </p:cNvPr>
          <p:cNvSpPr>
            <a:spLocks xmlns:a="http://schemas.openxmlformats.org/drawingml/2006/main" noGrp="1"/>
          </p:cNvSpPr>
          <p:nvPr/>
        </p:nvSpPr>
        <p:spPr>
          <a:xfrm xmlns:a="http://schemas.openxmlformats.org/drawingml/2006/main">
            <a:off x="7143750" y="2362200"/>
            <a:ext cx="4324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86C63"/>
                </a:solidFill>
                <a:latin typeface="Arial"/>
                <a:ea typeface="Arial"/>
                <a:cs typeface="Arial"/>
              </a:defRPr>
            </a:pPr>
            <a:r>
              <a:rPr sz="1725" b="0">
                <a:solidFill>
                  <a:srgbClr val="586C63"/>
                </a:solidFill>
                <a:latin typeface="Arial"/>
                <a:ea typeface="Arial"/>
                <a:cs typeface="Arial"/>
              </a:rPr>
              <a:t>Jingyi: algorithm, </a:t>
            </a:r>
            <a:r>
              <a:rPr sz="1725" b="0">
                <a:solidFill>
                  <a:srgbClr val="586C63"/>
                </a:solidFill>
                <a:latin typeface="Arial"/>
                <a:ea typeface="Arial"/>
                <a:cs typeface="Arial"/>
                <a:hlinkClick xmlns:r="http://schemas.openxmlformats.org/officeDocument/2006/relationships" r:id="R9c5438e04e154616"/>
              </a:rPr>
              <a:t>LEAF-115</a:t>
            </a:r>
            <a:r>
              <a:rPr sz="1725" b="0">
                <a:solidFill>
                  <a:srgbClr val="586C63"/>
                </a:solidFill>
                <a:latin typeface="Arial"/>
                <a:ea typeface="Arial"/>
                <a:cs typeface="Arial"/>
              </a:rPr>
              <a:t>.</a:t>
            </a:r>
          </a:p>
          <a:p xmlns:a="http://schemas.openxmlformats.org/drawingml/2006/main">
            <a:pPr algn="l">
              <a:buNone/>
              <a:defRPr sz="1725" b="0">
                <a:solidFill>
                  <a:srgbClr val="586C63"/>
                </a:solidFill>
                <a:latin typeface="Arial"/>
                <a:ea typeface="Arial"/>
                <a:cs typeface="Arial"/>
              </a:defRPr>
            </a:pPr>
            <a:r>
              <a:rPr sz="1725" b="0">
                <a:solidFill>
                  <a:srgbClr val="586C63"/>
                </a:solidFill>
                <a:latin typeface="Arial"/>
                <a:ea typeface="Arial"/>
                <a:cs typeface="Arial"/>
              </a:rPr>
              <a:t>Guochen: UI and checks, </a:t>
            </a:r>
            <a:r>
              <a:rPr sz="1725" b="0">
                <a:solidFill>
                  <a:srgbClr val="586C63"/>
                </a:solidFill>
                <a:latin typeface="Arial"/>
                <a:ea typeface="Arial"/>
                <a:cs typeface="Arial"/>
                <a:hlinkClick xmlns:r="http://schemas.openxmlformats.org/officeDocument/2006/relationships" r:id="Rdb328e1bf59548c2"/>
              </a:rPr>
              <a:t>LEAF-116</a:t>
            </a:r>
            <a:r>
              <a:rPr sz="1725" b="0">
                <a:solidFill>
                  <a:srgbClr val="586C63"/>
                </a:solidFill>
                <a:latin typeface="Arial"/>
                <a:ea typeface="Arial"/>
                <a:cs typeface="Arial"/>
              </a:rPr>
              <a:t>.</a:t>
            </a:r>
          </a:p>
        </p:txBody>
      </p:sp>
      <p:sp>
        <p:nvSpPr>
          <p:cNvPr id="15" name="直线连接符 14">
            <a:extLst xmlns:a="http://schemas.openxmlformats.org/drawingml/2006/main">
              <a:ext uri="{FF2B5EF4-FFF2-40B4-BE49-F238E27FC236}">
                <a16:creationId xmlns:a16="http://schemas.microsoft.com/office/drawing/2014/main" id="{53ACA583-DB29-47E0-8E50-F5FF8EE3D2F0}"/>
              </a:ext>
            </a:extLst>
          </p:cNvPr>
          <p:cNvSpPr>
            <a:spLocks xmlns:a="http://schemas.openxmlformats.org/drawingml/2006/main" noGrp="1"/>
          </p:cNvSpPr>
          <p:nvPr/>
        </p:nvSpPr>
        <p:spPr>
          <a:xfrm xmlns:a="http://schemas.openxmlformats.org/drawingml/2006/main">
            <a:off x="609600" y="2952750"/>
            <a:ext cx="10972800" cy="0"/>
          </a:xfrm>
          <a:prstGeom xmlns:a="http://schemas.openxmlformats.org/drawingml/2006/main" prst="line">
            <a:avLst/>
          </a:prstGeom>
          <a:noFill xmlns:a="http://schemas.openxmlformats.org/drawingml/2006/main"/>
          <a:ln xmlns:a="http://schemas.openxmlformats.org/drawingml/2006/main" w="14288">
            <a:solidFill>
              <a:srgbClr val="C8D4CB"/>
            </a:solidFill>
          </a:ln>
        </p:spPr>
      </p:sp>
      <p:sp>
        <p:nvSpPr>
          <p:cNvPr id="16" name="2  Validate classification">
            <a:extLst xmlns:a="http://schemas.openxmlformats.org/drawingml/2006/main">
              <a:ext uri="{FF2B5EF4-FFF2-40B4-BE49-F238E27FC236}">
                <a16:creationId xmlns:a16="http://schemas.microsoft.com/office/drawing/2014/main" id="{A40600C7-A2B0-4FA8-8E3B-2A03C8E10B40}"/>
              </a:ext>
            </a:extLst>
          </p:cNvPr>
          <p:cNvSpPr>
            <a:spLocks xmlns:a="http://schemas.openxmlformats.org/drawingml/2006/main" noGrp="1"/>
          </p:cNvSpPr>
          <p:nvPr/>
        </p:nvSpPr>
        <p:spPr>
          <a:xfrm xmlns:a="http://schemas.openxmlformats.org/drawingml/2006/main">
            <a:off x="723900" y="3067050"/>
            <a:ext cx="30575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73B31"/>
                </a:solidFill>
                <a:latin typeface="Arial"/>
                <a:ea typeface="Arial"/>
                <a:cs typeface="Arial"/>
              </a:defRPr>
            </a:pPr>
            <a:r>
              <a:rPr sz="1725" b="1">
                <a:solidFill>
                  <a:srgbClr val="173B31"/>
                </a:solidFill>
                <a:latin typeface="Arial"/>
                <a:ea typeface="Arial"/>
                <a:cs typeface="Arial"/>
              </a:rPr>
              <a:t>2  Test classification</a:t>
            </a:r>
          </a:p>
        </p:txBody>
      </p:sp>
      <p:sp>
        <p:nvSpPr>
          <p:cNvPr id="17" name="Merged code needs explicit&#10;regression evidenc">
            <a:extLst xmlns:a="http://schemas.openxmlformats.org/drawingml/2006/main">
              <a:ext uri="{FF2B5EF4-FFF2-40B4-BE49-F238E27FC236}">
                <a16:creationId xmlns:a16="http://schemas.microsoft.com/office/drawing/2014/main" id="{D204807D-29DC-4C19-A5BF-9A680FE8B37C}"/>
              </a:ext>
            </a:extLst>
          </p:cNvPr>
          <p:cNvSpPr>
            <a:spLocks xmlns:a="http://schemas.openxmlformats.org/drawingml/2006/main" noGrp="1"/>
          </p:cNvSpPr>
          <p:nvPr/>
        </p:nvSpPr>
        <p:spPr>
          <a:xfrm xmlns:a="http://schemas.openxmlformats.org/drawingml/2006/main">
            <a:off x="4010025" y="3067050"/>
            <a:ext cx="2905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86C63"/>
                </a:solidFill>
                <a:latin typeface="Arial"/>
                <a:ea typeface="Arial"/>
                <a:cs typeface="Arial"/>
              </a:defRPr>
            </a:pPr>
            <a:r>
              <a:rPr sz="1725" b="0">
                <a:solidFill>
                  <a:srgbClr val="586C63"/>
                </a:solidFill>
                <a:latin typeface="Arial"/>
                <a:ea typeface="Arial"/>
                <a:cs typeface="Arial"/>
              </a:rPr>
              <a:t>Make sure the new feature</a:t>
            </a:r>
          </a:p>
          <a:p xmlns:a="http://schemas.openxmlformats.org/drawingml/2006/main">
            <a:pPr algn="l">
              <a:buNone/>
              <a:defRPr sz="1725" b="0">
                <a:solidFill>
                  <a:srgbClr val="586C63"/>
                </a:solidFill>
                <a:latin typeface="Arial"/>
                <a:ea typeface="Arial"/>
                <a:cs typeface="Arial"/>
              </a:defRPr>
            </a:pPr>
            <a:r>
              <a:rPr sz="1725" b="0">
                <a:solidFill>
                  <a:srgbClr val="586C63"/>
                </a:solidFill>
                <a:latin typeface="Arial"/>
                <a:ea typeface="Arial"/>
                <a:cs typeface="Arial"/>
              </a:rPr>
              <a:t>keeps working.</a:t>
            </a:r>
          </a:p>
        </p:txBody>
      </p:sp>
      <p:sp>
        <p:nvSpPr>
          <p:cNvPr id="18" name="Track model/UI tests; check mask&#10;alignment af">
            <a:extLst xmlns:a="http://schemas.openxmlformats.org/drawingml/2006/main">
              <a:ext uri="{FF2B5EF4-FFF2-40B4-BE49-F238E27FC236}">
                <a16:creationId xmlns:a16="http://schemas.microsoft.com/office/drawing/2014/main" id="{295FE395-8BD8-4644-BEDD-0FF06E3E9A2C}"/>
              </a:ext>
            </a:extLst>
          </p:cNvPr>
          <p:cNvSpPr>
            <a:spLocks xmlns:a="http://schemas.openxmlformats.org/drawingml/2006/main" noGrp="1"/>
          </p:cNvSpPr>
          <p:nvPr/>
        </p:nvSpPr>
        <p:spPr>
          <a:xfrm xmlns:a="http://schemas.openxmlformats.org/drawingml/2006/main">
            <a:off x="7143750" y="3067050"/>
            <a:ext cx="4324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86C63"/>
                </a:solidFill>
                <a:latin typeface="Arial"/>
                <a:ea typeface="Arial"/>
                <a:cs typeface="Arial"/>
              </a:defRPr>
            </a:pPr>
            <a:r>
              <a:rPr sz="1725" b="0">
                <a:solidFill>
                  <a:srgbClr val="586C63"/>
                </a:solidFill>
                <a:latin typeface="Arial"/>
                <a:ea typeface="Arial"/>
                <a:cs typeface="Arial"/>
              </a:rPr>
              <a:t>Add model and UI tests. Check masks</a:t>
            </a:r>
          </a:p>
          <a:p xmlns:a="http://schemas.openxmlformats.org/drawingml/2006/main">
            <a:pPr algn="l">
              <a:buNone/>
              <a:defRPr sz="1725" b="0">
                <a:solidFill>
                  <a:srgbClr val="586C63"/>
                </a:solidFill>
                <a:latin typeface="Arial"/>
                <a:ea typeface="Arial"/>
                <a:cs typeface="Arial"/>
              </a:defRPr>
            </a:pPr>
            <a:r>
              <a:rPr sz="1725" b="0">
                <a:solidFill>
                  <a:srgbClr val="586C63"/>
                </a:solidFill>
                <a:latin typeface="Arial"/>
                <a:ea typeface="Arial"/>
                <a:cs typeface="Arial"/>
              </a:rPr>
              <a:t>after SR, cropping and reloading.</a:t>
            </a:r>
          </a:p>
        </p:txBody>
      </p:sp>
      <p:sp>
        <p:nvSpPr>
          <p:cNvPr id="19" name="直线连接符 18">
            <a:extLst xmlns:a="http://schemas.openxmlformats.org/drawingml/2006/main">
              <a:ext uri="{FF2B5EF4-FFF2-40B4-BE49-F238E27FC236}">
                <a16:creationId xmlns:a16="http://schemas.microsoft.com/office/drawing/2014/main" id="{C16A6BCF-DDAE-4C26-92F9-237C4B1A2BAB}"/>
              </a:ext>
            </a:extLst>
          </p:cNvPr>
          <p:cNvSpPr>
            <a:spLocks xmlns:a="http://schemas.openxmlformats.org/drawingml/2006/main" noGrp="1"/>
          </p:cNvSpPr>
          <p:nvPr/>
        </p:nvSpPr>
        <p:spPr>
          <a:xfrm xmlns:a="http://schemas.openxmlformats.org/drawingml/2006/main">
            <a:off x="609600" y="3657600"/>
            <a:ext cx="10972800" cy="0"/>
          </a:xfrm>
          <a:prstGeom xmlns:a="http://schemas.openxmlformats.org/drawingml/2006/main" prst="line">
            <a:avLst/>
          </a:prstGeom>
          <a:noFill xmlns:a="http://schemas.openxmlformats.org/drawingml/2006/main"/>
          <a:ln xmlns:a="http://schemas.openxmlformats.org/drawingml/2006/main" w="14288">
            <a:solidFill>
              <a:srgbClr val="C8D4CB"/>
            </a:solidFill>
          </a:ln>
        </p:spPr>
      </p:sp>
      <p:sp>
        <p:nvSpPr>
          <p:cNvPr id="20" name="3  Verify scientific results">
            <a:extLst xmlns:a="http://schemas.openxmlformats.org/drawingml/2006/main">
              <a:ext uri="{FF2B5EF4-FFF2-40B4-BE49-F238E27FC236}">
                <a16:creationId xmlns:a16="http://schemas.microsoft.com/office/drawing/2014/main" id="{6DF87A4D-32B9-40CE-A6C5-7E5CCAE0549A}"/>
              </a:ext>
            </a:extLst>
          </p:cNvPr>
          <p:cNvSpPr>
            <a:spLocks xmlns:a="http://schemas.openxmlformats.org/drawingml/2006/main" noGrp="1"/>
          </p:cNvSpPr>
          <p:nvPr/>
        </p:nvSpPr>
        <p:spPr>
          <a:xfrm xmlns:a="http://schemas.openxmlformats.org/drawingml/2006/main">
            <a:off x="723900" y="3771900"/>
            <a:ext cx="30575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73B31"/>
                </a:solidFill>
                <a:latin typeface="Arial"/>
                <a:ea typeface="Arial"/>
                <a:cs typeface="Arial"/>
              </a:defRPr>
            </a:pPr>
            <a:r>
              <a:rPr sz="1725" b="1">
                <a:solidFill>
                  <a:srgbClr val="173B31"/>
                </a:solidFill>
                <a:latin typeface="Arial"/>
                <a:ea typeface="Arial"/>
                <a:cs typeface="Arial"/>
              </a:rPr>
              <a:t>3  Check the results</a:t>
            </a:r>
          </a:p>
        </p:txBody>
      </p:sp>
      <p:sp>
        <p:nvSpPr>
          <p:cNvPr id="21" name="A rendered image is not&#10;proof of accuracy.">
            <a:extLst xmlns:a="http://schemas.openxmlformats.org/drawingml/2006/main">
              <a:ext uri="{FF2B5EF4-FFF2-40B4-BE49-F238E27FC236}">
                <a16:creationId xmlns:a16="http://schemas.microsoft.com/office/drawing/2014/main" id="{8C5F67FC-41A1-4FE7-9E73-92EAF0905D39}"/>
              </a:ext>
            </a:extLst>
          </p:cNvPr>
          <p:cNvSpPr>
            <a:spLocks xmlns:a="http://schemas.openxmlformats.org/drawingml/2006/main" noGrp="1"/>
          </p:cNvSpPr>
          <p:nvPr/>
        </p:nvSpPr>
        <p:spPr>
          <a:xfrm xmlns:a="http://schemas.openxmlformats.org/drawingml/2006/main">
            <a:off x="4010025" y="3771900"/>
            <a:ext cx="2905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86C63"/>
                </a:solidFill>
                <a:latin typeface="Arial"/>
                <a:ea typeface="Arial"/>
                <a:cs typeface="Arial"/>
              </a:defRPr>
            </a:pPr>
            <a:r>
              <a:rPr sz="1725" b="0">
                <a:solidFill>
                  <a:srgbClr val="586C63"/>
                </a:solidFill>
                <a:latin typeface="Arial"/>
                <a:ea typeface="Arial"/>
                <a:cs typeface="Arial"/>
              </a:rPr>
              <a:t>A good-looking image</a:t>
            </a:r>
          </a:p>
          <a:p xmlns:a="http://schemas.openxmlformats.org/drawingml/2006/main">
            <a:pPr algn="l">
              <a:buNone/>
              <a:defRPr sz="1725" b="0">
                <a:solidFill>
                  <a:srgbClr val="586C63"/>
                </a:solidFill>
                <a:latin typeface="Arial"/>
                <a:ea typeface="Arial"/>
                <a:cs typeface="Arial"/>
              </a:defRPr>
            </a:pPr>
            <a:r>
              <a:rPr sz="1725" b="0">
                <a:solidFill>
                  <a:srgbClr val="586C63"/>
                </a:solidFill>
                <a:latin typeface="Arial"/>
                <a:ea typeface="Arial"/>
                <a:cs typeface="Arial"/>
              </a:rPr>
              <a:t>may still be wrong.</a:t>
            </a:r>
          </a:p>
        </p:txBody>
      </p:sp>
      <p:sp>
        <p:nvSpPr>
          <p:cNvPr id="22" name="LEAF-113 reference tests (1% target);&#10;confirm">
            <a:extLst xmlns:a="http://schemas.openxmlformats.org/drawingml/2006/main">
              <a:ext uri="{FF2B5EF4-FFF2-40B4-BE49-F238E27FC236}">
                <a16:creationId xmlns:a16="http://schemas.microsoft.com/office/drawing/2014/main" id="{4212DBE8-18C4-4DF5-AD58-5B2929654936}"/>
              </a:ext>
            </a:extLst>
          </p:cNvPr>
          <p:cNvSpPr>
            <a:spLocks xmlns:a="http://schemas.openxmlformats.org/drawingml/2006/main" noGrp="1"/>
          </p:cNvSpPr>
          <p:nvPr/>
        </p:nvSpPr>
        <p:spPr>
          <a:xfrm xmlns:a="http://schemas.openxmlformats.org/drawingml/2006/main">
            <a:off x="7143750" y="3771900"/>
            <a:ext cx="4324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86C63"/>
                </a:solidFill>
                <a:latin typeface="Arial"/>
                <a:ea typeface="Arial"/>
                <a:cs typeface="Arial"/>
              </a:defRPr>
            </a:pPr>
            <a:r>
              <a:rPr sz="1725" b="0">
                <a:solidFill>
                  <a:srgbClr val="586C63"/>
                </a:solidFill>
                <a:latin typeface="Arial"/>
                <a:ea typeface="Arial"/>
                <a:cs typeface="Arial"/>
              </a:rPr>
              <a:t>Add </a:t>
            </a:r>
            <a:r>
              <a:rPr sz="1725" b="0">
                <a:solidFill>
                  <a:srgbClr val="586C63"/>
                </a:solidFill>
                <a:latin typeface="Arial"/>
                <a:ea typeface="Arial"/>
                <a:cs typeface="Arial"/>
                <a:hlinkClick xmlns:r="http://schemas.openxmlformats.org/officeDocument/2006/relationships" r:id="R5fd2087394c24999"/>
              </a:rPr>
              <a:t>LEAF-113</a:t>
            </a:r>
            <a:r>
              <a:rPr sz="1725" b="0">
                <a:solidFill>
                  <a:srgbClr val="586C63"/>
                </a:solidFill>
                <a:latin typeface="Arial"/>
                <a:ea typeface="Arial"/>
                <a:cs typeface="Arial"/>
              </a:rPr>
              <a:t> reference tests.</a:t>
            </a:r>
          </a:p>
          <a:p xmlns:a="http://schemas.openxmlformats.org/drawingml/2006/main">
            <a:pPr algn="l">
              <a:buNone/>
              <a:defRPr sz="1725" b="0">
                <a:solidFill>
                  <a:srgbClr val="586C63"/>
                </a:solidFill>
                <a:latin typeface="Arial"/>
                <a:ea typeface="Arial"/>
                <a:cs typeface="Arial"/>
              </a:defRPr>
            </a:pPr>
            <a:r>
              <a:rPr sz="1725" b="0">
                <a:solidFill>
                  <a:srgbClr val="586C63"/>
                </a:solidFill>
                <a:latin typeface="Arial"/>
                <a:ea typeface="Arial"/>
                <a:cs typeface="Arial"/>
              </a:rPr>
              <a:t>Check the SR model’s data needs.</a:t>
            </a:r>
          </a:p>
        </p:txBody>
      </p:sp>
      <p:sp>
        <p:nvSpPr>
          <p:cNvPr id="23" name="直线连接符 22">
            <a:extLst xmlns:a="http://schemas.openxmlformats.org/drawingml/2006/main">
              <a:ext uri="{FF2B5EF4-FFF2-40B4-BE49-F238E27FC236}">
                <a16:creationId xmlns:a16="http://schemas.microsoft.com/office/drawing/2014/main" id="{D1FEAC1D-EF38-49C3-9E94-35E6AA8C6109}"/>
              </a:ext>
            </a:extLst>
          </p:cNvPr>
          <p:cNvSpPr>
            <a:spLocks xmlns:a="http://schemas.openxmlformats.org/drawingml/2006/main" noGrp="1"/>
          </p:cNvSpPr>
          <p:nvPr/>
        </p:nvSpPr>
        <p:spPr>
          <a:xfrm xmlns:a="http://schemas.openxmlformats.org/drawingml/2006/main">
            <a:off x="609600" y="4362450"/>
            <a:ext cx="10972800" cy="0"/>
          </a:xfrm>
          <a:prstGeom xmlns:a="http://schemas.openxmlformats.org/drawingml/2006/main" prst="line">
            <a:avLst/>
          </a:prstGeom>
          <a:noFill xmlns:a="http://schemas.openxmlformats.org/drawingml/2006/main"/>
          <a:ln xmlns:a="http://schemas.openxmlformats.org/drawingml/2006/main" w="14288">
            <a:solidFill>
              <a:srgbClr val="C8D4CB"/>
            </a:solidFill>
          </a:ln>
        </p:spPr>
      </p:sp>
      <p:sp>
        <p:nvSpPr>
          <p:cNvPr id="24" name="4  Test target hardware">
            <a:extLst xmlns:a="http://schemas.openxmlformats.org/drawingml/2006/main">
              <a:ext uri="{FF2B5EF4-FFF2-40B4-BE49-F238E27FC236}">
                <a16:creationId xmlns:a16="http://schemas.microsoft.com/office/drawing/2014/main" id="{B9B9A178-3CBD-446C-A927-711C2A578EFC}"/>
              </a:ext>
            </a:extLst>
          </p:cNvPr>
          <p:cNvSpPr>
            <a:spLocks xmlns:a="http://schemas.openxmlformats.org/drawingml/2006/main" noGrp="1"/>
          </p:cNvSpPr>
          <p:nvPr/>
        </p:nvSpPr>
        <p:spPr>
          <a:xfrm xmlns:a="http://schemas.openxmlformats.org/drawingml/2006/main">
            <a:off x="723900" y="4476750"/>
            <a:ext cx="30575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73B31"/>
                </a:solidFill>
                <a:latin typeface="Arial"/>
                <a:ea typeface="Arial"/>
                <a:cs typeface="Arial"/>
              </a:defRPr>
            </a:pPr>
            <a:r>
              <a:rPr sz="1725" b="1">
                <a:solidFill>
                  <a:srgbClr val="173B31"/>
                </a:solidFill>
                <a:latin typeface="Arial"/>
                <a:ea typeface="Arial"/>
                <a:cs typeface="Arial"/>
              </a:rPr>
              <a:t>4  Test on real PCs</a:t>
            </a:r>
          </a:p>
        </p:txBody>
      </p:sp>
      <p:sp>
        <p:nvSpPr>
          <p:cNvPr id="25" name="Avoid memory, disk and&#10;Windows graphics failu">
            <a:extLst xmlns:a="http://schemas.openxmlformats.org/drawingml/2006/main">
              <a:ext uri="{FF2B5EF4-FFF2-40B4-BE49-F238E27FC236}">
                <a16:creationId xmlns:a16="http://schemas.microsoft.com/office/drawing/2014/main" id="{40112CDD-4C7A-4C0A-B222-EBE246EDFFB7}"/>
              </a:ext>
            </a:extLst>
          </p:cNvPr>
          <p:cNvSpPr>
            <a:spLocks xmlns:a="http://schemas.openxmlformats.org/drawingml/2006/main" noGrp="1"/>
          </p:cNvSpPr>
          <p:nvPr/>
        </p:nvSpPr>
        <p:spPr>
          <a:xfrm xmlns:a="http://schemas.openxmlformats.org/drawingml/2006/main">
            <a:off x="4010025" y="4476750"/>
            <a:ext cx="2905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86C63"/>
                </a:solidFill>
                <a:latin typeface="Arial"/>
                <a:ea typeface="Arial"/>
                <a:cs typeface="Arial"/>
              </a:defRPr>
            </a:pPr>
            <a:r>
              <a:rPr sz="1725" b="0">
                <a:solidFill>
                  <a:srgbClr val="586C63"/>
                </a:solidFill>
                <a:latin typeface="Arial"/>
                <a:ea typeface="Arial"/>
                <a:cs typeface="Arial"/>
              </a:rPr>
              <a:t>Find memory, disk</a:t>
            </a:r>
          </a:p>
          <a:p xmlns:a="http://schemas.openxmlformats.org/drawingml/2006/main">
            <a:pPr algn="l">
              <a:buNone/>
              <a:defRPr sz="1725" b="0">
                <a:solidFill>
                  <a:srgbClr val="586C63"/>
                </a:solidFill>
                <a:latin typeface="Arial"/>
                <a:ea typeface="Arial"/>
                <a:cs typeface="Arial"/>
              </a:defRPr>
            </a:pPr>
            <a:r>
              <a:rPr sz="1725" b="0">
                <a:solidFill>
                  <a:srgbClr val="586C63"/>
                </a:solidFill>
                <a:latin typeface="Arial"/>
                <a:ea typeface="Arial"/>
                <a:cs typeface="Arial"/>
              </a:rPr>
              <a:t>and graphics problems.</a:t>
            </a:r>
          </a:p>
        </p:txBody>
      </p:sp>
      <p:sp>
        <p:nvSpPr>
          <p:cNvPr id="26" name="SR-enabled CPU suite; Windows/GL&#10;smoke test; ">
            <a:extLst xmlns:a="http://schemas.openxmlformats.org/drawingml/2006/main">
              <a:ext uri="{FF2B5EF4-FFF2-40B4-BE49-F238E27FC236}">
                <a16:creationId xmlns:a16="http://schemas.microsoft.com/office/drawing/2014/main" id="{9A701490-5890-4296-9459-0E3088B9EA62}"/>
              </a:ext>
            </a:extLst>
          </p:cNvPr>
          <p:cNvSpPr>
            <a:spLocks xmlns:a="http://schemas.openxmlformats.org/drawingml/2006/main" noGrp="1"/>
          </p:cNvSpPr>
          <p:nvPr/>
        </p:nvSpPr>
        <p:spPr>
          <a:xfrm xmlns:a="http://schemas.openxmlformats.org/drawingml/2006/main">
            <a:off x="7143750" y="4476750"/>
            <a:ext cx="4324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86C63"/>
                </a:solidFill>
                <a:latin typeface="Arial"/>
                <a:ea typeface="Arial"/>
                <a:cs typeface="Arial"/>
              </a:defRPr>
            </a:pPr>
            <a:r>
              <a:rPr sz="1725" b="0">
                <a:solidFill>
                  <a:srgbClr val="586C63"/>
                </a:solidFill>
                <a:latin typeface="Arial"/>
                <a:ea typeface="Arial"/>
                <a:cs typeface="Arial"/>
              </a:rPr>
              <a:t>Run SR and Windows/3D tests.</a:t>
            </a:r>
          </a:p>
          <a:p xmlns:a="http://schemas.openxmlformats.org/drawingml/2006/main">
            <a:pPr algn="l">
              <a:buNone/>
              <a:defRPr sz="1725" b="0">
                <a:solidFill>
                  <a:srgbClr val="586C63"/>
                </a:solidFill>
                <a:latin typeface="Arial"/>
                <a:ea typeface="Arial"/>
                <a:cs typeface="Arial"/>
              </a:defRPr>
            </a:pPr>
            <a:r>
              <a:rPr sz="1725" b="0">
                <a:solidFill>
                  <a:srgbClr val="586C63"/>
                </a:solidFill>
                <a:latin typeface="Arial"/>
                <a:ea typeface="Arial"/>
                <a:cs typeface="Arial"/>
              </a:rPr>
              <a:t>Measure time and memory use.</a:t>
            </a:r>
          </a:p>
        </p:txBody>
      </p:sp>
      <p:sp>
        <p:nvSpPr>
          <p:cNvPr id="27" name="直线连接符 26">
            <a:extLst xmlns:a="http://schemas.openxmlformats.org/drawingml/2006/main">
              <a:ext uri="{FF2B5EF4-FFF2-40B4-BE49-F238E27FC236}">
                <a16:creationId xmlns:a16="http://schemas.microsoft.com/office/drawing/2014/main" id="{FD21C9AF-9D52-40BA-AE8C-AE1EB066969A}"/>
              </a:ext>
            </a:extLst>
          </p:cNvPr>
          <p:cNvSpPr>
            <a:spLocks xmlns:a="http://schemas.openxmlformats.org/drawingml/2006/main" noGrp="1"/>
          </p:cNvSpPr>
          <p:nvPr/>
        </p:nvSpPr>
        <p:spPr>
          <a:xfrm xmlns:a="http://schemas.openxmlformats.org/drawingml/2006/main">
            <a:off x="609600" y="5067300"/>
            <a:ext cx="10972800" cy="0"/>
          </a:xfrm>
          <a:prstGeom xmlns:a="http://schemas.openxmlformats.org/drawingml/2006/main" prst="line">
            <a:avLst/>
          </a:prstGeom>
          <a:noFill xmlns:a="http://schemas.openxmlformats.org/drawingml/2006/main"/>
          <a:ln xmlns:a="http://schemas.openxmlformats.org/drawingml/2006/main" w="14288">
            <a:solidFill>
              <a:srgbClr val="C8D4CB"/>
            </a:solidFill>
          </a:ln>
        </p:spPr>
      </p:sp>
      <p:sp>
        <p:nvSpPr>
          <p:cNvPr id="28" name="5  Close the feedback loop">
            <a:extLst xmlns:a="http://schemas.openxmlformats.org/drawingml/2006/main">
              <a:ext uri="{FF2B5EF4-FFF2-40B4-BE49-F238E27FC236}">
                <a16:creationId xmlns:a16="http://schemas.microsoft.com/office/drawing/2014/main" id="{C255DEC3-7563-4D1A-9B17-B189F5E99AA0}"/>
              </a:ext>
            </a:extLst>
          </p:cNvPr>
          <p:cNvSpPr>
            <a:spLocks xmlns:a="http://schemas.openxmlformats.org/drawingml/2006/main" noGrp="1"/>
          </p:cNvSpPr>
          <p:nvPr/>
        </p:nvSpPr>
        <p:spPr>
          <a:xfrm xmlns:a="http://schemas.openxmlformats.org/drawingml/2006/main">
            <a:off x="723900" y="5181600"/>
            <a:ext cx="30575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73B31"/>
                </a:solidFill>
                <a:latin typeface="Arial"/>
                <a:ea typeface="Arial"/>
                <a:cs typeface="Arial"/>
              </a:defRPr>
            </a:pPr>
            <a:r>
              <a:rPr sz="1725" b="1">
                <a:solidFill>
                  <a:srgbClr val="173B31"/>
                </a:solidFill>
                <a:latin typeface="Arial"/>
                <a:ea typeface="Arial"/>
                <a:cs typeface="Arial"/>
              </a:rPr>
              <a:t>5  Review with the client</a:t>
            </a:r>
          </a:p>
        </p:txBody>
      </p:sp>
      <p:sp>
        <p:nvSpPr>
          <p:cNvPr id="29" name="Make progress and&#10;acceptance auditable.">
            <a:extLst xmlns:a="http://schemas.openxmlformats.org/drawingml/2006/main">
              <a:ext uri="{FF2B5EF4-FFF2-40B4-BE49-F238E27FC236}">
                <a16:creationId xmlns:a16="http://schemas.microsoft.com/office/drawing/2014/main" id="{2A7353AB-8824-439E-970D-F450DA0A3FAC}"/>
              </a:ext>
            </a:extLst>
          </p:cNvPr>
          <p:cNvSpPr>
            <a:spLocks xmlns:a="http://schemas.openxmlformats.org/drawingml/2006/main" noGrp="1"/>
          </p:cNvSpPr>
          <p:nvPr/>
        </p:nvSpPr>
        <p:spPr>
          <a:xfrm xmlns:a="http://schemas.openxmlformats.org/drawingml/2006/main">
            <a:off x="4010025" y="5181600"/>
            <a:ext cx="2905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86C63"/>
                </a:solidFill>
                <a:latin typeface="Arial"/>
                <a:ea typeface="Arial"/>
                <a:cs typeface="Arial"/>
              </a:defRPr>
            </a:pPr>
            <a:r>
              <a:rPr sz="1725" b="0">
                <a:solidFill>
                  <a:srgbClr val="586C63"/>
                </a:solidFill>
                <a:latin typeface="Arial"/>
                <a:ea typeface="Arial"/>
                <a:cs typeface="Arial"/>
              </a:rPr>
              <a:t>Check that the changes</a:t>
            </a:r>
          </a:p>
          <a:p xmlns:a="http://schemas.openxmlformats.org/drawingml/2006/main">
            <a:pPr algn="l">
              <a:buNone/>
              <a:defRPr sz="1725" b="0">
                <a:solidFill>
                  <a:srgbClr val="586C63"/>
                </a:solidFill>
                <a:latin typeface="Arial"/>
                <a:ea typeface="Arial"/>
                <a:cs typeface="Arial"/>
              </a:defRPr>
            </a:pPr>
            <a:r>
              <a:rPr sz="1725" b="0">
                <a:solidFill>
                  <a:srgbClr val="586C63"/>
                </a:solidFill>
                <a:latin typeface="Arial"/>
                <a:ea typeface="Arial"/>
                <a:cs typeface="Arial"/>
              </a:rPr>
              <a:t>meet their needs.</a:t>
            </a:r>
          </a:p>
        </p:txBody>
      </p:sp>
      <p:sp>
        <p:nvSpPr>
          <p:cNvPr id="30" name="Client demo + action outcomes; freeze&#10;estimat">
            <a:extLst xmlns:a="http://schemas.openxmlformats.org/drawingml/2006/main">
              <a:ext uri="{FF2B5EF4-FFF2-40B4-BE49-F238E27FC236}">
                <a16:creationId xmlns:a16="http://schemas.microsoft.com/office/drawing/2014/main" id="{40AFA6E8-C1C9-4A68-883F-8C02E159B4BB}"/>
              </a:ext>
            </a:extLst>
          </p:cNvPr>
          <p:cNvSpPr>
            <a:spLocks xmlns:a="http://schemas.openxmlformats.org/drawingml/2006/main" noGrp="1"/>
          </p:cNvSpPr>
          <p:nvPr/>
        </p:nvSpPr>
        <p:spPr>
          <a:xfrm xmlns:a="http://schemas.openxmlformats.org/drawingml/2006/main">
            <a:off x="7143750" y="5181600"/>
            <a:ext cx="4324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86C63"/>
                </a:solidFill>
                <a:latin typeface="Arial"/>
                <a:ea typeface="Arial"/>
                <a:cs typeface="Arial"/>
              </a:defRPr>
            </a:pPr>
            <a:r>
              <a:rPr sz="1725" b="0">
                <a:solidFill>
                  <a:srgbClr val="586C63"/>
                </a:solidFill>
                <a:latin typeface="Arial"/>
                <a:ea typeface="Arial"/>
                <a:cs typeface="Arial"/>
              </a:rPr>
              <a:t>Demo the app and record actions.</a:t>
            </a:r>
          </a:p>
          <a:p xmlns:a="http://schemas.openxmlformats.org/drawingml/2006/main">
            <a:pPr algn="l">
              <a:buNone/>
              <a:defRPr sz="1725" b="0">
                <a:solidFill>
                  <a:srgbClr val="586C63"/>
                </a:solidFill>
                <a:latin typeface="Arial"/>
                <a:ea typeface="Arial"/>
                <a:cs typeface="Arial"/>
              </a:defRPr>
            </a:pPr>
            <a:r>
              <a:rPr sz="1725" b="0">
                <a:solidFill>
                  <a:srgbClr val="586C63"/>
                </a:solidFill>
                <a:latin typeface="Arial"/>
                <a:ea typeface="Arial"/>
                <a:cs typeface="Arial"/>
              </a:rPr>
              <a:t>Agree priorities and first estimates.</a:t>
            </a:r>
          </a:p>
        </p:txBody>
      </p:sp>
      <p:sp>
        <p:nvSpPr>
          <p:cNvPr id="31" name="直线连接符 30">
            <a:extLst xmlns:a="http://schemas.openxmlformats.org/drawingml/2006/main">
              <a:ext uri="{FF2B5EF4-FFF2-40B4-BE49-F238E27FC236}">
                <a16:creationId xmlns:a16="http://schemas.microsoft.com/office/drawing/2014/main" id="{B8C9155E-E4C0-424C-BE4B-3B8531589A2F}"/>
              </a:ext>
            </a:extLst>
          </p:cNvPr>
          <p:cNvSpPr>
            <a:spLocks xmlns:a="http://schemas.openxmlformats.org/drawingml/2006/main" noGrp="1"/>
          </p:cNvSpPr>
          <p:nvPr/>
        </p:nvSpPr>
        <p:spPr>
          <a:xfrm xmlns:a="http://schemas.openxmlformats.org/drawingml/2006/main">
            <a:off x="609600" y="5772150"/>
            <a:ext cx="10972800" cy="0"/>
          </a:xfrm>
          <a:prstGeom xmlns:a="http://schemas.openxmlformats.org/drawingml/2006/main" prst="line">
            <a:avLst/>
          </a:prstGeom>
          <a:noFill xmlns:a="http://schemas.openxmlformats.org/drawingml/2006/main"/>
          <a:ln xmlns:a="http://schemas.openxmlformats.org/drawingml/2006/main" w="14288">
            <a:solidFill>
              <a:srgbClr val="C8D4CB"/>
            </a:solidFill>
          </a:ln>
        </p:spPr>
      </p:sp>
      <p:sp>
        <p:nvSpPr>
          <p:cNvPr id="32" name="Next discussion: confirm priority order, vali">
            <a:extLst xmlns:a="http://schemas.openxmlformats.org/drawingml/2006/main">
              <a:ext uri="{FF2B5EF4-FFF2-40B4-BE49-F238E27FC236}">
                <a16:creationId xmlns:a16="http://schemas.microsoft.com/office/drawing/2014/main" id="{30046C73-8ACE-4932-A1DC-3C2F97A60392}"/>
              </a:ext>
            </a:extLst>
          </p:cNvPr>
          <p:cNvSpPr>
            <a:spLocks xmlns:a="http://schemas.openxmlformats.org/drawingml/2006/main" noGrp="1"/>
          </p:cNvSpPr>
          <p:nvPr/>
        </p:nvSpPr>
        <p:spPr>
          <a:xfrm xmlns:a="http://schemas.openxmlformats.org/drawingml/2006/main">
            <a:off x="609600" y="59245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1">
                <a:solidFill>
                  <a:srgbClr val="287553"/>
                </a:solidFill>
                <a:latin typeface="Arial"/>
                <a:ea typeface="Arial"/>
                <a:cs typeface="Arial"/>
              </a:defRPr>
            </a:pPr>
            <a:r>
              <a:rPr sz="1650" b="1">
                <a:solidFill>
                  <a:srgbClr val="287553"/>
                </a:solidFill>
                <a:latin typeface="Arial"/>
                <a:ea typeface="Arial"/>
                <a:cs typeface="Arial"/>
              </a:rPr>
              <a:t>These are proposed goals. We will confirm priorities, owners and time before the sprint starts.</a:t>
            </a:r>
          </a:p>
        </p:txBody>
      </p:sp>
    </p:spTree>
    <p:extLst>
      <p:ext uri="{BB962C8B-B14F-4D97-AF65-F5344CB8AC3E}">
        <p14:creationId xmlns:p14="http://schemas.microsoft.com/office/powerpoint/2010/main" val="186617012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2026-08-28T07:18:27.9390000Z</dcterms:created>
  <dcterms:modified xsi:type="dcterms:W3CDTF">2026-08-28T07:18:27.9390000Z</dcterms:modified>
</coreProperties>
</file>